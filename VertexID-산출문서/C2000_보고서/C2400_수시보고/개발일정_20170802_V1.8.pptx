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2"/>
    <p:sldId id="540" r:id="rId3"/>
    <p:sldId id="262" r:id="rId4"/>
  </p:sldIdLst>
  <p:sldSz cx="9906000" cy="6858000" type="A4"/>
  <p:notesSz cx="6735763" cy="9866313"/>
  <p:embeddedFontLst>
    <p:embeddedFont>
      <p:font typeface="Impact" panose="020B0806030902050204" pitchFamily="34" charset="0"/>
      <p:regular r:id="rId7"/>
    </p:embeddedFon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맑은 고딕" panose="020B0503020000020004" pitchFamily="50" charset="-127"/>
      <p:regular r:id="rId12"/>
      <p:bold r:id="rId13"/>
    </p:embeddedFont>
    <p:embeddedFont>
      <p:font typeface="HY헤드라인M" panose="02030600000101010101" pitchFamily="18" charset="-127"/>
      <p:regular r:id="rId14"/>
    </p:embeddedFont>
  </p:embeddedFont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0">
          <p15:clr>
            <a:srgbClr val="A4A3A4"/>
          </p15:clr>
        </p15:guide>
        <p15:guide id="2" orient="horz" pos="799">
          <p15:clr>
            <a:srgbClr val="A4A3A4"/>
          </p15:clr>
        </p15:guide>
        <p15:guide id="3" orient="horz" pos="935">
          <p15:clr>
            <a:srgbClr val="A4A3A4"/>
          </p15:clr>
        </p15:guide>
        <p15:guide id="4" orient="horz" pos="2840">
          <p15:clr>
            <a:srgbClr val="A4A3A4"/>
          </p15:clr>
        </p15:guide>
        <p15:guide id="5" orient="horz" pos="4020">
          <p15:clr>
            <a:srgbClr val="A4A3A4"/>
          </p15:clr>
        </p15:guide>
        <p15:guide id="6" orient="horz" pos="1071">
          <p15:clr>
            <a:srgbClr val="A4A3A4"/>
          </p15:clr>
        </p15:guide>
        <p15:guide id="7" pos="398">
          <p15:clr>
            <a:srgbClr val="A4A3A4"/>
          </p15:clr>
        </p15:guide>
        <p15:guide id="8" pos="584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>
          <p15:clr>
            <a:srgbClr val="A4A3A4"/>
          </p15:clr>
        </p15:guide>
        <p15:guide id="2" pos="212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5D8"/>
    <a:srgbClr val="2B637F"/>
    <a:srgbClr val="99CCFF"/>
    <a:srgbClr val="FFFF99"/>
    <a:srgbClr val="FFCC00"/>
    <a:srgbClr val="2D6AAB"/>
    <a:srgbClr val="609DC6"/>
    <a:srgbClr val="FF9966"/>
    <a:srgbClr val="2467D9"/>
    <a:srgbClr val="71B4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0" autoAdjust="0"/>
    <p:restoredTop sz="91889" autoAdjust="0"/>
  </p:normalViewPr>
  <p:slideViewPr>
    <p:cSldViewPr showGuides="1">
      <p:cViewPr varScale="1">
        <p:scale>
          <a:sx n="69" d="100"/>
          <a:sy n="69" d="100"/>
        </p:scale>
        <p:origin x="1452" y="78"/>
      </p:cViewPr>
      <p:guideLst>
        <p:guide orient="horz" pos="4110"/>
        <p:guide orient="horz" pos="799"/>
        <p:guide orient="horz" pos="935"/>
        <p:guide orient="horz" pos="2840"/>
        <p:guide orient="horz" pos="4020"/>
        <p:guide orient="horz" pos="1071"/>
        <p:guide pos="398"/>
        <p:guide pos="58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notesViewPr>
    <p:cSldViewPr showGuides="1">
      <p:cViewPr varScale="1">
        <p:scale>
          <a:sx n="60" d="100"/>
          <a:sy n="60" d="100"/>
        </p:scale>
        <p:origin x="-1992" y="-72"/>
      </p:cViewPr>
      <p:guideLst>
        <p:guide orient="horz" pos="3108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font" Target="fonts/font5.fntdata"/><Relationship Id="rId5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0" Type="http://schemas.openxmlformats.org/officeDocument/2006/relationships/font" Target="fonts/font4.fntdata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6B5C5B8F-D462-4368-8461-2A60FAE35D92}" type="datetimeFigureOut">
              <a:rPr lang="ko-KR" altLang="en-US"/>
              <a:pPr>
                <a:defRPr/>
              </a:pPr>
              <a:t>2017-08-04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FE4ED75-30A7-42E0-9F19-2CC082FBE22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39684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4763" y="0"/>
            <a:ext cx="2919412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3711D15-A793-43C2-95F3-0EE608434B71}" type="datetimeFigureOut">
              <a:rPr lang="ko-KR" altLang="en-US"/>
              <a:pPr>
                <a:defRPr/>
              </a:pPr>
              <a:t>2017-08-04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95325" y="739775"/>
            <a:ext cx="534511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100" y="4686300"/>
            <a:ext cx="5389563" cy="44402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1013"/>
            <a:ext cx="2919413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9D87132A-BE77-42D3-A4C4-E7B6344462E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13309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5530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8EE4EEF5-12D8-4B51-B12E-A7B6C31AC94E}" type="slidenum">
              <a:rPr lang="ko-KR" altLang="en-US" smtClean="0"/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25409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D87132A-BE77-42D3-A4C4-E7B6344462E3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62586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62468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99A7BE44-6AA3-4842-91B4-CF69196287D5}" type="slidenum">
              <a:rPr lang="ko-KR" altLang="en-US" smtClean="0"/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4036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C:\Users\msk\Desktop\abstract-blue-backgrounds-24_1920x1200_71465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t="32440"/>
          <a:stretch>
            <a:fillRect/>
          </a:stretch>
        </p:blipFill>
        <p:spPr bwMode="auto">
          <a:xfrm rot="10800000">
            <a:off x="0" y="-4143"/>
            <a:ext cx="9906000" cy="3861048"/>
          </a:xfrm>
          <a:prstGeom prst="rect">
            <a:avLst/>
          </a:prstGeom>
          <a:noFill/>
        </p:spPr>
      </p:pic>
      <p:cxnSp>
        <p:nvCxnSpPr>
          <p:cNvPr id="5" name="직선 연결선 4"/>
          <p:cNvCxnSpPr/>
          <p:nvPr userDrawn="1"/>
        </p:nvCxnSpPr>
        <p:spPr>
          <a:xfrm>
            <a:off x="1052513" y="4929188"/>
            <a:ext cx="0" cy="719137"/>
          </a:xfrm>
          <a:prstGeom prst="line">
            <a:avLst/>
          </a:prstGeom>
          <a:ln w="76200">
            <a:solidFill>
              <a:schemeClr val="accent1">
                <a:alpha val="58039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1387" y="5949280"/>
            <a:ext cx="1415407" cy="340525"/>
          </a:xfrm>
          <a:prstGeom prst="rect">
            <a:avLst/>
          </a:prstGeom>
        </p:spPr>
      </p:pic>
      <p:sp>
        <p:nvSpPr>
          <p:cNvPr id="7" name="제목 1"/>
          <p:cNvSpPr>
            <a:spLocks noGrp="1"/>
          </p:cNvSpPr>
          <p:nvPr>
            <p:ph type="ctrTitle"/>
          </p:nvPr>
        </p:nvSpPr>
        <p:spPr>
          <a:xfrm>
            <a:off x="1208584" y="4797153"/>
            <a:ext cx="8697416" cy="578495"/>
          </a:xfrm>
        </p:spPr>
        <p:txBody>
          <a:bodyPr>
            <a:noAutofit/>
          </a:bodyPr>
          <a:lstStyle>
            <a:lvl1pPr algn="l">
              <a:defRPr lang="ko-KR" altLang="en-US" sz="3200" b="0" kern="1200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8" name="부제목 2"/>
          <p:cNvSpPr>
            <a:spLocks noGrp="1"/>
          </p:cNvSpPr>
          <p:nvPr>
            <p:ph type="subTitle" idx="1"/>
          </p:nvPr>
        </p:nvSpPr>
        <p:spPr>
          <a:xfrm>
            <a:off x="1208317" y="5396456"/>
            <a:ext cx="8691464" cy="360040"/>
          </a:xfrm>
        </p:spPr>
        <p:txBody>
          <a:bodyPr>
            <a:noAutofit/>
          </a:bodyPr>
          <a:lstStyle>
            <a:lvl1pPr marL="0" indent="0" algn="l">
              <a:buNone/>
              <a:defRPr sz="1400" b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631339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C:\Users\msk\Desktop\abstract-blue-backgrounds-14_1920x1200_71472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751" b="22360"/>
          <a:stretch>
            <a:fillRect/>
          </a:stretch>
        </p:blipFill>
        <p:spPr bwMode="auto">
          <a:xfrm>
            <a:off x="272481" y="0"/>
            <a:ext cx="9633521" cy="4437112"/>
          </a:xfrm>
          <a:prstGeom prst="rect">
            <a:avLst/>
          </a:prstGeom>
          <a:noFill/>
        </p:spPr>
      </p:pic>
      <p:pic>
        <p:nvPicPr>
          <p:cNvPr id="3" name="그림 2"/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2920" y="5949280"/>
            <a:ext cx="1415407" cy="34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147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C:\Users\msk\Desktop\abstract-blue-backgrounds-24_1920x1200_71465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43700" t="32440"/>
          <a:stretch>
            <a:fillRect/>
          </a:stretch>
        </p:blipFill>
        <p:spPr bwMode="auto">
          <a:xfrm rot="10800000">
            <a:off x="0" y="0"/>
            <a:ext cx="9906000" cy="6858000"/>
          </a:xfrm>
          <a:prstGeom prst="rect">
            <a:avLst/>
          </a:prstGeom>
          <a:noFill/>
        </p:spPr>
      </p:pic>
      <p:pic>
        <p:nvPicPr>
          <p:cNvPr id="4" name="그림 3"/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2920" y="5949280"/>
            <a:ext cx="1415407" cy="340525"/>
          </a:xfrm>
          <a:prstGeom prst="rect">
            <a:avLst/>
          </a:prstGeom>
        </p:spPr>
      </p:pic>
      <p:sp>
        <p:nvSpPr>
          <p:cNvPr id="15" name="제목 1"/>
          <p:cNvSpPr>
            <a:spLocks noGrp="1"/>
          </p:cNvSpPr>
          <p:nvPr>
            <p:ph type="ctrTitle"/>
          </p:nvPr>
        </p:nvSpPr>
        <p:spPr>
          <a:xfrm>
            <a:off x="1" y="2636912"/>
            <a:ext cx="9906000" cy="1584176"/>
          </a:xfrm>
          <a:solidFill>
            <a:srgbClr val="0070C0">
              <a:alpha val="30196"/>
            </a:srgbClr>
          </a:solidFill>
        </p:spPr>
        <p:txBody>
          <a:bodyPr wrap="none">
            <a:noAutofit/>
          </a:bodyPr>
          <a:lstStyle>
            <a:lvl1pPr algn="r">
              <a:defRPr lang="ko-KR" altLang="en-US" sz="4000" b="1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456021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1" descr="2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직선 연결선 3"/>
          <p:cNvCxnSpPr/>
          <p:nvPr userDrawn="1"/>
        </p:nvCxnSpPr>
        <p:spPr>
          <a:xfrm>
            <a:off x="128536" y="728663"/>
            <a:ext cx="9648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 userDrawn="1"/>
        </p:nvCxnSpPr>
        <p:spPr>
          <a:xfrm>
            <a:off x="631825" y="6480175"/>
            <a:ext cx="79883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7825" y="6500698"/>
            <a:ext cx="816894" cy="196532"/>
          </a:xfrm>
          <a:prstGeom prst="rect">
            <a:avLst/>
          </a:prstGeom>
        </p:spPr>
      </p:pic>
      <p:sp>
        <p:nvSpPr>
          <p:cNvPr id="9" name="제목 8"/>
          <p:cNvSpPr>
            <a:spLocks noGrp="1"/>
          </p:cNvSpPr>
          <p:nvPr>
            <p:ph type="title"/>
          </p:nvPr>
        </p:nvSpPr>
        <p:spPr>
          <a:xfrm>
            <a:off x="990600" y="260648"/>
            <a:ext cx="8915400" cy="413196"/>
          </a:xfrm>
        </p:spPr>
        <p:txBody>
          <a:bodyPr>
            <a:noAutofit/>
          </a:bodyPr>
          <a:lstStyle>
            <a:lvl1pPr algn="r">
              <a:defRPr lang="ko-KR" altLang="en-US" sz="2000" b="1" kern="1200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6200000" scaled="1"/>
                  <a:tileRect/>
                </a:gradFill>
                <a:latin typeface="맑은 고딕" pitchFamily="50" charset="-127"/>
                <a:ea typeface="맑은 고딕" pitchFamily="50" charset="-127"/>
                <a:cs typeface="맑은 고딕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2" name="TextBox 1"/>
          <p:cNvSpPr txBox="1"/>
          <p:nvPr userDrawn="1"/>
        </p:nvSpPr>
        <p:spPr>
          <a:xfrm>
            <a:off x="4304928" y="6500698"/>
            <a:ext cx="18722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fld id="{FEF0503B-FA2D-4260-AC18-6FC3139BAA53}" type="slidenum">
              <a:rPr lang="en-US" altLang="ko-KR" sz="10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-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6877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C:\Users\msk\Desktop\abstract-blue-backgrounds-14_1920x1200_71472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751" b="22360"/>
          <a:stretch>
            <a:fillRect/>
          </a:stretch>
        </p:blipFill>
        <p:spPr bwMode="auto">
          <a:xfrm rot="16200000">
            <a:off x="-1077200" y="1077201"/>
            <a:ext cx="4689131" cy="2534731"/>
          </a:xfrm>
          <a:prstGeom prst="rect">
            <a:avLst/>
          </a:prstGeom>
          <a:noFill/>
        </p:spPr>
      </p:pic>
      <p:pic>
        <p:nvPicPr>
          <p:cNvPr id="3" name="그림 2"/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911" y="5949280"/>
            <a:ext cx="1415407" cy="340525"/>
          </a:xfrm>
          <a:prstGeom prst="rect">
            <a:avLst/>
          </a:prstGeom>
        </p:spPr>
      </p:pic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54375" y="2667000"/>
            <a:ext cx="3965575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r>
              <a:rPr lang="en-US" altLang="ko-KR" sz="6000" b="1">
                <a:solidFill>
                  <a:srgbClr val="595959"/>
                </a:solidFill>
                <a:latin typeface="Impact" pitchFamily="34" charset="0"/>
                <a:ea typeface="맑은 고딕" pitchFamily="50" charset="-127"/>
              </a:rPr>
              <a:t>Thank </a:t>
            </a:r>
          </a:p>
          <a:p>
            <a:pPr algn="ctr" eaLnBrk="1" hangingPunct="1">
              <a:defRPr/>
            </a:pPr>
            <a:r>
              <a:rPr lang="en-US" altLang="ko-KR" sz="6000" b="1">
                <a:solidFill>
                  <a:srgbClr val="595959"/>
                </a:solidFill>
                <a:latin typeface="Impact" pitchFamily="34" charset="0"/>
                <a:ea typeface="맑은 고딕" pitchFamily="50" charset="-127"/>
              </a:rPr>
              <a:t>You</a:t>
            </a:r>
            <a:endParaRPr lang="en-IN" altLang="ko-KR" sz="6000" b="1">
              <a:solidFill>
                <a:srgbClr val="595959"/>
              </a:solidFill>
              <a:latin typeface="Impact" pitchFamily="34" charset="0"/>
              <a:ea typeface="맑은 고딕" pitchFamily="50" charset="-127"/>
            </a:endParaRP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498725" y="914400"/>
            <a:ext cx="2043113" cy="5029200"/>
            <a:chOff x="2211857" y="838200"/>
            <a:chExt cx="2043338" cy="5029200"/>
          </a:xfrm>
        </p:grpSpPr>
        <p:sp>
          <p:nvSpPr>
            <p:cNvPr id="6" name="Rectangle 3"/>
            <p:cNvSpPr/>
            <p:nvPr/>
          </p:nvSpPr>
          <p:spPr>
            <a:xfrm rot="5400000">
              <a:off x="1779068" y="2553073"/>
              <a:ext cx="3124198" cy="1828056"/>
            </a:xfrm>
            <a:prstGeom prst="rect">
              <a:avLst/>
            </a:prstGeom>
            <a:solidFill>
              <a:sysClr val="windowText" lastClr="000000"/>
            </a:solidFill>
            <a:ln w="25400" cap="flat" cmpd="sng" algn="ctr">
              <a:noFill/>
              <a:prstDash val="solid"/>
            </a:ln>
            <a:effectLst>
              <a:softEdge rad="317500"/>
            </a:effectLst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IN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맑은 고딕" panose="020B0503020000020004" pitchFamily="50" charset="-127"/>
              </a:endParaRPr>
            </a:p>
          </p:txBody>
        </p:sp>
        <p:sp>
          <p:nvSpPr>
            <p:cNvPr id="7" name="Rectangle 4"/>
            <p:cNvSpPr>
              <a:spLocks noChangeArrowheads="1"/>
            </p:cNvSpPr>
            <p:nvPr/>
          </p:nvSpPr>
          <p:spPr bwMode="auto">
            <a:xfrm rot="5400000">
              <a:off x="610965" y="2439092"/>
              <a:ext cx="5029200" cy="18274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9pPr>
            </a:lstStyle>
            <a:p>
              <a:pPr algn="ctr" eaLnBrk="1" latinLnBrk="0" hangingPunct="1">
                <a:defRPr/>
              </a:pPr>
              <a:endParaRPr kumimoji="0" lang="en-IN" altLang="ko-KR">
                <a:solidFill>
                  <a:srgbClr val="595959"/>
                </a:solidFill>
                <a:latin typeface="Calibri" pitchFamily="34" charset="0"/>
                <a:ea typeface="맑은 고딕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9692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 userDrawn="1"/>
        </p:nvCxnSpPr>
        <p:spPr>
          <a:xfrm>
            <a:off x="631825" y="6480175"/>
            <a:ext cx="79883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7825" y="6500698"/>
            <a:ext cx="816894" cy="196532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4304928" y="6500698"/>
            <a:ext cx="18722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fld id="{FEF0503B-FA2D-4260-AC18-6FC3139BAA53}" type="slidenum">
              <a:rPr lang="en-US" altLang="ko-KR" sz="10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-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128536" y="728663"/>
            <a:ext cx="9648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제목 8"/>
          <p:cNvSpPr>
            <a:spLocks noGrp="1"/>
          </p:cNvSpPr>
          <p:nvPr>
            <p:ph type="title"/>
          </p:nvPr>
        </p:nvSpPr>
        <p:spPr>
          <a:xfrm>
            <a:off x="990600" y="260648"/>
            <a:ext cx="8915400" cy="413196"/>
          </a:xfrm>
        </p:spPr>
        <p:txBody>
          <a:bodyPr>
            <a:noAutofit/>
          </a:bodyPr>
          <a:lstStyle>
            <a:lvl1pPr algn="r">
              <a:defRPr lang="ko-KR" altLang="en-US" sz="2000" b="1" kern="1200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6200000" scaled="1"/>
                  <a:tileRect/>
                </a:gradFill>
                <a:latin typeface="맑은 고딕" pitchFamily="50" charset="-127"/>
                <a:ea typeface="맑은 고딕" pitchFamily="50" charset="-127"/>
                <a:cs typeface="맑은 고딕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35815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C:\Users\msk\Desktop\abstract-blue-backgrounds-14_1920x1200_71472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751" b="22360"/>
          <a:stretch>
            <a:fillRect/>
          </a:stretch>
        </p:blipFill>
        <p:spPr bwMode="auto">
          <a:xfrm flipH="1">
            <a:off x="0" y="1"/>
            <a:ext cx="2768757" cy="1291233"/>
          </a:xfrm>
          <a:prstGeom prst="rect">
            <a:avLst/>
          </a:prstGeom>
          <a:noFill/>
        </p:spPr>
      </p:pic>
      <p:cxnSp>
        <p:nvCxnSpPr>
          <p:cNvPr id="4" name="직선 연결선 3"/>
          <p:cNvCxnSpPr/>
          <p:nvPr userDrawn="1"/>
        </p:nvCxnSpPr>
        <p:spPr>
          <a:xfrm>
            <a:off x="1365250" y="728663"/>
            <a:ext cx="8424863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 userDrawn="1"/>
        </p:nvCxnSpPr>
        <p:spPr>
          <a:xfrm>
            <a:off x="631825" y="6480175"/>
            <a:ext cx="79883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7825" y="6500698"/>
            <a:ext cx="816894" cy="196532"/>
          </a:xfrm>
          <a:prstGeom prst="rect">
            <a:avLst/>
          </a:prstGeom>
        </p:spPr>
      </p:pic>
      <p:sp>
        <p:nvSpPr>
          <p:cNvPr id="9" name="제목 8"/>
          <p:cNvSpPr>
            <a:spLocks noGrp="1"/>
          </p:cNvSpPr>
          <p:nvPr>
            <p:ph type="title"/>
          </p:nvPr>
        </p:nvSpPr>
        <p:spPr>
          <a:xfrm>
            <a:off x="990600" y="260648"/>
            <a:ext cx="8915400" cy="413196"/>
          </a:xfrm>
        </p:spPr>
        <p:txBody>
          <a:bodyPr>
            <a:noAutofit/>
          </a:bodyPr>
          <a:lstStyle>
            <a:lvl1pPr algn="r">
              <a:defRPr lang="ko-KR" altLang="en-US" sz="2000" b="1" kern="1200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6200000" scaled="1"/>
                  <a:tileRect/>
                </a:gradFill>
                <a:latin typeface="HY헤드라인M" pitchFamily="18" charset="-127"/>
                <a:ea typeface="HY헤드라인M" pitchFamily="18" charset="-127"/>
                <a:cs typeface="HY헤드라인M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3797300" y="6356350"/>
            <a:ext cx="2311400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1D2EE030-A7DE-4C17-93AC-52097598BAF1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6157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513930C-376A-4F5D-8FE2-8A220761C921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13" r:id="rId6"/>
    <p:sldLayoutId id="2147483724" r:id="rId7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20"/>
          <p:cNvSpPr>
            <a:spLocks noGrp="1"/>
          </p:cNvSpPr>
          <p:nvPr>
            <p:ph type="ctrTitle"/>
          </p:nvPr>
        </p:nvSpPr>
        <p:spPr>
          <a:extLst/>
        </p:spPr>
        <p:txBody>
          <a:bodyPr/>
          <a:lstStyle/>
          <a:p>
            <a:pPr eaLnBrk="1" hangingPunct="1">
              <a:defRPr/>
            </a:pPr>
            <a:r>
              <a:rPr lang="en-US" altLang="ko-KR" sz="2400" b="1" dirty="0">
                <a:solidFill>
                  <a:srgbClr val="002060"/>
                </a:solidFill>
                <a:latin typeface="+mn-ea"/>
              </a:rPr>
              <a:t>Paragon™ WMS </a:t>
            </a:r>
            <a:r>
              <a:rPr lang="ko-KR" altLang="en-US" sz="2400" b="1" dirty="0">
                <a:solidFill>
                  <a:srgbClr val="002060"/>
                </a:solidFill>
                <a:latin typeface="+mn-ea"/>
              </a:rPr>
              <a:t>개발 일정</a:t>
            </a:r>
            <a:endParaRPr sz="1400" b="1" dirty="0">
              <a:latin typeface="+mn-ea"/>
              <a:ea typeface="+mn-ea"/>
            </a:endParaRPr>
          </a:p>
        </p:txBody>
      </p:sp>
      <p:sp>
        <p:nvSpPr>
          <p:cNvPr id="7" name="부제목 1"/>
          <p:cNvSpPr>
            <a:spLocks noGrp="1"/>
          </p:cNvSpPr>
          <p:nvPr>
            <p:ph type="subTitle" idx="1"/>
          </p:nvPr>
        </p:nvSpPr>
        <p:spPr>
          <a:xfrm>
            <a:off x="1208088" y="5395913"/>
            <a:ext cx="8691562" cy="360362"/>
          </a:xfrm>
        </p:spPr>
        <p:txBody>
          <a:bodyPr rtlCol="0">
            <a:normAutofit/>
          </a:bodyPr>
          <a:lstStyle/>
          <a:p>
            <a:pPr eaLnBrk="1" hangingPunct="1">
              <a:defRPr/>
            </a:pPr>
            <a:r>
              <a:rPr lang="en-US" altLang="ko-KR" b="1" dirty="0">
                <a:latin typeface="+mn-ea"/>
                <a:ea typeface="+mn-ea"/>
              </a:rPr>
              <a:t>2017. 08. 02</a:t>
            </a:r>
            <a:endParaRPr lang="ko-KR" altLang="en-US" b="1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1. </a:t>
            </a:r>
            <a:r>
              <a:rPr lang="ko-KR" altLang="en-US" dirty="0">
                <a:latin typeface="+mn-ea"/>
                <a:ea typeface="+mn-ea"/>
              </a:rPr>
              <a:t>프로젝트 개발 일정</a:t>
            </a:r>
          </a:p>
        </p:txBody>
      </p:sp>
      <p:graphicFrame>
        <p:nvGraphicFramePr>
          <p:cNvPr id="67" name="Group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671302"/>
              </p:ext>
            </p:extLst>
          </p:nvPr>
        </p:nvGraphicFramePr>
        <p:xfrm>
          <a:off x="261892" y="764704"/>
          <a:ext cx="9155606" cy="5694998"/>
        </p:xfrm>
        <a:graphic>
          <a:graphicData uri="http://schemas.openxmlformats.org/drawingml/2006/table">
            <a:tbl>
              <a:tblPr/>
              <a:tblGrid>
                <a:gridCol w="12809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6225">
                  <a:extLst>
                    <a:ext uri="{9D8B030D-6E8A-4147-A177-3AD203B41FA5}">
                      <a16:colId xmlns:a16="http://schemas.microsoft.com/office/drawing/2014/main" val="3722584519"/>
                    </a:ext>
                  </a:extLst>
                </a:gridCol>
                <a:gridCol w="656225">
                  <a:extLst>
                    <a:ext uri="{9D8B030D-6E8A-4147-A177-3AD203B41FA5}">
                      <a16:colId xmlns:a16="http://schemas.microsoft.com/office/drawing/2014/main" val="1120138194"/>
                    </a:ext>
                  </a:extLst>
                </a:gridCol>
                <a:gridCol w="656225">
                  <a:extLst>
                    <a:ext uri="{9D8B030D-6E8A-4147-A177-3AD203B41FA5}">
                      <a16:colId xmlns:a16="http://schemas.microsoft.com/office/drawing/2014/main" val="1953863637"/>
                    </a:ext>
                  </a:extLst>
                </a:gridCol>
                <a:gridCol w="656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6225">
                  <a:extLst>
                    <a:ext uri="{9D8B030D-6E8A-4147-A177-3AD203B41FA5}">
                      <a16:colId xmlns:a16="http://schemas.microsoft.com/office/drawing/2014/main" val="1259173398"/>
                    </a:ext>
                  </a:extLst>
                </a:gridCol>
                <a:gridCol w="656225">
                  <a:extLst>
                    <a:ext uri="{9D8B030D-6E8A-4147-A177-3AD203B41FA5}">
                      <a16:colId xmlns:a16="http://schemas.microsoft.com/office/drawing/2014/main" val="1917260888"/>
                    </a:ext>
                  </a:extLst>
                </a:gridCol>
                <a:gridCol w="656225">
                  <a:extLst>
                    <a:ext uri="{9D8B030D-6E8A-4147-A177-3AD203B41FA5}">
                      <a16:colId xmlns:a16="http://schemas.microsoft.com/office/drawing/2014/main" val="3820097881"/>
                    </a:ext>
                  </a:extLst>
                </a:gridCol>
                <a:gridCol w="656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6225">
                  <a:extLst>
                    <a:ext uri="{9D8B030D-6E8A-4147-A177-3AD203B41FA5}">
                      <a16:colId xmlns:a16="http://schemas.microsoft.com/office/drawing/2014/main" val="3266834447"/>
                    </a:ext>
                  </a:extLst>
                </a:gridCol>
                <a:gridCol w="656225">
                  <a:extLst>
                    <a:ext uri="{9D8B030D-6E8A-4147-A177-3AD203B41FA5}">
                      <a16:colId xmlns:a16="http://schemas.microsoft.com/office/drawing/2014/main" val="3059322525"/>
                    </a:ext>
                  </a:extLst>
                </a:gridCol>
                <a:gridCol w="656225">
                  <a:extLst>
                    <a:ext uri="{9D8B030D-6E8A-4147-A177-3AD203B41FA5}">
                      <a16:colId xmlns:a16="http://schemas.microsoft.com/office/drawing/2014/main" val="2274240630"/>
                    </a:ext>
                  </a:extLst>
                </a:gridCol>
              </a:tblGrid>
              <a:tr h="294171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일정</a:t>
                      </a: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B637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B637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B637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B637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336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주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주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주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주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주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주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주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주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주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주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주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주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B6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57373"/>
                  </a:ext>
                </a:extLst>
              </a:tr>
              <a:tr h="4533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단계</a:t>
                      </a: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9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Event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1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프로그램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테스트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2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화면표준안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확정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2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신규개발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조회화면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0774065"/>
                  </a:ext>
                </a:extLst>
              </a:tr>
              <a:tr h="5352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신규개발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(Report)</a:t>
                      </a: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5028751"/>
                  </a:ext>
                </a:extLst>
              </a:tr>
              <a:tr h="5352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신규개발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(Interface)</a:t>
                      </a: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2743091"/>
                  </a:ext>
                </a:extLst>
              </a:tr>
              <a:tr h="5352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PDA</a:t>
                      </a: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8543335"/>
                  </a:ext>
                </a:extLst>
              </a:tr>
              <a:tr h="5352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WEB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수정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5423634"/>
                  </a:ext>
                </a:extLst>
              </a:tr>
              <a:tr h="5352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통합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테스트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747059"/>
                  </a:ext>
                </a:extLst>
              </a:tr>
            </a:tbl>
          </a:graphicData>
        </a:graphic>
      </p:graphicFrame>
      <p:sp>
        <p:nvSpPr>
          <p:cNvPr id="40" name="갈매기형 수장 146">
            <a:extLst>
              <a:ext uri="{FF2B5EF4-FFF2-40B4-BE49-F238E27FC236}">
                <a16:creationId xmlns:a16="http://schemas.microsoft.com/office/drawing/2014/main" id="{1D031057-6DDF-4E6C-BC0D-0B86617D918A}"/>
              </a:ext>
            </a:extLst>
          </p:cNvPr>
          <p:cNvSpPr/>
          <p:nvPr/>
        </p:nvSpPr>
        <p:spPr bwMode="auto">
          <a:xfrm>
            <a:off x="1545694" y="1357797"/>
            <a:ext cx="6575658" cy="356113"/>
          </a:xfrm>
          <a:prstGeom prst="chevron">
            <a:avLst>
              <a:gd name="adj" fmla="val 30079"/>
            </a:avLst>
          </a:prstGeom>
          <a:solidFill>
            <a:srgbClr val="FFC5D8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3600" tIns="45715" rIns="3600" bIns="45715" anchor="ctr"/>
          <a:lstStyle/>
          <a:p>
            <a:pPr algn="ctr">
              <a:defRPr/>
            </a:pPr>
            <a:r>
              <a:rPr lang="en-US" altLang="ko-KR" sz="1600" b="1" dirty="0">
                <a:solidFill>
                  <a:schemeClr val="tx1"/>
                </a:solidFill>
                <a:latin typeface="+mn-ea"/>
              </a:rPr>
              <a:t>Implementation</a:t>
            </a:r>
            <a:endParaRPr lang="ko-KR" altLang="ko-KR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1" name="갈매기형 수장 101">
            <a:extLst>
              <a:ext uri="{FF2B5EF4-FFF2-40B4-BE49-F238E27FC236}">
                <a16:creationId xmlns:a16="http://schemas.microsoft.com/office/drawing/2014/main" id="{9AB05FF5-8535-4DEE-9BB0-0F0700E29E23}"/>
              </a:ext>
            </a:extLst>
          </p:cNvPr>
          <p:cNvSpPr/>
          <p:nvPr/>
        </p:nvSpPr>
        <p:spPr bwMode="auto">
          <a:xfrm>
            <a:off x="8121352" y="1358669"/>
            <a:ext cx="1296146" cy="356113"/>
          </a:xfrm>
          <a:prstGeom prst="chevron">
            <a:avLst>
              <a:gd name="adj" fmla="val 30079"/>
            </a:avLst>
          </a:prstGeom>
          <a:solidFill>
            <a:srgbClr val="99CCFF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3600" tIns="45715" rIns="3600" bIns="45715" anchor="ctr"/>
          <a:lstStyle/>
          <a:p>
            <a:pPr algn="ctr">
              <a:defRPr/>
            </a:pPr>
            <a:r>
              <a:rPr lang="en-US" altLang="ko-KR" sz="16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Test</a:t>
            </a:r>
          </a:p>
        </p:txBody>
      </p:sp>
      <p:sp>
        <p:nvSpPr>
          <p:cNvPr id="42" name="이등변 삼각형 41">
            <a:extLst>
              <a:ext uri="{FF2B5EF4-FFF2-40B4-BE49-F238E27FC236}">
                <a16:creationId xmlns:a16="http://schemas.microsoft.com/office/drawing/2014/main" id="{8A9E2B06-EE8E-4342-A17E-612D69F9BBC6}"/>
              </a:ext>
            </a:extLst>
          </p:cNvPr>
          <p:cNvSpPr/>
          <p:nvPr/>
        </p:nvSpPr>
        <p:spPr bwMode="auto">
          <a:xfrm>
            <a:off x="9250899" y="1815946"/>
            <a:ext cx="250825" cy="136525"/>
          </a:xfrm>
          <a:prstGeom prst="triangle">
            <a:avLst/>
          </a:prstGeom>
          <a:solidFill>
            <a:srgbClr val="EE2212"/>
          </a:solidFill>
          <a:ln>
            <a:solidFill>
              <a:srgbClr val="EE22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>
              <a:defRPr/>
            </a:pPr>
            <a:endParaRPr lang="ko-KR" altLang="en-US" dirty="0">
              <a:latin typeface="+mn-ea"/>
              <a:cs typeface="Arial" pitchFamily="34" charset="0"/>
            </a:endParaRPr>
          </a:p>
        </p:txBody>
      </p:sp>
      <p:sp>
        <p:nvSpPr>
          <p:cNvPr id="43" name="TextBox 107">
            <a:extLst>
              <a:ext uri="{FF2B5EF4-FFF2-40B4-BE49-F238E27FC236}">
                <a16:creationId xmlns:a16="http://schemas.microsoft.com/office/drawing/2014/main" id="{947F5F5D-602C-4F6E-9DD2-928A60BF8F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5408" y="1942227"/>
            <a:ext cx="1224136" cy="246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/>
            <a:r>
              <a:rPr lang="ko-KR" altLang="en-US" sz="1000" b="1" dirty="0">
                <a:latin typeface="+mn-ea"/>
                <a:ea typeface="+mn-ea"/>
              </a:rPr>
              <a:t>프로젝트종료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8C8C490-1869-44FC-A656-F7B6633CD6A5}"/>
              </a:ext>
            </a:extLst>
          </p:cNvPr>
          <p:cNvSpPr txBox="1"/>
          <p:nvPr/>
        </p:nvSpPr>
        <p:spPr>
          <a:xfrm>
            <a:off x="2216696" y="2276007"/>
            <a:ext cx="12069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+mn-ea"/>
                <a:ea typeface="+mn-ea"/>
              </a:rPr>
              <a:t>개발완료 프로그램</a:t>
            </a:r>
            <a:endParaRPr lang="en-US" altLang="ko-KR" sz="800" b="1" dirty="0">
              <a:latin typeface="+mn-ea"/>
              <a:ea typeface="+mn-ea"/>
            </a:endParaRPr>
          </a:p>
          <a:p>
            <a:r>
              <a:rPr lang="ko-KR" altLang="en-US" sz="800" b="1" dirty="0">
                <a:latin typeface="+mn-ea"/>
                <a:ea typeface="+mn-ea"/>
              </a:rPr>
              <a:t>단위테스트</a:t>
            </a:r>
            <a:r>
              <a:rPr lang="en-US" altLang="ko-KR" sz="800" b="1" dirty="0">
                <a:latin typeface="+mn-ea"/>
                <a:ea typeface="+mn-ea"/>
              </a:rPr>
              <a:t> (</a:t>
            </a:r>
            <a:r>
              <a:rPr lang="ko-KR" altLang="en-US" sz="800" b="1" dirty="0">
                <a:latin typeface="+mn-ea"/>
                <a:ea typeface="+mn-ea"/>
              </a:rPr>
              <a:t>정상구</a:t>
            </a:r>
            <a:r>
              <a:rPr lang="en-US" altLang="ko-KR" sz="800" b="1" dirty="0">
                <a:latin typeface="+mn-ea"/>
                <a:ea typeface="+mn-ea"/>
              </a:rPr>
              <a:t>)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95476CC-0BB0-4017-A3AE-1853DFFEA5D3}"/>
              </a:ext>
            </a:extLst>
          </p:cNvPr>
          <p:cNvSpPr txBox="1"/>
          <p:nvPr/>
        </p:nvSpPr>
        <p:spPr>
          <a:xfrm>
            <a:off x="2202014" y="2815642"/>
            <a:ext cx="12069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+mn-ea"/>
                <a:ea typeface="+mn-ea"/>
              </a:rPr>
              <a:t>화면표준안 샘플 작성</a:t>
            </a:r>
            <a:r>
              <a:rPr lang="en-US" altLang="ko-KR" sz="800" b="1" dirty="0">
                <a:latin typeface="+mn-ea"/>
                <a:ea typeface="+mn-ea"/>
              </a:rPr>
              <a:t>(</a:t>
            </a:r>
            <a:r>
              <a:rPr lang="ko-KR" altLang="en-US" sz="800" b="1" dirty="0">
                <a:latin typeface="+mn-ea"/>
                <a:ea typeface="+mn-ea"/>
              </a:rPr>
              <a:t>이종혁</a:t>
            </a:r>
            <a:r>
              <a:rPr lang="en-US" altLang="ko-KR" sz="800" b="1" dirty="0">
                <a:latin typeface="+mn-ea"/>
                <a:ea typeface="+mn-ea"/>
              </a:rPr>
              <a:t>)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107" name="갈매기형 수장 101">
            <a:extLst>
              <a:ext uri="{FF2B5EF4-FFF2-40B4-BE49-F238E27FC236}">
                <a16:creationId xmlns:a16="http://schemas.microsoft.com/office/drawing/2014/main" id="{454B19DC-C018-488E-BEFE-CD862D5F128F}"/>
              </a:ext>
            </a:extLst>
          </p:cNvPr>
          <p:cNvSpPr/>
          <p:nvPr/>
        </p:nvSpPr>
        <p:spPr bwMode="auto">
          <a:xfrm>
            <a:off x="8748308" y="6001932"/>
            <a:ext cx="669190" cy="356113"/>
          </a:xfrm>
          <a:prstGeom prst="chevron">
            <a:avLst>
              <a:gd name="adj" fmla="val 30079"/>
            </a:avLst>
          </a:prstGeom>
          <a:solidFill>
            <a:srgbClr val="99CCFF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3600" tIns="45715" rIns="3600" bIns="45715" anchor="ctr"/>
          <a:lstStyle/>
          <a:p>
            <a:pPr algn="ctr">
              <a:defRPr/>
            </a:pPr>
            <a:r>
              <a:rPr lang="en-US" altLang="ko-KR" sz="10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2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차</a:t>
            </a:r>
            <a:endParaRPr lang="en-US" altLang="ko-KR" sz="1000" b="1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108" name="갈매기형 수장 101">
            <a:extLst>
              <a:ext uri="{FF2B5EF4-FFF2-40B4-BE49-F238E27FC236}">
                <a16:creationId xmlns:a16="http://schemas.microsoft.com/office/drawing/2014/main" id="{308F6EF8-5EBE-4D7B-83B7-D7A5356C84DA}"/>
              </a:ext>
            </a:extLst>
          </p:cNvPr>
          <p:cNvSpPr/>
          <p:nvPr/>
        </p:nvSpPr>
        <p:spPr bwMode="auto">
          <a:xfrm>
            <a:off x="8103721" y="6001931"/>
            <a:ext cx="644587" cy="356113"/>
          </a:xfrm>
          <a:prstGeom prst="chevron">
            <a:avLst>
              <a:gd name="adj" fmla="val 30079"/>
            </a:avLst>
          </a:prstGeom>
          <a:solidFill>
            <a:srgbClr val="99CCFF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3600" tIns="45715" rIns="3600" bIns="45715" anchor="ctr"/>
          <a:lstStyle/>
          <a:p>
            <a:pPr algn="ctr">
              <a:defRPr/>
            </a:pPr>
            <a:r>
              <a:rPr lang="en-US" altLang="ko-KR" sz="10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1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차</a:t>
            </a:r>
            <a:endParaRPr lang="en-US" altLang="ko-KR" sz="1000" b="1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109" name="갈매기형 수장 146">
            <a:extLst>
              <a:ext uri="{FF2B5EF4-FFF2-40B4-BE49-F238E27FC236}">
                <a16:creationId xmlns:a16="http://schemas.microsoft.com/office/drawing/2014/main" id="{79815396-D02B-4E44-8291-2475F6B45827}"/>
              </a:ext>
            </a:extLst>
          </p:cNvPr>
          <p:cNvSpPr/>
          <p:nvPr/>
        </p:nvSpPr>
        <p:spPr bwMode="auto">
          <a:xfrm>
            <a:off x="1545694" y="2260288"/>
            <a:ext cx="671002" cy="356113"/>
          </a:xfrm>
          <a:prstGeom prst="chevron">
            <a:avLst>
              <a:gd name="adj" fmla="val 30079"/>
            </a:avLst>
          </a:prstGeom>
          <a:solidFill>
            <a:srgbClr val="FFC5D8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3600" tIns="45715" rIns="3600" bIns="45715" anchor="ctr"/>
          <a:lstStyle/>
          <a:p>
            <a:pPr algn="ctr">
              <a:defRPr/>
            </a:pP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테스트</a:t>
            </a:r>
            <a:endParaRPr lang="ko-KR" altLang="ko-KR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0" name="갈매기형 수장 146">
            <a:extLst>
              <a:ext uri="{FF2B5EF4-FFF2-40B4-BE49-F238E27FC236}">
                <a16:creationId xmlns:a16="http://schemas.microsoft.com/office/drawing/2014/main" id="{21CE1CD3-501E-4C03-95E0-A8E9797C3B54}"/>
              </a:ext>
            </a:extLst>
          </p:cNvPr>
          <p:cNvSpPr/>
          <p:nvPr/>
        </p:nvSpPr>
        <p:spPr bwMode="auto">
          <a:xfrm>
            <a:off x="4180808" y="2267227"/>
            <a:ext cx="2590679" cy="356113"/>
          </a:xfrm>
          <a:prstGeom prst="chevron">
            <a:avLst>
              <a:gd name="adj" fmla="val 30079"/>
            </a:avLst>
          </a:prstGeom>
          <a:solidFill>
            <a:srgbClr val="FFC5D8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3600" tIns="45715" rIns="3600" bIns="45715" anchor="ctr"/>
          <a:lstStyle/>
          <a:p>
            <a:pPr algn="ctr">
              <a:defRPr/>
            </a:pP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테스트</a:t>
            </a:r>
            <a:endParaRPr lang="ko-KR" altLang="ko-KR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1" name="갈매기형 수장 146">
            <a:extLst>
              <a:ext uri="{FF2B5EF4-FFF2-40B4-BE49-F238E27FC236}">
                <a16:creationId xmlns:a16="http://schemas.microsoft.com/office/drawing/2014/main" id="{A6FB6693-CE87-498A-B19F-1EB63F7BB8F6}"/>
              </a:ext>
            </a:extLst>
          </p:cNvPr>
          <p:cNvSpPr/>
          <p:nvPr/>
        </p:nvSpPr>
        <p:spPr bwMode="auto">
          <a:xfrm>
            <a:off x="1532860" y="2798083"/>
            <a:ext cx="671002" cy="356113"/>
          </a:xfrm>
          <a:prstGeom prst="chevron">
            <a:avLst>
              <a:gd name="adj" fmla="val 30079"/>
            </a:avLst>
          </a:prstGeom>
          <a:solidFill>
            <a:srgbClr val="FFC5D8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3600" tIns="45715" rIns="3600" bIns="45715" anchor="ctr"/>
          <a:lstStyle/>
          <a:p>
            <a:pPr algn="ctr">
              <a:defRPr/>
            </a:pP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표준화</a:t>
            </a:r>
            <a:endParaRPr lang="ko-KR" altLang="ko-KR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2" name="갈매기형 수장 146">
            <a:extLst>
              <a:ext uri="{FF2B5EF4-FFF2-40B4-BE49-F238E27FC236}">
                <a16:creationId xmlns:a16="http://schemas.microsoft.com/office/drawing/2014/main" id="{116899CE-C99A-4436-86D4-4A6CF4107802}"/>
              </a:ext>
            </a:extLst>
          </p:cNvPr>
          <p:cNvSpPr/>
          <p:nvPr/>
        </p:nvSpPr>
        <p:spPr bwMode="auto">
          <a:xfrm>
            <a:off x="4180809" y="3335959"/>
            <a:ext cx="1276247" cy="356113"/>
          </a:xfrm>
          <a:prstGeom prst="chevron">
            <a:avLst>
              <a:gd name="adj" fmla="val 30079"/>
            </a:avLst>
          </a:prstGeom>
          <a:solidFill>
            <a:srgbClr val="FFC5D8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3600" tIns="45715" rIns="3600" bIns="45715" anchor="ctr"/>
          <a:lstStyle/>
          <a:p>
            <a:pPr algn="ctr">
              <a:defRPr/>
            </a:pP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개발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(TBD)</a:t>
            </a:r>
            <a:endParaRPr lang="ko-KR" altLang="ko-KR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3" name="갈매기형 수장 146">
            <a:extLst>
              <a:ext uri="{FF2B5EF4-FFF2-40B4-BE49-F238E27FC236}">
                <a16:creationId xmlns:a16="http://schemas.microsoft.com/office/drawing/2014/main" id="{31AFF416-B18A-43BB-8E7E-E96A80437854}"/>
              </a:ext>
            </a:extLst>
          </p:cNvPr>
          <p:cNvSpPr/>
          <p:nvPr/>
        </p:nvSpPr>
        <p:spPr bwMode="auto">
          <a:xfrm>
            <a:off x="4159395" y="3871604"/>
            <a:ext cx="1297661" cy="356113"/>
          </a:xfrm>
          <a:prstGeom prst="chevron">
            <a:avLst>
              <a:gd name="adj" fmla="val 30079"/>
            </a:avLst>
          </a:prstGeom>
          <a:solidFill>
            <a:srgbClr val="FFC5D8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3600" tIns="45715" rIns="3600" bIns="45715" anchor="ctr"/>
          <a:lstStyle/>
          <a:p>
            <a:pPr algn="ctr">
              <a:defRPr/>
            </a:pP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개발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(TBD)</a:t>
            </a:r>
            <a:endParaRPr lang="ko-KR" altLang="ko-KR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4" name="갈매기형 수장 146">
            <a:extLst>
              <a:ext uri="{FF2B5EF4-FFF2-40B4-BE49-F238E27FC236}">
                <a16:creationId xmlns:a16="http://schemas.microsoft.com/office/drawing/2014/main" id="{3A19518C-3D27-4827-9091-F4D1F303C85E}"/>
              </a:ext>
            </a:extLst>
          </p:cNvPr>
          <p:cNvSpPr/>
          <p:nvPr/>
        </p:nvSpPr>
        <p:spPr bwMode="auto">
          <a:xfrm>
            <a:off x="2201772" y="4398275"/>
            <a:ext cx="1957623" cy="356113"/>
          </a:xfrm>
          <a:prstGeom prst="chevron">
            <a:avLst>
              <a:gd name="adj" fmla="val 30079"/>
            </a:avLst>
          </a:prstGeom>
          <a:solidFill>
            <a:srgbClr val="FFC5D8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3600" tIns="45715" rIns="3600" bIns="45715" anchor="ctr"/>
          <a:lstStyle/>
          <a:p>
            <a:pPr algn="ctr">
              <a:defRPr/>
            </a:pP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개발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정상구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,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이종혁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)</a:t>
            </a:r>
            <a:endParaRPr lang="ko-KR" altLang="ko-KR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5" name="갈매기형 수장 146">
            <a:extLst>
              <a:ext uri="{FF2B5EF4-FFF2-40B4-BE49-F238E27FC236}">
                <a16:creationId xmlns:a16="http://schemas.microsoft.com/office/drawing/2014/main" id="{A04841EA-5447-4CD0-B54D-B088F5E246B2}"/>
              </a:ext>
            </a:extLst>
          </p:cNvPr>
          <p:cNvSpPr/>
          <p:nvPr/>
        </p:nvSpPr>
        <p:spPr bwMode="auto">
          <a:xfrm>
            <a:off x="4180808" y="4940336"/>
            <a:ext cx="2590679" cy="356113"/>
          </a:xfrm>
          <a:prstGeom prst="chevron">
            <a:avLst>
              <a:gd name="adj" fmla="val 30079"/>
            </a:avLst>
          </a:prstGeom>
          <a:solidFill>
            <a:srgbClr val="FFC5D8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3600" tIns="45715" rIns="3600" bIns="45715" anchor="ctr"/>
          <a:lstStyle/>
          <a:p>
            <a:pPr algn="ctr">
              <a:defRPr/>
            </a:pP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개발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이종혁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)</a:t>
            </a:r>
            <a:endParaRPr lang="ko-KR" altLang="ko-KR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6" name="갈매기형 수장 146">
            <a:extLst>
              <a:ext uri="{FF2B5EF4-FFF2-40B4-BE49-F238E27FC236}">
                <a16:creationId xmlns:a16="http://schemas.microsoft.com/office/drawing/2014/main" id="{055C1648-5853-4DB6-B417-C646E5571D3F}"/>
              </a:ext>
            </a:extLst>
          </p:cNvPr>
          <p:cNvSpPr/>
          <p:nvPr/>
        </p:nvSpPr>
        <p:spPr bwMode="auto">
          <a:xfrm>
            <a:off x="2201771" y="5472656"/>
            <a:ext cx="1957623" cy="356113"/>
          </a:xfrm>
          <a:prstGeom prst="chevron">
            <a:avLst>
              <a:gd name="adj" fmla="val 30079"/>
            </a:avLst>
          </a:prstGeom>
          <a:solidFill>
            <a:srgbClr val="FFC5D8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3600" tIns="45715" rIns="3600" bIns="45715" anchor="ctr"/>
          <a:lstStyle/>
          <a:p>
            <a:pPr algn="ctr">
              <a:defRPr/>
            </a:pP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표준안 기준 수정</a:t>
            </a:r>
            <a:endParaRPr lang="en-US" altLang="ko-KR" sz="1000" b="1" dirty="0">
              <a:solidFill>
                <a:schemeClr val="tx1"/>
              </a:solidFill>
              <a:latin typeface="+mn-ea"/>
            </a:endParaRPr>
          </a:p>
          <a:p>
            <a:pPr algn="ctr">
              <a:defRPr/>
            </a:pP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테스트 오류 수정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(TBD)</a:t>
            </a:r>
            <a:endParaRPr lang="ko-KR" altLang="ko-KR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7" name="갈매기형 수장 146">
            <a:extLst>
              <a:ext uri="{FF2B5EF4-FFF2-40B4-BE49-F238E27FC236}">
                <a16:creationId xmlns:a16="http://schemas.microsoft.com/office/drawing/2014/main" id="{30F3DEC0-2369-444A-90D5-BCD34191C87C}"/>
              </a:ext>
            </a:extLst>
          </p:cNvPr>
          <p:cNvSpPr/>
          <p:nvPr/>
        </p:nvSpPr>
        <p:spPr bwMode="auto">
          <a:xfrm>
            <a:off x="5501691" y="5472655"/>
            <a:ext cx="3915807" cy="356113"/>
          </a:xfrm>
          <a:prstGeom prst="chevron">
            <a:avLst>
              <a:gd name="adj" fmla="val 30079"/>
            </a:avLst>
          </a:prstGeom>
          <a:solidFill>
            <a:srgbClr val="FFC5D8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3600" tIns="45715" rIns="3600" bIns="45715" anchor="ctr"/>
          <a:lstStyle/>
          <a:p>
            <a:pPr algn="ctr">
              <a:defRPr/>
            </a:pP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표준안 기준 수정</a:t>
            </a:r>
            <a:endParaRPr lang="en-US" altLang="ko-KR" sz="1000" b="1" dirty="0">
              <a:solidFill>
                <a:schemeClr val="tx1"/>
              </a:solidFill>
              <a:latin typeface="+mn-ea"/>
            </a:endParaRPr>
          </a:p>
          <a:p>
            <a:pPr algn="ctr">
              <a:defRPr/>
            </a:pP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테스트 오류 수정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(TBD)</a:t>
            </a:r>
            <a:endParaRPr lang="ko-KR" altLang="ko-KR" sz="10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77693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19614</TotalTime>
  <Words>130</Words>
  <Application>Microsoft Office PowerPoint</Application>
  <PresentationFormat>A4 용지(210x297mm)</PresentationFormat>
  <Paragraphs>57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0" baseType="lpstr">
      <vt:lpstr>Impact</vt:lpstr>
      <vt:lpstr>Calibri</vt:lpstr>
      <vt:lpstr>맑은 고딕</vt:lpstr>
      <vt:lpstr>Arial</vt:lpstr>
      <vt:lpstr>굴림</vt:lpstr>
      <vt:lpstr>HY헤드라인M</vt:lpstr>
      <vt:lpstr>Office 테마</vt:lpstr>
      <vt:lpstr>Paragon™ WMS 개발 일정</vt:lpstr>
      <vt:lpstr>1. 프로젝트 개발 일정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jklee</dc:creator>
  <cp:lastModifiedBy>정상구</cp:lastModifiedBy>
  <cp:revision>917</cp:revision>
  <cp:lastPrinted>2016-10-10T00:41:09Z</cp:lastPrinted>
  <dcterms:created xsi:type="dcterms:W3CDTF">2012-09-18T14:42:59Z</dcterms:created>
  <dcterms:modified xsi:type="dcterms:W3CDTF">2017-08-04T03:59:57Z</dcterms:modified>
</cp:coreProperties>
</file>