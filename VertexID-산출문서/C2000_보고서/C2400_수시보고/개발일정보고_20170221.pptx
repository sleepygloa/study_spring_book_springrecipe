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529" r:id="rId2"/>
    <p:sldId id="532" r:id="rId3"/>
    <p:sldId id="530" r:id="rId4"/>
    <p:sldId id="528" r:id="rId5"/>
    <p:sldId id="531" r:id="rId6"/>
  </p:sldIdLst>
  <p:sldSz cx="9906000" cy="6858000" type="A4"/>
  <p:notesSz cx="6735763" cy="9866313"/>
  <p:embeddedFontLst>
    <p:embeddedFont>
      <p:font typeface="HY헤드라인M" panose="02030600000101010101" pitchFamily="18" charset="-127"/>
      <p:regular r:id="rId9"/>
    </p:embeddedFont>
    <p:embeddedFont>
      <p:font typeface="Impact" panose="020B0806030902050204" pitchFamily="34" charset="0"/>
      <p:regular r:id="rId10"/>
    </p:embeddedFont>
    <p:embeddedFont>
      <p:font typeface="맑은 고딕" panose="020B0503020000020004" pitchFamily="50" charset="-127"/>
      <p:regular r:id="rId11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orient="horz" pos="799">
          <p15:clr>
            <a:srgbClr val="A4A3A4"/>
          </p15:clr>
        </p15:guide>
        <p15:guide id="3" orient="horz" pos="935">
          <p15:clr>
            <a:srgbClr val="A4A3A4"/>
          </p15:clr>
        </p15:guide>
        <p15:guide id="4" orient="horz" pos="2840">
          <p15:clr>
            <a:srgbClr val="A4A3A4"/>
          </p15:clr>
        </p15:guide>
        <p15:guide id="5" orient="horz" pos="4020">
          <p15:clr>
            <a:srgbClr val="A4A3A4"/>
          </p15:clr>
        </p15:guide>
        <p15:guide id="6" orient="horz" pos="1071">
          <p15:clr>
            <a:srgbClr val="A4A3A4"/>
          </p15:clr>
        </p15:guide>
        <p15:guide id="7" pos="398">
          <p15:clr>
            <a:srgbClr val="A4A3A4"/>
          </p15:clr>
        </p15:guide>
        <p15:guide id="8" pos="58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67D9"/>
    <a:srgbClr val="2B637F"/>
    <a:srgbClr val="99CCFF"/>
    <a:srgbClr val="FFC5D8"/>
    <a:srgbClr val="FFFF99"/>
    <a:srgbClr val="FFCC00"/>
    <a:srgbClr val="2D6AAB"/>
    <a:srgbClr val="609DC6"/>
    <a:srgbClr val="FF9966"/>
    <a:srgbClr val="71B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0" autoAdjust="0"/>
    <p:restoredTop sz="91889" autoAdjust="0"/>
  </p:normalViewPr>
  <p:slideViewPr>
    <p:cSldViewPr showGuides="1">
      <p:cViewPr varScale="1">
        <p:scale>
          <a:sx n="99" d="100"/>
          <a:sy n="99" d="100"/>
        </p:scale>
        <p:origin x="1608" y="84"/>
      </p:cViewPr>
      <p:guideLst>
        <p:guide orient="horz" pos="4110"/>
        <p:guide orient="horz" pos="799"/>
        <p:guide orient="horz" pos="935"/>
        <p:guide orient="horz" pos="2840"/>
        <p:guide orient="horz" pos="4020"/>
        <p:guide orient="horz" pos="1071"/>
        <p:guide pos="398"/>
        <p:guide pos="5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notesViewPr>
    <p:cSldViewPr showGuides="1">
      <p:cViewPr varScale="1">
        <p:scale>
          <a:sx n="60" d="100"/>
          <a:sy n="60" d="100"/>
        </p:scale>
        <p:origin x="-1992" y="-72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B5C5B8F-D462-4368-8461-2A60FAE35D92}" type="datetimeFigureOut">
              <a:rPr lang="ko-KR" altLang="en-US"/>
              <a:pPr>
                <a:defRPr/>
              </a:pPr>
              <a:t>2017-02-21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FE4ED75-30A7-42E0-9F19-2CC082FBE22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968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3711D15-A793-43C2-95F3-0EE608434B71}" type="datetimeFigureOut">
              <a:rPr lang="ko-KR" altLang="en-US"/>
              <a:pPr>
                <a:defRPr/>
              </a:pPr>
              <a:t>2017-02-21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95325" y="739775"/>
            <a:ext cx="53451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100" y="4686300"/>
            <a:ext cx="5389563" cy="44402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D87132A-BE77-42D3-A4C4-E7B6344462E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3309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32440"/>
          <a:stretch>
            <a:fillRect/>
          </a:stretch>
        </p:blipFill>
        <p:spPr bwMode="auto">
          <a:xfrm rot="10800000">
            <a:off x="0" y="-4143"/>
            <a:ext cx="9906000" cy="3861048"/>
          </a:xfrm>
          <a:prstGeom prst="rect">
            <a:avLst/>
          </a:prstGeom>
          <a:noFill/>
        </p:spPr>
      </p:pic>
      <p:cxnSp>
        <p:nvCxnSpPr>
          <p:cNvPr id="5" name="직선 연결선 4"/>
          <p:cNvCxnSpPr/>
          <p:nvPr userDrawn="1"/>
        </p:nvCxnSpPr>
        <p:spPr>
          <a:xfrm>
            <a:off x="1052513" y="4929188"/>
            <a:ext cx="0" cy="719137"/>
          </a:xfrm>
          <a:prstGeom prst="line">
            <a:avLst/>
          </a:prstGeom>
          <a:ln w="76200">
            <a:solidFill>
              <a:schemeClr val="accent1">
                <a:alpha val="58039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387" y="5949280"/>
            <a:ext cx="1415407" cy="340525"/>
          </a:xfrm>
          <a:prstGeom prst="rect">
            <a:avLst/>
          </a:prstGeom>
        </p:spPr>
      </p:pic>
      <p:sp>
        <p:nvSpPr>
          <p:cNvPr id="7" name="제목 1"/>
          <p:cNvSpPr>
            <a:spLocks noGrp="1"/>
          </p:cNvSpPr>
          <p:nvPr>
            <p:ph type="ctrTitle"/>
          </p:nvPr>
        </p:nvSpPr>
        <p:spPr>
          <a:xfrm>
            <a:off x="1208584" y="4797153"/>
            <a:ext cx="8697416" cy="578495"/>
          </a:xfrm>
        </p:spPr>
        <p:txBody>
          <a:bodyPr>
            <a:noAutofit/>
          </a:bodyPr>
          <a:lstStyle>
            <a:lvl1pPr algn="l">
              <a:defRPr lang="ko-KR" altLang="en-US" sz="3200" b="0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부제목 2"/>
          <p:cNvSpPr>
            <a:spLocks noGrp="1"/>
          </p:cNvSpPr>
          <p:nvPr>
            <p:ph type="subTitle" idx="1"/>
          </p:nvPr>
        </p:nvSpPr>
        <p:spPr>
          <a:xfrm>
            <a:off x="1208317" y="5396456"/>
            <a:ext cx="8691464" cy="360040"/>
          </a:xfrm>
        </p:spPr>
        <p:txBody>
          <a:bodyPr>
            <a:noAutofit/>
          </a:bodyPr>
          <a:lstStyle>
            <a:lvl1pPr marL="0" indent="0" algn="l">
              <a:buNone/>
              <a:defRPr sz="1400" b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31339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C:\Users\msk\Desktop\abstract-blue-backgrounds-14_1920x1200_71472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751" b="22360"/>
          <a:stretch>
            <a:fillRect/>
          </a:stretch>
        </p:blipFill>
        <p:spPr bwMode="auto">
          <a:xfrm>
            <a:off x="272481" y="0"/>
            <a:ext cx="9633521" cy="4437112"/>
          </a:xfrm>
          <a:prstGeom prst="rect">
            <a:avLst/>
          </a:prstGeom>
          <a:noFill/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920" y="5949280"/>
            <a:ext cx="1415407" cy="34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147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43700" t="32440"/>
          <a:stretch>
            <a:fillRect/>
          </a:stretch>
        </p:blipFill>
        <p:spPr bwMode="auto">
          <a:xfrm rot="10800000">
            <a:off x="0" y="0"/>
            <a:ext cx="9906000" cy="6858000"/>
          </a:xfrm>
          <a:prstGeom prst="rect">
            <a:avLst/>
          </a:prstGeom>
          <a:noFill/>
        </p:spPr>
      </p:pic>
      <p:pic>
        <p:nvPicPr>
          <p:cNvPr id="4" name="그림 3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920" y="5949280"/>
            <a:ext cx="1415407" cy="340525"/>
          </a:xfrm>
          <a:prstGeom prst="rect">
            <a:avLst/>
          </a:prstGeom>
        </p:spPr>
      </p:pic>
      <p:sp>
        <p:nvSpPr>
          <p:cNvPr id="15" name="제목 1"/>
          <p:cNvSpPr>
            <a:spLocks noGrp="1"/>
          </p:cNvSpPr>
          <p:nvPr>
            <p:ph type="ctrTitle"/>
          </p:nvPr>
        </p:nvSpPr>
        <p:spPr>
          <a:xfrm>
            <a:off x="1" y="2636912"/>
            <a:ext cx="9906000" cy="1584176"/>
          </a:xfrm>
          <a:solidFill>
            <a:srgbClr val="0070C0">
              <a:alpha val="30196"/>
            </a:srgbClr>
          </a:solidFill>
        </p:spPr>
        <p:txBody>
          <a:bodyPr wrap="none">
            <a:noAutofit/>
          </a:bodyPr>
          <a:lstStyle>
            <a:lvl1pPr algn="r">
              <a:defRPr lang="ko-KR" altLang="en-US" sz="40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56021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1" descr="2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직선 연결선 3"/>
          <p:cNvCxnSpPr/>
          <p:nvPr userDrawn="1"/>
        </p:nvCxnSpPr>
        <p:spPr>
          <a:xfrm>
            <a:off x="128536" y="728663"/>
            <a:ext cx="9648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 userDrawn="1"/>
        </p:nvCxnSpPr>
        <p:spPr>
          <a:xfrm>
            <a:off x="631825" y="6480175"/>
            <a:ext cx="79883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825" y="6500698"/>
            <a:ext cx="816894" cy="196532"/>
          </a:xfrm>
          <a:prstGeom prst="rect">
            <a:avLst/>
          </a:prstGeom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990600" y="260648"/>
            <a:ext cx="8915400" cy="413196"/>
          </a:xfrm>
        </p:spPr>
        <p:txBody>
          <a:bodyPr>
            <a:noAutofit/>
          </a:bodyPr>
          <a:lstStyle>
            <a:lvl1pPr algn="r"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맑은 고딕" pitchFamily="50" charset="-127"/>
                <a:ea typeface="맑은 고딕" pitchFamily="50" charset="-127"/>
                <a:cs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4304928" y="6500698"/>
            <a:ext cx="18722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FEF0503B-FA2D-4260-AC18-6FC3139BAA53}" type="slidenum">
              <a:rPr lang="en-US" altLang="ko-KR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6877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C:\Users\msk\Desktop\abstract-blue-backgrounds-14_1920x1200_71472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751" b="22360"/>
          <a:stretch>
            <a:fillRect/>
          </a:stretch>
        </p:blipFill>
        <p:spPr bwMode="auto">
          <a:xfrm rot="16200000">
            <a:off x="-1077200" y="1077201"/>
            <a:ext cx="4689131" cy="2534731"/>
          </a:xfrm>
          <a:prstGeom prst="rect">
            <a:avLst/>
          </a:prstGeom>
          <a:noFill/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911" y="5949280"/>
            <a:ext cx="1415407" cy="340525"/>
          </a:xfrm>
          <a:prstGeom prst="rect">
            <a:avLst/>
          </a:prstGeom>
        </p:spPr>
      </p:pic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54375" y="2667000"/>
            <a:ext cx="396557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r>
              <a:rPr lang="en-US" altLang="ko-KR" sz="6000" b="1">
                <a:solidFill>
                  <a:srgbClr val="595959"/>
                </a:solidFill>
                <a:latin typeface="Impact" pitchFamily="34" charset="0"/>
                <a:ea typeface="맑은 고딕" pitchFamily="50" charset="-127"/>
              </a:rPr>
              <a:t>Thank </a:t>
            </a:r>
          </a:p>
          <a:p>
            <a:pPr algn="ctr" eaLnBrk="1" hangingPunct="1">
              <a:defRPr/>
            </a:pPr>
            <a:r>
              <a:rPr lang="en-US" altLang="ko-KR" sz="6000" b="1">
                <a:solidFill>
                  <a:srgbClr val="595959"/>
                </a:solidFill>
                <a:latin typeface="Impact" pitchFamily="34" charset="0"/>
                <a:ea typeface="맑은 고딕" pitchFamily="50" charset="-127"/>
              </a:rPr>
              <a:t>You</a:t>
            </a:r>
            <a:endParaRPr lang="en-IN" altLang="ko-KR" sz="6000" b="1">
              <a:solidFill>
                <a:srgbClr val="595959"/>
              </a:solidFill>
              <a:latin typeface="Impact" pitchFamily="34" charset="0"/>
              <a:ea typeface="맑은 고딕" pitchFamily="50" charset="-127"/>
            </a:endParaRP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498725" y="914400"/>
            <a:ext cx="2043113" cy="5029200"/>
            <a:chOff x="2211857" y="838200"/>
            <a:chExt cx="2043338" cy="5029200"/>
          </a:xfrm>
        </p:grpSpPr>
        <p:sp>
          <p:nvSpPr>
            <p:cNvPr id="6" name="Rectangle 3"/>
            <p:cNvSpPr/>
            <p:nvPr/>
          </p:nvSpPr>
          <p:spPr>
            <a:xfrm rot="5400000">
              <a:off x="1779068" y="2553073"/>
              <a:ext cx="3124198" cy="1828056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noFill/>
              <a:prstDash val="solid"/>
            </a:ln>
            <a:effectLst>
              <a:softEdge rad="317500"/>
            </a:effectLst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IN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 rot="5400000">
              <a:off x="610965" y="2439092"/>
              <a:ext cx="5029200" cy="18274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en-IN" altLang="ko-KR">
                <a:solidFill>
                  <a:srgbClr val="595959"/>
                </a:solidFill>
                <a:latin typeface="Calibri" pitchFamily="34" charset="0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9692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631825" y="6480175"/>
            <a:ext cx="79883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825" y="6500698"/>
            <a:ext cx="816894" cy="196532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4304928" y="6500698"/>
            <a:ext cx="18722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FEF0503B-FA2D-4260-AC18-6FC3139BAA53}" type="slidenum">
              <a:rPr lang="en-US" altLang="ko-KR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128536" y="728663"/>
            <a:ext cx="9648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제목 8"/>
          <p:cNvSpPr>
            <a:spLocks noGrp="1"/>
          </p:cNvSpPr>
          <p:nvPr>
            <p:ph type="title"/>
          </p:nvPr>
        </p:nvSpPr>
        <p:spPr>
          <a:xfrm>
            <a:off x="990600" y="260648"/>
            <a:ext cx="8915400" cy="413196"/>
          </a:xfrm>
        </p:spPr>
        <p:txBody>
          <a:bodyPr>
            <a:noAutofit/>
          </a:bodyPr>
          <a:lstStyle>
            <a:lvl1pPr algn="r"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맑은 고딕" pitchFamily="50" charset="-127"/>
                <a:ea typeface="맑은 고딕" pitchFamily="50" charset="-127"/>
                <a:cs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5815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C:\Users\msk\Desktop\abstract-blue-backgrounds-14_1920x1200_71472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751" b="22360"/>
          <a:stretch>
            <a:fillRect/>
          </a:stretch>
        </p:blipFill>
        <p:spPr bwMode="auto">
          <a:xfrm flipH="1">
            <a:off x="0" y="1"/>
            <a:ext cx="2768757" cy="1291233"/>
          </a:xfrm>
          <a:prstGeom prst="rect">
            <a:avLst/>
          </a:prstGeom>
          <a:noFill/>
        </p:spPr>
      </p:pic>
      <p:cxnSp>
        <p:nvCxnSpPr>
          <p:cNvPr id="4" name="직선 연결선 3"/>
          <p:cNvCxnSpPr/>
          <p:nvPr userDrawn="1"/>
        </p:nvCxnSpPr>
        <p:spPr>
          <a:xfrm>
            <a:off x="1365250" y="728663"/>
            <a:ext cx="842486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 userDrawn="1"/>
        </p:nvCxnSpPr>
        <p:spPr>
          <a:xfrm>
            <a:off x="631825" y="6480175"/>
            <a:ext cx="79883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825" y="6500698"/>
            <a:ext cx="816894" cy="196532"/>
          </a:xfrm>
          <a:prstGeom prst="rect">
            <a:avLst/>
          </a:prstGeom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990600" y="260648"/>
            <a:ext cx="8915400" cy="413196"/>
          </a:xfrm>
        </p:spPr>
        <p:txBody>
          <a:bodyPr>
            <a:noAutofit/>
          </a:bodyPr>
          <a:lstStyle>
            <a:lvl1pPr algn="r"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Y헤드라인M" pitchFamily="18" charset="-127"/>
                <a:ea typeface="HY헤드라인M" pitchFamily="18" charset="-127"/>
                <a:cs typeface="HY헤드라인M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797300" y="6356350"/>
            <a:ext cx="23114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1D2EE030-A7DE-4C17-93AC-52097598BAF1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61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513930C-376A-4F5D-8FE2-8A220761C92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3" r:id="rId6"/>
    <p:sldLayoutId id="2147483724" r:id="rId7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  <a:ea typeface="+mn-ea"/>
              </a:rPr>
              <a:t>개발 일정계획</a:t>
            </a:r>
          </a:p>
        </p:txBody>
      </p:sp>
      <p:sp>
        <p:nvSpPr>
          <p:cNvPr id="7" name="부제목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2017. 02. 21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7535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  <a:ea typeface="+mn-ea"/>
              </a:rPr>
              <a:t>인력 투입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520" y="6309900"/>
            <a:ext cx="41395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* </a:t>
            </a:r>
            <a:r>
              <a:rPr lang="ko-KR" altLang="en-US" sz="800" dirty="0">
                <a:latin typeface="+mn-ea"/>
                <a:ea typeface="+mn-ea"/>
              </a:rPr>
              <a:t>등급별 원가</a:t>
            </a:r>
            <a:r>
              <a:rPr lang="en-US" altLang="ko-KR" sz="800" dirty="0">
                <a:latin typeface="+mn-ea"/>
                <a:ea typeface="+mn-ea"/>
              </a:rPr>
              <a:t>(</a:t>
            </a:r>
            <a:r>
              <a:rPr lang="ko-KR" altLang="en-US" sz="800" dirty="0">
                <a:latin typeface="+mn-ea"/>
                <a:ea typeface="+mn-ea"/>
              </a:rPr>
              <a:t>천원</a:t>
            </a:r>
            <a:r>
              <a:rPr lang="en-US" altLang="ko-KR" sz="800" dirty="0">
                <a:latin typeface="+mn-ea"/>
                <a:ea typeface="+mn-ea"/>
              </a:rPr>
              <a:t>)</a:t>
            </a:r>
            <a:r>
              <a:rPr lang="ko-KR" altLang="en-US" sz="800" dirty="0">
                <a:latin typeface="+mn-ea"/>
                <a:ea typeface="+mn-ea"/>
              </a:rPr>
              <a:t>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초급</a:t>
            </a:r>
            <a:r>
              <a:rPr lang="en-US" altLang="ko-KR" sz="800" dirty="0">
                <a:latin typeface="+mn-ea"/>
                <a:ea typeface="+mn-ea"/>
              </a:rPr>
              <a:t>-5,000, </a:t>
            </a:r>
            <a:r>
              <a:rPr lang="ko-KR" altLang="en-US" sz="800" dirty="0">
                <a:latin typeface="+mn-ea"/>
                <a:ea typeface="+mn-ea"/>
              </a:rPr>
              <a:t>중급</a:t>
            </a:r>
            <a:r>
              <a:rPr lang="en-US" altLang="ko-KR" sz="800" dirty="0">
                <a:latin typeface="+mn-ea"/>
                <a:ea typeface="+mn-ea"/>
              </a:rPr>
              <a:t>-6,000, </a:t>
            </a:r>
            <a:r>
              <a:rPr lang="ko-KR" altLang="en-US" sz="800" dirty="0">
                <a:latin typeface="+mn-ea"/>
                <a:ea typeface="+mn-ea"/>
              </a:rPr>
              <a:t>고급</a:t>
            </a:r>
            <a:r>
              <a:rPr lang="en-US" altLang="ko-KR" sz="800" dirty="0">
                <a:latin typeface="+mn-ea"/>
                <a:ea typeface="+mn-ea"/>
              </a:rPr>
              <a:t>-7,000, </a:t>
            </a:r>
            <a:r>
              <a:rPr lang="ko-KR" altLang="en-US" sz="800" dirty="0">
                <a:latin typeface="+mn-ea"/>
                <a:ea typeface="+mn-ea"/>
              </a:rPr>
              <a:t>특급</a:t>
            </a:r>
            <a:r>
              <a:rPr lang="en-US" altLang="ko-KR" sz="800" dirty="0">
                <a:latin typeface="+mn-ea"/>
                <a:ea typeface="+mn-ea"/>
              </a:rPr>
              <a:t>-8,000 </a:t>
            </a:r>
            <a:r>
              <a:rPr lang="ko-KR" altLang="en-US" sz="800" dirty="0">
                <a:latin typeface="+mn-ea"/>
                <a:ea typeface="+mn-ea"/>
              </a:rPr>
              <a:t>기준으로 산정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192355"/>
              </p:ext>
            </p:extLst>
          </p:nvPr>
        </p:nvGraphicFramePr>
        <p:xfrm>
          <a:off x="564151" y="1052155"/>
          <a:ext cx="8853345" cy="52086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8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7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47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7546">
                  <a:extLst>
                    <a:ext uri="{9D8B030D-6E8A-4147-A177-3AD203B41FA5}">
                      <a16:colId xmlns:a16="http://schemas.microsoft.com/office/drawing/2014/main" val="375241289"/>
                    </a:ext>
                  </a:extLst>
                </a:gridCol>
                <a:gridCol w="4813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13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13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132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132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132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1326">
                  <a:extLst>
                    <a:ext uri="{9D8B030D-6E8A-4147-A177-3AD203B41FA5}">
                      <a16:colId xmlns:a16="http://schemas.microsoft.com/office/drawing/2014/main" val="64412455"/>
                    </a:ext>
                  </a:extLst>
                </a:gridCol>
                <a:gridCol w="481326">
                  <a:extLst>
                    <a:ext uri="{9D8B030D-6E8A-4147-A177-3AD203B41FA5}">
                      <a16:colId xmlns:a16="http://schemas.microsoft.com/office/drawing/2014/main" val="4088345296"/>
                    </a:ext>
                  </a:extLst>
                </a:gridCol>
                <a:gridCol w="481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61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613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역할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업무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등급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원가</a:t>
                      </a:r>
                      <a:r>
                        <a:rPr lang="en-US" altLang="ko-K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천원</a:t>
                      </a:r>
                      <a:r>
                        <a:rPr lang="en-US" altLang="ko-K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97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ea"/>
                          <a:ea typeface="+mn-ea"/>
                        </a:rPr>
                        <a:t>PM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이종건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총괄관리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설계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+mn-ea"/>
                          <a:ea typeface="+mn-ea"/>
                        </a:rPr>
                        <a:t>특급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+mn-ea"/>
                          <a:ea typeface="+mn-ea"/>
                        </a:rPr>
                        <a:t>0.5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+mn-ea"/>
                          <a:ea typeface="+mn-ea"/>
                        </a:rPr>
                        <a:t>0.5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48,000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실행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600992"/>
                  </a:ext>
                </a:extLst>
              </a:tr>
              <a:tr h="31997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ea"/>
                          <a:ea typeface="+mn-ea"/>
                        </a:rPr>
                        <a:t>PL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이종혁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반출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입고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반입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재고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인터페이스 로직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설계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+mn-ea"/>
                          <a:ea typeface="+mn-ea"/>
                        </a:rPr>
                        <a:t>중급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42,000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9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실행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408075"/>
                  </a:ext>
                </a:extLst>
              </a:tr>
              <a:tr h="31997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+mn-ea"/>
                          <a:ea typeface="+mn-ea"/>
                        </a:rPr>
                        <a:t>개발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김민수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마스터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입고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반입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재고 화면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+mn-ea"/>
                          <a:ea typeface="+mn-ea"/>
                        </a:rPr>
                        <a:t>초급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+mn-ea"/>
                          <a:ea typeface="+mn-ea"/>
                        </a:rPr>
                        <a:t>0.5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12,500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9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실행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7437"/>
                  </a:ext>
                </a:extLst>
              </a:tr>
              <a:tr h="31997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+mn-ea"/>
                          <a:ea typeface="+mn-ea"/>
                        </a:rPr>
                        <a:t>개발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이성국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마스터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반출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화면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+mn-ea"/>
                          <a:ea typeface="+mn-ea"/>
                        </a:rPr>
                        <a:t>초급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+mn-ea"/>
                          <a:ea typeface="+mn-ea"/>
                        </a:rPr>
                        <a:t>0.5</a:t>
                      </a:r>
                      <a:r>
                        <a:rPr lang="ko-KR" altLang="en-US" sz="12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12,500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9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실행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823960"/>
                  </a:ext>
                </a:extLst>
              </a:tr>
              <a:tr h="31997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+mn-ea"/>
                          <a:ea typeface="+mn-ea"/>
                        </a:rPr>
                        <a:t>PDA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김경우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PDA(Android)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+mn-ea"/>
                          <a:ea typeface="+mn-ea"/>
                        </a:rPr>
                        <a:t>중급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12,000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9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실행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016146"/>
                  </a:ext>
                </a:extLst>
              </a:tr>
              <a:tr h="319974">
                <a:tc rowSpan="2"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+mn-ea"/>
                          <a:ea typeface="+mn-ea"/>
                        </a:rPr>
                        <a:t>합계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1.5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1.5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127,000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9974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실행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543501"/>
                  </a:ext>
                </a:extLst>
              </a:tr>
              <a:tr h="319974">
                <a:tc rowSpan="3"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누계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최초계획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:22.5</a:t>
                      </a:r>
                    </a:p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142,000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408265"/>
                  </a:ext>
                </a:extLst>
              </a:tr>
              <a:tr h="319974">
                <a:tc gridSpan="4"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실행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349147"/>
                  </a:ext>
                </a:extLst>
              </a:tr>
              <a:tr h="319974">
                <a:tc gridSpan="4"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투입율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53337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277928" y="836712"/>
            <a:ext cx="41395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(2017/02/15 </a:t>
            </a:r>
            <a:r>
              <a:rPr lang="ko-KR" altLang="en-US" sz="800" dirty="0">
                <a:latin typeface="+mn-ea"/>
              </a:rPr>
              <a:t>변경</a:t>
            </a:r>
            <a:r>
              <a:rPr lang="en-US" altLang="ko-KR" sz="800" dirty="0">
                <a:latin typeface="+mn-ea"/>
              </a:rPr>
              <a:t>)</a:t>
            </a:r>
            <a:endParaRPr lang="ko-KR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56620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  <a:ea typeface="+mn-ea"/>
              </a:rPr>
              <a:t>모듈별</a:t>
            </a:r>
            <a:r>
              <a:rPr lang="ko-KR" altLang="en-US" dirty="0">
                <a:latin typeface="+mn-ea"/>
                <a:ea typeface="+mn-ea"/>
              </a:rPr>
              <a:t> 개발자 선정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297637"/>
              </p:ext>
            </p:extLst>
          </p:nvPr>
        </p:nvGraphicFramePr>
        <p:xfrm>
          <a:off x="942032" y="1124744"/>
          <a:ext cx="7899401" cy="4516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2576">
                  <a:extLst>
                    <a:ext uri="{9D8B030D-6E8A-4147-A177-3AD203B41FA5}">
                      <a16:colId xmlns:a16="http://schemas.microsoft.com/office/drawing/2014/main" val="1968522370"/>
                    </a:ext>
                  </a:extLst>
                </a:gridCol>
                <a:gridCol w="830517">
                  <a:extLst>
                    <a:ext uri="{9D8B030D-6E8A-4147-A177-3AD203B41FA5}">
                      <a16:colId xmlns:a16="http://schemas.microsoft.com/office/drawing/2014/main" val="3259371918"/>
                    </a:ext>
                  </a:extLst>
                </a:gridCol>
                <a:gridCol w="625282">
                  <a:extLst>
                    <a:ext uri="{9D8B030D-6E8A-4147-A177-3AD203B41FA5}">
                      <a16:colId xmlns:a16="http://schemas.microsoft.com/office/drawing/2014/main" val="1095397140"/>
                    </a:ext>
                  </a:extLst>
                </a:gridCol>
                <a:gridCol w="625282">
                  <a:extLst>
                    <a:ext uri="{9D8B030D-6E8A-4147-A177-3AD203B41FA5}">
                      <a16:colId xmlns:a16="http://schemas.microsoft.com/office/drawing/2014/main" val="3124331755"/>
                    </a:ext>
                  </a:extLst>
                </a:gridCol>
                <a:gridCol w="625282">
                  <a:extLst>
                    <a:ext uri="{9D8B030D-6E8A-4147-A177-3AD203B41FA5}">
                      <a16:colId xmlns:a16="http://schemas.microsoft.com/office/drawing/2014/main" val="3527244418"/>
                    </a:ext>
                  </a:extLst>
                </a:gridCol>
                <a:gridCol w="625282">
                  <a:extLst>
                    <a:ext uri="{9D8B030D-6E8A-4147-A177-3AD203B41FA5}">
                      <a16:colId xmlns:a16="http://schemas.microsoft.com/office/drawing/2014/main" val="4046483603"/>
                    </a:ext>
                  </a:extLst>
                </a:gridCol>
                <a:gridCol w="625282">
                  <a:extLst>
                    <a:ext uri="{9D8B030D-6E8A-4147-A177-3AD203B41FA5}">
                      <a16:colId xmlns:a16="http://schemas.microsoft.com/office/drawing/2014/main" val="1743076086"/>
                    </a:ext>
                  </a:extLst>
                </a:gridCol>
                <a:gridCol w="625282">
                  <a:extLst>
                    <a:ext uri="{9D8B030D-6E8A-4147-A177-3AD203B41FA5}">
                      <a16:colId xmlns:a16="http://schemas.microsoft.com/office/drawing/2014/main" val="69932084"/>
                    </a:ext>
                  </a:extLst>
                </a:gridCol>
                <a:gridCol w="708654">
                  <a:extLst>
                    <a:ext uri="{9D8B030D-6E8A-4147-A177-3AD203B41FA5}">
                      <a16:colId xmlns:a16="http://schemas.microsoft.com/office/drawing/2014/main" val="1890101230"/>
                    </a:ext>
                  </a:extLst>
                </a:gridCol>
                <a:gridCol w="708654">
                  <a:extLst>
                    <a:ext uri="{9D8B030D-6E8A-4147-A177-3AD203B41FA5}">
                      <a16:colId xmlns:a16="http://schemas.microsoft.com/office/drawing/2014/main" val="4290257796"/>
                    </a:ext>
                  </a:extLst>
                </a:gridCol>
                <a:gridCol w="708654">
                  <a:extLst>
                    <a:ext uri="{9D8B030D-6E8A-4147-A177-3AD203B41FA5}">
                      <a16:colId xmlns:a16="http://schemas.microsoft.com/office/drawing/2014/main" val="2292258724"/>
                    </a:ext>
                  </a:extLst>
                </a:gridCol>
                <a:gridCol w="708654">
                  <a:extLst>
                    <a:ext uri="{9D8B030D-6E8A-4147-A177-3AD203B41FA5}">
                      <a16:colId xmlns:a16="http://schemas.microsoft.com/office/drawing/2014/main" val="1528645931"/>
                    </a:ext>
                  </a:extLst>
                </a:gridCol>
              </a:tblGrid>
              <a:tr h="37634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+mn-lt"/>
                          <a:ea typeface="+mn-ea"/>
                        </a:rPr>
                        <a:t>모듈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본수</a:t>
                      </a:r>
                      <a:endParaRPr lang="ko-KR" alt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화면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탭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팝업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레포트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조회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로직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화면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342560"/>
                  </a:ext>
                </a:extLst>
              </a:tr>
              <a:tr h="37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MS</a:t>
                      </a:r>
                      <a:endParaRPr 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마스터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20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15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2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3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김민수</a:t>
                      </a:r>
                      <a:r>
                        <a:rPr lang="en-US" altLang="ko-KR" sz="1100" u="none" strike="noStrike" dirty="0">
                          <a:effectLst/>
                        </a:rPr>
                        <a:t>D, </a:t>
                      </a:r>
                      <a:r>
                        <a:rPr lang="ko-KR" altLang="en-US" sz="1100" u="none" strike="noStrike" dirty="0" err="1">
                          <a:effectLst/>
                        </a:rPr>
                        <a:t>이성국</a:t>
                      </a:r>
                      <a:r>
                        <a:rPr lang="en-US" altLang="ko-KR" sz="1100" u="none" strike="noStrike" dirty="0">
                          <a:effectLst/>
                        </a:rPr>
                        <a:t>D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267789"/>
                  </a:ext>
                </a:extLst>
              </a:tr>
              <a:tr h="37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IB</a:t>
                      </a:r>
                      <a:endParaRPr 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입고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16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7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2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4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3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이종혁</a:t>
                      </a:r>
                      <a:r>
                        <a:rPr lang="en-US" sz="1100" u="none" strike="noStrike" dirty="0">
                          <a:effectLst/>
                        </a:rPr>
                        <a:t>K</a:t>
                      </a:r>
                      <a:endParaRPr 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김민수</a:t>
                      </a:r>
                      <a:r>
                        <a:rPr lang="en-US" sz="1100" u="none" strike="noStrike" dirty="0">
                          <a:effectLst/>
                        </a:rPr>
                        <a:t>D</a:t>
                      </a:r>
                      <a:endParaRPr 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882790"/>
                  </a:ext>
                </a:extLst>
              </a:tr>
              <a:tr h="37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OB</a:t>
                      </a:r>
                      <a:endParaRPr 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출고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24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10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3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7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4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이종혁</a:t>
                      </a:r>
                      <a:r>
                        <a:rPr lang="en-US" sz="1100" u="none" strike="noStrike" dirty="0">
                          <a:effectLst/>
                        </a:rPr>
                        <a:t>K</a:t>
                      </a:r>
                      <a:endParaRPr 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이성국</a:t>
                      </a:r>
                      <a:r>
                        <a:rPr lang="en-US" sz="1100" u="none" strike="noStrike" dirty="0">
                          <a:effectLst/>
                        </a:rPr>
                        <a:t>D</a:t>
                      </a:r>
                      <a:endParaRPr 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8744248"/>
                  </a:ext>
                </a:extLst>
              </a:tr>
              <a:tr h="37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RI</a:t>
                      </a:r>
                      <a:endParaRPr 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반입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5</a:t>
                      </a:r>
                      <a:endParaRPr lang="en-US" altLang="ko-KR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3</a:t>
                      </a:r>
                      <a:endParaRPr lang="en-US" altLang="ko-KR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김민수</a:t>
                      </a:r>
                      <a:r>
                        <a:rPr lang="en-US" sz="1100" u="none" strike="noStrike" dirty="0">
                          <a:effectLst/>
                        </a:rPr>
                        <a:t>D</a:t>
                      </a:r>
                      <a:endParaRPr 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183200"/>
                  </a:ext>
                </a:extLst>
              </a:tr>
              <a:tr h="37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RO</a:t>
                      </a:r>
                      <a:endParaRPr 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반출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5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3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이성국</a:t>
                      </a:r>
                      <a:r>
                        <a:rPr lang="en-US" sz="1100" u="none" strike="noStrike" dirty="0">
                          <a:effectLst/>
                        </a:rPr>
                        <a:t>D</a:t>
                      </a:r>
                      <a:endParaRPr 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370861"/>
                  </a:ext>
                </a:extLst>
              </a:tr>
              <a:tr h="37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ST</a:t>
                      </a:r>
                      <a:endParaRPr 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재고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41</a:t>
                      </a:r>
                      <a:endParaRPr lang="en-US" altLang="ko-KR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15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11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9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6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김민수</a:t>
                      </a:r>
                      <a:r>
                        <a:rPr lang="en-US" altLang="ko-KR" sz="1100" u="none" strike="noStrike" dirty="0">
                          <a:effectLst/>
                        </a:rPr>
                        <a:t>D,(</a:t>
                      </a:r>
                      <a:r>
                        <a:rPr lang="ko-KR" altLang="en-US" sz="1100" u="none" strike="noStrike" dirty="0">
                          <a:effectLst/>
                        </a:rPr>
                        <a:t>공통</a:t>
                      </a:r>
                      <a:r>
                        <a:rPr lang="en-US" altLang="ko-KR" sz="1100" u="none" strike="noStrike" dirty="0">
                          <a:effectLst/>
                        </a:rPr>
                        <a:t>:</a:t>
                      </a:r>
                      <a:r>
                        <a:rPr lang="ko-KR" altLang="en-US" sz="1100" u="none" strike="noStrike" dirty="0">
                          <a:effectLst/>
                        </a:rPr>
                        <a:t>이종혁</a:t>
                      </a:r>
                      <a:r>
                        <a:rPr lang="en-US" altLang="ko-KR" sz="1100" u="none" strike="noStrike" dirty="0">
                          <a:effectLst/>
                        </a:rPr>
                        <a:t>K)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452600"/>
                  </a:ext>
                </a:extLst>
              </a:tr>
              <a:tr h="37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IF</a:t>
                      </a:r>
                      <a:endParaRPr 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인터페이스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8</a:t>
                      </a:r>
                      <a:endParaRPr lang="en-US" altLang="ko-KR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7</a:t>
                      </a:r>
                      <a:endParaRPr lang="en-US" altLang="ko-KR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이종혁</a:t>
                      </a:r>
                      <a:r>
                        <a:rPr lang="en-US" sz="1100" u="none" strike="noStrike" dirty="0">
                          <a:effectLst/>
                        </a:rPr>
                        <a:t>K</a:t>
                      </a:r>
                      <a:endParaRPr 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이성국</a:t>
                      </a:r>
                      <a:r>
                        <a:rPr lang="en-US" sz="1100" u="none" strike="noStrike" dirty="0">
                          <a:effectLst/>
                        </a:rPr>
                        <a:t>D</a:t>
                      </a:r>
                      <a:endParaRPr 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421701"/>
                  </a:ext>
                </a:extLst>
              </a:tr>
              <a:tr h="37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SYS</a:t>
                      </a:r>
                      <a:endParaRPr 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시스템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11</a:t>
                      </a:r>
                      <a:endParaRPr lang="en-US" altLang="ko-KR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8</a:t>
                      </a:r>
                      <a:endParaRPr lang="en-US" altLang="ko-KR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3</a:t>
                      </a:r>
                      <a:endParaRPr lang="en-US" altLang="ko-KR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김민수</a:t>
                      </a:r>
                      <a:r>
                        <a:rPr lang="en-US" altLang="ko-KR" sz="1100" u="none" strike="noStrike" dirty="0">
                          <a:effectLst/>
                        </a:rPr>
                        <a:t>D, </a:t>
                      </a:r>
                      <a:r>
                        <a:rPr lang="ko-KR" altLang="en-US" sz="1100" u="none" strike="noStrike" dirty="0" err="1">
                          <a:effectLst/>
                        </a:rPr>
                        <a:t>이성국</a:t>
                      </a:r>
                      <a:r>
                        <a:rPr lang="en-US" altLang="ko-KR" sz="1100" u="none" strike="noStrike" dirty="0">
                          <a:effectLst/>
                        </a:rPr>
                        <a:t>D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595610"/>
                  </a:ext>
                </a:extLst>
              </a:tr>
              <a:tr h="37634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소계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130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68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2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25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20</a:t>
                      </a:r>
                      <a:endParaRPr lang="en-US" altLang="ko-KR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15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83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531684"/>
                  </a:ext>
                </a:extLst>
              </a:tr>
              <a:tr h="37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PDA</a:t>
                      </a:r>
                      <a:endParaRPr 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모바일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13</a:t>
                      </a:r>
                      <a:endParaRPr lang="en-US" altLang="ko-KR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이종혁</a:t>
                      </a:r>
                      <a:r>
                        <a:rPr lang="en-US" sz="1100" u="none" strike="noStrike" dirty="0">
                          <a:effectLst/>
                        </a:rPr>
                        <a:t>K</a:t>
                      </a:r>
                      <a:endParaRPr 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김경우선임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7304087"/>
                  </a:ext>
                </a:extLst>
              </a:tr>
              <a:tr h="37634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합계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143</a:t>
                      </a:r>
                      <a:endParaRPr lang="en-US" altLang="ko-KR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96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</a:t>
                      </a:r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69576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42032" y="5733256"/>
            <a:ext cx="4139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+mn-ea"/>
                <a:ea typeface="+mn-ea"/>
              </a:rPr>
              <a:t>1</a:t>
            </a:r>
            <a:r>
              <a:rPr lang="ko-KR" altLang="en-US" sz="1200" b="1" dirty="0">
                <a:latin typeface="+mn-ea"/>
                <a:ea typeface="+mn-ea"/>
              </a:rPr>
              <a:t>차 </a:t>
            </a:r>
            <a:r>
              <a:rPr lang="en-US" altLang="ko-KR" sz="1200" b="1" dirty="0">
                <a:latin typeface="+mn-ea"/>
                <a:ea typeface="+mn-ea"/>
              </a:rPr>
              <a:t>: </a:t>
            </a:r>
            <a:r>
              <a:rPr lang="ko-KR" altLang="en-US" sz="1200" b="1" dirty="0">
                <a:latin typeface="+mn-ea"/>
                <a:ea typeface="+mn-ea"/>
              </a:rPr>
              <a:t>주요 프로그램</a:t>
            </a:r>
            <a:endParaRPr lang="en-US" altLang="ko-KR" sz="1200" b="1" dirty="0">
              <a:latin typeface="+mn-ea"/>
              <a:ea typeface="+mn-ea"/>
            </a:endParaRPr>
          </a:p>
          <a:p>
            <a:r>
              <a:rPr lang="en-US" altLang="ko-KR" sz="1200" b="1" dirty="0">
                <a:latin typeface="+mn-ea"/>
                <a:ea typeface="+mn-ea"/>
              </a:rPr>
              <a:t>2</a:t>
            </a:r>
            <a:r>
              <a:rPr lang="ko-KR" altLang="en-US" sz="1200" b="1" dirty="0">
                <a:latin typeface="+mn-ea"/>
                <a:ea typeface="+mn-ea"/>
              </a:rPr>
              <a:t>차 </a:t>
            </a:r>
            <a:r>
              <a:rPr lang="en-US" altLang="ko-KR" sz="1200" b="1" dirty="0">
                <a:latin typeface="+mn-ea"/>
                <a:ea typeface="+mn-ea"/>
              </a:rPr>
              <a:t>: </a:t>
            </a:r>
            <a:r>
              <a:rPr lang="ko-KR" altLang="en-US" sz="1200" b="1" dirty="0">
                <a:latin typeface="+mn-ea"/>
                <a:ea typeface="+mn-ea"/>
              </a:rPr>
              <a:t>조회</a:t>
            </a:r>
            <a:r>
              <a:rPr lang="en-US" altLang="ko-KR" sz="1200" b="1" dirty="0">
                <a:latin typeface="+mn-ea"/>
                <a:ea typeface="+mn-ea"/>
              </a:rPr>
              <a:t>, </a:t>
            </a:r>
            <a:r>
              <a:rPr lang="ko-KR" altLang="en-US" sz="1200" b="1" dirty="0">
                <a:latin typeface="+mn-ea"/>
                <a:ea typeface="+mn-ea"/>
              </a:rPr>
              <a:t>리포트</a:t>
            </a:r>
            <a:r>
              <a:rPr lang="en-US" altLang="ko-KR" sz="1200" b="1" dirty="0">
                <a:latin typeface="+mn-ea"/>
                <a:ea typeface="+mn-ea"/>
              </a:rPr>
              <a:t>, </a:t>
            </a:r>
            <a:r>
              <a:rPr lang="ko-KR" altLang="en-US" sz="1200" b="1" dirty="0">
                <a:latin typeface="+mn-ea"/>
                <a:ea typeface="+mn-ea"/>
              </a:rPr>
              <a:t>시스템 프로그램</a:t>
            </a:r>
          </a:p>
        </p:txBody>
      </p:sp>
    </p:spTree>
    <p:extLst>
      <p:ext uri="{BB962C8B-B14F-4D97-AF65-F5344CB8AC3E}">
        <p14:creationId xmlns:p14="http://schemas.microsoft.com/office/powerpoint/2010/main" val="731380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  <a:ea typeface="+mn-ea"/>
              </a:rPr>
              <a:t>개발자별 일정현황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4942325"/>
            <a:ext cx="713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* 1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차 개발분의 경우 저장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/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확정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/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취소 등의 관리 프로그램으로서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본당 평균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2~3 M/D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이상이어야</a:t>
            </a:r>
            <a:endParaRPr lang="en-US" altLang="ko-KR" sz="1200" dirty="0">
              <a:solidFill>
                <a:srgbClr val="FF0000"/>
              </a:solidFill>
              <a:latin typeface="+mn-ea"/>
              <a:ea typeface="+mn-ea"/>
            </a:endParaRPr>
          </a:p>
          <a:p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  안정적이나 일정계획 상으로는 절대적으로 부족한 기간으로 판단 됨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.</a:t>
            </a:r>
          </a:p>
          <a:p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  </a:t>
            </a:r>
            <a:r>
              <a:rPr lang="en-US" altLang="ko-KR" sz="1200" dirty="0">
                <a:solidFill>
                  <a:srgbClr val="2467D9"/>
                </a:solidFill>
                <a:latin typeface="+mn-ea"/>
                <a:ea typeface="+mn-ea"/>
              </a:rPr>
              <a:t>- </a:t>
            </a:r>
            <a:r>
              <a:rPr lang="ko-KR" altLang="en-US" sz="1200" dirty="0">
                <a:solidFill>
                  <a:srgbClr val="2467D9"/>
                </a:solidFill>
                <a:latin typeface="+mn-ea"/>
                <a:ea typeface="+mn-ea"/>
              </a:rPr>
              <a:t>원인 </a:t>
            </a:r>
            <a:r>
              <a:rPr lang="en-US" altLang="ko-KR" sz="1200" dirty="0">
                <a:solidFill>
                  <a:srgbClr val="2467D9"/>
                </a:solidFill>
                <a:latin typeface="+mn-ea"/>
                <a:ea typeface="+mn-ea"/>
              </a:rPr>
              <a:t>: </a:t>
            </a:r>
            <a:r>
              <a:rPr lang="ko-KR" altLang="en-US" sz="1200" dirty="0">
                <a:solidFill>
                  <a:srgbClr val="2467D9"/>
                </a:solidFill>
                <a:latin typeface="+mn-ea"/>
                <a:ea typeface="+mn-ea"/>
              </a:rPr>
              <a:t>초기 개발자 </a:t>
            </a:r>
            <a:r>
              <a:rPr lang="en-US" altLang="ko-KR" sz="1200" dirty="0">
                <a:solidFill>
                  <a:srgbClr val="2467D9"/>
                </a:solidFill>
                <a:latin typeface="+mn-ea"/>
                <a:ea typeface="+mn-ea"/>
              </a:rPr>
              <a:t>3</a:t>
            </a:r>
            <a:r>
              <a:rPr lang="ko-KR" altLang="en-US" sz="1200" dirty="0">
                <a:solidFill>
                  <a:srgbClr val="2467D9"/>
                </a:solidFill>
                <a:latin typeface="+mn-ea"/>
                <a:ea typeface="+mn-ea"/>
              </a:rPr>
              <a:t>명에서 </a:t>
            </a:r>
            <a:r>
              <a:rPr lang="en-US" altLang="ko-KR" sz="1200" dirty="0">
                <a:solidFill>
                  <a:srgbClr val="2467D9"/>
                </a:solidFill>
                <a:latin typeface="+mn-ea"/>
                <a:ea typeface="+mn-ea"/>
              </a:rPr>
              <a:t>2</a:t>
            </a:r>
            <a:r>
              <a:rPr lang="ko-KR" altLang="en-US" sz="1200" dirty="0">
                <a:solidFill>
                  <a:srgbClr val="2467D9"/>
                </a:solidFill>
                <a:latin typeface="+mn-ea"/>
                <a:ea typeface="+mn-ea"/>
              </a:rPr>
              <a:t>명으로</a:t>
            </a:r>
            <a:r>
              <a:rPr lang="en-US" altLang="ko-KR" sz="1200" dirty="0">
                <a:solidFill>
                  <a:srgbClr val="2467D9"/>
                </a:solidFill>
                <a:latin typeface="+mn-ea"/>
                <a:ea typeface="+mn-ea"/>
              </a:rPr>
              <a:t>, 3</a:t>
            </a:r>
            <a:r>
              <a:rPr lang="ko-KR" altLang="en-US" sz="1200" dirty="0">
                <a:solidFill>
                  <a:srgbClr val="2467D9"/>
                </a:solidFill>
                <a:latin typeface="+mn-ea"/>
                <a:ea typeface="+mn-ea"/>
              </a:rPr>
              <a:t>개월에서 </a:t>
            </a:r>
            <a:r>
              <a:rPr lang="en-US" altLang="ko-KR" sz="1200" dirty="0">
                <a:solidFill>
                  <a:srgbClr val="2467D9"/>
                </a:solidFill>
                <a:latin typeface="+mn-ea"/>
                <a:ea typeface="+mn-ea"/>
              </a:rPr>
              <a:t>2.5</a:t>
            </a:r>
            <a:r>
              <a:rPr lang="ko-KR" altLang="en-US" sz="1200" dirty="0">
                <a:solidFill>
                  <a:srgbClr val="2467D9"/>
                </a:solidFill>
                <a:latin typeface="+mn-ea"/>
                <a:ea typeface="+mn-ea"/>
              </a:rPr>
              <a:t>개월로 축소 됨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620848"/>
              </p:ext>
            </p:extLst>
          </p:nvPr>
        </p:nvGraphicFramePr>
        <p:xfrm>
          <a:off x="992560" y="1656944"/>
          <a:ext cx="7848872" cy="31402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8559">
                  <a:extLst>
                    <a:ext uri="{9D8B030D-6E8A-4147-A177-3AD203B41FA5}">
                      <a16:colId xmlns:a16="http://schemas.microsoft.com/office/drawing/2014/main" val="2366506548"/>
                    </a:ext>
                  </a:extLst>
                </a:gridCol>
                <a:gridCol w="1048544">
                  <a:extLst>
                    <a:ext uri="{9D8B030D-6E8A-4147-A177-3AD203B41FA5}">
                      <a16:colId xmlns:a16="http://schemas.microsoft.com/office/drawing/2014/main" val="76713773"/>
                    </a:ext>
                  </a:extLst>
                </a:gridCol>
                <a:gridCol w="814506">
                  <a:extLst>
                    <a:ext uri="{9D8B030D-6E8A-4147-A177-3AD203B41FA5}">
                      <a16:colId xmlns:a16="http://schemas.microsoft.com/office/drawing/2014/main" val="2821105447"/>
                    </a:ext>
                  </a:extLst>
                </a:gridCol>
                <a:gridCol w="592368">
                  <a:extLst>
                    <a:ext uri="{9D8B030D-6E8A-4147-A177-3AD203B41FA5}">
                      <a16:colId xmlns:a16="http://schemas.microsoft.com/office/drawing/2014/main" val="1840881673"/>
                    </a:ext>
                  </a:extLst>
                </a:gridCol>
                <a:gridCol w="518322">
                  <a:extLst>
                    <a:ext uri="{9D8B030D-6E8A-4147-A177-3AD203B41FA5}">
                      <a16:colId xmlns:a16="http://schemas.microsoft.com/office/drawing/2014/main" val="755385134"/>
                    </a:ext>
                  </a:extLst>
                </a:gridCol>
                <a:gridCol w="518322">
                  <a:extLst>
                    <a:ext uri="{9D8B030D-6E8A-4147-A177-3AD203B41FA5}">
                      <a16:colId xmlns:a16="http://schemas.microsoft.com/office/drawing/2014/main" val="4141130376"/>
                    </a:ext>
                  </a:extLst>
                </a:gridCol>
                <a:gridCol w="518322">
                  <a:extLst>
                    <a:ext uri="{9D8B030D-6E8A-4147-A177-3AD203B41FA5}">
                      <a16:colId xmlns:a16="http://schemas.microsoft.com/office/drawing/2014/main" val="4044191883"/>
                    </a:ext>
                  </a:extLst>
                </a:gridCol>
                <a:gridCol w="518322">
                  <a:extLst>
                    <a:ext uri="{9D8B030D-6E8A-4147-A177-3AD203B41FA5}">
                      <a16:colId xmlns:a16="http://schemas.microsoft.com/office/drawing/2014/main" val="1620513167"/>
                    </a:ext>
                  </a:extLst>
                </a:gridCol>
                <a:gridCol w="666412">
                  <a:extLst>
                    <a:ext uri="{9D8B030D-6E8A-4147-A177-3AD203B41FA5}">
                      <a16:colId xmlns:a16="http://schemas.microsoft.com/office/drawing/2014/main" val="183823688"/>
                    </a:ext>
                  </a:extLst>
                </a:gridCol>
                <a:gridCol w="1036643">
                  <a:extLst>
                    <a:ext uri="{9D8B030D-6E8A-4147-A177-3AD203B41FA5}">
                      <a16:colId xmlns:a16="http://schemas.microsoft.com/office/drawing/2014/main" val="179023235"/>
                    </a:ext>
                  </a:extLst>
                </a:gridCol>
                <a:gridCol w="888552">
                  <a:extLst>
                    <a:ext uri="{9D8B030D-6E8A-4147-A177-3AD203B41FA5}">
                      <a16:colId xmlns:a16="http://schemas.microsoft.com/office/drawing/2014/main" val="4071422940"/>
                    </a:ext>
                  </a:extLst>
                </a:gridCol>
              </a:tblGrid>
              <a:tr h="3140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+mn-ea"/>
                          <a:ea typeface="+mn-ea"/>
                        </a:rPr>
                        <a:t>개발 차수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개발자</a:t>
                      </a:r>
                      <a:endParaRPr lang="ko-KR" altLang="en-US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총 </a:t>
                      </a:r>
                      <a:r>
                        <a:rPr lang="ko-KR" altLang="en-US" sz="1100" u="none" strike="noStrike" dirty="0" err="1">
                          <a:effectLst/>
                          <a:latin typeface="+mn-ea"/>
                          <a:ea typeface="+mn-ea"/>
                        </a:rPr>
                        <a:t>본수</a:t>
                      </a:r>
                      <a:endParaRPr lang="ko-KR" altLang="en-US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100" b="1" i="0" u="none" strike="noStrike" dirty="0"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100" b="1" i="0" u="none" strike="noStrike" dirty="0"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100" b="1" i="0" u="none" strike="noStrike" dirty="0"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100" b="1" i="0" u="none" strike="noStrike" dirty="0"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+mn-ea"/>
                          <a:ea typeface="+mn-ea"/>
                        </a:rPr>
                        <a:t>소요일수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effectLst/>
                          <a:latin typeface="+mn-ea"/>
                          <a:ea typeface="+mn-ea"/>
                        </a:rPr>
                        <a:t>1M/D</a:t>
                      </a:r>
                      <a:r>
                        <a:rPr lang="ko-KR" altLang="en-US" sz="1100" b="1" i="0" u="none" strike="noStrike" dirty="0">
                          <a:effectLst/>
                          <a:latin typeface="+mn-ea"/>
                          <a:ea typeface="+mn-ea"/>
                        </a:rPr>
                        <a:t>당 </a:t>
                      </a:r>
                      <a:r>
                        <a:rPr lang="ko-KR" altLang="en-US" sz="1100" b="1" i="0" u="none" strike="noStrike" dirty="0" err="1">
                          <a:effectLst/>
                          <a:latin typeface="+mn-ea"/>
                          <a:ea typeface="+mn-ea"/>
                        </a:rPr>
                        <a:t>본수</a:t>
                      </a:r>
                      <a:endParaRPr lang="ko-KR" altLang="en-US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본당 </a:t>
                      </a:r>
                      <a:r>
                        <a:rPr lang="en-US" altLang="ko-KR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M/D</a:t>
                      </a:r>
                      <a:endParaRPr lang="ko-KR" alt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816228"/>
                  </a:ext>
                </a:extLst>
              </a:tr>
              <a:tr h="35327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1" i="0" u="none" strike="noStrike" dirty="0">
                          <a:effectLst/>
                          <a:latin typeface="+mn-ea"/>
                          <a:ea typeface="+mn-ea"/>
                        </a:rPr>
                        <a:t>차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+mn-ea"/>
                          <a:ea typeface="+mn-ea"/>
                        </a:rPr>
                        <a:t>기본 프로그램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김민수 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D</a:t>
                      </a:r>
                      <a:endParaRPr lang="ko-KR" altLang="en-US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49 </a:t>
                      </a:r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0.75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1.33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792941"/>
                  </a:ext>
                </a:extLst>
              </a:tr>
              <a:tr h="353273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  <a:latin typeface="+mn-ea"/>
                          <a:ea typeface="+mn-ea"/>
                        </a:rPr>
                        <a:t>이성국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D</a:t>
                      </a:r>
                      <a:endParaRPr lang="ko-KR" altLang="en-US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34 </a:t>
                      </a:r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0.62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1.62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04536"/>
                  </a:ext>
                </a:extLst>
              </a:tr>
              <a:tr h="353273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  <a:latin typeface="+mn-ea"/>
                          <a:ea typeface="+mn-ea"/>
                        </a:rPr>
                        <a:t>김경우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 선임</a:t>
                      </a:r>
                      <a:endParaRPr lang="ko-KR" altLang="en-US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13 </a:t>
                      </a:r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116447"/>
                  </a:ext>
                </a:extLst>
              </a:tr>
              <a:tr h="353273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100" b="1" i="0" u="none" strike="noStrike" dirty="0">
                          <a:effectLst/>
                          <a:latin typeface="+mn-ea"/>
                          <a:ea typeface="+mn-ea"/>
                        </a:rPr>
                        <a:t>차</a:t>
                      </a:r>
                      <a:endParaRPr lang="en-US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+mn-ea"/>
                          <a:ea typeface="+mn-ea"/>
                        </a:rPr>
                        <a:t>리포트</a:t>
                      </a:r>
                      <a:endParaRPr lang="en-US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김민수 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D</a:t>
                      </a:r>
                      <a:endParaRPr lang="en-US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13 </a:t>
                      </a:r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13 </a:t>
                      </a:r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770258"/>
                  </a:ext>
                </a:extLst>
              </a:tr>
              <a:tr h="353273">
                <a:tc v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  <a:latin typeface="+mn-ea"/>
                          <a:ea typeface="+mn-ea"/>
                        </a:rPr>
                        <a:t>이성국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D</a:t>
                      </a:r>
                      <a:endParaRPr lang="en-US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7 </a:t>
                      </a:r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7 </a:t>
                      </a:r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492025"/>
                  </a:ext>
                </a:extLst>
              </a:tr>
              <a:tr h="353273">
                <a:tc v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+mn-ea"/>
                          <a:ea typeface="+mn-ea"/>
                        </a:rPr>
                        <a:t>조회 </a:t>
                      </a:r>
                      <a:r>
                        <a:rPr lang="en-US" altLang="ko-KR" sz="1100" b="1" i="0" u="none" strike="noStrike" dirty="0">
                          <a:effectLst/>
                          <a:latin typeface="+mn-ea"/>
                          <a:ea typeface="+mn-ea"/>
                        </a:rPr>
                        <a:t>&amp; </a:t>
                      </a:r>
                      <a:r>
                        <a:rPr lang="ko-KR" altLang="en-US" sz="1100" b="1" i="0" u="none" strike="noStrike" dirty="0">
                          <a:effectLst/>
                          <a:latin typeface="+mn-ea"/>
                          <a:ea typeface="+mn-ea"/>
                        </a:rPr>
                        <a:t>시스템</a:t>
                      </a:r>
                      <a:endParaRPr lang="en-US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김민수 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D</a:t>
                      </a:r>
                      <a:endParaRPr lang="en-US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15 </a:t>
                      </a:r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15 </a:t>
                      </a:r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709317"/>
                  </a:ext>
                </a:extLst>
              </a:tr>
              <a:tr h="353273">
                <a:tc v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  <a:latin typeface="+mn-ea"/>
                          <a:ea typeface="+mn-ea"/>
                        </a:rPr>
                        <a:t>이성국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D</a:t>
                      </a:r>
                      <a:endParaRPr lang="en-US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12 </a:t>
                      </a:r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12 </a:t>
                      </a:r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394053"/>
                  </a:ext>
                </a:extLst>
              </a:tr>
              <a:tr h="353273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합계</a:t>
                      </a:r>
                      <a:endParaRPr lang="ko-KR" altLang="en-US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143 </a:t>
                      </a:r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(7)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(23)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(20)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(23)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167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862194"/>
                  </a:ext>
                </a:extLst>
              </a:tr>
            </a:tbl>
          </a:graphicData>
        </a:graphic>
      </p:graphicFrame>
      <p:cxnSp>
        <p:nvCxnSpPr>
          <p:cNvPr id="12" name="직선 화살표 연결선 11"/>
          <p:cNvCxnSpPr/>
          <p:nvPr/>
        </p:nvCxnSpPr>
        <p:spPr>
          <a:xfrm>
            <a:off x="4376936" y="2060848"/>
            <a:ext cx="17640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32920" y="2132856"/>
            <a:ext cx="5040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2/17</a:t>
            </a:r>
            <a:endParaRPr lang="ko-KR" altLang="en-US" sz="800" dirty="0"/>
          </a:p>
        </p:txBody>
      </p:sp>
      <p:sp>
        <p:nvSpPr>
          <p:cNvPr id="14" name="TextBox 13"/>
          <p:cNvSpPr txBox="1"/>
          <p:nvPr/>
        </p:nvSpPr>
        <p:spPr>
          <a:xfrm>
            <a:off x="5745088" y="2132856"/>
            <a:ext cx="5040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5/25</a:t>
            </a:r>
            <a:endParaRPr lang="ko-KR" altLang="en-US" sz="800" dirty="0"/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4376936" y="2420888"/>
            <a:ext cx="14760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32920" y="2493476"/>
            <a:ext cx="5040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2/17</a:t>
            </a:r>
            <a:endParaRPr lang="ko-KR" altLang="en-US" sz="800" dirty="0"/>
          </a:p>
        </p:txBody>
      </p:sp>
      <p:sp>
        <p:nvSpPr>
          <p:cNvPr id="17" name="TextBox 16"/>
          <p:cNvSpPr txBox="1"/>
          <p:nvPr/>
        </p:nvSpPr>
        <p:spPr>
          <a:xfrm>
            <a:off x="5745088" y="2493476"/>
            <a:ext cx="5040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5/10</a:t>
            </a:r>
            <a:endParaRPr lang="ko-KR" altLang="en-US" sz="800" dirty="0"/>
          </a:p>
        </p:txBody>
      </p:sp>
      <p:sp>
        <p:nvSpPr>
          <p:cNvPr id="18" name="TextBox 17"/>
          <p:cNvSpPr txBox="1"/>
          <p:nvPr/>
        </p:nvSpPr>
        <p:spPr>
          <a:xfrm>
            <a:off x="4701864" y="1413356"/>
            <a:ext cx="41395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  <a:ea typeface="+mn-ea"/>
              </a:rPr>
              <a:t>( ) </a:t>
            </a:r>
            <a:r>
              <a:rPr lang="ko-KR" altLang="en-US" sz="800" dirty="0">
                <a:latin typeface="+mn-ea"/>
                <a:ea typeface="+mn-ea"/>
              </a:rPr>
              <a:t>월별 근무일수</a:t>
            </a:r>
          </a:p>
        </p:txBody>
      </p:sp>
      <p:cxnSp>
        <p:nvCxnSpPr>
          <p:cNvPr id="19" name="직선 화살표 연결선 18"/>
          <p:cNvCxnSpPr/>
          <p:nvPr/>
        </p:nvCxnSpPr>
        <p:spPr>
          <a:xfrm>
            <a:off x="4701864" y="2852936"/>
            <a:ext cx="10080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824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  <a:ea typeface="+mn-ea"/>
              </a:rPr>
              <a:t>별첨</a:t>
            </a:r>
            <a:r>
              <a:rPr lang="en-US" altLang="ko-KR" dirty="0">
                <a:latin typeface="+mn-ea"/>
                <a:ea typeface="+mn-ea"/>
              </a:rPr>
              <a:t>. </a:t>
            </a:r>
            <a:r>
              <a:rPr lang="ko-KR" altLang="en-US" dirty="0">
                <a:latin typeface="+mn-ea"/>
                <a:ea typeface="+mn-ea"/>
              </a:rPr>
              <a:t>당초 계획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/>
          </p:nvPr>
        </p:nvGraphicFramePr>
        <p:xfrm>
          <a:off x="848545" y="1196752"/>
          <a:ext cx="8136903" cy="40027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7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9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77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5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95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5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95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95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95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7436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역할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업무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등급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원가</a:t>
                      </a:r>
                      <a:r>
                        <a:rPr lang="en-US" altLang="ko-K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천원</a:t>
                      </a:r>
                      <a:r>
                        <a:rPr lang="en-US" altLang="ko-K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+mn-ea"/>
                          <a:ea typeface="+mn-ea"/>
                        </a:rPr>
                        <a:t>PM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이종건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총괄관리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설계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특급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40,000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4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+mn-ea"/>
                          <a:ea typeface="+mn-ea"/>
                        </a:rPr>
                        <a:t>PL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이종혁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반출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입고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반입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재고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설계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중급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30,000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67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개발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TBD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인터페이스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중급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0.5</a:t>
                      </a:r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21,000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+mn-ea"/>
                          <a:ea typeface="+mn-ea"/>
                        </a:rPr>
                        <a:t>개발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TBD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마스터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반출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초급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15,000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36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+mn-ea"/>
                          <a:ea typeface="+mn-ea"/>
                        </a:rPr>
                        <a:t>개발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TBD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마스터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입고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반입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재고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중급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18,000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7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+mn-ea"/>
                          <a:ea typeface="+mn-ea"/>
                        </a:rPr>
                        <a:t>PDA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TBD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PDA(Android)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중급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18,000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361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합계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2.5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22.5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142,000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8544" y="5210150"/>
            <a:ext cx="41395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* </a:t>
            </a:r>
            <a:r>
              <a:rPr lang="ko-KR" altLang="en-US" sz="800" dirty="0">
                <a:latin typeface="+mn-ea"/>
                <a:ea typeface="+mn-ea"/>
              </a:rPr>
              <a:t>등급별 원가</a:t>
            </a:r>
            <a:r>
              <a:rPr lang="en-US" altLang="ko-KR" sz="800" dirty="0">
                <a:latin typeface="+mn-ea"/>
                <a:ea typeface="+mn-ea"/>
              </a:rPr>
              <a:t>(</a:t>
            </a:r>
            <a:r>
              <a:rPr lang="ko-KR" altLang="en-US" sz="800" dirty="0">
                <a:latin typeface="+mn-ea"/>
                <a:ea typeface="+mn-ea"/>
              </a:rPr>
              <a:t>만원</a:t>
            </a:r>
            <a:r>
              <a:rPr lang="en-US" altLang="ko-KR" sz="800" dirty="0">
                <a:latin typeface="+mn-ea"/>
                <a:ea typeface="+mn-ea"/>
              </a:rPr>
              <a:t>)</a:t>
            </a:r>
            <a:r>
              <a:rPr lang="ko-KR" altLang="en-US" sz="800" dirty="0">
                <a:latin typeface="+mn-ea"/>
                <a:ea typeface="+mn-ea"/>
              </a:rPr>
              <a:t>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초급</a:t>
            </a:r>
            <a:r>
              <a:rPr lang="en-US" altLang="ko-KR" sz="800" dirty="0">
                <a:latin typeface="+mn-ea"/>
                <a:ea typeface="+mn-ea"/>
              </a:rPr>
              <a:t>-500, </a:t>
            </a:r>
            <a:r>
              <a:rPr lang="ko-KR" altLang="en-US" sz="800" dirty="0">
                <a:latin typeface="+mn-ea"/>
                <a:ea typeface="+mn-ea"/>
              </a:rPr>
              <a:t>중급</a:t>
            </a:r>
            <a:r>
              <a:rPr lang="en-US" altLang="ko-KR" sz="800" dirty="0">
                <a:latin typeface="+mn-ea"/>
                <a:ea typeface="+mn-ea"/>
              </a:rPr>
              <a:t>-600, </a:t>
            </a:r>
            <a:r>
              <a:rPr lang="ko-KR" altLang="en-US" sz="800" dirty="0">
                <a:latin typeface="+mn-ea"/>
                <a:ea typeface="+mn-ea"/>
              </a:rPr>
              <a:t>고급</a:t>
            </a:r>
            <a:r>
              <a:rPr lang="en-US" altLang="ko-KR" sz="800" dirty="0">
                <a:latin typeface="+mn-ea"/>
                <a:ea typeface="+mn-ea"/>
              </a:rPr>
              <a:t>-700, </a:t>
            </a:r>
            <a:r>
              <a:rPr lang="ko-KR" altLang="en-US" sz="800" dirty="0">
                <a:latin typeface="+mn-ea"/>
                <a:ea typeface="+mn-ea"/>
              </a:rPr>
              <a:t>특급</a:t>
            </a:r>
            <a:r>
              <a:rPr lang="en-US" altLang="ko-KR" sz="800" dirty="0">
                <a:latin typeface="+mn-ea"/>
                <a:ea typeface="+mn-ea"/>
              </a:rPr>
              <a:t>-800 </a:t>
            </a:r>
            <a:r>
              <a:rPr lang="ko-KR" altLang="en-US" sz="800" dirty="0">
                <a:latin typeface="+mn-ea"/>
                <a:ea typeface="+mn-ea"/>
              </a:rPr>
              <a:t>기준으로 산정</a:t>
            </a:r>
          </a:p>
        </p:txBody>
      </p:sp>
    </p:spTree>
    <p:extLst>
      <p:ext uri="{BB962C8B-B14F-4D97-AF65-F5344CB8AC3E}">
        <p14:creationId xmlns:p14="http://schemas.microsoft.com/office/powerpoint/2010/main" val="4058087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20259</TotalTime>
  <Words>631</Words>
  <Application>Microsoft Office PowerPoint</Application>
  <PresentationFormat>A4 용지(210x297mm)</PresentationFormat>
  <Paragraphs>420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3" baseType="lpstr">
      <vt:lpstr>굴림</vt:lpstr>
      <vt:lpstr>HY헤드라인M</vt:lpstr>
      <vt:lpstr>Impact</vt:lpstr>
      <vt:lpstr>돋움</vt:lpstr>
      <vt:lpstr>맑은 고딕</vt:lpstr>
      <vt:lpstr>Calibri</vt:lpstr>
      <vt:lpstr>Arial</vt:lpstr>
      <vt:lpstr>Office 테마</vt:lpstr>
      <vt:lpstr>개발 일정계획</vt:lpstr>
      <vt:lpstr>인력 투입 현황</vt:lpstr>
      <vt:lpstr>모듈별 개발자 선정</vt:lpstr>
      <vt:lpstr>개발자별 일정현황</vt:lpstr>
      <vt:lpstr>별첨. 당초 계획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jklee</dc:creator>
  <cp:lastModifiedBy>jklee</cp:lastModifiedBy>
  <cp:revision>941</cp:revision>
  <cp:lastPrinted>2017-02-21T04:38:26Z</cp:lastPrinted>
  <dcterms:created xsi:type="dcterms:W3CDTF">2012-09-18T14:42:59Z</dcterms:created>
  <dcterms:modified xsi:type="dcterms:W3CDTF">2017-02-21T09:09:53Z</dcterms:modified>
</cp:coreProperties>
</file>