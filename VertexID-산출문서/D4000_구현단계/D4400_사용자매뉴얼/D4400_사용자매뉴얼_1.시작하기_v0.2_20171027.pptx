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1"/>
  </p:sldMasterIdLst>
  <p:notesMasterIdLst>
    <p:notesMasterId r:id="rId5"/>
  </p:notesMasterIdLst>
  <p:sldIdLst>
    <p:sldId id="265" r:id="rId2"/>
    <p:sldId id="267" r:id="rId3"/>
    <p:sldId id="268" r:id="rId4"/>
  </p:sldIdLst>
  <p:sldSz cx="6858000" cy="9906000" type="A4"/>
  <p:notesSz cx="6799263" cy="99298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orient="horz" pos="417" userDrawn="1">
          <p15:clr>
            <a:srgbClr val="A4A3A4"/>
          </p15:clr>
        </p15:guide>
        <p15:guide id="3" orient="horz" pos="5823" userDrawn="1">
          <p15:clr>
            <a:srgbClr val="A4A3A4"/>
          </p15:clr>
        </p15:guide>
        <p15:guide id="4" orient="horz" pos="3366" userDrawn="1">
          <p15:clr>
            <a:srgbClr val="A4A3A4"/>
          </p15:clr>
        </p15:guide>
        <p15:guide id="5" pos="2160" userDrawn="1">
          <p15:clr>
            <a:srgbClr val="A4A3A4"/>
          </p15:clr>
        </p15:guide>
        <p15:guide id="6" pos="346" userDrawn="1">
          <p15:clr>
            <a:srgbClr val="A4A3A4"/>
          </p15:clr>
        </p15:guide>
        <p15:guide id="7" pos="3974" userDrawn="1">
          <p15:clr>
            <a:srgbClr val="A4A3A4"/>
          </p15:clr>
        </p15:guide>
        <p15:guide id="8" pos="482" userDrawn="1">
          <p15:clr>
            <a:srgbClr val="A4A3A4"/>
          </p15:clr>
        </p15:guide>
        <p15:guide id="9" pos="164" userDrawn="1">
          <p15:clr>
            <a:srgbClr val="A4A3A4"/>
          </p15:clr>
        </p15:guide>
        <p15:guide id="10" pos="4156" userDrawn="1">
          <p15:clr>
            <a:srgbClr val="A4A3A4"/>
          </p15:clr>
        </p15:guide>
        <p15:guide id="11" orient="horz" pos="71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2" d="100"/>
          <a:sy n="72" d="100"/>
        </p:scale>
        <p:origin x="1152" y="66"/>
      </p:cViewPr>
      <p:guideLst>
        <p:guide orient="horz" pos="3120"/>
        <p:guide orient="horz" pos="417"/>
        <p:guide orient="horz" pos="5823"/>
        <p:guide orient="horz" pos="3366"/>
        <p:guide pos="2160"/>
        <p:guide pos="346"/>
        <p:guide pos="3974"/>
        <p:guide pos="482"/>
        <p:guide pos="164"/>
        <p:guide pos="4156"/>
        <p:guide orient="horz" pos="71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6347" cy="496491"/>
          </a:xfrm>
          <a:prstGeom prst="rect">
            <a:avLst/>
          </a:prstGeom>
        </p:spPr>
        <p:txBody>
          <a:bodyPr vert="horz" lIns="91458" tIns="45729" rIns="91458" bIns="45729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1343" y="0"/>
            <a:ext cx="2946347" cy="496491"/>
          </a:xfrm>
          <a:prstGeom prst="rect">
            <a:avLst/>
          </a:prstGeom>
        </p:spPr>
        <p:txBody>
          <a:bodyPr vert="horz" lIns="91458" tIns="45729" rIns="91458" bIns="45729" rtlCol="0"/>
          <a:lstStyle>
            <a:lvl1pPr algn="r">
              <a:defRPr sz="1200"/>
            </a:lvl1pPr>
          </a:lstStyle>
          <a:p>
            <a:fld id="{43CB2420-59EC-4A09-9982-271C07D7D95A}" type="datetimeFigureOut">
              <a:rPr lang="ko-KR" altLang="en-US" smtClean="0"/>
              <a:t>2018-04-27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11375" y="744538"/>
            <a:ext cx="2576513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58" tIns="45729" rIns="91458" bIns="45729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927" y="4716662"/>
            <a:ext cx="5439410" cy="4468416"/>
          </a:xfrm>
          <a:prstGeom prst="rect">
            <a:avLst/>
          </a:prstGeom>
        </p:spPr>
        <p:txBody>
          <a:bodyPr vert="horz" lIns="91458" tIns="45729" rIns="91458" bIns="45729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31599"/>
            <a:ext cx="2946347" cy="496491"/>
          </a:xfrm>
          <a:prstGeom prst="rect">
            <a:avLst/>
          </a:prstGeom>
        </p:spPr>
        <p:txBody>
          <a:bodyPr vert="horz" lIns="91458" tIns="45729" rIns="91458" bIns="45729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1343" y="9431599"/>
            <a:ext cx="2946347" cy="496491"/>
          </a:xfrm>
          <a:prstGeom prst="rect">
            <a:avLst/>
          </a:prstGeom>
        </p:spPr>
        <p:txBody>
          <a:bodyPr vert="horz" lIns="91458" tIns="45729" rIns="91458" bIns="45729" rtlCol="0" anchor="b"/>
          <a:lstStyle>
            <a:lvl1pPr algn="r">
              <a:defRPr sz="1200"/>
            </a:lvl1pPr>
          </a:lstStyle>
          <a:p>
            <a:fld id="{2C25CD28-6BA2-405C-B4B8-46A6C1A2FC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7060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>
            <a:extLst>
              <a:ext uri="{FF2B5EF4-FFF2-40B4-BE49-F238E27FC236}">
                <a16:creationId xmlns:a16="http://schemas.microsoft.com/office/drawing/2014/main" xmlns="" id="{F443F6D3-B642-4A97-9BA0-3A1F7FB74D2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698"/>
            <a:ext cx="6858000" cy="990769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9BD9C795-9E54-4113-BE3C-D812C6C15148}"/>
              </a:ext>
            </a:extLst>
          </p:cNvPr>
          <p:cNvSpPr txBox="1"/>
          <p:nvPr userDrawn="1"/>
        </p:nvSpPr>
        <p:spPr>
          <a:xfrm>
            <a:off x="764704" y="3576137"/>
            <a:ext cx="5693817" cy="584775"/>
          </a:xfrm>
          <a:prstGeom prst="rect">
            <a:avLst/>
          </a:prstGeom>
          <a:noFill/>
          <a:effectLst>
            <a:outerShdw blurRad="63500" dist="38100" dir="2220000" algn="tl" rotWithShape="0">
              <a:prstClr val="black">
                <a:alpha val="52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3200" dirty="0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rPr>
              <a:t>물류센터 관리 시스템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D984B9BA-9053-40CF-BED5-84FA55E80D70}"/>
              </a:ext>
            </a:extLst>
          </p:cNvPr>
          <p:cNvSpPr txBox="1"/>
          <p:nvPr userDrawn="1"/>
        </p:nvSpPr>
        <p:spPr>
          <a:xfrm>
            <a:off x="764704" y="4367644"/>
            <a:ext cx="2140330" cy="461665"/>
          </a:xfrm>
          <a:prstGeom prst="rect">
            <a:avLst/>
          </a:prstGeom>
          <a:noFill/>
          <a:effectLst>
            <a:outerShdw blurRad="63500" dist="38100" dir="2220000" algn="tl" rotWithShape="0">
              <a:prstClr val="black">
                <a:alpha val="52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2400" b="1" dirty="0">
                <a:solidFill>
                  <a:schemeClr val="tx1"/>
                </a:solidFill>
                <a:latin typeface="+mn-ea"/>
              </a:rPr>
              <a:t>사용자 매뉴얼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4F108091-B9EA-4AE9-856E-001F87BE7F5D}"/>
              </a:ext>
            </a:extLst>
          </p:cNvPr>
          <p:cNvSpPr txBox="1"/>
          <p:nvPr userDrawn="1"/>
        </p:nvSpPr>
        <p:spPr>
          <a:xfrm>
            <a:off x="2830759" y="4521532"/>
            <a:ext cx="598241" cy="307777"/>
          </a:xfrm>
          <a:prstGeom prst="rect">
            <a:avLst/>
          </a:prstGeom>
          <a:noFill/>
          <a:effectLst>
            <a:outerShdw blurRad="63500" dist="38100" dir="2220000" algn="tl" rotWithShape="0">
              <a:prstClr val="black">
                <a:alpha val="52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1400" b="1" dirty="0">
                <a:solidFill>
                  <a:schemeClr val="tx1"/>
                </a:solidFill>
                <a:latin typeface="+mn-ea"/>
              </a:rPr>
              <a:t>v 1.0</a:t>
            </a:r>
            <a:endParaRPr lang="ko-KR" altLang="en-US" sz="14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CE678DF4-F4F4-42A4-904B-2BD0A2BE0DDF}"/>
              </a:ext>
            </a:extLst>
          </p:cNvPr>
          <p:cNvSpPr txBox="1"/>
          <p:nvPr userDrawn="1"/>
        </p:nvSpPr>
        <p:spPr>
          <a:xfrm>
            <a:off x="28340" y="560512"/>
            <a:ext cx="338554" cy="4824000"/>
          </a:xfrm>
          <a:prstGeom prst="rect">
            <a:avLst/>
          </a:prstGeom>
          <a:noFill/>
        </p:spPr>
        <p:txBody>
          <a:bodyPr vert="vert" wrap="square" rtlCol="0" anchor="ctr">
            <a:spAutoFit/>
          </a:bodyPr>
          <a:lstStyle/>
          <a:p>
            <a:r>
              <a:rPr lang="en-US" altLang="ko-KR" sz="1000" dirty="0">
                <a:solidFill>
                  <a:schemeClr val="bg1"/>
                </a:solidFill>
                <a:latin typeface="+mn-ea"/>
              </a:rPr>
              <a:t>Paragon WMS</a:t>
            </a:r>
            <a:r>
              <a:rPr lang="ko-KR" altLang="en-US" sz="1000" dirty="0">
                <a:solidFill>
                  <a:schemeClr val="bg1"/>
                </a:solidFill>
                <a:latin typeface="+mn-ea"/>
              </a:rPr>
              <a:t> 사용자매뉴얼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xmlns="" id="{5B90AA73-9F06-4073-8617-6398544354A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712" y="3044146"/>
            <a:ext cx="1666875" cy="42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971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xmlns="" id="{98C9B5DE-9115-412D-971A-D470A1F25A8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698"/>
            <a:ext cx="6858000" cy="990769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9BD9C795-9E54-4113-BE3C-D812C6C15148}"/>
              </a:ext>
            </a:extLst>
          </p:cNvPr>
          <p:cNvSpPr txBox="1"/>
          <p:nvPr userDrawn="1"/>
        </p:nvSpPr>
        <p:spPr>
          <a:xfrm>
            <a:off x="764704" y="3576137"/>
            <a:ext cx="5693817" cy="584775"/>
          </a:xfrm>
          <a:prstGeom prst="rect">
            <a:avLst/>
          </a:prstGeom>
          <a:noFill/>
          <a:effectLst>
            <a:outerShdw blurRad="63500" dist="38100" dir="2220000" algn="tl" rotWithShape="0">
              <a:prstClr val="black">
                <a:alpha val="52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3200" dirty="0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rPr>
              <a:t>물류센터 관리 시스템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D984B9BA-9053-40CF-BED5-84FA55E80D70}"/>
              </a:ext>
            </a:extLst>
          </p:cNvPr>
          <p:cNvSpPr txBox="1"/>
          <p:nvPr userDrawn="1"/>
        </p:nvSpPr>
        <p:spPr>
          <a:xfrm>
            <a:off x="764704" y="4367644"/>
            <a:ext cx="2140330" cy="461665"/>
          </a:xfrm>
          <a:prstGeom prst="rect">
            <a:avLst/>
          </a:prstGeom>
          <a:noFill/>
          <a:effectLst>
            <a:outerShdw blurRad="63500" dist="38100" dir="2220000" algn="tl" rotWithShape="0">
              <a:prstClr val="black">
                <a:alpha val="52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2400" b="1" dirty="0">
                <a:solidFill>
                  <a:schemeClr val="tx1"/>
                </a:solidFill>
                <a:latin typeface="+mn-ea"/>
              </a:rPr>
              <a:t>사용자 매뉴얼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4F108091-B9EA-4AE9-856E-001F87BE7F5D}"/>
              </a:ext>
            </a:extLst>
          </p:cNvPr>
          <p:cNvSpPr txBox="1"/>
          <p:nvPr userDrawn="1"/>
        </p:nvSpPr>
        <p:spPr>
          <a:xfrm>
            <a:off x="2830759" y="4521532"/>
            <a:ext cx="598241" cy="307777"/>
          </a:xfrm>
          <a:prstGeom prst="rect">
            <a:avLst/>
          </a:prstGeom>
          <a:noFill/>
          <a:effectLst>
            <a:outerShdw blurRad="63500" dist="38100" dir="2220000" algn="tl" rotWithShape="0">
              <a:prstClr val="black">
                <a:alpha val="52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1400" b="1" dirty="0">
                <a:solidFill>
                  <a:schemeClr val="tx1"/>
                </a:solidFill>
                <a:latin typeface="+mn-ea"/>
              </a:rPr>
              <a:t>v 1.0</a:t>
            </a:r>
            <a:endParaRPr lang="ko-KR" altLang="en-US" sz="14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CE678DF4-F4F4-42A4-904B-2BD0A2BE0DDF}"/>
              </a:ext>
            </a:extLst>
          </p:cNvPr>
          <p:cNvSpPr txBox="1"/>
          <p:nvPr userDrawn="1"/>
        </p:nvSpPr>
        <p:spPr>
          <a:xfrm>
            <a:off x="28340" y="560512"/>
            <a:ext cx="338554" cy="4824000"/>
          </a:xfrm>
          <a:prstGeom prst="rect">
            <a:avLst/>
          </a:prstGeom>
          <a:noFill/>
        </p:spPr>
        <p:txBody>
          <a:bodyPr vert="vert" wrap="square" rtlCol="0" anchor="ctr">
            <a:spAutoFit/>
          </a:bodyPr>
          <a:lstStyle/>
          <a:p>
            <a:r>
              <a:rPr lang="en-US" altLang="ko-KR" sz="1000" dirty="0">
                <a:solidFill>
                  <a:schemeClr val="bg1"/>
                </a:solidFill>
                <a:latin typeface="+mn-ea"/>
              </a:rPr>
              <a:t>Paragon WMS</a:t>
            </a:r>
            <a:r>
              <a:rPr lang="ko-KR" altLang="en-US" sz="1000" dirty="0">
                <a:solidFill>
                  <a:schemeClr val="bg1"/>
                </a:solidFill>
                <a:latin typeface="+mn-ea"/>
              </a:rPr>
              <a:t> 사용자매뉴얼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xmlns="" id="{5B90AA73-9F06-4073-8617-6398544354A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712" y="3044146"/>
            <a:ext cx="1666875" cy="42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57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xmlns="" id="{92B2CF9A-EB2D-4083-BAD4-FC52DE3AA93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2"/>
            <a:ext cx="6858000" cy="9905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823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 userDrawn="1"/>
        </p:nvSpPr>
        <p:spPr>
          <a:xfrm>
            <a:off x="3178968" y="9417496"/>
            <a:ext cx="500063" cy="274637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fld id="{A82606C5-66CC-4370-AB9C-5F54C7573887}" type="slidenum"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pPr algn="ctr" eaLnBrk="1" hangingPunct="1"/>
              <a:t>‹#›</a:t>
            </a:fld>
            <a:endParaRPr lang="ko-KR" alt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Line 7"/>
          <p:cNvSpPr>
            <a:spLocks noChangeShapeType="1"/>
          </p:cNvSpPr>
          <p:nvPr userDrawn="1"/>
        </p:nvSpPr>
        <p:spPr bwMode="auto">
          <a:xfrm>
            <a:off x="404813" y="9417050"/>
            <a:ext cx="6046787" cy="0"/>
          </a:xfrm>
          <a:prstGeom prst="line">
            <a:avLst/>
          </a:prstGeom>
          <a:noFill/>
          <a:ln w="28575">
            <a:solidFill>
              <a:srgbClr val="000000">
                <a:alpha val="39999"/>
              </a:srgb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Line 8"/>
          <p:cNvSpPr>
            <a:spLocks noChangeShapeType="1"/>
          </p:cNvSpPr>
          <p:nvPr userDrawn="1"/>
        </p:nvSpPr>
        <p:spPr bwMode="auto">
          <a:xfrm>
            <a:off x="404813" y="673464"/>
            <a:ext cx="6046787" cy="0"/>
          </a:xfrm>
          <a:prstGeom prst="line">
            <a:avLst/>
          </a:prstGeom>
          <a:noFill/>
          <a:ln w="28575">
            <a:solidFill>
              <a:srgbClr val="000000">
                <a:alpha val="39999"/>
              </a:srgb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9460" y="9508996"/>
            <a:ext cx="816894" cy="196532"/>
          </a:xfrm>
          <a:prstGeom prst="rect">
            <a:avLst/>
          </a:prstGeom>
        </p:spPr>
      </p:pic>
      <p:sp>
        <p:nvSpPr>
          <p:cNvPr id="7" name="TextBox 6"/>
          <p:cNvSpPr txBox="1"/>
          <p:nvPr userDrawn="1"/>
        </p:nvSpPr>
        <p:spPr>
          <a:xfrm>
            <a:off x="4824134" y="361671"/>
            <a:ext cx="16292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사용자 매뉴얼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xmlns="" id="{DD876889-8A49-46A8-A274-C1101383533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813" y="215462"/>
            <a:ext cx="1666875" cy="428625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0" r:id="rId4"/>
  </p:sldLayoutIdLst>
  <p:txStyles>
    <p:titleStyle>
      <a:lvl1pPr algn="ctr" defTabSz="990570" rtl="0" eaLnBrk="1" latinLnBrk="1" hangingPunct="1">
        <a:spcBef>
          <a:spcPct val="0"/>
        </a:spcBef>
        <a:buNone/>
        <a:defRPr sz="47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1464" indent="-371464" algn="l" defTabSz="990570" rtl="0" eaLnBrk="1" latinLnBrk="1" hangingPunct="1">
        <a:spcBef>
          <a:spcPct val="20000"/>
        </a:spcBef>
        <a:buFont typeface="Arial" pitchFamily="34" charset="0"/>
        <a:buChar char="•"/>
        <a:defRPr sz="3467" kern="1200">
          <a:solidFill>
            <a:schemeClr val="tx1"/>
          </a:solidFill>
          <a:latin typeface="+mn-lt"/>
          <a:ea typeface="+mn-ea"/>
          <a:cs typeface="+mn-cs"/>
        </a:defRPr>
      </a:lvl1pPr>
      <a:lvl2pPr marL="804838" indent="-309553" algn="l" defTabSz="990570" rtl="0" eaLnBrk="1" latinLnBrk="1" hangingPunct="1">
        <a:spcBef>
          <a:spcPct val="20000"/>
        </a:spcBef>
        <a:buFont typeface="Arial" pitchFamily="34" charset="0"/>
        <a:buChar char="–"/>
        <a:defRPr sz="3033" kern="1200">
          <a:solidFill>
            <a:schemeClr val="tx1"/>
          </a:solidFill>
          <a:latin typeface="+mn-lt"/>
          <a:ea typeface="+mn-ea"/>
          <a:cs typeface="+mn-cs"/>
        </a:defRPr>
      </a:lvl2pPr>
      <a:lvl3pPr marL="1238212" indent="-247642" algn="l" defTabSz="990570" rtl="0" eaLnBrk="1" latinLnBrk="1" hangingPunct="1">
        <a:spcBef>
          <a:spcPct val="20000"/>
        </a:spcBef>
        <a:buFont typeface="Arial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33497" indent="-247642" algn="l" defTabSz="990570" rtl="0" eaLnBrk="1" latinLnBrk="1" hangingPunct="1">
        <a:spcBef>
          <a:spcPct val="20000"/>
        </a:spcBef>
        <a:buFont typeface="Arial" pitchFamily="34" charset="0"/>
        <a:buChar char="–"/>
        <a:defRPr sz="2167" kern="1200">
          <a:solidFill>
            <a:schemeClr val="tx1"/>
          </a:solidFill>
          <a:latin typeface="+mn-lt"/>
          <a:ea typeface="+mn-ea"/>
          <a:cs typeface="+mn-cs"/>
        </a:defRPr>
      </a:lvl4pPr>
      <a:lvl5pPr marL="2228781" indent="-247642" algn="l" defTabSz="990570" rtl="0" eaLnBrk="1" latinLnBrk="1" hangingPunct="1">
        <a:spcBef>
          <a:spcPct val="20000"/>
        </a:spcBef>
        <a:buFont typeface="Arial" pitchFamily="34" charset="0"/>
        <a:buChar char="»"/>
        <a:defRPr sz="2167" kern="1200">
          <a:solidFill>
            <a:schemeClr val="tx1"/>
          </a:solidFill>
          <a:latin typeface="+mn-lt"/>
          <a:ea typeface="+mn-ea"/>
          <a:cs typeface="+mn-cs"/>
        </a:defRPr>
      </a:lvl5pPr>
      <a:lvl6pPr marL="2724066" indent="-247642" algn="l" defTabSz="990570" rtl="0" eaLnBrk="1" latinLnBrk="1" hangingPunct="1">
        <a:spcBef>
          <a:spcPct val="20000"/>
        </a:spcBef>
        <a:buFont typeface="Arial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6pPr>
      <a:lvl7pPr marL="3219351" indent="-247642" algn="l" defTabSz="990570" rtl="0" eaLnBrk="1" latinLnBrk="1" hangingPunct="1">
        <a:spcBef>
          <a:spcPct val="20000"/>
        </a:spcBef>
        <a:buFont typeface="Arial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7pPr>
      <a:lvl8pPr marL="3714636" indent="-247642" algn="l" defTabSz="990570" rtl="0" eaLnBrk="1" latinLnBrk="1" hangingPunct="1">
        <a:spcBef>
          <a:spcPct val="20000"/>
        </a:spcBef>
        <a:buFont typeface="Arial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8pPr>
      <a:lvl9pPr marL="4209920" indent="-247642" algn="l" defTabSz="990570" rtl="0" eaLnBrk="1" latinLnBrk="1" hangingPunct="1">
        <a:spcBef>
          <a:spcPct val="20000"/>
        </a:spcBef>
        <a:buFont typeface="Arial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95285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90570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485854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981139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476424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09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466993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3962278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540000" y="3872880"/>
            <a:ext cx="1321048" cy="1200329"/>
          </a:xfrm>
          <a:prstGeom prst="rect">
            <a:avLst/>
          </a:prstGeom>
          <a:noFill/>
          <a:effectLst>
            <a:outerShdw blurRad="63500" dist="38100" dir="2220000" algn="tl" rotWithShape="0">
              <a:prstClr val="black">
                <a:alpha val="52000"/>
              </a:prstClr>
            </a:outerShdw>
          </a:effectLst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en-US" altLang="ko-KR" sz="7200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Arial Unicode MS" pitchFamily="50" charset="-127"/>
              </a:rPr>
              <a:t>1.</a:t>
            </a:r>
            <a:endParaRPr lang="ko-KR" altLang="en-US" sz="7200" dirty="0">
              <a:solidFill>
                <a:schemeClr val="bg1"/>
              </a:solidFill>
              <a:latin typeface="HY헤드라인M" panose="02030600000101010101" pitchFamily="18" charset="-127"/>
              <a:ea typeface="HY헤드라인M" panose="02030600000101010101" pitchFamily="18" charset="-127"/>
              <a:cs typeface="Arial Unicode MS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861048" y="4232920"/>
            <a:ext cx="2810911" cy="784830"/>
          </a:xfrm>
          <a:prstGeom prst="rect">
            <a:avLst/>
          </a:prstGeom>
          <a:noFill/>
          <a:effectLst>
            <a:outerShdw blurRad="63500" dist="38100" dir="2220000" algn="tl" rotWithShape="0">
              <a:prstClr val="black">
                <a:alpha val="52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4500" dirty="0">
                <a:solidFill>
                  <a:srgbClr val="FFFFFF"/>
                </a:solidFill>
                <a:latin typeface="HY헤드라인M" pitchFamily="18" charset="-127"/>
                <a:ea typeface="HY헤드라인M" pitchFamily="18" charset="-127"/>
              </a:rPr>
              <a:t>시작하기</a:t>
            </a:r>
          </a:p>
        </p:txBody>
      </p:sp>
    </p:spTree>
    <p:extLst>
      <p:ext uri="{BB962C8B-B14F-4D97-AF65-F5344CB8AC3E}">
        <p14:creationId xmlns:p14="http://schemas.microsoft.com/office/powerpoint/2010/main" val="182363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309298" y="738136"/>
            <a:ext cx="1152880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1. </a:t>
            </a:r>
            <a:r>
              <a:rPr lang="ko-KR" altLang="en-US" b="1" dirty="0">
                <a:latin typeface="+mn-ea"/>
              </a:rPr>
              <a:t>로그인</a:t>
            </a:r>
            <a:endParaRPr lang="en-US" altLang="ko-KR" b="1" dirty="0">
              <a:latin typeface="+mn-e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09298" y="6355100"/>
            <a:ext cx="9541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latin typeface="+mn-ea"/>
              </a:rPr>
              <a:t>2) </a:t>
            </a:r>
            <a:r>
              <a:rPr lang="ko-KR" altLang="en-US" sz="1400" b="1" dirty="0">
                <a:latin typeface="+mn-ea"/>
              </a:rPr>
              <a:t>로그인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116" y="6819447"/>
            <a:ext cx="60005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latin typeface="+mn-ea"/>
              </a:rPr>
              <a:t>부여된 아이디와 비밀번호를 입력한 후 로그인을 한다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200" dirty="0">
                <a:latin typeface="+mn-ea"/>
              </a:rPr>
              <a:t>① </a:t>
            </a:r>
            <a:r>
              <a:rPr lang="en-US" altLang="ko-KR" sz="1200" dirty="0">
                <a:latin typeface="+mn-ea"/>
              </a:rPr>
              <a:t>[</a:t>
            </a:r>
            <a:r>
              <a:rPr lang="ko-KR" altLang="en-US" sz="1200" dirty="0">
                <a:latin typeface="+mn-ea"/>
              </a:rPr>
              <a:t>로그인</a:t>
            </a:r>
            <a:r>
              <a:rPr lang="en-US" altLang="ko-KR" sz="1200" dirty="0">
                <a:latin typeface="+mn-ea"/>
              </a:rPr>
              <a:t>] </a:t>
            </a:r>
            <a:r>
              <a:rPr lang="ko-KR" altLang="en-US" sz="1200" dirty="0">
                <a:latin typeface="+mn-ea"/>
              </a:rPr>
              <a:t>버튼을 클릭한다</a:t>
            </a:r>
            <a:r>
              <a:rPr lang="en-US" altLang="ko-KR" sz="1200" dirty="0">
                <a:latin typeface="+mn-ea"/>
              </a:rPr>
              <a:t>.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80" y="7824752"/>
            <a:ext cx="6000587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+mn-ea"/>
              </a:rPr>
              <a:t>* </a:t>
            </a:r>
            <a:r>
              <a:rPr lang="ko-KR" altLang="en-US" sz="1200" dirty="0">
                <a:latin typeface="+mn-ea"/>
              </a:rPr>
              <a:t>참고</a:t>
            </a:r>
            <a:r>
              <a:rPr lang="en-US" altLang="ko-KR" sz="1200" dirty="0">
                <a:latin typeface="+mn-ea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+mn-ea"/>
              </a:rPr>
              <a:t>- Any Browser (</a:t>
            </a:r>
            <a:r>
              <a:rPr lang="ko-KR" altLang="en-US" sz="1200" dirty="0">
                <a:latin typeface="+mn-ea"/>
              </a:rPr>
              <a:t>인터넷 익스플로러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크롬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오페라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사파리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파이어폭스 등</a:t>
            </a:r>
            <a:r>
              <a:rPr lang="en-US" altLang="ko-KR" sz="1200" dirty="0">
                <a:latin typeface="+mn-ea"/>
              </a:rPr>
              <a:t>.) 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7BAEB5F4-2891-47EE-A72C-1013D7265B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298" y="1280592"/>
            <a:ext cx="6239405" cy="350966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017C80EB-2F31-41CB-9E51-CDBE8818AA6E}"/>
              </a:ext>
            </a:extLst>
          </p:cNvPr>
          <p:cNvSpPr txBox="1"/>
          <p:nvPr/>
        </p:nvSpPr>
        <p:spPr>
          <a:xfrm>
            <a:off x="309298" y="5025008"/>
            <a:ext cx="11769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latin typeface="+mn-ea"/>
              </a:rPr>
              <a:t>1) URL </a:t>
            </a:r>
            <a:r>
              <a:rPr lang="ko-KR" altLang="en-US" sz="1400" b="1" dirty="0">
                <a:latin typeface="+mn-ea"/>
              </a:rPr>
              <a:t>접속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D0AAD93A-72D3-4FDE-97AC-C6912CE0A251}"/>
              </a:ext>
            </a:extLst>
          </p:cNvPr>
          <p:cNvSpPr txBox="1"/>
          <p:nvPr/>
        </p:nvSpPr>
        <p:spPr>
          <a:xfrm>
            <a:off x="548116" y="5489355"/>
            <a:ext cx="60005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+mn-ea"/>
              </a:rPr>
              <a:t>Web Browser</a:t>
            </a:r>
            <a:r>
              <a:rPr lang="ko-KR" altLang="en-US" sz="1200" dirty="0">
                <a:latin typeface="+mn-ea"/>
              </a:rPr>
              <a:t>를</a:t>
            </a:r>
            <a:r>
              <a:rPr lang="en-US" altLang="ko-KR" sz="1200" dirty="0">
                <a:latin typeface="+mn-ea"/>
              </a:rPr>
              <a:t> </a:t>
            </a:r>
            <a:r>
              <a:rPr lang="ko-KR" altLang="en-US" sz="1200" dirty="0">
                <a:latin typeface="+mn-ea"/>
              </a:rPr>
              <a:t>실행하여 접속 </a:t>
            </a:r>
            <a:r>
              <a:rPr lang="en-US" altLang="ko-KR" sz="1200" dirty="0">
                <a:latin typeface="+mn-ea"/>
              </a:rPr>
              <a:t>URL</a:t>
            </a:r>
            <a:r>
              <a:rPr lang="ko-KR" altLang="en-US" sz="1200" dirty="0">
                <a:latin typeface="+mn-ea"/>
              </a:rPr>
              <a:t>이나 접속 </a:t>
            </a:r>
            <a:r>
              <a:rPr lang="en-US" altLang="ko-KR" sz="1200" dirty="0">
                <a:latin typeface="+mn-ea"/>
              </a:rPr>
              <a:t>IP Address</a:t>
            </a:r>
            <a:r>
              <a:rPr lang="ko-KR" altLang="en-US" sz="1200" dirty="0">
                <a:latin typeface="+mn-ea"/>
              </a:rPr>
              <a:t>를 입력한다</a:t>
            </a:r>
            <a:r>
              <a:rPr lang="en-US" altLang="ko-KR" sz="1200" dirty="0">
                <a:latin typeface="+mn-ea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+mn-ea"/>
              </a:rPr>
              <a:t>(</a:t>
            </a:r>
            <a:r>
              <a:rPr lang="ko-KR" altLang="en-US" sz="1200" dirty="0">
                <a:latin typeface="+mn-ea"/>
              </a:rPr>
              <a:t>예 </a:t>
            </a:r>
            <a:r>
              <a:rPr lang="en-US" altLang="ko-KR" sz="1200" dirty="0">
                <a:latin typeface="+mn-ea"/>
              </a:rPr>
              <a:t>: http://wms.vertexid.com, http://10.10.1.1)</a:t>
            </a:r>
            <a:endParaRPr lang="ko-KR" altLang="en-US" sz="1200" dirty="0">
              <a:latin typeface="+mn-ea"/>
            </a:endParaRPr>
          </a:p>
        </p:txBody>
      </p:sp>
      <p:pic>
        <p:nvPicPr>
          <p:cNvPr id="11" name="그림 10" descr="cross_icon.png">
            <a:extLst>
              <a:ext uri="{FF2B5EF4-FFF2-40B4-BE49-F238E27FC236}">
                <a16:creationId xmlns:a16="http://schemas.microsoft.com/office/drawing/2014/main" xmlns="" id="{260CFE6A-74FF-44DD-B074-A47A72E0FE9F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rcRect l="22596" t="59757" r="68000" b="15552"/>
          <a:stretch>
            <a:fillRect/>
          </a:stretch>
        </p:blipFill>
        <p:spPr bwMode="auto">
          <a:xfrm>
            <a:off x="2036607" y="8517249"/>
            <a:ext cx="600305" cy="472892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pic>
        <p:nvPicPr>
          <p:cNvPr id="12" name="Picture 2">
            <a:extLst>
              <a:ext uri="{FF2B5EF4-FFF2-40B4-BE49-F238E27FC236}">
                <a16:creationId xmlns:a16="http://schemas.microsoft.com/office/drawing/2014/main" xmlns="" id="{578A8E26-0C0F-4756-B54C-0FBE41A9A6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36862" t="26502" r="44270" b="45434"/>
          <a:stretch>
            <a:fillRect/>
          </a:stretch>
        </p:blipFill>
        <p:spPr bwMode="auto">
          <a:xfrm>
            <a:off x="1340768" y="8553400"/>
            <a:ext cx="423088" cy="401225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pic>
        <p:nvPicPr>
          <p:cNvPr id="14" name="그림 69" descr="cross_icon.png">
            <a:extLst>
              <a:ext uri="{FF2B5EF4-FFF2-40B4-BE49-F238E27FC236}">
                <a16:creationId xmlns:a16="http://schemas.microsoft.com/office/drawing/2014/main" xmlns="" id="{5FFE9587-7D53-4C46-8B99-A3C09C40B912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rcRect l="50809" t="59756" r="36653" b="15552"/>
          <a:stretch>
            <a:fillRect/>
          </a:stretch>
        </p:blipFill>
        <p:spPr bwMode="auto">
          <a:xfrm>
            <a:off x="2805674" y="8522287"/>
            <a:ext cx="761555" cy="4502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xmlns="" id="{20BB64AA-26E2-40A1-ACA4-FD79FF3EAE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4662" y="8570093"/>
            <a:ext cx="407443" cy="407443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xmlns="" id="{E44EB4B6-D14F-4277-8D87-387F717701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29538" y="8570093"/>
            <a:ext cx="411630" cy="415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6748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841" y="1280810"/>
            <a:ext cx="6217920" cy="3497580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309298" y="738136"/>
            <a:ext cx="1383712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2. </a:t>
            </a:r>
            <a:r>
              <a:rPr lang="ko-KR" altLang="en-US" b="1" dirty="0">
                <a:latin typeface="+mn-ea"/>
              </a:rPr>
              <a:t>화면구성</a:t>
            </a:r>
            <a:endParaRPr lang="en-US" altLang="ko-KR" b="1" dirty="0">
              <a:latin typeface="+mn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80" y="6681192"/>
            <a:ext cx="60005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+mn-ea"/>
              </a:rPr>
              <a:t>* </a:t>
            </a:r>
            <a:r>
              <a:rPr lang="ko-KR" altLang="en-US" sz="1200" dirty="0">
                <a:latin typeface="+mn-ea"/>
              </a:rPr>
              <a:t>참고</a:t>
            </a:r>
            <a:r>
              <a:rPr lang="en-US" altLang="ko-KR" sz="1200" dirty="0">
                <a:latin typeface="+mn-ea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+mn-ea"/>
              </a:rPr>
              <a:t>- </a:t>
            </a:r>
            <a:r>
              <a:rPr lang="ko-KR" altLang="en-US" sz="1200" dirty="0">
                <a:latin typeface="+mn-ea"/>
              </a:rPr>
              <a:t>해상도 </a:t>
            </a:r>
            <a:r>
              <a:rPr lang="en-US" altLang="ko-KR" sz="1200" dirty="0">
                <a:latin typeface="+mn-ea"/>
              </a:rPr>
              <a:t>: 1920(W) x 1080(H) </a:t>
            </a:r>
            <a:r>
              <a:rPr lang="ko-KR" altLang="en-US" sz="1200" dirty="0">
                <a:latin typeface="+mn-ea"/>
              </a:rPr>
              <a:t>기본이며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사이즈 조절 가능</a:t>
            </a:r>
            <a:endParaRPr lang="en-US" altLang="ko-KR" sz="12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+mn-ea"/>
              </a:rPr>
              <a:t>- </a:t>
            </a:r>
            <a:r>
              <a:rPr lang="ko-KR" altLang="en-US" sz="1200" dirty="0" err="1">
                <a:latin typeface="+mn-ea"/>
              </a:rPr>
              <a:t>데쉬보드는</a:t>
            </a:r>
            <a:r>
              <a:rPr lang="ko-KR" altLang="en-US" sz="1200" dirty="0">
                <a:latin typeface="+mn-ea"/>
              </a:rPr>
              <a:t> 커스터마이징으로 변경될 수 있음</a:t>
            </a:r>
            <a:r>
              <a:rPr lang="en-US" altLang="ko-KR" sz="1200" dirty="0">
                <a:latin typeface="+mn-ea"/>
              </a:rPr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D0AAD93A-72D3-4FDE-97AC-C6912CE0A251}"/>
              </a:ext>
            </a:extLst>
          </p:cNvPr>
          <p:cNvSpPr txBox="1"/>
          <p:nvPr/>
        </p:nvSpPr>
        <p:spPr>
          <a:xfrm>
            <a:off x="548116" y="5025008"/>
            <a:ext cx="600058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latin typeface="+mn-ea"/>
              </a:rPr>
              <a:t>① 좌측 영역 </a:t>
            </a:r>
            <a:r>
              <a:rPr lang="en-US" altLang="ko-KR" sz="1200" dirty="0">
                <a:latin typeface="+mn-ea"/>
              </a:rPr>
              <a:t>: </a:t>
            </a:r>
            <a:r>
              <a:rPr lang="ko-KR" altLang="en-US" sz="1200" dirty="0">
                <a:latin typeface="+mn-ea"/>
              </a:rPr>
              <a:t>업무 </a:t>
            </a:r>
            <a:r>
              <a:rPr lang="ko-KR" altLang="en-US" sz="1200" dirty="0" err="1">
                <a:latin typeface="+mn-ea"/>
              </a:rPr>
              <a:t>구분별</a:t>
            </a:r>
            <a:r>
              <a:rPr lang="ko-KR" altLang="en-US" sz="1200" dirty="0">
                <a:latin typeface="+mn-ea"/>
              </a:rPr>
              <a:t> 프로그램 목록 및 메뉴 닫기</a:t>
            </a:r>
            <a:r>
              <a:rPr lang="en-US" altLang="ko-KR" sz="1200" dirty="0">
                <a:latin typeface="+mn-ea"/>
              </a:rPr>
              <a:t>/</a:t>
            </a:r>
            <a:r>
              <a:rPr lang="ko-KR" altLang="en-US" sz="1200" dirty="0">
                <a:latin typeface="+mn-ea"/>
              </a:rPr>
              <a:t>열기 기능</a:t>
            </a:r>
            <a:endParaRPr lang="en-US" altLang="ko-KR" sz="1200" dirty="0">
              <a:latin typeface="+mn-ea"/>
            </a:endParaRPr>
          </a:p>
          <a:p>
            <a:pPr marL="982663" indent="-982663">
              <a:lnSpc>
                <a:spcPct val="150000"/>
              </a:lnSpc>
            </a:pPr>
            <a:r>
              <a:rPr lang="ko-KR" altLang="ko-KR" sz="1200" dirty="0">
                <a:latin typeface="+mn-ea"/>
              </a:rPr>
              <a:t>②</a:t>
            </a:r>
            <a:r>
              <a:rPr lang="en-US" altLang="ko-KR" sz="1200" dirty="0">
                <a:latin typeface="+mn-ea"/>
              </a:rPr>
              <a:t> </a:t>
            </a:r>
            <a:r>
              <a:rPr lang="ko-KR" altLang="en-US" sz="1200" dirty="0">
                <a:latin typeface="+mn-ea"/>
              </a:rPr>
              <a:t>상단 영역 </a:t>
            </a:r>
            <a:r>
              <a:rPr lang="en-US" altLang="ko-KR" sz="1200" dirty="0">
                <a:latin typeface="+mn-ea"/>
              </a:rPr>
              <a:t>: </a:t>
            </a:r>
            <a:r>
              <a:rPr lang="ko-KR" altLang="en-US" sz="1200" dirty="0">
                <a:latin typeface="+mn-ea"/>
              </a:rPr>
              <a:t>사용권한이 부여된 물류센터 목록과 표시언어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사용자명</a:t>
            </a:r>
            <a:r>
              <a:rPr lang="en-US" altLang="ko-KR" sz="1200" dirty="0">
                <a:latin typeface="+mn-ea"/>
              </a:rPr>
              <a:t> </a:t>
            </a:r>
            <a:r>
              <a:rPr lang="ko-KR" altLang="en-US" sz="1200" dirty="0">
                <a:latin typeface="+mn-ea"/>
              </a:rPr>
              <a:t>등을 표시하고 선택하는 기능</a:t>
            </a:r>
            <a:r>
              <a:rPr lang="en-US" altLang="ko-KR" sz="1200" dirty="0">
                <a:latin typeface="+mn-ea"/>
              </a:rPr>
              <a:t> </a:t>
            </a:r>
          </a:p>
          <a:p>
            <a:pPr marL="982663" indent="-982663">
              <a:lnSpc>
                <a:spcPct val="150000"/>
              </a:lnSpc>
            </a:pPr>
            <a:r>
              <a:rPr lang="ko-KR" altLang="en-US" sz="1200" dirty="0">
                <a:latin typeface="+mn-ea"/>
              </a:rPr>
              <a:t>③ 중앙 영역 </a:t>
            </a:r>
            <a:r>
              <a:rPr lang="en-US" altLang="ko-KR" sz="1200" dirty="0">
                <a:latin typeface="+mn-ea"/>
              </a:rPr>
              <a:t>: </a:t>
            </a:r>
            <a:r>
              <a:rPr lang="ko-KR" altLang="en-US" sz="1200" dirty="0">
                <a:latin typeface="+mn-ea"/>
              </a:rPr>
              <a:t>좌측에서 선택된 프로그램이 표시되는 화면영역으로 탭으로 복수의 실행화면을 표시하며 초기에는 </a:t>
            </a:r>
            <a:r>
              <a:rPr lang="ko-KR" altLang="en-US" sz="1200" dirty="0" err="1">
                <a:latin typeface="+mn-ea"/>
              </a:rPr>
              <a:t>데쉬보드를</a:t>
            </a:r>
            <a:r>
              <a:rPr lang="ko-KR" altLang="en-US" sz="1200" dirty="0">
                <a:latin typeface="+mn-ea"/>
              </a:rPr>
              <a:t> 실행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2E59750D-E5D1-467C-B766-7AD740D64DEB}"/>
              </a:ext>
            </a:extLst>
          </p:cNvPr>
          <p:cNvSpPr/>
          <p:nvPr/>
        </p:nvSpPr>
        <p:spPr bwMode="auto">
          <a:xfrm>
            <a:off x="1003588" y="1466510"/>
            <a:ext cx="5472000" cy="2159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endParaRPr lang="ko-KR" altLang="en-US">
              <a:solidFill>
                <a:srgbClr val="FFFFFF"/>
              </a:solidFill>
              <a:latin typeface="+mn-ea"/>
              <a:ea typeface="+mn-ea"/>
            </a:endParaRPr>
          </a:p>
        </p:txBody>
      </p:sp>
      <p:sp>
        <p:nvSpPr>
          <p:cNvPr id="17" name="TextBox 12">
            <a:extLst>
              <a:ext uri="{FF2B5EF4-FFF2-40B4-BE49-F238E27FC236}">
                <a16:creationId xmlns:a16="http://schemas.microsoft.com/office/drawing/2014/main" xmlns="" id="{FB05882F-E7D6-4B2D-B678-E1534E75FA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5033" y="3331557"/>
            <a:ext cx="36036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ko-KR" altLang="en-US" sz="1600" dirty="0">
                <a:solidFill>
                  <a:srgbClr val="FF0000"/>
                </a:solidFill>
                <a:latin typeface="+mn-ea"/>
                <a:ea typeface="+mn-ea"/>
              </a:rPr>
              <a:t>①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xmlns="" id="{D1DBB1D8-97FD-4D80-AB2B-F1E764A598AD}"/>
              </a:ext>
            </a:extLst>
          </p:cNvPr>
          <p:cNvSpPr/>
          <p:nvPr/>
        </p:nvSpPr>
        <p:spPr bwMode="auto">
          <a:xfrm>
            <a:off x="306864" y="1460082"/>
            <a:ext cx="696701" cy="333313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endParaRPr lang="ko-KR" altLang="en-US">
              <a:solidFill>
                <a:srgbClr val="FFFFFF"/>
              </a:solidFill>
              <a:latin typeface="+mn-ea"/>
              <a:ea typeface="+mn-ea"/>
            </a:endParaRPr>
          </a:p>
        </p:txBody>
      </p:sp>
      <p:sp>
        <p:nvSpPr>
          <p:cNvPr id="19" name="TextBox 12">
            <a:extLst>
              <a:ext uri="{FF2B5EF4-FFF2-40B4-BE49-F238E27FC236}">
                <a16:creationId xmlns:a16="http://schemas.microsoft.com/office/drawing/2014/main" xmlns="" id="{417D7776-9D30-4575-874E-ED29F42172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3135" y="1397453"/>
            <a:ext cx="36036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ko-KR" altLang="en-US" sz="1600" dirty="0">
                <a:solidFill>
                  <a:srgbClr val="FF0000"/>
                </a:solidFill>
                <a:latin typeface="+mn-ea"/>
                <a:ea typeface="+mn-ea"/>
              </a:rPr>
              <a:t>②</a:t>
            </a:r>
          </a:p>
        </p:txBody>
      </p:sp>
      <p:sp>
        <p:nvSpPr>
          <p:cNvPr id="20" name="TextBox 12">
            <a:extLst>
              <a:ext uri="{FF2B5EF4-FFF2-40B4-BE49-F238E27FC236}">
                <a16:creationId xmlns:a16="http://schemas.microsoft.com/office/drawing/2014/main" xmlns="" id="{E6973890-BA31-4469-BD46-A28BAEC6E8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8409" y="2987742"/>
            <a:ext cx="36036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ko-KR" altLang="en-US" sz="1600" dirty="0">
                <a:solidFill>
                  <a:srgbClr val="FF0000"/>
                </a:solidFill>
                <a:latin typeface="+mn-ea"/>
                <a:ea typeface="+mn-ea"/>
              </a:rPr>
              <a:t>③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68BCF3ED-E695-47FB-8FF1-B09B8F8364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9200" y="6966683"/>
            <a:ext cx="1223815" cy="2256056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xmlns="" id="{CA234DAB-4984-4EFA-8CE5-B177888B47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5848" y="7720800"/>
            <a:ext cx="2118615" cy="1501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14355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2722</TotalTime>
  <Words>144</Words>
  <Application>Microsoft Office PowerPoint</Application>
  <PresentationFormat>A4 용지(210x297mm)</PresentationFormat>
  <Paragraphs>21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8" baseType="lpstr">
      <vt:lpstr>Arial Unicode MS</vt:lpstr>
      <vt:lpstr>HY헤드라인M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jklee</dc:creator>
  <cp:lastModifiedBy>jklee</cp:lastModifiedBy>
  <cp:revision>137</cp:revision>
  <cp:lastPrinted>2016-09-08T03:03:05Z</cp:lastPrinted>
  <dcterms:created xsi:type="dcterms:W3CDTF">2015-04-14T16:33:56Z</dcterms:created>
  <dcterms:modified xsi:type="dcterms:W3CDTF">2018-04-27T08:08:50Z</dcterms:modified>
</cp:coreProperties>
</file>