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18"/>
  </p:notesMasterIdLst>
  <p:sldIdLst>
    <p:sldId id="265" r:id="rId2"/>
    <p:sldId id="267" r:id="rId3"/>
    <p:sldId id="269" r:id="rId4"/>
    <p:sldId id="290" r:id="rId5"/>
    <p:sldId id="270" r:id="rId6"/>
    <p:sldId id="272" r:id="rId7"/>
    <p:sldId id="291" r:id="rId8"/>
    <p:sldId id="274" r:id="rId9"/>
    <p:sldId id="276" r:id="rId10"/>
    <p:sldId id="278" r:id="rId11"/>
    <p:sldId id="281" r:id="rId12"/>
    <p:sldId id="284" r:id="rId13"/>
    <p:sldId id="286" r:id="rId14"/>
    <p:sldId id="289" r:id="rId15"/>
    <p:sldId id="292" r:id="rId16"/>
    <p:sldId id="293" r:id="rId17"/>
  </p:sldIdLst>
  <p:sldSz cx="6858000" cy="9906000" type="A4"/>
  <p:notesSz cx="6799263" cy="99298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orient="horz" pos="417" userDrawn="1">
          <p15:clr>
            <a:srgbClr val="A4A3A4"/>
          </p15:clr>
        </p15:guide>
        <p15:guide id="3" orient="horz" pos="5823" userDrawn="1">
          <p15:clr>
            <a:srgbClr val="A4A3A4"/>
          </p15:clr>
        </p15:guide>
        <p15:guide id="4" orient="horz" pos="3366" userDrawn="1">
          <p15:clr>
            <a:srgbClr val="A4A3A4"/>
          </p15:clr>
        </p15:guide>
        <p15:guide id="5" pos="2160" userDrawn="1">
          <p15:clr>
            <a:srgbClr val="A4A3A4"/>
          </p15:clr>
        </p15:guide>
        <p15:guide id="6" pos="346" userDrawn="1">
          <p15:clr>
            <a:srgbClr val="A4A3A4"/>
          </p15:clr>
        </p15:guide>
        <p15:guide id="7" pos="3974" userDrawn="1">
          <p15:clr>
            <a:srgbClr val="A4A3A4"/>
          </p15:clr>
        </p15:guide>
        <p15:guide id="8" pos="482" userDrawn="1">
          <p15:clr>
            <a:srgbClr val="A4A3A4"/>
          </p15:clr>
        </p15:guide>
        <p15:guide id="9" pos="164" userDrawn="1">
          <p15:clr>
            <a:srgbClr val="A4A3A4"/>
          </p15:clr>
        </p15:guide>
        <p15:guide id="10" pos="4156" userDrawn="1">
          <p15:clr>
            <a:srgbClr val="A4A3A4"/>
          </p15:clr>
        </p15:guide>
        <p15:guide id="11" orient="horz" pos="7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>
        <p:scale>
          <a:sx n="80" d="100"/>
          <a:sy n="80" d="100"/>
        </p:scale>
        <p:origin x="2982" y="-132"/>
      </p:cViewPr>
      <p:guideLst>
        <p:guide orient="horz" pos="3120"/>
        <p:guide orient="horz" pos="417"/>
        <p:guide orient="horz" pos="5823"/>
        <p:guide orient="horz" pos="3366"/>
        <p:guide pos="2160"/>
        <p:guide pos="346"/>
        <p:guide pos="3974"/>
        <p:guide pos="482"/>
        <p:guide pos="164"/>
        <p:guide pos="4156"/>
        <p:guide orient="horz" pos="7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347" cy="496491"/>
          </a:xfrm>
          <a:prstGeom prst="rect">
            <a:avLst/>
          </a:prstGeom>
        </p:spPr>
        <p:txBody>
          <a:bodyPr vert="horz" lIns="91458" tIns="45729" rIns="91458" bIns="4572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1343" y="0"/>
            <a:ext cx="2946347" cy="496491"/>
          </a:xfrm>
          <a:prstGeom prst="rect">
            <a:avLst/>
          </a:prstGeom>
        </p:spPr>
        <p:txBody>
          <a:bodyPr vert="horz" lIns="91458" tIns="45729" rIns="91458" bIns="45729" rtlCol="0"/>
          <a:lstStyle>
            <a:lvl1pPr algn="r">
              <a:defRPr sz="1200"/>
            </a:lvl1pPr>
          </a:lstStyle>
          <a:p>
            <a:fld id="{43CB2420-59EC-4A09-9982-271C07D7D95A}" type="datetimeFigureOut">
              <a:rPr lang="ko-KR" altLang="en-US" smtClean="0"/>
              <a:t>2017-12-08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11375" y="744538"/>
            <a:ext cx="2576513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58" tIns="45729" rIns="91458" bIns="4572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927" y="4716662"/>
            <a:ext cx="5439410" cy="4468416"/>
          </a:xfrm>
          <a:prstGeom prst="rect">
            <a:avLst/>
          </a:prstGeom>
        </p:spPr>
        <p:txBody>
          <a:bodyPr vert="horz" lIns="91458" tIns="45729" rIns="91458" bIns="45729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1599"/>
            <a:ext cx="2946347" cy="496491"/>
          </a:xfrm>
          <a:prstGeom prst="rect">
            <a:avLst/>
          </a:prstGeom>
        </p:spPr>
        <p:txBody>
          <a:bodyPr vert="horz" lIns="91458" tIns="45729" rIns="91458" bIns="4572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1343" y="9431599"/>
            <a:ext cx="2946347" cy="496491"/>
          </a:xfrm>
          <a:prstGeom prst="rect">
            <a:avLst/>
          </a:prstGeom>
        </p:spPr>
        <p:txBody>
          <a:bodyPr vert="horz" lIns="91458" tIns="45729" rIns="91458" bIns="45729" rtlCol="0" anchor="b"/>
          <a:lstStyle>
            <a:lvl1pPr algn="r">
              <a:defRPr sz="1200"/>
            </a:lvl1pPr>
          </a:lstStyle>
          <a:p>
            <a:fld id="{2C25CD28-6BA2-405C-B4B8-46A6C1A2FC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7060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="" xmlns:a16="http://schemas.microsoft.com/office/drawing/2014/main" id="{F443F6D3-B642-4A97-9BA0-3A1F7FB74D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98"/>
            <a:ext cx="6858000" cy="99076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BD9C795-9E54-4113-BE3C-D812C6C15148}"/>
              </a:ext>
            </a:extLst>
          </p:cNvPr>
          <p:cNvSpPr txBox="1"/>
          <p:nvPr userDrawn="1"/>
        </p:nvSpPr>
        <p:spPr>
          <a:xfrm>
            <a:off x="764704" y="3576137"/>
            <a:ext cx="5693817" cy="584775"/>
          </a:xfrm>
          <a:prstGeom prst="rect">
            <a:avLst/>
          </a:prstGeom>
          <a:noFill/>
          <a:effectLst>
            <a:outerShdw blurRad="63500" dist="38100" dir="2220000" algn="tl" rotWithShape="0">
              <a:prstClr val="black">
                <a:alpha val="52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2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물류센터 관리 시스템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984B9BA-9053-40CF-BED5-84FA55E80D70}"/>
              </a:ext>
            </a:extLst>
          </p:cNvPr>
          <p:cNvSpPr txBox="1"/>
          <p:nvPr userDrawn="1"/>
        </p:nvSpPr>
        <p:spPr>
          <a:xfrm>
            <a:off x="764704" y="4367644"/>
            <a:ext cx="2140330" cy="461665"/>
          </a:xfrm>
          <a:prstGeom prst="rect">
            <a:avLst/>
          </a:prstGeom>
          <a:noFill/>
          <a:effectLst>
            <a:outerShdw blurRad="63500" dist="38100" dir="2220000" algn="tl" rotWithShape="0">
              <a:prstClr val="black">
                <a:alpha val="52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b="1" dirty="0">
                <a:solidFill>
                  <a:schemeClr val="tx1"/>
                </a:solidFill>
                <a:latin typeface="+mn-ea"/>
              </a:rPr>
              <a:t>사용자 매뉴얼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4F108091-B9EA-4AE9-856E-001F87BE7F5D}"/>
              </a:ext>
            </a:extLst>
          </p:cNvPr>
          <p:cNvSpPr txBox="1"/>
          <p:nvPr userDrawn="1"/>
        </p:nvSpPr>
        <p:spPr>
          <a:xfrm>
            <a:off x="2830759" y="4521532"/>
            <a:ext cx="598241" cy="307777"/>
          </a:xfrm>
          <a:prstGeom prst="rect">
            <a:avLst/>
          </a:prstGeom>
          <a:noFill/>
          <a:effectLst>
            <a:outerShdw blurRad="63500" dist="38100" dir="2220000" algn="tl" rotWithShape="0">
              <a:prstClr val="black">
                <a:alpha val="52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v 1.0</a:t>
            </a:r>
            <a:endParaRPr lang="ko-KR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E678DF4-F4F4-42A4-904B-2BD0A2BE0DDF}"/>
              </a:ext>
            </a:extLst>
          </p:cNvPr>
          <p:cNvSpPr txBox="1"/>
          <p:nvPr userDrawn="1"/>
        </p:nvSpPr>
        <p:spPr>
          <a:xfrm>
            <a:off x="28340" y="560512"/>
            <a:ext cx="338554" cy="4824000"/>
          </a:xfrm>
          <a:prstGeom prst="rect">
            <a:avLst/>
          </a:prstGeom>
          <a:noFill/>
        </p:spPr>
        <p:txBody>
          <a:bodyPr vert="vert" wrap="square" rtlCol="0" anchor="ctr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Paragon WMS</a:t>
            </a:r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 사용자매뉴얼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5B90AA73-9F06-4073-8617-6398544354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12" y="3044146"/>
            <a:ext cx="1666875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971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98C9B5DE-9115-412D-971A-D470A1F25A8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98"/>
            <a:ext cx="6858000" cy="99076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9BD9C795-9E54-4113-BE3C-D812C6C15148}"/>
              </a:ext>
            </a:extLst>
          </p:cNvPr>
          <p:cNvSpPr txBox="1"/>
          <p:nvPr userDrawn="1"/>
        </p:nvSpPr>
        <p:spPr>
          <a:xfrm>
            <a:off x="764704" y="3576137"/>
            <a:ext cx="5693817" cy="584775"/>
          </a:xfrm>
          <a:prstGeom prst="rect">
            <a:avLst/>
          </a:prstGeom>
          <a:noFill/>
          <a:effectLst>
            <a:outerShdw blurRad="63500" dist="38100" dir="2220000" algn="tl" rotWithShape="0">
              <a:prstClr val="black">
                <a:alpha val="52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200" dirty="0">
                <a:solidFill>
                  <a:schemeClr val="tx1"/>
                </a:solidFill>
                <a:latin typeface="HY헤드라인M" pitchFamily="18" charset="-127"/>
                <a:ea typeface="HY헤드라인M" pitchFamily="18" charset="-127"/>
              </a:rPr>
              <a:t>물류센터 관리 시스템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984B9BA-9053-40CF-BED5-84FA55E80D70}"/>
              </a:ext>
            </a:extLst>
          </p:cNvPr>
          <p:cNvSpPr txBox="1"/>
          <p:nvPr userDrawn="1"/>
        </p:nvSpPr>
        <p:spPr>
          <a:xfrm>
            <a:off x="764704" y="4367644"/>
            <a:ext cx="2140330" cy="461665"/>
          </a:xfrm>
          <a:prstGeom prst="rect">
            <a:avLst/>
          </a:prstGeom>
          <a:noFill/>
          <a:effectLst>
            <a:outerShdw blurRad="63500" dist="38100" dir="2220000" algn="tl" rotWithShape="0">
              <a:prstClr val="black">
                <a:alpha val="52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ko-KR" altLang="en-US" sz="2400" b="1" dirty="0">
                <a:solidFill>
                  <a:schemeClr val="tx1"/>
                </a:solidFill>
                <a:latin typeface="+mn-ea"/>
              </a:rPr>
              <a:t>사용자 매뉴얼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4F108091-B9EA-4AE9-856E-001F87BE7F5D}"/>
              </a:ext>
            </a:extLst>
          </p:cNvPr>
          <p:cNvSpPr txBox="1"/>
          <p:nvPr userDrawn="1"/>
        </p:nvSpPr>
        <p:spPr>
          <a:xfrm>
            <a:off x="2830759" y="4521532"/>
            <a:ext cx="598241" cy="307777"/>
          </a:xfrm>
          <a:prstGeom prst="rect">
            <a:avLst/>
          </a:prstGeom>
          <a:noFill/>
          <a:effectLst>
            <a:outerShdw blurRad="63500" dist="38100" dir="2220000" algn="tl" rotWithShape="0">
              <a:prstClr val="black">
                <a:alpha val="52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v 1.0</a:t>
            </a:r>
            <a:endParaRPr lang="ko-KR" alt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CE678DF4-F4F4-42A4-904B-2BD0A2BE0DDF}"/>
              </a:ext>
            </a:extLst>
          </p:cNvPr>
          <p:cNvSpPr txBox="1"/>
          <p:nvPr userDrawn="1"/>
        </p:nvSpPr>
        <p:spPr>
          <a:xfrm>
            <a:off x="28340" y="560512"/>
            <a:ext cx="338554" cy="4824000"/>
          </a:xfrm>
          <a:prstGeom prst="rect">
            <a:avLst/>
          </a:prstGeom>
          <a:noFill/>
        </p:spPr>
        <p:txBody>
          <a:bodyPr vert="vert" wrap="square" rtlCol="0" anchor="ctr">
            <a:spAutoFit/>
          </a:bodyPr>
          <a:lstStyle/>
          <a:p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Paragon WMS</a:t>
            </a:r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 사용자매뉴얼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5B90AA73-9F06-4073-8617-6398544354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12" y="3044146"/>
            <a:ext cx="1666875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5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92B2CF9A-EB2D-4083-BAD4-FC52DE3AA9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2"/>
            <a:ext cx="6858000" cy="990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823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 userDrawn="1"/>
        </p:nvSpPr>
        <p:spPr>
          <a:xfrm>
            <a:off x="3178968" y="9417496"/>
            <a:ext cx="500063" cy="274637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fld id="{A82606C5-66CC-4370-AB9C-5F54C7573887}" type="slidenum"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 eaLnBrk="1" hangingPunct="1"/>
              <a:t>‹#›</a:t>
            </a:fld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Line 7"/>
          <p:cNvSpPr>
            <a:spLocks noChangeShapeType="1"/>
          </p:cNvSpPr>
          <p:nvPr userDrawn="1"/>
        </p:nvSpPr>
        <p:spPr bwMode="auto">
          <a:xfrm>
            <a:off x="404813" y="9417050"/>
            <a:ext cx="6046787" cy="0"/>
          </a:xfrm>
          <a:prstGeom prst="line">
            <a:avLst/>
          </a:prstGeom>
          <a:noFill/>
          <a:ln w="28575">
            <a:solidFill>
              <a:srgbClr val="000000">
                <a:alpha val="39999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04813" y="673464"/>
            <a:ext cx="6046787" cy="0"/>
          </a:xfrm>
          <a:prstGeom prst="line">
            <a:avLst/>
          </a:prstGeom>
          <a:noFill/>
          <a:ln w="28575">
            <a:solidFill>
              <a:srgbClr val="000000">
                <a:alpha val="39999"/>
              </a:srgb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9460" y="9508996"/>
            <a:ext cx="816894" cy="196532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4824134" y="361671"/>
            <a:ext cx="1629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사용자 매뉴얼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DD876889-8A49-46A8-A274-C110138353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813" y="215462"/>
            <a:ext cx="1666875" cy="42862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0" r:id="rId4"/>
  </p:sldLayoutIdLst>
  <p:txStyles>
    <p:titleStyle>
      <a:lvl1pPr algn="ctr" defTabSz="990570" rtl="0" eaLnBrk="1" latinLnBrk="1" hangingPunct="1">
        <a:spcBef>
          <a:spcPct val="0"/>
        </a:spcBef>
        <a:buNone/>
        <a:defRPr sz="47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1464" indent="-371464" algn="l" defTabSz="990570" rtl="0" eaLnBrk="1" latinLnBrk="1" hangingPunct="1">
        <a:spcBef>
          <a:spcPct val="20000"/>
        </a:spcBef>
        <a:buFont typeface="Arial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1pPr>
      <a:lvl2pPr marL="804838" indent="-309553" algn="l" defTabSz="990570" rtl="0" eaLnBrk="1" latinLnBrk="1" hangingPunct="1">
        <a:spcBef>
          <a:spcPct val="20000"/>
        </a:spcBef>
        <a:buFont typeface="Arial" pitchFamily="34" charset="0"/>
        <a:buChar char="–"/>
        <a:defRPr sz="3033" kern="1200">
          <a:solidFill>
            <a:schemeClr val="tx1"/>
          </a:solidFill>
          <a:latin typeface="+mn-lt"/>
          <a:ea typeface="+mn-ea"/>
          <a:cs typeface="+mn-cs"/>
        </a:defRPr>
      </a:lvl2pPr>
      <a:lvl3pPr marL="1238212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33497" indent="-247642" algn="l" defTabSz="990570" rtl="0" eaLnBrk="1" latinLnBrk="1" hangingPunct="1">
        <a:spcBef>
          <a:spcPct val="20000"/>
        </a:spcBef>
        <a:buFont typeface="Arial" pitchFamily="34" charset="0"/>
        <a:buChar char="–"/>
        <a:defRPr sz="2167" kern="1200">
          <a:solidFill>
            <a:schemeClr val="tx1"/>
          </a:solidFill>
          <a:latin typeface="+mn-lt"/>
          <a:ea typeface="+mn-ea"/>
          <a:cs typeface="+mn-cs"/>
        </a:defRPr>
      </a:lvl4pPr>
      <a:lvl5pPr marL="2228781" indent="-247642" algn="l" defTabSz="990570" rtl="0" eaLnBrk="1" latinLnBrk="1" hangingPunct="1">
        <a:spcBef>
          <a:spcPct val="20000"/>
        </a:spcBef>
        <a:buFont typeface="Arial" pitchFamily="34" charset="0"/>
        <a:buChar char="»"/>
        <a:defRPr sz="2167" kern="1200">
          <a:solidFill>
            <a:schemeClr val="tx1"/>
          </a:solidFill>
          <a:latin typeface="+mn-lt"/>
          <a:ea typeface="+mn-ea"/>
          <a:cs typeface="+mn-cs"/>
        </a:defRPr>
      </a:lvl5pPr>
      <a:lvl6pPr marL="272406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351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636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09920" indent="-247642" algn="l" defTabSz="990570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249834" y="3872880"/>
            <a:ext cx="1321048" cy="1200329"/>
          </a:xfrm>
          <a:prstGeom prst="rect">
            <a:avLst/>
          </a:prstGeom>
          <a:noFill/>
          <a:effectLst>
            <a:outerShdw blurRad="63500" dist="38100" dir="2220000" algn="tl" rotWithShape="0">
              <a:prstClr val="black">
                <a:alpha val="52000"/>
              </a:prstClr>
            </a:outerShdw>
          </a:effectLst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altLang="ko-KR" sz="7200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Arial Unicode MS" pitchFamily="50" charset="-127"/>
              </a:rPr>
              <a:t>4.</a:t>
            </a:r>
            <a:endParaRPr lang="ko-KR" altLang="en-US" sz="7200" dirty="0"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Arial Unicode MS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70882" y="4232920"/>
            <a:ext cx="3096344" cy="784830"/>
          </a:xfrm>
          <a:prstGeom prst="rect">
            <a:avLst/>
          </a:prstGeom>
          <a:noFill/>
          <a:effectLst>
            <a:outerShdw blurRad="63500" dist="38100" dir="2220000" algn="tl" rotWithShape="0">
              <a:prstClr val="black">
                <a:alpha val="52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4500" dirty="0">
                <a:solidFill>
                  <a:srgbClr val="FFFFFF"/>
                </a:solidFill>
                <a:latin typeface="HY헤드라인M" pitchFamily="18" charset="-127"/>
                <a:ea typeface="HY헤드라인M" pitchFamily="18" charset="-127"/>
              </a:rPr>
              <a:t>출고관리</a:t>
            </a:r>
          </a:p>
        </p:txBody>
      </p:sp>
    </p:spTree>
    <p:extLst>
      <p:ext uri="{BB962C8B-B14F-4D97-AF65-F5344CB8AC3E}">
        <p14:creationId xmlns:p14="http://schemas.microsoft.com/office/powerpoint/2010/main" val="18236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="" xmlns:a16="http://schemas.microsoft.com/office/drawing/2014/main" id="{6E57F3BE-862B-4234-BD12-71552DE79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80" y="1314450"/>
            <a:ext cx="2085975" cy="363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674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09298" y="738136"/>
            <a:ext cx="184537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1. </a:t>
            </a:r>
            <a:r>
              <a:rPr lang="ko-KR" altLang="en-US" b="1" dirty="0">
                <a:latin typeface="+mn-ea"/>
              </a:rPr>
              <a:t>출고예정등록</a:t>
            </a:r>
            <a:endParaRPr lang="en-US" altLang="ko-KR" b="1" dirty="0"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AD7EF5A3-5D38-4D5D-8EE6-8B170EE98C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98" y="1256780"/>
            <a:ext cx="6239403" cy="3638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9298" y="6681192"/>
            <a:ext cx="774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2) </a:t>
            </a:r>
            <a:r>
              <a:rPr lang="ko-KR" altLang="en-US" sz="1400" b="1" dirty="0" smtClean="0">
                <a:latin typeface="+mn-ea"/>
              </a:rPr>
              <a:t>신규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116" y="6999782"/>
            <a:ext cx="600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+mn-ea"/>
              </a:rPr>
              <a:t>새로운 출고예정 </a:t>
            </a:r>
            <a:r>
              <a:rPr lang="ko-KR" altLang="en-US" sz="1200" dirty="0">
                <a:latin typeface="+mn-ea"/>
              </a:rPr>
              <a:t>정보를 입력할 경우 </a:t>
            </a:r>
            <a:r>
              <a:rPr lang="en-US" altLang="ko-KR" sz="1200" dirty="0" smtClean="0">
                <a:latin typeface="+mn-ea"/>
              </a:rPr>
              <a:t>[</a:t>
            </a:r>
            <a:r>
              <a:rPr lang="ko-KR" altLang="en-US" sz="1200" dirty="0" smtClean="0">
                <a:latin typeface="+mn-ea"/>
              </a:rPr>
              <a:t>신규</a:t>
            </a:r>
            <a:r>
              <a:rPr lang="en-US" altLang="ko-KR" sz="1200" dirty="0" smtClean="0">
                <a:latin typeface="+mn-ea"/>
              </a:rPr>
              <a:t>] </a:t>
            </a:r>
            <a:r>
              <a:rPr lang="ko-KR" altLang="en-US" sz="1200" dirty="0">
                <a:latin typeface="+mn-ea"/>
              </a:rPr>
              <a:t>버튼을 클릭하여 등록 </a:t>
            </a:r>
            <a:r>
              <a:rPr lang="ko-KR" altLang="en-US" sz="1200" dirty="0" err="1">
                <a:latin typeface="+mn-ea"/>
              </a:rPr>
              <a:t>팝업창을</a:t>
            </a:r>
            <a:r>
              <a:rPr lang="ko-KR" altLang="en-US" sz="1200" dirty="0">
                <a:latin typeface="+mn-ea"/>
              </a:rPr>
              <a:t> </a:t>
            </a:r>
            <a:r>
              <a:rPr lang="ko-KR" altLang="en-US" sz="1200" dirty="0" err="1" smtClean="0">
                <a:latin typeface="+mn-ea"/>
              </a:rPr>
              <a:t>오픈한다</a:t>
            </a:r>
            <a:r>
              <a:rPr lang="en-US" altLang="ko-KR" sz="1200" dirty="0" smtClean="0">
                <a:latin typeface="+mn-ea"/>
              </a:rPr>
              <a:t>.</a:t>
            </a:r>
            <a:endParaRPr lang="en-US" altLang="ko-KR" sz="12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017C80EB-2F31-41CB-9E51-CDBE8818AA6E}"/>
              </a:ext>
            </a:extLst>
          </p:cNvPr>
          <p:cNvSpPr txBox="1"/>
          <p:nvPr/>
        </p:nvSpPr>
        <p:spPr>
          <a:xfrm>
            <a:off x="309298" y="5601072"/>
            <a:ext cx="774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1) </a:t>
            </a:r>
            <a:r>
              <a:rPr lang="ko-KR" altLang="en-US" sz="1400" b="1" dirty="0">
                <a:latin typeface="+mn-ea"/>
              </a:rPr>
              <a:t>검색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0AAD93A-72D3-4FDE-97AC-C6912CE0A251}"/>
              </a:ext>
            </a:extLst>
          </p:cNvPr>
          <p:cNvSpPr txBox="1"/>
          <p:nvPr/>
        </p:nvSpPr>
        <p:spPr>
          <a:xfrm>
            <a:off x="548116" y="5961112"/>
            <a:ext cx="6000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+mn-ea"/>
              </a:rPr>
              <a:t>출고예정일자와 검색조건을 </a:t>
            </a:r>
            <a:r>
              <a:rPr lang="ko-KR" altLang="en-US" sz="1200" dirty="0">
                <a:latin typeface="+mn-ea"/>
              </a:rPr>
              <a:t>입력한 후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검색</a:t>
            </a:r>
            <a:r>
              <a:rPr lang="en-US" altLang="ko-KR" sz="1200" dirty="0">
                <a:latin typeface="+mn-ea"/>
              </a:rPr>
              <a:t>] </a:t>
            </a:r>
            <a:r>
              <a:rPr lang="ko-KR" altLang="en-US" sz="1200" dirty="0">
                <a:latin typeface="+mn-ea"/>
              </a:rPr>
              <a:t>버튼을 </a:t>
            </a:r>
            <a:r>
              <a:rPr lang="ko-KR" altLang="en-US" sz="1200" dirty="0" smtClean="0">
                <a:latin typeface="+mn-ea"/>
              </a:rPr>
              <a:t>클릭 한다</a:t>
            </a:r>
            <a:r>
              <a:rPr lang="en-US" altLang="ko-KR" sz="1200" dirty="0" smtClean="0">
                <a:latin typeface="+mn-ea"/>
              </a:rPr>
              <a:t>. 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- </a:t>
            </a:r>
            <a:r>
              <a:rPr lang="ko-KR" altLang="en-US" sz="1200" dirty="0">
                <a:latin typeface="+mn-ea"/>
              </a:rPr>
              <a:t>검색조건</a:t>
            </a:r>
            <a:r>
              <a:rPr lang="en-US" altLang="ko-KR" sz="1200" dirty="0" smtClean="0">
                <a:latin typeface="+mn-ea"/>
              </a:rPr>
              <a:t>(</a:t>
            </a:r>
            <a:r>
              <a:rPr lang="ko-KR" altLang="en-US" sz="1200" dirty="0" smtClean="0">
                <a:latin typeface="+mn-ea"/>
              </a:rPr>
              <a:t>필수</a:t>
            </a:r>
            <a:r>
              <a:rPr lang="en-US" altLang="ko-KR" sz="1200" dirty="0" smtClean="0">
                <a:latin typeface="+mn-ea"/>
              </a:rPr>
              <a:t>) </a:t>
            </a:r>
            <a:r>
              <a:rPr lang="en-US" altLang="ko-KR" sz="1200" dirty="0">
                <a:latin typeface="+mn-ea"/>
              </a:rPr>
              <a:t>: </a:t>
            </a:r>
            <a:r>
              <a:rPr lang="ko-KR" altLang="en-US" sz="1200" dirty="0" err="1" smtClean="0">
                <a:latin typeface="+mn-ea"/>
              </a:rPr>
              <a:t>고객사</a:t>
            </a:r>
            <a:r>
              <a:rPr lang="en-US" altLang="ko-KR" sz="1200" dirty="0" smtClean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출</a:t>
            </a:r>
            <a:r>
              <a:rPr lang="ko-KR" altLang="en-US" sz="1200" dirty="0" smtClean="0">
                <a:latin typeface="+mn-ea"/>
              </a:rPr>
              <a:t>고예정일자</a:t>
            </a:r>
            <a:endParaRPr lang="ko-KR" altLang="en-US" sz="1200" dirty="0"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D0AAD93A-72D3-4FDE-97AC-C6912CE0A251}"/>
              </a:ext>
            </a:extLst>
          </p:cNvPr>
          <p:cNvSpPr txBox="1"/>
          <p:nvPr/>
        </p:nvSpPr>
        <p:spPr>
          <a:xfrm>
            <a:off x="404664" y="5078889"/>
            <a:ext cx="6144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solidFill>
                  <a:srgbClr val="000000"/>
                </a:solidFill>
                <a:latin typeface="+mn-ea"/>
              </a:rPr>
              <a:t>주문에 대한 출고예정 정보를 등록 관리하는 화면 입니다</a:t>
            </a:r>
            <a:r>
              <a:rPr lang="en-US" altLang="ko-KR" sz="1200" dirty="0" smtClean="0">
                <a:latin typeface="+mn-ea"/>
              </a:rPr>
              <a:t>. </a:t>
            </a:r>
            <a:endParaRPr lang="en-US" altLang="ko-KR" sz="1200" dirty="0"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4ECFE638-EC5B-465A-802A-6A64E0442793}"/>
              </a:ext>
            </a:extLst>
          </p:cNvPr>
          <p:cNvSpPr txBox="1"/>
          <p:nvPr/>
        </p:nvSpPr>
        <p:spPr>
          <a:xfrm>
            <a:off x="304989" y="7473280"/>
            <a:ext cx="774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atin typeface="+mn-ea"/>
              </a:rPr>
              <a:t>3) </a:t>
            </a:r>
            <a:r>
              <a:rPr lang="ko-KR" altLang="en-US" sz="1400" b="1" dirty="0">
                <a:latin typeface="+mn-ea"/>
              </a:rPr>
              <a:t>삭제</a:t>
            </a:r>
            <a:endParaRPr lang="ko-KR" altLang="en-US" sz="1000" baseline="70000" dirty="0"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0F543BBD-5CB4-4549-81C1-772966A0DD5B}"/>
              </a:ext>
            </a:extLst>
          </p:cNvPr>
          <p:cNvSpPr txBox="1"/>
          <p:nvPr/>
        </p:nvSpPr>
        <p:spPr>
          <a:xfrm>
            <a:off x="543807" y="7791870"/>
            <a:ext cx="6000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검색된 </a:t>
            </a:r>
            <a:r>
              <a:rPr lang="ko-KR" altLang="en-US" sz="1200" dirty="0" smtClean="0">
                <a:latin typeface="+mn-ea"/>
              </a:rPr>
              <a:t>출고예정 </a:t>
            </a:r>
            <a:r>
              <a:rPr lang="ko-KR" altLang="en-US" sz="1200" dirty="0">
                <a:latin typeface="+mn-ea"/>
              </a:rPr>
              <a:t>정보를 </a:t>
            </a:r>
            <a:r>
              <a:rPr lang="ko-KR" altLang="en-US" sz="1200" dirty="0" smtClean="0">
                <a:latin typeface="+mn-ea"/>
              </a:rPr>
              <a:t>삭제 할 </a:t>
            </a:r>
            <a:r>
              <a:rPr lang="ko-KR" altLang="en-US" sz="1200" dirty="0">
                <a:latin typeface="+mn-ea"/>
              </a:rPr>
              <a:t>경우 해당 행의 선택을 체크한 후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삭제</a:t>
            </a:r>
            <a:r>
              <a:rPr lang="en-US" altLang="ko-KR" sz="1200" dirty="0">
                <a:latin typeface="+mn-ea"/>
              </a:rPr>
              <a:t>] </a:t>
            </a:r>
            <a:r>
              <a:rPr lang="ko-KR" altLang="en-US" sz="1200" dirty="0">
                <a:latin typeface="+mn-ea"/>
              </a:rPr>
              <a:t>버튼을 클릭하여 자료를 삭제한다</a:t>
            </a:r>
            <a:r>
              <a:rPr lang="en-US" altLang="ko-KR" sz="1200" dirty="0">
                <a:latin typeface="+mn-ea"/>
              </a:rPr>
              <a:t>. 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 smtClean="0">
                <a:latin typeface="+mn-ea"/>
              </a:rPr>
              <a:t>(</a:t>
            </a:r>
            <a:r>
              <a:rPr lang="ko-KR" altLang="en-US" sz="1200" dirty="0" smtClean="0">
                <a:latin typeface="+mn-ea"/>
              </a:rPr>
              <a:t>진행상태가</a:t>
            </a:r>
            <a:r>
              <a:rPr lang="en-US" altLang="ko-KR" sz="1200" dirty="0" smtClean="0">
                <a:latin typeface="+mn-ea"/>
              </a:rPr>
              <a:t> </a:t>
            </a:r>
            <a:r>
              <a:rPr lang="ko-KR" altLang="en-US" sz="1200" dirty="0" smtClean="0">
                <a:latin typeface="+mn-ea"/>
              </a:rPr>
              <a:t>출고예정인 경우만 가능</a:t>
            </a:r>
            <a:r>
              <a:rPr lang="en-US" altLang="ko-KR" sz="1200" dirty="0" smtClean="0">
                <a:latin typeface="+mn-ea"/>
              </a:rPr>
              <a:t>)</a:t>
            </a:r>
            <a:endParaRPr lang="en-US" altLang="ko-KR" sz="1200" dirty="0"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10824D7D-7ECD-4F77-BA21-0C7D8CEF4D8B}"/>
              </a:ext>
            </a:extLst>
          </p:cNvPr>
          <p:cNvSpPr txBox="1"/>
          <p:nvPr/>
        </p:nvSpPr>
        <p:spPr>
          <a:xfrm>
            <a:off x="301566" y="8533801"/>
            <a:ext cx="774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atin typeface="+mn-ea"/>
              </a:rPr>
              <a:t>4) </a:t>
            </a:r>
            <a:r>
              <a:rPr lang="ko-KR" altLang="en-US" sz="1400" b="1" dirty="0" smtClean="0">
                <a:latin typeface="+mn-ea"/>
              </a:rPr>
              <a:t>엑셀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74483D9A-CC3D-4678-B389-52FF0BDCC6CB}"/>
              </a:ext>
            </a:extLst>
          </p:cNvPr>
          <p:cNvSpPr txBox="1"/>
          <p:nvPr/>
        </p:nvSpPr>
        <p:spPr>
          <a:xfrm>
            <a:off x="540384" y="8852391"/>
            <a:ext cx="600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검색된 </a:t>
            </a:r>
            <a:r>
              <a:rPr lang="ko-KR" altLang="en-US" sz="1200" dirty="0" smtClean="0">
                <a:latin typeface="+mn-ea"/>
              </a:rPr>
              <a:t>출고예정 </a:t>
            </a:r>
            <a:r>
              <a:rPr lang="ko-KR" altLang="en-US" sz="1200" dirty="0">
                <a:latin typeface="+mn-ea"/>
              </a:rPr>
              <a:t>목록을 엑셀로 다운로드 하기 위하여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엑셀</a:t>
            </a:r>
            <a:r>
              <a:rPr lang="en-US" altLang="ko-KR" sz="1200" dirty="0">
                <a:latin typeface="+mn-ea"/>
              </a:rPr>
              <a:t>] </a:t>
            </a:r>
            <a:r>
              <a:rPr lang="ko-KR" altLang="en-US" sz="1200" dirty="0">
                <a:latin typeface="+mn-ea"/>
              </a:rPr>
              <a:t>버튼을 </a:t>
            </a:r>
            <a:r>
              <a:rPr lang="ko-KR" altLang="en-US" sz="1200" dirty="0" smtClean="0">
                <a:latin typeface="+mn-ea"/>
              </a:rPr>
              <a:t>클릭 한다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88150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="" xmlns:a16="http://schemas.microsoft.com/office/drawing/2014/main" id="{C72F894A-0097-4FBD-93B7-416394BE4024}"/>
              </a:ext>
            </a:extLst>
          </p:cNvPr>
          <p:cNvSpPr/>
          <p:nvPr/>
        </p:nvSpPr>
        <p:spPr>
          <a:xfrm>
            <a:off x="309298" y="738136"/>
            <a:ext cx="2209259" cy="4542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 smtClean="0">
                <a:latin typeface="+mn-ea"/>
              </a:rPr>
              <a:t>출고예정등록팝업</a:t>
            </a:r>
            <a:endParaRPr lang="en-US" altLang="ko-KR" b="1" dirty="0"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DB7BC4EC-4463-4047-B378-959207575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366" y="1338100"/>
            <a:ext cx="6235335" cy="34854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4B51CB78-2C91-4724-8A5C-09402F2C5666}"/>
              </a:ext>
            </a:extLst>
          </p:cNvPr>
          <p:cNvSpPr txBox="1"/>
          <p:nvPr/>
        </p:nvSpPr>
        <p:spPr>
          <a:xfrm>
            <a:off x="309298" y="4808984"/>
            <a:ext cx="774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1) </a:t>
            </a:r>
            <a:r>
              <a:rPr lang="ko-KR" altLang="en-US" sz="1400" b="1" dirty="0" smtClean="0">
                <a:latin typeface="+mn-ea"/>
              </a:rPr>
              <a:t>추가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A497915E-0279-4176-926A-6F917B14F71B}"/>
              </a:ext>
            </a:extLst>
          </p:cNvPr>
          <p:cNvSpPr txBox="1"/>
          <p:nvPr/>
        </p:nvSpPr>
        <p:spPr>
          <a:xfrm>
            <a:off x="548116" y="5127574"/>
            <a:ext cx="6000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신규 </a:t>
            </a:r>
            <a:r>
              <a:rPr lang="ko-KR" altLang="en-US" sz="1200" dirty="0" smtClean="0">
                <a:latin typeface="+mn-ea"/>
              </a:rPr>
              <a:t>주문에 대한 출고예정 상세 </a:t>
            </a:r>
            <a:r>
              <a:rPr lang="ko-KR" altLang="en-US" sz="1200" dirty="0">
                <a:latin typeface="+mn-ea"/>
              </a:rPr>
              <a:t>정보를 입력할 경우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추가</a:t>
            </a:r>
            <a:r>
              <a:rPr lang="en-US" altLang="ko-KR" sz="1200" dirty="0">
                <a:latin typeface="+mn-ea"/>
              </a:rPr>
              <a:t>] </a:t>
            </a:r>
            <a:r>
              <a:rPr lang="ko-KR" altLang="en-US" sz="1200" dirty="0">
                <a:latin typeface="+mn-ea"/>
              </a:rPr>
              <a:t>버튼을 클릭하여 새로운 행을 </a:t>
            </a:r>
            <a:r>
              <a:rPr lang="ko-KR" altLang="en-US" sz="1200" dirty="0" smtClean="0">
                <a:latin typeface="+mn-ea"/>
              </a:rPr>
              <a:t>추가 한다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4B51CB78-2C91-4724-8A5C-09402F2C5666}"/>
              </a:ext>
            </a:extLst>
          </p:cNvPr>
          <p:cNvSpPr txBox="1"/>
          <p:nvPr/>
        </p:nvSpPr>
        <p:spPr>
          <a:xfrm>
            <a:off x="309298" y="5961112"/>
            <a:ext cx="774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atin typeface="+mn-ea"/>
              </a:rPr>
              <a:t>2) </a:t>
            </a:r>
            <a:r>
              <a:rPr lang="ko-KR" altLang="en-US" sz="1400" b="1" dirty="0">
                <a:latin typeface="+mn-ea"/>
              </a:rPr>
              <a:t>저장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A497915E-0279-4176-926A-6F917B14F71B}"/>
              </a:ext>
            </a:extLst>
          </p:cNvPr>
          <p:cNvSpPr txBox="1"/>
          <p:nvPr/>
        </p:nvSpPr>
        <p:spPr>
          <a:xfrm>
            <a:off x="548116" y="6279702"/>
            <a:ext cx="600058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신규 </a:t>
            </a:r>
            <a:r>
              <a:rPr lang="ko-KR" altLang="en-US" sz="1200" dirty="0" smtClean="0">
                <a:latin typeface="+mn-ea"/>
              </a:rPr>
              <a:t>출고예정 </a:t>
            </a:r>
            <a:r>
              <a:rPr lang="ko-KR" altLang="en-US" sz="1200" dirty="0">
                <a:latin typeface="+mn-ea"/>
              </a:rPr>
              <a:t>정보를 입력 한 후 또는 기존 정보를 수정한 후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저장</a:t>
            </a:r>
            <a:r>
              <a:rPr lang="en-US" altLang="ko-KR" sz="1200" dirty="0">
                <a:latin typeface="+mn-ea"/>
              </a:rPr>
              <a:t>] </a:t>
            </a:r>
            <a:r>
              <a:rPr lang="ko-KR" altLang="en-US" sz="1200" dirty="0">
                <a:latin typeface="+mn-ea"/>
              </a:rPr>
              <a:t>버튼을 클릭하여 해당 자료를 저장한다</a:t>
            </a:r>
            <a:r>
              <a:rPr lang="en-US" altLang="ko-KR" sz="1200" dirty="0" smtClean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latin typeface="+mn-ea"/>
              </a:rPr>
              <a:t>- </a:t>
            </a:r>
            <a:r>
              <a:rPr lang="ko-KR" altLang="en-US" sz="1200" dirty="0" smtClean="0">
                <a:latin typeface="+mn-ea"/>
              </a:rPr>
              <a:t>제품코드를 팝업 창에서 선택하면 제품명</a:t>
            </a:r>
            <a:r>
              <a:rPr lang="en-US" altLang="ko-KR" sz="1200" dirty="0" smtClean="0">
                <a:latin typeface="+mn-ea"/>
              </a:rPr>
              <a:t>, </a:t>
            </a:r>
            <a:r>
              <a:rPr lang="ko-KR" altLang="en-US" sz="1200" dirty="0" smtClean="0">
                <a:latin typeface="+mn-ea"/>
              </a:rPr>
              <a:t>제품규격</a:t>
            </a:r>
            <a:r>
              <a:rPr lang="en-US" altLang="ko-KR" sz="1200" dirty="0" smtClean="0">
                <a:latin typeface="+mn-ea"/>
              </a:rPr>
              <a:t>, </a:t>
            </a:r>
            <a:r>
              <a:rPr lang="ko-KR" altLang="en-US" sz="1200" dirty="0" smtClean="0">
                <a:latin typeface="+mn-ea"/>
              </a:rPr>
              <a:t>제품상태</a:t>
            </a:r>
            <a:r>
              <a:rPr lang="en-US" altLang="ko-KR" sz="1200" dirty="0" smtClean="0">
                <a:latin typeface="+mn-ea"/>
              </a:rPr>
              <a:t>(</a:t>
            </a:r>
            <a:r>
              <a:rPr lang="ko-KR" altLang="en-US" sz="1200" dirty="0" smtClean="0">
                <a:latin typeface="+mn-ea"/>
              </a:rPr>
              <a:t>정상</a:t>
            </a:r>
            <a:r>
              <a:rPr lang="en-US" altLang="ko-KR" sz="1200" dirty="0" smtClean="0">
                <a:latin typeface="+mn-ea"/>
              </a:rPr>
              <a:t>), </a:t>
            </a:r>
            <a:r>
              <a:rPr lang="ko-KR" altLang="en-US" sz="1200" dirty="0" smtClean="0">
                <a:latin typeface="+mn-ea"/>
              </a:rPr>
              <a:t>입수</a:t>
            </a:r>
            <a:r>
              <a:rPr lang="en-US" altLang="ko-KR" sz="1200" dirty="0" smtClean="0">
                <a:latin typeface="+mn-ea"/>
              </a:rPr>
              <a:t>, </a:t>
            </a:r>
            <a:r>
              <a:rPr lang="ko-KR" altLang="en-US" sz="1200" dirty="0" smtClean="0">
                <a:latin typeface="+mn-ea"/>
              </a:rPr>
              <a:t>단위 등</a:t>
            </a:r>
            <a:endParaRPr lang="en-US" altLang="ko-KR" sz="1200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+mn-ea"/>
              </a:rPr>
              <a:t>  이 표시된다</a:t>
            </a:r>
            <a:r>
              <a:rPr lang="en-US" altLang="ko-KR" sz="1200" dirty="0" smtClean="0"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latin typeface="+mn-ea"/>
              </a:rPr>
              <a:t>- </a:t>
            </a:r>
            <a:r>
              <a:rPr lang="ko-KR" altLang="en-US" sz="1200" dirty="0" smtClean="0">
                <a:latin typeface="+mn-ea"/>
              </a:rPr>
              <a:t>예정수량</a:t>
            </a:r>
            <a:r>
              <a:rPr lang="en-US" altLang="ko-KR" sz="1200" dirty="0" smtClean="0">
                <a:latin typeface="+mn-ea"/>
              </a:rPr>
              <a:t>(</a:t>
            </a:r>
            <a:r>
              <a:rPr lang="ko-KR" altLang="en-US" sz="1200" dirty="0" smtClean="0">
                <a:latin typeface="+mn-ea"/>
              </a:rPr>
              <a:t>박스</a:t>
            </a:r>
            <a:r>
              <a:rPr lang="en-US" altLang="ko-KR" sz="1200" dirty="0" smtClean="0">
                <a:latin typeface="+mn-ea"/>
              </a:rPr>
              <a:t>,</a:t>
            </a:r>
            <a:r>
              <a:rPr lang="ko-KR" altLang="en-US" sz="1200" dirty="0" smtClean="0">
                <a:latin typeface="+mn-ea"/>
              </a:rPr>
              <a:t>낱개</a:t>
            </a:r>
            <a:r>
              <a:rPr lang="en-US" altLang="ko-KR" sz="1200" dirty="0" smtClean="0">
                <a:latin typeface="+mn-ea"/>
              </a:rPr>
              <a:t>)</a:t>
            </a:r>
            <a:r>
              <a:rPr lang="ko-KR" altLang="en-US" sz="1200" dirty="0" smtClean="0">
                <a:latin typeface="+mn-ea"/>
              </a:rPr>
              <a:t>을 입력한 후 저장처리 한다</a:t>
            </a:r>
            <a:r>
              <a:rPr lang="en-US" altLang="ko-KR" sz="1200" dirty="0" smtClean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latin typeface="+mn-ea"/>
              </a:rPr>
              <a:t>- </a:t>
            </a:r>
            <a:r>
              <a:rPr lang="ko-KR" altLang="en-US" sz="1200" dirty="0" smtClean="0">
                <a:latin typeface="+mn-ea"/>
              </a:rPr>
              <a:t>특정 </a:t>
            </a:r>
            <a:r>
              <a:rPr lang="en-US" altLang="ko-KR" sz="1200" dirty="0" smtClean="0">
                <a:latin typeface="+mn-ea"/>
              </a:rPr>
              <a:t>LOT</a:t>
            </a:r>
            <a:r>
              <a:rPr lang="ko-KR" altLang="en-US" sz="1200" dirty="0" smtClean="0">
                <a:latin typeface="+mn-ea"/>
              </a:rPr>
              <a:t>속성을 출고하고자 하는 경우는 제조</a:t>
            </a:r>
            <a:r>
              <a:rPr lang="en-US" altLang="ko-KR" sz="1200" dirty="0" smtClean="0">
                <a:latin typeface="+mn-ea"/>
              </a:rPr>
              <a:t>LOT</a:t>
            </a:r>
            <a:r>
              <a:rPr lang="ko-KR" altLang="en-US" sz="1200" dirty="0" smtClean="0">
                <a:latin typeface="+mn-ea"/>
              </a:rPr>
              <a:t>을 비롯하여 해당 속성을 입력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latin typeface="+mn-ea"/>
              </a:rPr>
              <a:t>  </a:t>
            </a:r>
            <a:r>
              <a:rPr lang="ko-KR" altLang="en-US" sz="1200" dirty="0" smtClean="0">
                <a:latin typeface="+mn-ea"/>
              </a:rPr>
              <a:t>한다</a:t>
            </a:r>
            <a:r>
              <a:rPr lang="en-US" altLang="ko-KR" sz="1200" dirty="0" smtClean="0">
                <a:latin typeface="+mn-ea"/>
              </a:rPr>
              <a:t>.</a:t>
            </a:r>
            <a:r>
              <a:rPr lang="ko-KR" altLang="en-US" sz="1200" dirty="0" smtClean="0">
                <a:latin typeface="+mn-ea"/>
              </a:rPr>
              <a:t> </a:t>
            </a:r>
            <a:r>
              <a:rPr lang="en-US" altLang="ko-KR" sz="1200" dirty="0" smtClean="0">
                <a:latin typeface="+mn-ea"/>
              </a:rPr>
              <a:t>(</a:t>
            </a:r>
            <a:r>
              <a:rPr lang="ko-KR" altLang="en-US" sz="1200" dirty="0" smtClean="0">
                <a:latin typeface="+mn-ea"/>
              </a:rPr>
              <a:t>출고지시 시 참조하여 재고할당</a:t>
            </a:r>
            <a:r>
              <a:rPr lang="en-US" altLang="ko-KR" sz="1200" dirty="0" smtClean="0">
                <a:latin typeface="+mn-ea"/>
              </a:rPr>
              <a:t>)</a:t>
            </a:r>
            <a:endParaRPr lang="en-US" altLang="ko-KR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89115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09298" y="738136"/>
            <a:ext cx="1301959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2.</a:t>
            </a:r>
            <a:r>
              <a:rPr lang="ko-KR" altLang="en-US" b="1" dirty="0">
                <a:latin typeface="+mn-ea"/>
              </a:rPr>
              <a:t>출고승인</a:t>
            </a:r>
            <a:endParaRPr lang="en-US" altLang="ko-KR" b="1" dirty="0"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F92777E2-0003-47BD-8934-2FF52017F3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298" y="1256780"/>
            <a:ext cx="6239403" cy="363835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9298" y="6537176"/>
            <a:ext cx="11336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2) </a:t>
            </a:r>
            <a:r>
              <a:rPr lang="ko-KR" altLang="en-US" sz="1400" b="1" dirty="0" smtClean="0">
                <a:latin typeface="+mn-ea"/>
              </a:rPr>
              <a:t>출고승인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116" y="6855766"/>
            <a:ext cx="60005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+mn-ea"/>
              </a:rPr>
              <a:t>진행상태가 출고예정 자료에 한하여 체크 후 출고승인 처리를 한다</a:t>
            </a:r>
            <a:r>
              <a:rPr lang="en-US" altLang="ko-KR" sz="1200" dirty="0" smtClean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latin typeface="+mn-ea"/>
              </a:rPr>
              <a:t>- </a:t>
            </a:r>
            <a:r>
              <a:rPr lang="ko-KR" altLang="en-US" sz="1200" dirty="0" smtClean="0">
                <a:latin typeface="+mn-ea"/>
              </a:rPr>
              <a:t>출고 가용재고를 의해 재고가 부족한 경우에 메시지 표시</a:t>
            </a:r>
            <a:r>
              <a:rPr lang="en-US" altLang="ko-KR" sz="1200" dirty="0" smtClean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- </a:t>
            </a:r>
            <a:r>
              <a:rPr lang="ko-KR" altLang="en-US" sz="1200" dirty="0">
                <a:latin typeface="+mn-ea"/>
              </a:rPr>
              <a:t>현재 시스템일자로 </a:t>
            </a:r>
            <a:r>
              <a:rPr lang="ko-KR" altLang="en-US" sz="1200" dirty="0" smtClean="0">
                <a:latin typeface="+mn-ea"/>
              </a:rPr>
              <a:t>출고일자가 </a:t>
            </a:r>
            <a:r>
              <a:rPr lang="ko-KR" altLang="en-US" sz="1200" dirty="0">
                <a:latin typeface="+mn-ea"/>
              </a:rPr>
              <a:t>저장 된다</a:t>
            </a:r>
            <a:r>
              <a:rPr lang="en-US" altLang="ko-KR" sz="12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017C80EB-2F31-41CB-9E51-CDBE8818AA6E}"/>
              </a:ext>
            </a:extLst>
          </p:cNvPr>
          <p:cNvSpPr txBox="1"/>
          <p:nvPr/>
        </p:nvSpPr>
        <p:spPr>
          <a:xfrm>
            <a:off x="309298" y="5529064"/>
            <a:ext cx="774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1) </a:t>
            </a:r>
            <a:r>
              <a:rPr lang="ko-KR" altLang="en-US" sz="1400" b="1" dirty="0">
                <a:latin typeface="+mn-ea"/>
              </a:rPr>
              <a:t>검색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0AAD93A-72D3-4FDE-97AC-C6912CE0A251}"/>
              </a:ext>
            </a:extLst>
          </p:cNvPr>
          <p:cNvSpPr txBox="1"/>
          <p:nvPr/>
        </p:nvSpPr>
        <p:spPr>
          <a:xfrm>
            <a:off x="548116" y="5889104"/>
            <a:ext cx="6000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출</a:t>
            </a:r>
            <a:r>
              <a:rPr lang="ko-KR" altLang="en-US" sz="1200" dirty="0" smtClean="0">
                <a:latin typeface="+mn-ea"/>
              </a:rPr>
              <a:t>고예정일자와 </a:t>
            </a:r>
            <a:r>
              <a:rPr lang="ko-KR" altLang="en-US" sz="1200" dirty="0">
                <a:latin typeface="+mn-ea"/>
              </a:rPr>
              <a:t>검색조건을 입력한 후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검색</a:t>
            </a:r>
            <a:r>
              <a:rPr lang="en-US" altLang="ko-KR" sz="1200" dirty="0">
                <a:latin typeface="+mn-ea"/>
              </a:rPr>
              <a:t>] </a:t>
            </a:r>
            <a:r>
              <a:rPr lang="ko-KR" altLang="en-US" sz="1200" dirty="0">
                <a:latin typeface="+mn-ea"/>
              </a:rPr>
              <a:t>버튼을 </a:t>
            </a:r>
            <a:r>
              <a:rPr lang="ko-KR" altLang="en-US" sz="1200" dirty="0" smtClean="0">
                <a:latin typeface="+mn-ea"/>
              </a:rPr>
              <a:t>클릭 한다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- </a:t>
            </a:r>
            <a:r>
              <a:rPr lang="ko-KR" altLang="en-US" sz="1200" dirty="0">
                <a:latin typeface="+mn-ea"/>
              </a:rPr>
              <a:t>검색조건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필수</a:t>
            </a:r>
            <a:r>
              <a:rPr lang="en-US" altLang="ko-KR" sz="1200" dirty="0">
                <a:latin typeface="+mn-ea"/>
              </a:rPr>
              <a:t>) : </a:t>
            </a:r>
            <a:r>
              <a:rPr lang="ko-KR" altLang="en-US" sz="1200" dirty="0" err="1">
                <a:latin typeface="+mn-ea"/>
              </a:rPr>
              <a:t>고객사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smtClean="0">
                <a:latin typeface="+mn-ea"/>
              </a:rPr>
              <a:t>출고예정일자</a:t>
            </a:r>
            <a:endParaRPr lang="ko-KR" altLang="en-US" sz="1200" dirty="0"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D0AAD93A-72D3-4FDE-97AC-C6912CE0A251}"/>
              </a:ext>
            </a:extLst>
          </p:cNvPr>
          <p:cNvSpPr txBox="1"/>
          <p:nvPr/>
        </p:nvSpPr>
        <p:spPr>
          <a:xfrm>
            <a:off x="404664" y="5078889"/>
            <a:ext cx="6144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solidFill>
                  <a:srgbClr val="000000"/>
                </a:solidFill>
                <a:latin typeface="+mn-ea"/>
              </a:rPr>
              <a:t>출고예정 주문에 대하여 출고 작업을 승인 처리하는 화면 입니다</a:t>
            </a:r>
            <a:r>
              <a:rPr lang="en-US" altLang="ko-KR" sz="1200" dirty="0" smtClean="0">
                <a:latin typeface="+mn-ea"/>
              </a:rPr>
              <a:t>. </a:t>
            </a:r>
            <a:endParaRPr lang="en-US" altLang="ko-KR" sz="1200" dirty="0"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09298" y="7791423"/>
            <a:ext cx="11336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atin typeface="+mn-ea"/>
              </a:rPr>
              <a:t>3) </a:t>
            </a:r>
            <a:r>
              <a:rPr lang="ko-KR" altLang="en-US" sz="1400" b="1" dirty="0" smtClean="0">
                <a:latin typeface="+mn-ea"/>
              </a:rPr>
              <a:t>승인취소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116" y="8110013"/>
            <a:ext cx="600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+mn-ea"/>
              </a:rPr>
              <a:t>진행상태가 </a:t>
            </a:r>
            <a:r>
              <a:rPr lang="ko-KR" altLang="en-US" sz="1200" dirty="0">
                <a:latin typeface="+mn-ea"/>
              </a:rPr>
              <a:t>출</a:t>
            </a:r>
            <a:r>
              <a:rPr lang="ko-KR" altLang="en-US" sz="1200" dirty="0" smtClean="0">
                <a:latin typeface="+mn-ea"/>
              </a:rPr>
              <a:t>고승인인 자료에 대하여 체크 후 출고승인 취소처리를 한다</a:t>
            </a:r>
            <a:r>
              <a:rPr lang="en-US" altLang="ko-KR" sz="1200" dirty="0" smtClean="0">
                <a:latin typeface="+mn-ea"/>
              </a:rPr>
              <a:t>.</a:t>
            </a:r>
            <a:endParaRPr lang="en-US" altLang="ko-KR" sz="1200" dirty="0"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10824D7D-7ECD-4F77-BA21-0C7D8CEF4D8B}"/>
              </a:ext>
            </a:extLst>
          </p:cNvPr>
          <p:cNvSpPr txBox="1"/>
          <p:nvPr/>
        </p:nvSpPr>
        <p:spPr>
          <a:xfrm>
            <a:off x="301566" y="8585558"/>
            <a:ext cx="11336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atin typeface="+mn-ea"/>
              </a:rPr>
              <a:t>4) </a:t>
            </a:r>
            <a:r>
              <a:rPr lang="ko-KR" altLang="en-US" sz="1400" b="1" dirty="0" smtClean="0">
                <a:latin typeface="+mn-ea"/>
              </a:rPr>
              <a:t>배분조정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74483D9A-CC3D-4678-B389-52FF0BDCC6CB}"/>
              </a:ext>
            </a:extLst>
          </p:cNvPr>
          <p:cNvSpPr txBox="1"/>
          <p:nvPr/>
        </p:nvSpPr>
        <p:spPr>
          <a:xfrm>
            <a:off x="540384" y="8904148"/>
            <a:ext cx="600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+mn-ea"/>
              </a:rPr>
              <a:t>출고 가용재고가 부족한 제품에 대한 </a:t>
            </a:r>
            <a:r>
              <a:rPr lang="ko-KR" altLang="en-US" sz="1200" dirty="0" err="1" smtClean="0">
                <a:latin typeface="+mn-ea"/>
              </a:rPr>
              <a:t>배송처별</a:t>
            </a:r>
            <a:r>
              <a:rPr lang="ko-KR" altLang="en-US" sz="1200" dirty="0" smtClean="0">
                <a:latin typeface="+mn-ea"/>
              </a:rPr>
              <a:t> 수량을 조정한 후 승인 처리를 한다</a:t>
            </a:r>
            <a:r>
              <a:rPr lang="en-US" altLang="ko-KR" sz="1200" dirty="0" smtClean="0">
                <a:latin typeface="+mn-ea"/>
              </a:rPr>
              <a:t>.</a:t>
            </a:r>
            <a:endParaRPr lang="en-US" altLang="ko-KR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23498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09298" y="738136"/>
            <a:ext cx="157427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3. </a:t>
            </a:r>
            <a:r>
              <a:rPr lang="ko-KR" altLang="en-US" b="1" dirty="0">
                <a:latin typeface="+mn-ea"/>
              </a:rPr>
              <a:t>출고</a:t>
            </a:r>
            <a:r>
              <a:rPr lang="en-US" altLang="ko-KR" b="1" dirty="0">
                <a:latin typeface="+mn-ea"/>
              </a:rPr>
              <a:t>WAVE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FD184A0E-2ED5-48EB-BF00-11F473081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062" y="1184528"/>
            <a:ext cx="6231639" cy="378682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9298" y="6703651"/>
            <a:ext cx="774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2) </a:t>
            </a:r>
            <a:r>
              <a:rPr lang="ko-KR" altLang="en-US" sz="1400" b="1" dirty="0" smtClean="0">
                <a:latin typeface="+mn-ea"/>
              </a:rPr>
              <a:t>신규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116" y="7022241"/>
            <a:ext cx="6000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+mn-ea"/>
              </a:rPr>
              <a:t>진행상태가 출고예정 자료에 한하여 체크 후 출고승인 처리를 한다</a:t>
            </a:r>
            <a:r>
              <a:rPr lang="en-US" altLang="ko-KR" sz="1200" dirty="0" smtClean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latin typeface="+mn-ea"/>
              </a:rPr>
              <a:t>- </a:t>
            </a:r>
            <a:r>
              <a:rPr lang="ko-KR" altLang="en-US" sz="1200" dirty="0" smtClean="0">
                <a:latin typeface="+mn-ea"/>
              </a:rPr>
              <a:t>출고 가용재고를 의해 재고가 부족한 경우에 메시지 표시</a:t>
            </a:r>
            <a:r>
              <a:rPr lang="en-US" altLang="ko-KR" sz="1200" dirty="0" smtClean="0">
                <a:latin typeface="+mn-ea"/>
              </a:rPr>
              <a:t>.</a:t>
            </a:r>
            <a:endParaRPr lang="en-US" altLang="ko-KR" sz="12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017C80EB-2F31-41CB-9E51-CDBE8818AA6E}"/>
              </a:ext>
            </a:extLst>
          </p:cNvPr>
          <p:cNvSpPr txBox="1"/>
          <p:nvPr/>
        </p:nvSpPr>
        <p:spPr>
          <a:xfrm>
            <a:off x="309298" y="5591780"/>
            <a:ext cx="774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1) </a:t>
            </a:r>
            <a:r>
              <a:rPr lang="ko-KR" altLang="en-US" sz="1400" b="1" dirty="0">
                <a:latin typeface="+mn-ea"/>
              </a:rPr>
              <a:t>검색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0AAD93A-72D3-4FDE-97AC-C6912CE0A251}"/>
              </a:ext>
            </a:extLst>
          </p:cNvPr>
          <p:cNvSpPr txBox="1"/>
          <p:nvPr/>
        </p:nvSpPr>
        <p:spPr>
          <a:xfrm>
            <a:off x="548116" y="5951820"/>
            <a:ext cx="6000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+mn-ea"/>
              </a:rPr>
              <a:t>출고일자와 </a:t>
            </a:r>
            <a:r>
              <a:rPr lang="ko-KR" altLang="en-US" sz="1200" dirty="0">
                <a:latin typeface="+mn-ea"/>
              </a:rPr>
              <a:t>검색조건을 입력한 후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검색</a:t>
            </a:r>
            <a:r>
              <a:rPr lang="en-US" altLang="ko-KR" sz="1200" dirty="0">
                <a:latin typeface="+mn-ea"/>
              </a:rPr>
              <a:t>] </a:t>
            </a:r>
            <a:r>
              <a:rPr lang="ko-KR" altLang="en-US" sz="1200" dirty="0">
                <a:latin typeface="+mn-ea"/>
              </a:rPr>
              <a:t>버튼을 </a:t>
            </a:r>
            <a:r>
              <a:rPr lang="ko-KR" altLang="en-US" sz="1200" dirty="0" smtClean="0">
                <a:latin typeface="+mn-ea"/>
              </a:rPr>
              <a:t>클릭 한다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- </a:t>
            </a:r>
            <a:r>
              <a:rPr lang="ko-KR" altLang="en-US" sz="1200" dirty="0">
                <a:latin typeface="+mn-ea"/>
              </a:rPr>
              <a:t>검색조건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필수</a:t>
            </a:r>
            <a:r>
              <a:rPr lang="en-US" altLang="ko-KR" sz="1200" dirty="0">
                <a:latin typeface="+mn-ea"/>
              </a:rPr>
              <a:t>) : </a:t>
            </a:r>
            <a:r>
              <a:rPr lang="ko-KR" altLang="en-US" sz="1200" dirty="0" smtClean="0">
                <a:latin typeface="+mn-ea"/>
              </a:rPr>
              <a:t>출고일자</a:t>
            </a:r>
            <a:endParaRPr lang="ko-KR" altLang="en-US" sz="1200" dirty="0"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D0AAD93A-72D3-4FDE-97AC-C6912CE0A251}"/>
              </a:ext>
            </a:extLst>
          </p:cNvPr>
          <p:cNvSpPr txBox="1"/>
          <p:nvPr/>
        </p:nvSpPr>
        <p:spPr>
          <a:xfrm>
            <a:off x="404664" y="5078889"/>
            <a:ext cx="6144039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000000"/>
                </a:solidFill>
                <a:latin typeface="+mn-ea"/>
              </a:rPr>
              <a:t>출고승인 된 주문에 대하여 작업단위를 묶음 처리하는 화면 입니다</a:t>
            </a:r>
            <a:r>
              <a:rPr lang="en-US" altLang="ko-KR" sz="1200" dirty="0">
                <a:latin typeface="+mn-ea"/>
              </a:rPr>
              <a:t>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9298" y="7791423"/>
            <a:ext cx="774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atin typeface="+mn-ea"/>
              </a:rPr>
              <a:t>3) </a:t>
            </a:r>
            <a:r>
              <a:rPr lang="ko-KR" altLang="en-US" sz="1400" b="1" dirty="0" smtClean="0">
                <a:latin typeface="+mn-ea"/>
              </a:rPr>
              <a:t>취소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116" y="8110013"/>
            <a:ext cx="600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+mn-ea"/>
              </a:rPr>
              <a:t>진행상태가 </a:t>
            </a:r>
            <a:r>
              <a:rPr lang="ko-KR" altLang="en-US" sz="1200" dirty="0">
                <a:latin typeface="+mn-ea"/>
              </a:rPr>
              <a:t>출</a:t>
            </a:r>
            <a:r>
              <a:rPr lang="ko-KR" altLang="en-US" sz="1200" dirty="0" smtClean="0">
                <a:latin typeface="+mn-ea"/>
              </a:rPr>
              <a:t>고승인인 자료에 대하여 체크 후 출고승인 취소처리를 한다</a:t>
            </a:r>
            <a:r>
              <a:rPr lang="en-US" altLang="ko-KR" sz="1200" dirty="0" smtClean="0">
                <a:latin typeface="+mn-ea"/>
              </a:rPr>
              <a:t>.</a:t>
            </a:r>
            <a:endParaRPr lang="en-US" altLang="ko-KR" sz="1200" dirty="0"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10824D7D-7ECD-4F77-BA21-0C7D8CEF4D8B}"/>
              </a:ext>
            </a:extLst>
          </p:cNvPr>
          <p:cNvSpPr txBox="1"/>
          <p:nvPr/>
        </p:nvSpPr>
        <p:spPr>
          <a:xfrm>
            <a:off x="301566" y="8585558"/>
            <a:ext cx="774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atin typeface="+mn-ea"/>
              </a:rPr>
              <a:t>4) </a:t>
            </a:r>
            <a:r>
              <a:rPr lang="ko-KR" altLang="en-US" sz="1400" b="1" dirty="0" smtClean="0">
                <a:latin typeface="+mn-ea"/>
              </a:rPr>
              <a:t>엑셀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74483D9A-CC3D-4678-B389-52FF0BDCC6CB}"/>
              </a:ext>
            </a:extLst>
          </p:cNvPr>
          <p:cNvSpPr txBox="1"/>
          <p:nvPr/>
        </p:nvSpPr>
        <p:spPr>
          <a:xfrm>
            <a:off x="540384" y="8904148"/>
            <a:ext cx="600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검색된 </a:t>
            </a:r>
            <a:r>
              <a:rPr lang="ko-KR" altLang="en-US" sz="1200" dirty="0" smtClean="0">
                <a:latin typeface="+mn-ea"/>
              </a:rPr>
              <a:t>출고 </a:t>
            </a:r>
            <a:r>
              <a:rPr lang="ko-KR" altLang="en-US" sz="1200" dirty="0">
                <a:latin typeface="+mn-ea"/>
              </a:rPr>
              <a:t>목록을 엑셀로 다운로드 하기 위하여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엑셀</a:t>
            </a:r>
            <a:r>
              <a:rPr lang="en-US" altLang="ko-KR" sz="1200" dirty="0">
                <a:latin typeface="+mn-ea"/>
              </a:rPr>
              <a:t>] </a:t>
            </a:r>
            <a:r>
              <a:rPr lang="ko-KR" altLang="en-US" sz="1200" dirty="0">
                <a:latin typeface="+mn-ea"/>
              </a:rPr>
              <a:t>버튼을 클릭 한다</a:t>
            </a:r>
            <a:r>
              <a:rPr lang="en-US" altLang="ko-KR" sz="1200" dirty="0" smtClean="0">
                <a:latin typeface="+mn-ea"/>
              </a:rPr>
              <a:t>.</a:t>
            </a:r>
            <a:endParaRPr lang="en-US" altLang="ko-KR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7946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09298" y="738136"/>
            <a:ext cx="239982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출고</a:t>
            </a:r>
            <a:r>
              <a:rPr lang="en-US" altLang="ko-KR" b="1" dirty="0">
                <a:latin typeface="+mn-ea"/>
              </a:rPr>
              <a:t>WAVE</a:t>
            </a:r>
            <a:r>
              <a:rPr lang="ko-KR" altLang="en-US" b="1" dirty="0" err="1">
                <a:latin typeface="+mn-ea"/>
              </a:rPr>
              <a:t>생성팝업</a:t>
            </a:r>
            <a:endParaRPr lang="en-US" altLang="ko-KR" b="1" dirty="0">
              <a:latin typeface="+mn-ea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121D0F63-3170-4620-90F9-B7CB0E9A2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34" y="1258952"/>
            <a:ext cx="6057900" cy="19335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17C80EB-2F31-41CB-9E51-CDBE8818AA6E}"/>
              </a:ext>
            </a:extLst>
          </p:cNvPr>
          <p:cNvSpPr txBox="1"/>
          <p:nvPr/>
        </p:nvSpPr>
        <p:spPr>
          <a:xfrm>
            <a:off x="309298" y="3658597"/>
            <a:ext cx="774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1) </a:t>
            </a:r>
            <a:r>
              <a:rPr lang="ko-KR" altLang="en-US" sz="1400" b="1" dirty="0" smtClean="0">
                <a:latin typeface="+mn-ea"/>
              </a:rPr>
              <a:t>생성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D0AAD93A-72D3-4FDE-97AC-C6912CE0A251}"/>
              </a:ext>
            </a:extLst>
          </p:cNvPr>
          <p:cNvSpPr txBox="1"/>
          <p:nvPr/>
        </p:nvSpPr>
        <p:spPr>
          <a:xfrm>
            <a:off x="548116" y="4018637"/>
            <a:ext cx="60005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+mn-ea"/>
              </a:rPr>
              <a:t>사전에 정의된 출고</a:t>
            </a:r>
            <a:r>
              <a:rPr lang="en-US" altLang="ko-KR" sz="1200" dirty="0" smtClean="0">
                <a:latin typeface="+mn-ea"/>
              </a:rPr>
              <a:t>WAVE </a:t>
            </a:r>
            <a:r>
              <a:rPr lang="ko-KR" altLang="en-US" sz="1200" dirty="0" smtClean="0">
                <a:latin typeface="+mn-ea"/>
              </a:rPr>
              <a:t>기준 마스터의 조건을 선택하여 출고승인 자료를 대상으로 </a:t>
            </a:r>
            <a:r>
              <a:rPr lang="en-US" altLang="ko-KR" sz="1200" dirty="0" smtClean="0">
                <a:latin typeface="+mn-ea"/>
              </a:rPr>
              <a:t>WAVE</a:t>
            </a:r>
            <a:r>
              <a:rPr lang="ko-KR" altLang="en-US" sz="1200" dirty="0" smtClean="0">
                <a:latin typeface="+mn-ea"/>
              </a:rPr>
              <a:t>처리를 한다</a:t>
            </a:r>
            <a:r>
              <a:rPr lang="en-US" altLang="ko-KR" sz="1200" dirty="0" smtClean="0">
                <a:latin typeface="+mn-ea"/>
              </a:rPr>
              <a:t>. 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- </a:t>
            </a:r>
            <a:r>
              <a:rPr lang="en-US" altLang="ko-KR" sz="1200" dirty="0" smtClean="0">
                <a:latin typeface="+mn-ea"/>
              </a:rPr>
              <a:t>WAVE </a:t>
            </a:r>
            <a:r>
              <a:rPr lang="ko-KR" altLang="en-US" sz="1200" dirty="0" smtClean="0">
                <a:latin typeface="+mn-ea"/>
              </a:rPr>
              <a:t>예 </a:t>
            </a:r>
            <a:r>
              <a:rPr lang="en-US" altLang="ko-KR" sz="1200" dirty="0" smtClean="0">
                <a:latin typeface="+mn-ea"/>
              </a:rPr>
              <a:t>: </a:t>
            </a:r>
            <a:r>
              <a:rPr lang="ko-KR" altLang="en-US" sz="1200" dirty="0" smtClean="0">
                <a:latin typeface="+mn-ea"/>
              </a:rPr>
              <a:t>출고일자 </a:t>
            </a:r>
            <a:r>
              <a:rPr lang="en-US" altLang="ko-KR" sz="1200" dirty="0" smtClean="0">
                <a:latin typeface="+mn-ea"/>
              </a:rPr>
              <a:t>+ </a:t>
            </a:r>
            <a:r>
              <a:rPr lang="ko-KR" altLang="en-US" sz="1200" dirty="0" smtClean="0">
                <a:latin typeface="+mn-ea"/>
              </a:rPr>
              <a:t>차량번호 </a:t>
            </a:r>
            <a:r>
              <a:rPr lang="en-US" altLang="ko-KR" sz="1200" dirty="0" smtClean="0">
                <a:latin typeface="+mn-ea"/>
              </a:rPr>
              <a:t>(</a:t>
            </a:r>
            <a:r>
              <a:rPr lang="ko-KR" altLang="en-US" sz="1200" dirty="0" smtClean="0">
                <a:latin typeface="+mn-ea"/>
              </a:rPr>
              <a:t>차량번호가 같은 주문을 묶어 같은 작업 수행</a:t>
            </a:r>
            <a:r>
              <a:rPr lang="en-US" altLang="ko-KR" sz="1200" dirty="0" smtClean="0">
                <a:latin typeface="+mn-ea"/>
              </a:rPr>
              <a:t>)</a:t>
            </a:r>
            <a:endParaRPr lang="ko-KR" altLang="en-US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6197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09298" y="738136"/>
            <a:ext cx="2012089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4. </a:t>
            </a:r>
            <a:r>
              <a:rPr lang="ko-KR" altLang="en-US" b="1" dirty="0" smtClean="0">
                <a:latin typeface="+mn-ea"/>
              </a:rPr>
              <a:t>출고지시</a:t>
            </a:r>
            <a:r>
              <a:rPr lang="en-US" altLang="ko-KR" b="1" dirty="0" smtClean="0">
                <a:latin typeface="+mn-ea"/>
              </a:rPr>
              <a:t>(</a:t>
            </a:r>
            <a:r>
              <a:rPr lang="ko-KR" altLang="en-US" b="1" dirty="0" smtClean="0">
                <a:latin typeface="+mn-ea"/>
              </a:rPr>
              <a:t>할당</a:t>
            </a:r>
            <a:r>
              <a:rPr lang="en-US" altLang="ko-KR" b="1" dirty="0" smtClean="0">
                <a:latin typeface="+mn-ea"/>
              </a:rPr>
              <a:t>)</a:t>
            </a:r>
            <a:endParaRPr lang="en-US" altLang="ko-KR" b="1" dirty="0"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D287AB4B-989C-4971-971D-4BE418BBE7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98" y="1194097"/>
            <a:ext cx="6239404" cy="3778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9298" y="6703651"/>
            <a:ext cx="11336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2) </a:t>
            </a:r>
            <a:r>
              <a:rPr lang="ko-KR" altLang="en-US" sz="1400" b="1" dirty="0">
                <a:latin typeface="+mn-ea"/>
              </a:rPr>
              <a:t>출</a:t>
            </a:r>
            <a:r>
              <a:rPr lang="ko-KR" altLang="en-US" sz="1400" b="1" dirty="0" smtClean="0">
                <a:latin typeface="+mn-ea"/>
              </a:rPr>
              <a:t>고지시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116" y="7022241"/>
            <a:ext cx="6000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+mn-ea"/>
              </a:rPr>
              <a:t>출고</a:t>
            </a:r>
            <a:r>
              <a:rPr lang="en-US" altLang="ko-KR" sz="1200" dirty="0" smtClean="0">
                <a:latin typeface="+mn-ea"/>
              </a:rPr>
              <a:t>WAVE </a:t>
            </a:r>
            <a:r>
              <a:rPr lang="ko-KR" altLang="en-US" sz="1200" dirty="0" smtClean="0">
                <a:latin typeface="+mn-ea"/>
              </a:rPr>
              <a:t>된 자료에 대하여 해당 </a:t>
            </a:r>
            <a:r>
              <a:rPr lang="en-US" altLang="ko-KR" sz="1200" dirty="0" smtClean="0">
                <a:latin typeface="+mn-ea"/>
              </a:rPr>
              <a:t>WAVE</a:t>
            </a:r>
            <a:r>
              <a:rPr lang="ko-KR" altLang="en-US" sz="1200" dirty="0" smtClean="0">
                <a:latin typeface="+mn-ea"/>
              </a:rPr>
              <a:t>를 선택 체크하여 출고지시 처리를 한다</a:t>
            </a:r>
            <a:r>
              <a:rPr lang="en-US" altLang="ko-KR" sz="1200" dirty="0" smtClean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200" dirty="0" smtClean="0">
                <a:latin typeface="+mn-ea"/>
              </a:rPr>
              <a:t>- </a:t>
            </a:r>
            <a:r>
              <a:rPr lang="ko-KR" altLang="en-US" sz="1200" dirty="0" smtClean="0">
                <a:latin typeface="+mn-ea"/>
              </a:rPr>
              <a:t>제품별로 지정된 할당전략에 의해 </a:t>
            </a:r>
            <a:r>
              <a:rPr lang="ko-KR" altLang="en-US" sz="1200" dirty="0" err="1" smtClean="0">
                <a:latin typeface="+mn-ea"/>
              </a:rPr>
              <a:t>피킹</a:t>
            </a:r>
            <a:r>
              <a:rPr lang="ko-KR" altLang="en-US" sz="1200" dirty="0" smtClean="0">
                <a:latin typeface="+mn-ea"/>
              </a:rPr>
              <a:t> 로케이션을 지시한다</a:t>
            </a:r>
            <a:r>
              <a:rPr lang="en-US" altLang="ko-KR" sz="1200" dirty="0" smtClean="0">
                <a:latin typeface="+mn-ea"/>
              </a:rPr>
              <a:t>.</a:t>
            </a:r>
            <a:endParaRPr lang="en-US" altLang="ko-KR" sz="1200" dirty="0">
              <a:latin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017C80EB-2F31-41CB-9E51-CDBE8818AA6E}"/>
              </a:ext>
            </a:extLst>
          </p:cNvPr>
          <p:cNvSpPr txBox="1"/>
          <p:nvPr/>
        </p:nvSpPr>
        <p:spPr>
          <a:xfrm>
            <a:off x="309298" y="5591780"/>
            <a:ext cx="774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1) </a:t>
            </a:r>
            <a:r>
              <a:rPr lang="ko-KR" altLang="en-US" sz="1400" b="1" dirty="0">
                <a:latin typeface="+mn-ea"/>
              </a:rPr>
              <a:t>검색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0AAD93A-72D3-4FDE-97AC-C6912CE0A251}"/>
              </a:ext>
            </a:extLst>
          </p:cNvPr>
          <p:cNvSpPr txBox="1"/>
          <p:nvPr/>
        </p:nvSpPr>
        <p:spPr>
          <a:xfrm>
            <a:off x="548116" y="5951820"/>
            <a:ext cx="6000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+mn-ea"/>
              </a:rPr>
              <a:t>출고일자와 </a:t>
            </a:r>
            <a:r>
              <a:rPr lang="ko-KR" altLang="en-US" sz="1200" dirty="0">
                <a:latin typeface="+mn-ea"/>
              </a:rPr>
              <a:t>검색조건을 입력한 후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검색</a:t>
            </a:r>
            <a:r>
              <a:rPr lang="en-US" altLang="ko-KR" sz="1200" dirty="0">
                <a:latin typeface="+mn-ea"/>
              </a:rPr>
              <a:t>] </a:t>
            </a:r>
            <a:r>
              <a:rPr lang="ko-KR" altLang="en-US" sz="1200" dirty="0">
                <a:latin typeface="+mn-ea"/>
              </a:rPr>
              <a:t>버튼을 </a:t>
            </a:r>
            <a:r>
              <a:rPr lang="ko-KR" altLang="en-US" sz="1200" dirty="0" smtClean="0">
                <a:latin typeface="+mn-ea"/>
              </a:rPr>
              <a:t>클릭 한다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- </a:t>
            </a:r>
            <a:r>
              <a:rPr lang="ko-KR" altLang="en-US" sz="1200" dirty="0">
                <a:latin typeface="+mn-ea"/>
              </a:rPr>
              <a:t>검색조건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필수</a:t>
            </a:r>
            <a:r>
              <a:rPr lang="en-US" altLang="ko-KR" sz="1200" dirty="0">
                <a:latin typeface="+mn-ea"/>
              </a:rPr>
              <a:t>) : </a:t>
            </a:r>
            <a:r>
              <a:rPr lang="ko-KR" altLang="en-US" sz="1200" dirty="0" smtClean="0">
                <a:latin typeface="+mn-ea"/>
              </a:rPr>
              <a:t>출고일자</a:t>
            </a:r>
            <a:endParaRPr lang="ko-KR" altLang="en-US" sz="1200" dirty="0"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0AAD93A-72D3-4FDE-97AC-C6912CE0A251}"/>
              </a:ext>
            </a:extLst>
          </p:cNvPr>
          <p:cNvSpPr txBox="1"/>
          <p:nvPr/>
        </p:nvSpPr>
        <p:spPr>
          <a:xfrm>
            <a:off x="404664" y="5078889"/>
            <a:ext cx="6144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solidFill>
                  <a:srgbClr val="000000"/>
                </a:solidFill>
                <a:latin typeface="+mn-ea"/>
              </a:rPr>
              <a:t>출고 </a:t>
            </a:r>
            <a:r>
              <a:rPr lang="en-US" altLang="ko-KR" sz="1200" dirty="0" smtClean="0">
                <a:solidFill>
                  <a:srgbClr val="000000"/>
                </a:solidFill>
                <a:latin typeface="+mn-ea"/>
              </a:rPr>
              <a:t>WAVE </a:t>
            </a:r>
            <a:r>
              <a:rPr lang="ko-KR" altLang="en-US" sz="1200" dirty="0" smtClean="0">
                <a:solidFill>
                  <a:srgbClr val="000000"/>
                </a:solidFill>
                <a:latin typeface="+mn-ea"/>
              </a:rPr>
              <a:t>단위로 </a:t>
            </a:r>
            <a:r>
              <a:rPr lang="ko-KR" altLang="en-US" sz="1200" dirty="0" err="1" smtClean="0">
                <a:solidFill>
                  <a:srgbClr val="000000"/>
                </a:solidFill>
                <a:latin typeface="+mn-ea"/>
              </a:rPr>
              <a:t>피킹</a:t>
            </a:r>
            <a:r>
              <a:rPr lang="ko-KR" altLang="en-US" sz="1200" dirty="0" smtClean="0">
                <a:solidFill>
                  <a:srgbClr val="000000"/>
                </a:solidFill>
                <a:latin typeface="+mn-ea"/>
              </a:rPr>
              <a:t> 로케이션을 지시하는 화면 입니다</a:t>
            </a:r>
            <a:r>
              <a:rPr lang="en-US" altLang="ko-KR" sz="1200" dirty="0" smtClean="0">
                <a:latin typeface="+mn-ea"/>
              </a:rPr>
              <a:t>. </a:t>
            </a:r>
            <a:endParaRPr lang="en-US" altLang="ko-KR" sz="1200" dirty="0"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9298" y="7791423"/>
            <a:ext cx="11336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atin typeface="+mn-ea"/>
              </a:rPr>
              <a:t>3) </a:t>
            </a:r>
            <a:r>
              <a:rPr lang="ko-KR" altLang="en-US" sz="1400" b="1" dirty="0" smtClean="0">
                <a:latin typeface="+mn-ea"/>
              </a:rPr>
              <a:t>지시취소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116" y="8110013"/>
            <a:ext cx="600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+mn-ea"/>
              </a:rPr>
              <a:t>진행상태가 출고지시인 자료에 대하여 체크 후 출고지시 취소처리를 한다</a:t>
            </a:r>
            <a:r>
              <a:rPr lang="en-US" altLang="ko-KR" sz="1200" dirty="0" smtClean="0">
                <a:latin typeface="+mn-ea"/>
              </a:rPr>
              <a:t>.</a:t>
            </a:r>
            <a:endParaRPr lang="en-US" altLang="ko-KR" sz="1200" dirty="0"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10824D7D-7ECD-4F77-BA21-0C7D8CEF4D8B}"/>
              </a:ext>
            </a:extLst>
          </p:cNvPr>
          <p:cNvSpPr txBox="1"/>
          <p:nvPr/>
        </p:nvSpPr>
        <p:spPr>
          <a:xfrm>
            <a:off x="301566" y="8585558"/>
            <a:ext cx="774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atin typeface="+mn-ea"/>
              </a:rPr>
              <a:t>4) </a:t>
            </a:r>
            <a:r>
              <a:rPr lang="ko-KR" altLang="en-US" sz="1400" b="1" dirty="0" smtClean="0">
                <a:latin typeface="+mn-ea"/>
              </a:rPr>
              <a:t>인쇄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74483D9A-CC3D-4678-B389-52FF0BDCC6CB}"/>
              </a:ext>
            </a:extLst>
          </p:cNvPr>
          <p:cNvSpPr txBox="1"/>
          <p:nvPr/>
        </p:nvSpPr>
        <p:spPr>
          <a:xfrm>
            <a:off x="540384" y="8904148"/>
            <a:ext cx="600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err="1" smtClean="0">
                <a:latin typeface="+mn-ea"/>
              </a:rPr>
              <a:t>피킹지시서</a:t>
            </a:r>
            <a:r>
              <a:rPr lang="ko-KR" altLang="en-US" sz="1200" dirty="0" smtClean="0">
                <a:latin typeface="+mn-ea"/>
              </a:rPr>
              <a:t> 및 출고라벨</a:t>
            </a:r>
            <a:r>
              <a:rPr lang="en-US" altLang="ko-KR" sz="1200" dirty="0" smtClean="0">
                <a:latin typeface="+mn-ea"/>
              </a:rPr>
              <a:t>, Total</a:t>
            </a:r>
            <a:r>
              <a:rPr lang="ko-KR" altLang="en-US" sz="1200" dirty="0" err="1" smtClean="0">
                <a:latin typeface="+mn-ea"/>
              </a:rPr>
              <a:t>피킹</a:t>
            </a:r>
            <a:r>
              <a:rPr lang="ko-KR" altLang="en-US" sz="1200" dirty="0" smtClean="0">
                <a:latin typeface="+mn-ea"/>
              </a:rPr>
              <a:t> </a:t>
            </a:r>
            <a:r>
              <a:rPr lang="en-US" altLang="ko-KR" sz="1200" dirty="0" smtClean="0">
                <a:latin typeface="+mn-ea"/>
              </a:rPr>
              <a:t>&amp; </a:t>
            </a:r>
            <a:r>
              <a:rPr lang="ko-KR" altLang="en-US" sz="1200" dirty="0" smtClean="0">
                <a:latin typeface="+mn-ea"/>
              </a:rPr>
              <a:t>분배지시서를 출력 한다</a:t>
            </a:r>
            <a:r>
              <a:rPr lang="en-US" altLang="ko-KR" sz="1200" dirty="0" smtClean="0">
                <a:latin typeface="+mn-ea"/>
              </a:rPr>
              <a:t>.</a:t>
            </a:r>
            <a:endParaRPr lang="en-US" altLang="ko-KR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22259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09298" y="738136"/>
            <a:ext cx="138371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5. </a:t>
            </a:r>
            <a:r>
              <a:rPr lang="ko-KR" altLang="en-US" b="1" dirty="0" err="1">
                <a:latin typeface="+mn-ea"/>
              </a:rPr>
              <a:t>출고피킹</a:t>
            </a:r>
            <a:endParaRPr lang="en-US" altLang="ko-KR" b="1" dirty="0"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C8638A97-A35C-4D70-86B1-A464EBF0D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38" y="1229717"/>
            <a:ext cx="6231763" cy="3657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9298" y="6703651"/>
            <a:ext cx="11336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2) </a:t>
            </a:r>
            <a:r>
              <a:rPr lang="ko-KR" altLang="en-US" sz="1400" b="1" dirty="0" err="1" smtClean="0">
                <a:latin typeface="+mn-ea"/>
              </a:rPr>
              <a:t>피킹확정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116" y="7022241"/>
            <a:ext cx="6000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err="1" smtClean="0">
                <a:latin typeface="+mn-ea"/>
              </a:rPr>
              <a:t>피킹지시</a:t>
            </a:r>
            <a:r>
              <a:rPr lang="ko-KR" altLang="en-US" sz="1200" dirty="0" smtClean="0">
                <a:latin typeface="+mn-ea"/>
              </a:rPr>
              <a:t> 된 로케이션에서 제품을 </a:t>
            </a:r>
            <a:r>
              <a:rPr lang="ko-KR" altLang="en-US" sz="1200" dirty="0" err="1" smtClean="0">
                <a:latin typeface="+mn-ea"/>
              </a:rPr>
              <a:t>피킹한</a:t>
            </a:r>
            <a:r>
              <a:rPr lang="ko-KR" altLang="en-US" sz="1200" dirty="0" smtClean="0">
                <a:latin typeface="+mn-ea"/>
              </a:rPr>
              <a:t> 후 </a:t>
            </a:r>
            <a:r>
              <a:rPr lang="ko-KR" altLang="en-US" sz="1200" dirty="0" err="1" smtClean="0">
                <a:latin typeface="+mn-ea"/>
              </a:rPr>
              <a:t>피킹확정</a:t>
            </a:r>
            <a:r>
              <a:rPr lang="ko-KR" altLang="en-US" sz="1200" dirty="0" smtClean="0">
                <a:latin typeface="+mn-ea"/>
              </a:rPr>
              <a:t> 처리를 한다</a:t>
            </a:r>
            <a:r>
              <a:rPr lang="en-US" altLang="ko-KR" sz="1200" dirty="0" smtClean="0">
                <a:latin typeface="+mn-ea"/>
              </a:rPr>
              <a:t>.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- </a:t>
            </a:r>
            <a:r>
              <a:rPr lang="ko-KR" altLang="en-US" sz="1200" dirty="0" smtClean="0">
                <a:latin typeface="+mn-ea"/>
              </a:rPr>
              <a:t>보관 로케이션에서 출고</a:t>
            </a:r>
            <a:r>
              <a:rPr lang="en-US" altLang="ko-KR" sz="1200" dirty="0" smtClean="0">
                <a:latin typeface="+mn-ea"/>
              </a:rPr>
              <a:t>Dock</a:t>
            </a:r>
            <a:r>
              <a:rPr lang="ko-KR" altLang="en-US" sz="1200" dirty="0" smtClean="0">
                <a:latin typeface="+mn-ea"/>
              </a:rPr>
              <a:t>으로 재고수량이 </a:t>
            </a:r>
            <a:r>
              <a:rPr lang="ko-KR" altLang="en-US" sz="1200" dirty="0">
                <a:latin typeface="+mn-ea"/>
              </a:rPr>
              <a:t>변경 된다</a:t>
            </a:r>
            <a:r>
              <a:rPr lang="en-US" altLang="ko-KR" sz="1200" dirty="0" smtClean="0">
                <a:latin typeface="+mn-ea"/>
              </a:rPr>
              <a:t>.</a:t>
            </a:r>
            <a:endParaRPr lang="en-US" altLang="ko-KR" sz="120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017C80EB-2F31-41CB-9E51-CDBE8818AA6E}"/>
              </a:ext>
            </a:extLst>
          </p:cNvPr>
          <p:cNvSpPr txBox="1"/>
          <p:nvPr/>
        </p:nvSpPr>
        <p:spPr>
          <a:xfrm>
            <a:off x="309298" y="5591780"/>
            <a:ext cx="774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1) </a:t>
            </a:r>
            <a:r>
              <a:rPr lang="ko-KR" altLang="en-US" sz="1400" b="1" dirty="0">
                <a:latin typeface="+mn-ea"/>
              </a:rPr>
              <a:t>검색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0AAD93A-72D3-4FDE-97AC-C6912CE0A251}"/>
              </a:ext>
            </a:extLst>
          </p:cNvPr>
          <p:cNvSpPr txBox="1"/>
          <p:nvPr/>
        </p:nvSpPr>
        <p:spPr>
          <a:xfrm>
            <a:off x="548116" y="5951820"/>
            <a:ext cx="6000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출</a:t>
            </a:r>
            <a:r>
              <a:rPr lang="ko-KR" altLang="en-US" sz="1200" dirty="0" smtClean="0">
                <a:latin typeface="+mn-ea"/>
              </a:rPr>
              <a:t>고일자와 </a:t>
            </a:r>
            <a:r>
              <a:rPr lang="ko-KR" altLang="en-US" sz="1200" dirty="0">
                <a:latin typeface="+mn-ea"/>
              </a:rPr>
              <a:t>검색조건을 입력한 후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검색</a:t>
            </a:r>
            <a:r>
              <a:rPr lang="en-US" altLang="ko-KR" sz="1200" dirty="0">
                <a:latin typeface="+mn-ea"/>
              </a:rPr>
              <a:t>] </a:t>
            </a:r>
            <a:r>
              <a:rPr lang="ko-KR" altLang="en-US" sz="1200" dirty="0">
                <a:latin typeface="+mn-ea"/>
              </a:rPr>
              <a:t>버튼을 </a:t>
            </a:r>
            <a:r>
              <a:rPr lang="ko-KR" altLang="en-US" sz="1200" dirty="0" smtClean="0">
                <a:latin typeface="+mn-ea"/>
              </a:rPr>
              <a:t>클릭 한다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- </a:t>
            </a:r>
            <a:r>
              <a:rPr lang="ko-KR" altLang="en-US" sz="1200" dirty="0">
                <a:latin typeface="+mn-ea"/>
              </a:rPr>
              <a:t>검색조건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필수</a:t>
            </a:r>
            <a:r>
              <a:rPr lang="en-US" altLang="ko-KR" sz="1200" dirty="0">
                <a:latin typeface="+mn-ea"/>
              </a:rPr>
              <a:t>) : </a:t>
            </a:r>
            <a:r>
              <a:rPr lang="ko-KR" altLang="en-US" sz="1200" dirty="0" err="1">
                <a:latin typeface="+mn-ea"/>
              </a:rPr>
              <a:t>고객사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smtClean="0">
                <a:latin typeface="+mn-ea"/>
              </a:rPr>
              <a:t>입고일자</a:t>
            </a:r>
            <a:endParaRPr lang="ko-KR" altLang="en-US" sz="1200" dirty="0"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D0AAD93A-72D3-4FDE-97AC-C6912CE0A251}"/>
              </a:ext>
            </a:extLst>
          </p:cNvPr>
          <p:cNvSpPr txBox="1"/>
          <p:nvPr/>
        </p:nvSpPr>
        <p:spPr>
          <a:xfrm>
            <a:off x="404664" y="5078889"/>
            <a:ext cx="6144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rgbClr val="000000"/>
                </a:solidFill>
                <a:latin typeface="+mn-ea"/>
              </a:rPr>
              <a:t>출</a:t>
            </a:r>
            <a:r>
              <a:rPr lang="ko-KR" altLang="en-US" sz="1200" dirty="0" smtClean="0">
                <a:solidFill>
                  <a:srgbClr val="000000"/>
                </a:solidFill>
                <a:latin typeface="+mn-ea"/>
              </a:rPr>
              <a:t>고지시 된 제품에 대하여 </a:t>
            </a:r>
            <a:r>
              <a:rPr lang="ko-KR" altLang="en-US" sz="1200" dirty="0" err="1" smtClean="0">
                <a:solidFill>
                  <a:srgbClr val="000000"/>
                </a:solidFill>
                <a:latin typeface="+mn-ea"/>
              </a:rPr>
              <a:t>피킹</a:t>
            </a:r>
            <a:r>
              <a:rPr lang="ko-KR" altLang="en-US" sz="1200" dirty="0" smtClean="0">
                <a:solidFill>
                  <a:srgbClr val="000000"/>
                </a:solidFill>
                <a:latin typeface="+mn-ea"/>
              </a:rPr>
              <a:t> 작업을 수행 후 </a:t>
            </a:r>
            <a:r>
              <a:rPr lang="ko-KR" altLang="en-US" sz="1200" dirty="0" err="1" smtClean="0">
                <a:solidFill>
                  <a:srgbClr val="000000"/>
                </a:solidFill>
                <a:latin typeface="+mn-ea"/>
              </a:rPr>
              <a:t>피킹확정</a:t>
            </a:r>
            <a:r>
              <a:rPr lang="ko-KR" altLang="en-US" sz="1200" dirty="0" smtClean="0">
                <a:solidFill>
                  <a:srgbClr val="000000"/>
                </a:solidFill>
                <a:latin typeface="+mn-ea"/>
              </a:rPr>
              <a:t> 처리를 하는 화면 입니다</a:t>
            </a:r>
            <a:r>
              <a:rPr lang="en-US" altLang="ko-KR" sz="1200" dirty="0" smtClean="0">
                <a:latin typeface="+mn-ea"/>
              </a:rPr>
              <a:t>. </a:t>
            </a:r>
            <a:endParaRPr lang="en-US" altLang="ko-KR" sz="1200" dirty="0"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09298" y="7791423"/>
            <a:ext cx="11336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atin typeface="+mn-ea"/>
              </a:rPr>
              <a:t>3) </a:t>
            </a:r>
            <a:r>
              <a:rPr lang="ko-KR" altLang="en-US" sz="1400" b="1" dirty="0" err="1" smtClean="0">
                <a:latin typeface="+mn-ea"/>
              </a:rPr>
              <a:t>피킹취소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116" y="8110013"/>
            <a:ext cx="600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+mn-ea"/>
              </a:rPr>
              <a:t>진행상태가 </a:t>
            </a:r>
            <a:r>
              <a:rPr lang="ko-KR" altLang="en-US" sz="1200" dirty="0" err="1" smtClean="0">
                <a:latin typeface="+mn-ea"/>
              </a:rPr>
              <a:t>출고피킹인</a:t>
            </a:r>
            <a:r>
              <a:rPr lang="ko-KR" altLang="en-US" sz="1200" dirty="0" smtClean="0">
                <a:latin typeface="+mn-ea"/>
              </a:rPr>
              <a:t> 자료에 대하여 체크 후 </a:t>
            </a:r>
            <a:r>
              <a:rPr lang="ko-KR" altLang="en-US" sz="1200" dirty="0" err="1" smtClean="0">
                <a:latin typeface="+mn-ea"/>
              </a:rPr>
              <a:t>피킹</a:t>
            </a:r>
            <a:r>
              <a:rPr lang="ko-KR" altLang="en-US" sz="1200" dirty="0" smtClean="0">
                <a:latin typeface="+mn-ea"/>
              </a:rPr>
              <a:t> 취소처리를 한다</a:t>
            </a:r>
            <a:r>
              <a:rPr lang="en-US" altLang="ko-KR" sz="1200" dirty="0" smtClean="0">
                <a:latin typeface="+mn-ea"/>
              </a:rPr>
              <a:t>.</a:t>
            </a:r>
            <a:endParaRPr lang="en-US" altLang="ko-KR" sz="1200" dirty="0"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10824D7D-7ECD-4F77-BA21-0C7D8CEF4D8B}"/>
              </a:ext>
            </a:extLst>
          </p:cNvPr>
          <p:cNvSpPr txBox="1"/>
          <p:nvPr/>
        </p:nvSpPr>
        <p:spPr>
          <a:xfrm>
            <a:off x="301566" y="8585558"/>
            <a:ext cx="774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atin typeface="+mn-ea"/>
              </a:rPr>
              <a:t>4) </a:t>
            </a:r>
            <a:r>
              <a:rPr lang="ko-KR" altLang="en-US" sz="1400" b="1" dirty="0" smtClean="0">
                <a:latin typeface="+mn-ea"/>
              </a:rPr>
              <a:t>엑셀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74483D9A-CC3D-4678-B389-52FF0BDCC6CB}"/>
              </a:ext>
            </a:extLst>
          </p:cNvPr>
          <p:cNvSpPr txBox="1"/>
          <p:nvPr/>
        </p:nvSpPr>
        <p:spPr>
          <a:xfrm>
            <a:off x="540384" y="8904148"/>
            <a:ext cx="600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검색된 </a:t>
            </a:r>
            <a:r>
              <a:rPr lang="ko-KR" altLang="en-US" sz="1200" dirty="0" smtClean="0">
                <a:latin typeface="+mn-ea"/>
              </a:rPr>
              <a:t>출고지시 </a:t>
            </a:r>
            <a:r>
              <a:rPr lang="ko-KR" altLang="en-US" sz="1200" dirty="0">
                <a:latin typeface="+mn-ea"/>
              </a:rPr>
              <a:t>목록을 엑셀로 다운로드 하기 위하여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엑셀</a:t>
            </a:r>
            <a:r>
              <a:rPr lang="en-US" altLang="ko-KR" sz="1200" dirty="0">
                <a:latin typeface="+mn-ea"/>
              </a:rPr>
              <a:t>] </a:t>
            </a:r>
            <a:r>
              <a:rPr lang="ko-KR" altLang="en-US" sz="1200" dirty="0">
                <a:latin typeface="+mn-ea"/>
              </a:rPr>
              <a:t>버튼을 클릭 한다</a:t>
            </a:r>
            <a:r>
              <a:rPr lang="en-US" altLang="ko-KR" sz="12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5855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09298" y="738136"/>
            <a:ext cx="138371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6. </a:t>
            </a:r>
            <a:r>
              <a:rPr lang="ko-KR" altLang="en-US" b="1" dirty="0" err="1">
                <a:latin typeface="+mn-ea"/>
              </a:rPr>
              <a:t>출하상차</a:t>
            </a:r>
            <a:endParaRPr lang="en-US" altLang="ko-KR" b="1" dirty="0">
              <a:latin typeface="+mn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1A8EF62D-C4D6-4949-BBC3-79AB51CC3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98" y="1256780"/>
            <a:ext cx="6239405" cy="3657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09298" y="7473280"/>
            <a:ext cx="11336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atin typeface="+mn-ea"/>
              </a:rPr>
              <a:t>3) </a:t>
            </a:r>
            <a:r>
              <a:rPr lang="ko-KR" altLang="en-US" sz="1400" b="1" dirty="0" smtClean="0">
                <a:latin typeface="+mn-ea"/>
              </a:rPr>
              <a:t>상차확정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116" y="7791870"/>
            <a:ext cx="600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+mn-ea"/>
              </a:rPr>
              <a:t>실제 상차된 </a:t>
            </a:r>
            <a:r>
              <a:rPr lang="ko-KR" altLang="en-US" sz="1200" dirty="0" err="1" smtClean="0">
                <a:latin typeface="+mn-ea"/>
              </a:rPr>
              <a:t>파렛트</a:t>
            </a:r>
            <a:r>
              <a:rPr lang="en-US" altLang="ko-KR" sz="1200" dirty="0" smtClean="0">
                <a:latin typeface="+mn-ea"/>
              </a:rPr>
              <a:t>ID </a:t>
            </a:r>
            <a:r>
              <a:rPr lang="ko-KR" altLang="en-US" sz="1200" dirty="0" smtClean="0">
                <a:latin typeface="+mn-ea"/>
              </a:rPr>
              <a:t>정보를 상차확정 처리를 </a:t>
            </a:r>
            <a:r>
              <a:rPr lang="ko-KR" altLang="en-US" sz="1200" dirty="0" smtClean="0">
                <a:latin typeface="+mn-ea"/>
              </a:rPr>
              <a:t>한다</a:t>
            </a:r>
            <a:r>
              <a:rPr lang="en-US" altLang="ko-KR" sz="1200" dirty="0" smtClean="0">
                <a:latin typeface="+mn-ea"/>
              </a:rPr>
              <a:t>.</a:t>
            </a:r>
            <a:endParaRPr lang="en-US" altLang="ko-KR" sz="1200" dirty="0"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017C80EB-2F31-41CB-9E51-CDBE8818AA6E}"/>
              </a:ext>
            </a:extLst>
          </p:cNvPr>
          <p:cNvSpPr txBox="1"/>
          <p:nvPr/>
        </p:nvSpPr>
        <p:spPr>
          <a:xfrm>
            <a:off x="309298" y="5735796"/>
            <a:ext cx="774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1) </a:t>
            </a:r>
            <a:r>
              <a:rPr lang="ko-KR" altLang="en-US" sz="1400" b="1" dirty="0">
                <a:latin typeface="+mn-ea"/>
              </a:rPr>
              <a:t>검색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D0AAD93A-72D3-4FDE-97AC-C6912CE0A251}"/>
              </a:ext>
            </a:extLst>
          </p:cNvPr>
          <p:cNvSpPr txBox="1"/>
          <p:nvPr/>
        </p:nvSpPr>
        <p:spPr>
          <a:xfrm>
            <a:off x="548116" y="6095836"/>
            <a:ext cx="6000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출</a:t>
            </a:r>
            <a:r>
              <a:rPr lang="ko-KR" altLang="en-US" sz="1200" dirty="0" smtClean="0">
                <a:latin typeface="+mn-ea"/>
              </a:rPr>
              <a:t>고일자와 </a:t>
            </a:r>
            <a:r>
              <a:rPr lang="ko-KR" altLang="en-US" sz="1200" dirty="0">
                <a:latin typeface="+mn-ea"/>
              </a:rPr>
              <a:t>검색조건을 입력한 후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검색</a:t>
            </a:r>
            <a:r>
              <a:rPr lang="en-US" altLang="ko-KR" sz="1200" dirty="0">
                <a:latin typeface="+mn-ea"/>
              </a:rPr>
              <a:t>] </a:t>
            </a:r>
            <a:r>
              <a:rPr lang="ko-KR" altLang="en-US" sz="1200" dirty="0">
                <a:latin typeface="+mn-ea"/>
              </a:rPr>
              <a:t>버튼을 </a:t>
            </a:r>
            <a:r>
              <a:rPr lang="ko-KR" altLang="en-US" sz="1200" dirty="0" smtClean="0">
                <a:latin typeface="+mn-ea"/>
              </a:rPr>
              <a:t>클릭 한다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- </a:t>
            </a:r>
            <a:r>
              <a:rPr lang="ko-KR" altLang="en-US" sz="1200" dirty="0">
                <a:latin typeface="+mn-ea"/>
              </a:rPr>
              <a:t>검색조건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필수</a:t>
            </a:r>
            <a:r>
              <a:rPr lang="en-US" altLang="ko-KR" sz="1200" dirty="0">
                <a:latin typeface="+mn-ea"/>
              </a:rPr>
              <a:t>) : </a:t>
            </a:r>
            <a:r>
              <a:rPr lang="ko-KR" altLang="en-US" sz="1200" dirty="0" err="1">
                <a:latin typeface="+mn-ea"/>
              </a:rPr>
              <a:t>고객사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smtClean="0">
                <a:latin typeface="+mn-ea"/>
              </a:rPr>
              <a:t>입고일자</a:t>
            </a:r>
            <a:endParaRPr lang="ko-KR" altLang="en-US" sz="1200" dirty="0">
              <a:latin typeface="+mn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D0AAD93A-72D3-4FDE-97AC-C6912CE0A251}"/>
              </a:ext>
            </a:extLst>
          </p:cNvPr>
          <p:cNvSpPr txBox="1"/>
          <p:nvPr/>
        </p:nvSpPr>
        <p:spPr>
          <a:xfrm>
            <a:off x="404664" y="5078889"/>
            <a:ext cx="61440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solidFill>
                  <a:srgbClr val="000000"/>
                </a:solidFill>
                <a:latin typeface="+mn-ea"/>
              </a:rPr>
              <a:t>주로 공장창고에서 물류센터로 </a:t>
            </a:r>
            <a:r>
              <a:rPr lang="ko-KR" altLang="en-US" sz="1200" dirty="0" err="1" smtClean="0">
                <a:solidFill>
                  <a:srgbClr val="000000"/>
                </a:solidFill>
                <a:latin typeface="+mn-ea"/>
              </a:rPr>
              <a:t>이고시</a:t>
            </a:r>
            <a:r>
              <a:rPr lang="ko-KR" altLang="en-US" sz="1200" dirty="0" smtClean="0">
                <a:solidFill>
                  <a:srgbClr val="000000"/>
                </a:solidFill>
                <a:latin typeface="+mn-ea"/>
              </a:rPr>
              <a:t> 사용하며 </a:t>
            </a:r>
            <a:r>
              <a:rPr lang="ko-KR" altLang="en-US" sz="1200" dirty="0" err="1" smtClean="0">
                <a:solidFill>
                  <a:srgbClr val="000000"/>
                </a:solidFill>
                <a:latin typeface="+mn-ea"/>
              </a:rPr>
              <a:t>피킹된</a:t>
            </a:r>
            <a:r>
              <a:rPr lang="ko-KR" altLang="en-US" sz="1200" dirty="0" smtClean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200" dirty="0" err="1" smtClean="0">
                <a:solidFill>
                  <a:srgbClr val="000000"/>
                </a:solidFill>
                <a:latin typeface="+mn-ea"/>
              </a:rPr>
              <a:t>파렛트</a:t>
            </a:r>
            <a:r>
              <a:rPr lang="en-US" altLang="ko-KR" sz="1200" dirty="0" smtClean="0">
                <a:solidFill>
                  <a:srgbClr val="000000"/>
                </a:solidFill>
                <a:latin typeface="+mn-ea"/>
              </a:rPr>
              <a:t>ID</a:t>
            </a:r>
            <a:r>
              <a:rPr lang="ko-KR" altLang="en-US" sz="1200" dirty="0" smtClean="0">
                <a:solidFill>
                  <a:srgbClr val="000000"/>
                </a:solidFill>
                <a:latin typeface="+mn-ea"/>
              </a:rPr>
              <a:t>를 </a:t>
            </a:r>
            <a:r>
              <a:rPr lang="ko-KR" altLang="en-US" sz="1200" dirty="0" err="1" smtClean="0">
                <a:solidFill>
                  <a:srgbClr val="000000"/>
                </a:solidFill>
                <a:latin typeface="+mn-ea"/>
              </a:rPr>
              <a:t>스캔하거나</a:t>
            </a:r>
            <a:r>
              <a:rPr lang="ko-KR" altLang="en-US" sz="1200" dirty="0" smtClean="0">
                <a:solidFill>
                  <a:srgbClr val="000000"/>
                </a:solidFill>
                <a:latin typeface="+mn-ea"/>
              </a:rPr>
              <a:t> 등록하여 제품의 </a:t>
            </a:r>
            <a:r>
              <a:rPr lang="en-US" altLang="ko-KR" sz="1200" dirty="0" smtClean="0">
                <a:solidFill>
                  <a:srgbClr val="000000"/>
                </a:solidFill>
                <a:latin typeface="+mn-ea"/>
              </a:rPr>
              <a:t>LOT </a:t>
            </a:r>
            <a:r>
              <a:rPr lang="ko-KR" altLang="en-US" sz="1200" dirty="0" smtClean="0">
                <a:solidFill>
                  <a:srgbClr val="000000"/>
                </a:solidFill>
                <a:latin typeface="+mn-ea"/>
              </a:rPr>
              <a:t>정보를 연계하기 위하여 처리하는 화면 입니다</a:t>
            </a:r>
            <a:r>
              <a:rPr lang="en-US" altLang="ko-KR" sz="1200" dirty="0" smtClean="0">
                <a:latin typeface="+mn-ea"/>
              </a:rPr>
              <a:t>. </a:t>
            </a:r>
            <a:endParaRPr lang="en-US" altLang="ko-KR" sz="1200" dirty="0">
              <a:latin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9298" y="8193360"/>
            <a:ext cx="11336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atin typeface="+mn-ea"/>
              </a:rPr>
              <a:t>4) </a:t>
            </a:r>
            <a:r>
              <a:rPr lang="ko-KR" altLang="en-US" sz="1400" b="1" dirty="0" smtClean="0">
                <a:latin typeface="+mn-ea"/>
              </a:rPr>
              <a:t>상차취소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116" y="8511950"/>
            <a:ext cx="600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+mn-ea"/>
              </a:rPr>
              <a:t>진행상태가 </a:t>
            </a:r>
            <a:r>
              <a:rPr lang="ko-KR" altLang="en-US" sz="1200" dirty="0" err="1" smtClean="0">
                <a:latin typeface="+mn-ea"/>
              </a:rPr>
              <a:t>출고피킹인</a:t>
            </a:r>
            <a:r>
              <a:rPr lang="ko-KR" altLang="en-US" sz="1200" dirty="0" smtClean="0">
                <a:latin typeface="+mn-ea"/>
              </a:rPr>
              <a:t> 자료에 대하여 체크 후 </a:t>
            </a:r>
            <a:r>
              <a:rPr lang="ko-KR" altLang="en-US" sz="1200" dirty="0" err="1" smtClean="0">
                <a:latin typeface="+mn-ea"/>
              </a:rPr>
              <a:t>피킹</a:t>
            </a:r>
            <a:r>
              <a:rPr lang="ko-KR" altLang="en-US" sz="1200" dirty="0" smtClean="0">
                <a:latin typeface="+mn-ea"/>
              </a:rPr>
              <a:t> 취소처리를 한다</a:t>
            </a:r>
            <a:r>
              <a:rPr lang="en-US" altLang="ko-KR" sz="1200" dirty="0" smtClean="0">
                <a:latin typeface="+mn-ea"/>
              </a:rPr>
              <a:t>.</a:t>
            </a:r>
            <a:endParaRPr lang="en-US" altLang="ko-KR" sz="1200" dirty="0"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09298" y="6707318"/>
            <a:ext cx="1771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2) </a:t>
            </a:r>
            <a:r>
              <a:rPr lang="ko-KR" altLang="en-US" sz="1400" b="1" dirty="0" smtClean="0">
                <a:latin typeface="+mn-ea"/>
              </a:rPr>
              <a:t>일괄적용 </a:t>
            </a:r>
            <a:r>
              <a:rPr lang="en-US" altLang="ko-KR" sz="1400" b="1" dirty="0" smtClean="0">
                <a:latin typeface="+mn-ea"/>
              </a:rPr>
              <a:t>&amp; </a:t>
            </a:r>
            <a:r>
              <a:rPr lang="ko-KR" altLang="en-US" sz="1400" b="1" dirty="0" smtClean="0">
                <a:latin typeface="+mn-ea"/>
              </a:rPr>
              <a:t>저장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8116" y="7025908"/>
            <a:ext cx="600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err="1" smtClean="0">
                <a:latin typeface="+mn-ea"/>
              </a:rPr>
              <a:t>피킹지시</a:t>
            </a:r>
            <a:r>
              <a:rPr lang="ko-KR" altLang="en-US" sz="1200" dirty="0" smtClean="0">
                <a:latin typeface="+mn-ea"/>
              </a:rPr>
              <a:t> 된 </a:t>
            </a:r>
            <a:r>
              <a:rPr lang="ko-KR" altLang="en-US" sz="1200" dirty="0" err="1" smtClean="0">
                <a:latin typeface="+mn-ea"/>
              </a:rPr>
              <a:t>파렛트를</a:t>
            </a:r>
            <a:r>
              <a:rPr lang="ko-KR" altLang="en-US" sz="1200" dirty="0" smtClean="0">
                <a:latin typeface="+mn-ea"/>
              </a:rPr>
              <a:t> 일괄 적용하고 저장 처리를 한다</a:t>
            </a:r>
            <a:r>
              <a:rPr lang="en-US" altLang="ko-KR" sz="1200" dirty="0" smtClean="0">
                <a:latin typeface="+mn-ea"/>
              </a:rPr>
              <a:t>.</a:t>
            </a:r>
            <a:endParaRPr lang="en-US" altLang="ko-KR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04153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09298" y="738136"/>
            <a:ext cx="138371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7. </a:t>
            </a:r>
            <a:r>
              <a:rPr lang="ko-KR" altLang="en-US" b="1" dirty="0">
                <a:latin typeface="+mn-ea"/>
              </a:rPr>
              <a:t>출하확정</a:t>
            </a:r>
            <a:endParaRPr lang="en-US" altLang="ko-KR" b="1" dirty="0"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4935A854-F2D2-49E7-93FA-1355A2348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566" y="1231359"/>
            <a:ext cx="6232136" cy="36573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9298" y="6753200"/>
            <a:ext cx="11336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atin typeface="+mn-ea"/>
              </a:rPr>
              <a:t>2) </a:t>
            </a:r>
            <a:r>
              <a:rPr lang="ko-KR" altLang="en-US" sz="1400" b="1" dirty="0" smtClean="0">
                <a:latin typeface="+mn-ea"/>
              </a:rPr>
              <a:t>출하확정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116" y="7071790"/>
            <a:ext cx="6000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+mn-ea"/>
              </a:rPr>
              <a:t>출고 </a:t>
            </a:r>
            <a:r>
              <a:rPr lang="ko-KR" altLang="en-US" sz="1200" dirty="0" smtClean="0">
                <a:latin typeface="+mn-ea"/>
              </a:rPr>
              <a:t>작업을 마친 주문에 대하여 출하확정 처리를 </a:t>
            </a:r>
            <a:r>
              <a:rPr lang="ko-KR" altLang="en-US" sz="1200" dirty="0" smtClean="0">
                <a:latin typeface="+mn-ea"/>
              </a:rPr>
              <a:t>한다</a:t>
            </a:r>
            <a:r>
              <a:rPr lang="en-US" altLang="ko-KR" sz="1200" dirty="0" smtClean="0">
                <a:latin typeface="+mn-ea"/>
              </a:rPr>
              <a:t>.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- </a:t>
            </a:r>
            <a:r>
              <a:rPr lang="ko-KR" altLang="en-US" sz="1200" dirty="0" smtClean="0">
                <a:latin typeface="+mn-ea"/>
              </a:rPr>
              <a:t>출고</a:t>
            </a:r>
            <a:r>
              <a:rPr lang="en-US" altLang="ko-KR" sz="1200" dirty="0" smtClean="0">
                <a:latin typeface="+mn-ea"/>
              </a:rPr>
              <a:t>Dock</a:t>
            </a:r>
            <a:r>
              <a:rPr lang="ko-KR" altLang="en-US" sz="1200" dirty="0" smtClean="0">
                <a:latin typeface="+mn-ea"/>
              </a:rPr>
              <a:t>에서 재고수량이 감산 된다</a:t>
            </a:r>
            <a:r>
              <a:rPr lang="en-US" altLang="ko-KR" sz="1200" dirty="0" smtClean="0">
                <a:latin typeface="+mn-ea"/>
              </a:rPr>
              <a:t>.</a:t>
            </a:r>
            <a:endParaRPr lang="en-US" altLang="ko-KR" sz="1200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017C80EB-2F31-41CB-9E51-CDBE8818AA6E}"/>
              </a:ext>
            </a:extLst>
          </p:cNvPr>
          <p:cNvSpPr txBox="1"/>
          <p:nvPr/>
        </p:nvSpPr>
        <p:spPr>
          <a:xfrm>
            <a:off x="309298" y="5735796"/>
            <a:ext cx="774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1) </a:t>
            </a:r>
            <a:r>
              <a:rPr lang="ko-KR" altLang="en-US" sz="1400" b="1" dirty="0">
                <a:latin typeface="+mn-ea"/>
              </a:rPr>
              <a:t>검색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D0AAD93A-72D3-4FDE-97AC-C6912CE0A251}"/>
              </a:ext>
            </a:extLst>
          </p:cNvPr>
          <p:cNvSpPr txBox="1"/>
          <p:nvPr/>
        </p:nvSpPr>
        <p:spPr>
          <a:xfrm>
            <a:off x="548116" y="6095836"/>
            <a:ext cx="6000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출</a:t>
            </a:r>
            <a:r>
              <a:rPr lang="ko-KR" altLang="en-US" sz="1200" dirty="0" smtClean="0">
                <a:latin typeface="+mn-ea"/>
              </a:rPr>
              <a:t>고일자와 </a:t>
            </a:r>
            <a:r>
              <a:rPr lang="ko-KR" altLang="en-US" sz="1200" dirty="0">
                <a:latin typeface="+mn-ea"/>
              </a:rPr>
              <a:t>검색조건을 입력한 후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검색</a:t>
            </a:r>
            <a:r>
              <a:rPr lang="en-US" altLang="ko-KR" sz="1200" dirty="0">
                <a:latin typeface="+mn-ea"/>
              </a:rPr>
              <a:t>] </a:t>
            </a:r>
            <a:r>
              <a:rPr lang="ko-KR" altLang="en-US" sz="1200" dirty="0">
                <a:latin typeface="+mn-ea"/>
              </a:rPr>
              <a:t>버튼을 </a:t>
            </a:r>
            <a:r>
              <a:rPr lang="ko-KR" altLang="en-US" sz="1200" dirty="0" smtClean="0">
                <a:latin typeface="+mn-ea"/>
              </a:rPr>
              <a:t>클릭 한다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- </a:t>
            </a:r>
            <a:r>
              <a:rPr lang="ko-KR" altLang="en-US" sz="1200" dirty="0">
                <a:latin typeface="+mn-ea"/>
              </a:rPr>
              <a:t>검색조건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필수</a:t>
            </a:r>
            <a:r>
              <a:rPr lang="en-US" altLang="ko-KR" sz="1200" dirty="0">
                <a:latin typeface="+mn-ea"/>
              </a:rPr>
              <a:t>) : </a:t>
            </a:r>
            <a:r>
              <a:rPr lang="ko-KR" altLang="en-US" sz="1200" dirty="0" err="1">
                <a:latin typeface="+mn-ea"/>
              </a:rPr>
              <a:t>고객사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smtClean="0">
                <a:latin typeface="+mn-ea"/>
              </a:rPr>
              <a:t>입고일자</a:t>
            </a:r>
            <a:endParaRPr lang="ko-KR" altLang="en-US" sz="1200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D0AAD93A-72D3-4FDE-97AC-C6912CE0A251}"/>
              </a:ext>
            </a:extLst>
          </p:cNvPr>
          <p:cNvSpPr txBox="1"/>
          <p:nvPr/>
        </p:nvSpPr>
        <p:spPr>
          <a:xfrm>
            <a:off x="404664" y="5078889"/>
            <a:ext cx="61440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solidFill>
                  <a:srgbClr val="000000"/>
                </a:solidFill>
                <a:latin typeface="+mn-ea"/>
              </a:rPr>
              <a:t>주로 공장창고에서 물류센터로 </a:t>
            </a:r>
            <a:r>
              <a:rPr lang="ko-KR" altLang="en-US" sz="1200" dirty="0" err="1" smtClean="0">
                <a:solidFill>
                  <a:srgbClr val="000000"/>
                </a:solidFill>
                <a:latin typeface="+mn-ea"/>
              </a:rPr>
              <a:t>이고시</a:t>
            </a:r>
            <a:r>
              <a:rPr lang="ko-KR" altLang="en-US" sz="1200" dirty="0" smtClean="0">
                <a:solidFill>
                  <a:srgbClr val="000000"/>
                </a:solidFill>
                <a:latin typeface="+mn-ea"/>
              </a:rPr>
              <a:t> 사용하며 </a:t>
            </a:r>
            <a:r>
              <a:rPr lang="ko-KR" altLang="en-US" sz="1200" dirty="0" err="1" smtClean="0">
                <a:solidFill>
                  <a:srgbClr val="000000"/>
                </a:solidFill>
                <a:latin typeface="+mn-ea"/>
              </a:rPr>
              <a:t>피킹된</a:t>
            </a:r>
            <a:r>
              <a:rPr lang="ko-KR" altLang="en-US" sz="1200" dirty="0" smtClean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200" dirty="0" err="1" smtClean="0">
                <a:solidFill>
                  <a:srgbClr val="000000"/>
                </a:solidFill>
                <a:latin typeface="+mn-ea"/>
              </a:rPr>
              <a:t>파렛트</a:t>
            </a:r>
            <a:r>
              <a:rPr lang="en-US" altLang="ko-KR" sz="1200" dirty="0" smtClean="0">
                <a:solidFill>
                  <a:srgbClr val="000000"/>
                </a:solidFill>
                <a:latin typeface="+mn-ea"/>
              </a:rPr>
              <a:t>ID</a:t>
            </a:r>
            <a:r>
              <a:rPr lang="ko-KR" altLang="en-US" sz="1200" dirty="0" smtClean="0">
                <a:solidFill>
                  <a:srgbClr val="000000"/>
                </a:solidFill>
                <a:latin typeface="+mn-ea"/>
              </a:rPr>
              <a:t>를 </a:t>
            </a:r>
            <a:r>
              <a:rPr lang="ko-KR" altLang="en-US" sz="1200" dirty="0" err="1" smtClean="0">
                <a:solidFill>
                  <a:srgbClr val="000000"/>
                </a:solidFill>
                <a:latin typeface="+mn-ea"/>
              </a:rPr>
              <a:t>스캔하거나</a:t>
            </a:r>
            <a:r>
              <a:rPr lang="ko-KR" altLang="en-US" sz="1200" dirty="0" smtClean="0">
                <a:solidFill>
                  <a:srgbClr val="000000"/>
                </a:solidFill>
                <a:latin typeface="+mn-ea"/>
              </a:rPr>
              <a:t> 등록하여 제품의 </a:t>
            </a:r>
            <a:r>
              <a:rPr lang="en-US" altLang="ko-KR" sz="1200" dirty="0" smtClean="0">
                <a:solidFill>
                  <a:srgbClr val="000000"/>
                </a:solidFill>
                <a:latin typeface="+mn-ea"/>
              </a:rPr>
              <a:t>LOT </a:t>
            </a:r>
            <a:r>
              <a:rPr lang="ko-KR" altLang="en-US" sz="1200" dirty="0" smtClean="0">
                <a:solidFill>
                  <a:srgbClr val="000000"/>
                </a:solidFill>
                <a:latin typeface="+mn-ea"/>
              </a:rPr>
              <a:t>정보를 연계하기 위하여 처리하는 화면 입니다</a:t>
            </a:r>
            <a:r>
              <a:rPr lang="en-US" altLang="ko-KR" sz="1200" dirty="0" smtClean="0">
                <a:latin typeface="+mn-ea"/>
              </a:rPr>
              <a:t>. </a:t>
            </a:r>
            <a:endParaRPr lang="en-US" altLang="ko-KR" sz="1200" dirty="0"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9298" y="7750279"/>
            <a:ext cx="11336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atin typeface="+mn-ea"/>
              </a:rPr>
              <a:t>3) </a:t>
            </a:r>
            <a:r>
              <a:rPr lang="ko-KR" altLang="en-US" sz="1400" b="1" dirty="0" smtClean="0">
                <a:latin typeface="+mn-ea"/>
              </a:rPr>
              <a:t>확정취소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116" y="8068869"/>
            <a:ext cx="600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+mn-ea"/>
              </a:rPr>
              <a:t>진행상태가 </a:t>
            </a:r>
            <a:r>
              <a:rPr lang="ko-KR" altLang="en-US" sz="1200" dirty="0" smtClean="0">
                <a:latin typeface="+mn-ea"/>
              </a:rPr>
              <a:t>출고확정인 </a:t>
            </a:r>
            <a:r>
              <a:rPr lang="ko-KR" altLang="en-US" sz="1200" dirty="0" smtClean="0">
                <a:latin typeface="+mn-ea"/>
              </a:rPr>
              <a:t>자료에 대하여 체크 후 </a:t>
            </a:r>
            <a:r>
              <a:rPr lang="ko-KR" altLang="en-US" sz="1200" dirty="0" smtClean="0">
                <a:latin typeface="+mn-ea"/>
              </a:rPr>
              <a:t>확정 </a:t>
            </a:r>
            <a:r>
              <a:rPr lang="ko-KR" altLang="en-US" sz="1200" dirty="0" smtClean="0">
                <a:latin typeface="+mn-ea"/>
              </a:rPr>
              <a:t>취소처리를 한다</a:t>
            </a:r>
            <a:r>
              <a:rPr lang="en-US" altLang="ko-KR" sz="1200" dirty="0" smtClean="0">
                <a:latin typeface="+mn-ea"/>
              </a:rPr>
              <a:t>.</a:t>
            </a:r>
            <a:endParaRPr lang="en-US" altLang="ko-KR" sz="1200" dirty="0"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9298" y="8441542"/>
            <a:ext cx="774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atin typeface="+mn-ea"/>
              </a:rPr>
              <a:t>4) </a:t>
            </a:r>
            <a:r>
              <a:rPr lang="ko-KR" altLang="en-US" sz="1400" b="1" dirty="0" smtClean="0">
                <a:latin typeface="+mn-ea"/>
              </a:rPr>
              <a:t>인쇄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116" y="8760132"/>
            <a:ext cx="600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+mn-ea"/>
              </a:rPr>
              <a:t>출하확정 주문에 대한 거래명세서를 출력 한다</a:t>
            </a:r>
            <a:r>
              <a:rPr lang="en-US" altLang="ko-KR" sz="1200" dirty="0" smtClean="0">
                <a:latin typeface="+mn-ea"/>
              </a:rPr>
              <a:t>.</a:t>
            </a:r>
            <a:endParaRPr lang="en-US" altLang="ko-KR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28143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09298" y="738136"/>
            <a:ext cx="1614545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8. </a:t>
            </a:r>
            <a:r>
              <a:rPr lang="ko-KR" altLang="en-US" b="1" dirty="0" err="1">
                <a:latin typeface="+mn-ea"/>
              </a:rPr>
              <a:t>출고시리얼</a:t>
            </a:r>
            <a:endParaRPr lang="en-US" altLang="ko-KR" b="1" dirty="0"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3329AABB-4C5D-4BD2-8DBE-6C464D0CB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98" y="1230826"/>
            <a:ext cx="6239404" cy="365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940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09298" y="738136"/>
            <a:ext cx="138371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9. </a:t>
            </a:r>
            <a:r>
              <a:rPr lang="ko-KR" altLang="en-US" b="1" dirty="0">
                <a:latin typeface="+mn-ea"/>
              </a:rPr>
              <a:t>배송완료</a:t>
            </a:r>
            <a:endParaRPr lang="en-US" altLang="ko-KR" b="1" dirty="0"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93B55164-DD87-4E56-82A6-7B45A3A12E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98" y="1317602"/>
            <a:ext cx="6239405" cy="365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742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09298" y="738136"/>
            <a:ext cx="244009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10. </a:t>
            </a:r>
            <a:r>
              <a:rPr lang="ko-KR" altLang="en-US" b="1" dirty="0" err="1">
                <a:latin typeface="+mn-ea"/>
              </a:rPr>
              <a:t>배송처별출고조회</a:t>
            </a:r>
            <a:endParaRPr lang="en-US" altLang="ko-KR" b="1" dirty="0">
              <a:latin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BA8881AD-149D-4BEE-8706-1A40B9DD8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66" y="1288630"/>
            <a:ext cx="6247137" cy="36573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17C80EB-2F31-41CB-9E51-CDBE8818AA6E}"/>
              </a:ext>
            </a:extLst>
          </p:cNvPr>
          <p:cNvSpPr txBox="1"/>
          <p:nvPr/>
        </p:nvSpPr>
        <p:spPr>
          <a:xfrm>
            <a:off x="309298" y="5591780"/>
            <a:ext cx="774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1) </a:t>
            </a:r>
            <a:r>
              <a:rPr lang="ko-KR" altLang="en-US" sz="1400" b="1" dirty="0">
                <a:latin typeface="+mn-ea"/>
              </a:rPr>
              <a:t>검색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D0AAD93A-72D3-4FDE-97AC-C6912CE0A251}"/>
              </a:ext>
            </a:extLst>
          </p:cNvPr>
          <p:cNvSpPr txBox="1"/>
          <p:nvPr/>
        </p:nvSpPr>
        <p:spPr>
          <a:xfrm>
            <a:off x="548116" y="5951820"/>
            <a:ext cx="6000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latin typeface="+mn-ea"/>
              </a:rPr>
              <a:t>출고일자와 </a:t>
            </a:r>
            <a:r>
              <a:rPr lang="ko-KR" altLang="en-US" sz="1200" dirty="0">
                <a:latin typeface="+mn-ea"/>
              </a:rPr>
              <a:t>검색조건을 입력한 후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검색</a:t>
            </a:r>
            <a:r>
              <a:rPr lang="en-US" altLang="ko-KR" sz="1200" dirty="0">
                <a:latin typeface="+mn-ea"/>
              </a:rPr>
              <a:t>] </a:t>
            </a:r>
            <a:r>
              <a:rPr lang="ko-KR" altLang="en-US" sz="1200" dirty="0">
                <a:latin typeface="+mn-ea"/>
              </a:rPr>
              <a:t>버튼을 </a:t>
            </a:r>
            <a:r>
              <a:rPr lang="ko-KR" altLang="en-US" sz="1200" dirty="0" smtClean="0">
                <a:latin typeface="+mn-ea"/>
              </a:rPr>
              <a:t>클릭 한다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- </a:t>
            </a:r>
            <a:r>
              <a:rPr lang="ko-KR" altLang="en-US" sz="1200" dirty="0">
                <a:latin typeface="+mn-ea"/>
              </a:rPr>
              <a:t>검색조건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필수</a:t>
            </a:r>
            <a:r>
              <a:rPr lang="en-US" altLang="ko-KR" sz="1200" dirty="0">
                <a:latin typeface="+mn-ea"/>
              </a:rPr>
              <a:t>) : </a:t>
            </a:r>
            <a:r>
              <a:rPr lang="ko-KR" altLang="en-US" sz="1200" dirty="0" err="1">
                <a:latin typeface="+mn-ea"/>
              </a:rPr>
              <a:t>고객사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smtClean="0">
                <a:latin typeface="+mn-ea"/>
              </a:rPr>
              <a:t>입고일자</a:t>
            </a:r>
            <a:endParaRPr lang="ko-KR" altLang="en-US" sz="1200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0AAD93A-72D3-4FDE-97AC-C6912CE0A251}"/>
              </a:ext>
            </a:extLst>
          </p:cNvPr>
          <p:cNvSpPr txBox="1"/>
          <p:nvPr/>
        </p:nvSpPr>
        <p:spPr>
          <a:xfrm>
            <a:off x="404664" y="5078889"/>
            <a:ext cx="6144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err="1" smtClean="0">
                <a:solidFill>
                  <a:srgbClr val="000000"/>
                </a:solidFill>
                <a:latin typeface="+mn-ea"/>
              </a:rPr>
              <a:t>배송처별로</a:t>
            </a:r>
            <a:r>
              <a:rPr lang="ko-KR" altLang="en-US" sz="1200" dirty="0" smtClean="0">
                <a:solidFill>
                  <a:srgbClr val="000000"/>
                </a:solidFill>
                <a:latin typeface="+mn-ea"/>
              </a:rPr>
              <a:t> 출고된 </a:t>
            </a:r>
            <a:r>
              <a:rPr lang="ko-KR" altLang="en-US" sz="1200" dirty="0" smtClean="0">
                <a:solidFill>
                  <a:srgbClr val="000000"/>
                </a:solidFill>
                <a:latin typeface="+mn-ea"/>
              </a:rPr>
              <a:t>현황을 조회하는 화면 입니다</a:t>
            </a:r>
            <a:r>
              <a:rPr lang="en-US" altLang="ko-KR" sz="1200" dirty="0" smtClean="0">
                <a:latin typeface="+mn-ea"/>
              </a:rPr>
              <a:t>. </a:t>
            </a:r>
            <a:endParaRPr lang="en-US" altLang="ko-KR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367846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09298" y="738136"/>
            <a:ext cx="2209259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11. </a:t>
            </a:r>
            <a:r>
              <a:rPr lang="ko-KR" altLang="en-US" b="1" dirty="0" err="1">
                <a:latin typeface="+mn-ea"/>
              </a:rPr>
              <a:t>제품별출고조회</a:t>
            </a:r>
            <a:endParaRPr lang="en-US" altLang="ko-KR" b="1" dirty="0">
              <a:latin typeface="+mn-ea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="" xmlns:a16="http://schemas.microsoft.com/office/drawing/2014/main" id="{FB24EEB2-43A8-47E9-854A-7923A8649E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98" y="1219829"/>
            <a:ext cx="6239404" cy="36573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17C80EB-2F31-41CB-9E51-CDBE8818AA6E}"/>
              </a:ext>
            </a:extLst>
          </p:cNvPr>
          <p:cNvSpPr txBox="1"/>
          <p:nvPr/>
        </p:nvSpPr>
        <p:spPr>
          <a:xfrm>
            <a:off x="309298" y="5591780"/>
            <a:ext cx="774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1) </a:t>
            </a:r>
            <a:r>
              <a:rPr lang="ko-KR" altLang="en-US" sz="1400" b="1" dirty="0">
                <a:latin typeface="+mn-ea"/>
              </a:rPr>
              <a:t>검색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0AAD93A-72D3-4FDE-97AC-C6912CE0A251}"/>
              </a:ext>
            </a:extLst>
          </p:cNvPr>
          <p:cNvSpPr txBox="1"/>
          <p:nvPr/>
        </p:nvSpPr>
        <p:spPr>
          <a:xfrm>
            <a:off x="548116" y="5951820"/>
            <a:ext cx="6000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출</a:t>
            </a:r>
            <a:r>
              <a:rPr lang="ko-KR" altLang="en-US" sz="1200" dirty="0" smtClean="0">
                <a:latin typeface="+mn-ea"/>
              </a:rPr>
              <a:t>고일자와 </a:t>
            </a:r>
            <a:r>
              <a:rPr lang="ko-KR" altLang="en-US" sz="1200" dirty="0">
                <a:latin typeface="+mn-ea"/>
              </a:rPr>
              <a:t>검색조건을 입력한 후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검색</a:t>
            </a:r>
            <a:r>
              <a:rPr lang="en-US" altLang="ko-KR" sz="1200" dirty="0">
                <a:latin typeface="+mn-ea"/>
              </a:rPr>
              <a:t>] </a:t>
            </a:r>
            <a:r>
              <a:rPr lang="ko-KR" altLang="en-US" sz="1200" dirty="0">
                <a:latin typeface="+mn-ea"/>
              </a:rPr>
              <a:t>버튼을 </a:t>
            </a:r>
            <a:r>
              <a:rPr lang="ko-KR" altLang="en-US" sz="1200" dirty="0" smtClean="0">
                <a:latin typeface="+mn-ea"/>
              </a:rPr>
              <a:t>클릭 한다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- </a:t>
            </a:r>
            <a:r>
              <a:rPr lang="ko-KR" altLang="en-US" sz="1200" dirty="0">
                <a:latin typeface="+mn-ea"/>
              </a:rPr>
              <a:t>검색조건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필수</a:t>
            </a:r>
            <a:r>
              <a:rPr lang="en-US" altLang="ko-KR" sz="1200" dirty="0">
                <a:latin typeface="+mn-ea"/>
              </a:rPr>
              <a:t>) : </a:t>
            </a:r>
            <a:r>
              <a:rPr lang="ko-KR" altLang="en-US" sz="1200" dirty="0" err="1">
                <a:latin typeface="+mn-ea"/>
              </a:rPr>
              <a:t>고객사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 smtClean="0">
                <a:latin typeface="+mn-ea"/>
              </a:rPr>
              <a:t>출고일자</a:t>
            </a:r>
            <a:endParaRPr lang="ko-KR" altLang="en-US" sz="12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D0AAD93A-72D3-4FDE-97AC-C6912CE0A251}"/>
              </a:ext>
            </a:extLst>
          </p:cNvPr>
          <p:cNvSpPr txBox="1"/>
          <p:nvPr/>
        </p:nvSpPr>
        <p:spPr>
          <a:xfrm>
            <a:off x="404664" y="5078889"/>
            <a:ext cx="6144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solidFill>
                  <a:srgbClr val="000000"/>
                </a:solidFill>
                <a:latin typeface="+mn-ea"/>
              </a:rPr>
              <a:t>출고된 </a:t>
            </a:r>
            <a:r>
              <a:rPr lang="ko-KR" altLang="en-US" sz="1200" dirty="0" smtClean="0">
                <a:solidFill>
                  <a:srgbClr val="000000"/>
                </a:solidFill>
                <a:latin typeface="+mn-ea"/>
              </a:rPr>
              <a:t>내역을 조회하는 화면 입니다</a:t>
            </a:r>
            <a:r>
              <a:rPr lang="en-US" altLang="ko-KR" sz="1200" dirty="0" smtClean="0">
                <a:latin typeface="+mn-ea"/>
              </a:rPr>
              <a:t>. </a:t>
            </a:r>
            <a:endParaRPr lang="en-US" altLang="ko-KR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249485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309298" y="738136"/>
            <a:ext cx="197842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12. </a:t>
            </a:r>
            <a:r>
              <a:rPr lang="ko-KR" altLang="en-US" b="1" dirty="0">
                <a:latin typeface="+mn-ea"/>
              </a:rPr>
              <a:t>출고진행조회</a:t>
            </a:r>
            <a:endParaRPr lang="en-US" altLang="ko-KR" b="1" dirty="0"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A5A2BB48-5E7D-42C4-9EBA-BB35CE70E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98" y="1265114"/>
            <a:ext cx="6239405" cy="36573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17C80EB-2F31-41CB-9E51-CDBE8818AA6E}"/>
              </a:ext>
            </a:extLst>
          </p:cNvPr>
          <p:cNvSpPr txBox="1"/>
          <p:nvPr/>
        </p:nvSpPr>
        <p:spPr>
          <a:xfrm>
            <a:off x="309298" y="5591780"/>
            <a:ext cx="7745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+mn-ea"/>
              </a:rPr>
              <a:t>1) </a:t>
            </a:r>
            <a:r>
              <a:rPr lang="ko-KR" altLang="en-US" sz="1400" b="1" dirty="0">
                <a:latin typeface="+mn-ea"/>
              </a:rPr>
              <a:t>검색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0AAD93A-72D3-4FDE-97AC-C6912CE0A251}"/>
              </a:ext>
            </a:extLst>
          </p:cNvPr>
          <p:cNvSpPr txBox="1"/>
          <p:nvPr/>
        </p:nvSpPr>
        <p:spPr>
          <a:xfrm>
            <a:off x="548116" y="5951820"/>
            <a:ext cx="6000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>
                <a:latin typeface="+mn-ea"/>
              </a:rPr>
              <a:t>출</a:t>
            </a:r>
            <a:r>
              <a:rPr lang="ko-KR" altLang="en-US" sz="1200" dirty="0" smtClean="0">
                <a:latin typeface="+mn-ea"/>
              </a:rPr>
              <a:t>고예정일자와 </a:t>
            </a:r>
            <a:r>
              <a:rPr lang="ko-KR" altLang="en-US" sz="1200" dirty="0">
                <a:latin typeface="+mn-ea"/>
              </a:rPr>
              <a:t>검색조건을 입력한 후 </a:t>
            </a:r>
            <a:r>
              <a:rPr lang="en-US" altLang="ko-KR" sz="1200" dirty="0">
                <a:latin typeface="+mn-ea"/>
              </a:rPr>
              <a:t>[</a:t>
            </a:r>
            <a:r>
              <a:rPr lang="ko-KR" altLang="en-US" sz="1200" dirty="0">
                <a:latin typeface="+mn-ea"/>
              </a:rPr>
              <a:t>검색</a:t>
            </a:r>
            <a:r>
              <a:rPr lang="en-US" altLang="ko-KR" sz="1200" dirty="0">
                <a:latin typeface="+mn-ea"/>
              </a:rPr>
              <a:t>] </a:t>
            </a:r>
            <a:r>
              <a:rPr lang="ko-KR" altLang="en-US" sz="1200" dirty="0">
                <a:latin typeface="+mn-ea"/>
              </a:rPr>
              <a:t>버튼을 </a:t>
            </a:r>
            <a:r>
              <a:rPr lang="ko-KR" altLang="en-US" sz="1200" dirty="0" smtClean="0">
                <a:latin typeface="+mn-ea"/>
              </a:rPr>
              <a:t>클릭 한다</a:t>
            </a:r>
            <a:r>
              <a:rPr lang="en-US" altLang="ko-KR" sz="1200" dirty="0"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n-ea"/>
              </a:rPr>
              <a:t>- </a:t>
            </a:r>
            <a:r>
              <a:rPr lang="ko-KR" altLang="en-US" sz="1200" dirty="0">
                <a:latin typeface="+mn-ea"/>
              </a:rPr>
              <a:t>검색조건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필수</a:t>
            </a:r>
            <a:r>
              <a:rPr lang="en-US" altLang="ko-KR" sz="1200" dirty="0">
                <a:latin typeface="+mn-ea"/>
              </a:rPr>
              <a:t>) : </a:t>
            </a:r>
            <a:r>
              <a:rPr lang="ko-KR" altLang="en-US" sz="1200" dirty="0" err="1">
                <a:latin typeface="+mn-ea"/>
              </a:rPr>
              <a:t>고객사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출</a:t>
            </a:r>
            <a:r>
              <a:rPr lang="ko-KR" altLang="en-US" sz="1200" dirty="0" smtClean="0">
                <a:latin typeface="+mn-ea"/>
              </a:rPr>
              <a:t>고예정일자</a:t>
            </a:r>
            <a:endParaRPr lang="ko-KR" altLang="en-US" sz="1200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D0AAD93A-72D3-4FDE-97AC-C6912CE0A251}"/>
              </a:ext>
            </a:extLst>
          </p:cNvPr>
          <p:cNvSpPr txBox="1"/>
          <p:nvPr/>
        </p:nvSpPr>
        <p:spPr>
          <a:xfrm>
            <a:off x="404664" y="5078889"/>
            <a:ext cx="6144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smtClean="0">
                <a:solidFill>
                  <a:srgbClr val="000000"/>
                </a:solidFill>
                <a:latin typeface="+mn-ea"/>
              </a:rPr>
              <a:t>출고 주문에 </a:t>
            </a:r>
            <a:r>
              <a:rPr lang="ko-KR" altLang="en-US" sz="1200" dirty="0" smtClean="0">
                <a:solidFill>
                  <a:srgbClr val="000000"/>
                </a:solidFill>
                <a:latin typeface="+mn-ea"/>
              </a:rPr>
              <a:t>대한 진행현황을 조회하는 화면 입니다</a:t>
            </a:r>
            <a:r>
              <a:rPr lang="en-US" altLang="ko-KR" sz="1200" dirty="0" smtClean="0">
                <a:latin typeface="+mn-ea"/>
              </a:rPr>
              <a:t>. </a:t>
            </a:r>
            <a:endParaRPr lang="en-US" altLang="ko-KR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30162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3786</TotalTime>
  <Words>885</Words>
  <Application>Microsoft Office PowerPoint</Application>
  <PresentationFormat>A4 용지(210x297mm)</PresentationFormat>
  <Paragraphs>116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Arial Unicode MS</vt:lpstr>
      <vt:lpstr>HY헤드라인M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jklee</dc:creator>
  <cp:lastModifiedBy>jklee</cp:lastModifiedBy>
  <cp:revision>203</cp:revision>
  <cp:lastPrinted>2016-09-08T03:03:05Z</cp:lastPrinted>
  <dcterms:created xsi:type="dcterms:W3CDTF">2015-04-14T16:33:56Z</dcterms:created>
  <dcterms:modified xsi:type="dcterms:W3CDTF">2017-12-08T01:57:49Z</dcterms:modified>
</cp:coreProperties>
</file>