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279" r:id="rId2"/>
    <p:sldId id="280" r:id="rId3"/>
    <p:sldId id="284" r:id="rId4"/>
    <p:sldId id="281" r:id="rId5"/>
    <p:sldId id="282" r:id="rId6"/>
    <p:sldId id="283" r:id="rId7"/>
    <p:sldId id="286" r:id="rId8"/>
    <p:sldId id="285" r:id="rId9"/>
    <p:sldId id="287" r:id="rId10"/>
    <p:sldId id="293" r:id="rId11"/>
    <p:sldId id="288" r:id="rId12"/>
    <p:sldId id="292" r:id="rId13"/>
    <p:sldId id="289" r:id="rId14"/>
    <p:sldId id="290" r:id="rId15"/>
    <p:sldId id="291" r:id="rId16"/>
    <p:sldId id="294" r:id="rId17"/>
  </p:sldIdLst>
  <p:sldSz cx="9906000" cy="6858000" type="A4"/>
  <p:notesSz cx="9925050" cy="6792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144">
          <p15:clr>
            <a:srgbClr val="A4A3A4"/>
          </p15:clr>
        </p15:guide>
        <p15:guide id="3" pos="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E1D8D3"/>
    <a:srgbClr val="538ED5"/>
    <a:srgbClr val="B2B2B2"/>
    <a:srgbClr val="D7DACC"/>
    <a:srgbClr val="EAEAEA"/>
    <a:srgbClr val="5E7586"/>
    <a:srgbClr val="CCE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3" autoAdjust="0"/>
    <p:restoredTop sz="93623" autoAdjust="0"/>
  </p:normalViewPr>
  <p:slideViewPr>
    <p:cSldViewPr>
      <p:cViewPr varScale="1">
        <p:scale>
          <a:sx n="103" d="100"/>
          <a:sy n="103" d="100"/>
        </p:scale>
        <p:origin x="1050" y="114"/>
      </p:cViewPr>
      <p:guideLst>
        <p:guide orient="horz" pos="4247"/>
        <p:guide pos="6144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1512" y="102"/>
      </p:cViewPr>
      <p:guideLst>
        <p:guide orient="horz" pos="2139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6862FA8-109E-4E8D-BA66-2A25073151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8238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5800"/>
            <a:ext cx="79406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altLang="ko-KR" noProof="0" dirty="0"/>
          </a:p>
          <a:p>
            <a:pPr lvl="4"/>
            <a:endParaRPr lang="ko-KR" altLang="en-US" noProof="0" dirty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5"/>
          </p:nvPr>
        </p:nvSpPr>
        <p:spPr>
          <a:xfrm>
            <a:off x="5621338" y="6451600"/>
            <a:ext cx="4302125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2147F54-6D26-4272-BB05-3D68F8A7D9D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8A610CD-0E07-49BD-8F1B-D45A4CBF2049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5178D1D-C381-49C3-9D10-3EE8AC585467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BB5281A-F93C-4444-B81D-6F45948BFA94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D0D2BEE-3059-419C-8EB0-1AC5E7B338CE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440084F-66A9-470F-8DE7-A5E3439CA420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5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781376C-2108-43B1-B593-ABCE9A2DF4DC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6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BDBDA33-A9CB-4589-A3DC-97E2043BD6D8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7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B9E8134-EF38-4899-AB01-D7F29EA40145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8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C00A407-FF6B-4D8B-AEEF-A84C300D94AB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9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930BEB0-789C-41AE-982B-3CA5E4281A51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10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0C04593-CDE0-4AD3-90B3-2987782093B8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11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BB964A6-D602-41AB-838B-7DA3B89AC8EE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12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2DC492B-40E4-406C-9B3A-48AA3E121080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13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FD46782-3AEC-44BC-B5D5-660A8439C9E4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14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1080698-06D4-4057-9415-454A84E94876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15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4E84380-57FE-4FC9-9E11-97D2465F4965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16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35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81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14529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333552"/>
              </p:ext>
            </p:extLst>
          </p:nvPr>
        </p:nvGraphicFramePr>
        <p:xfrm>
          <a:off x="203200" y="260350"/>
          <a:ext cx="9474200" cy="692154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9" name="Text Box 162"/>
          <p:cNvSpPr txBox="1">
            <a:spLocks noChangeArrowheads="1"/>
          </p:cNvSpPr>
          <p:nvPr userDrawn="1"/>
        </p:nvSpPr>
        <p:spPr bwMode="auto">
          <a:xfrm>
            <a:off x="6865938" y="261938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ko-KR" altLang="ko-KR" sz="900" b="1">
              <a:solidFill>
                <a:srgbClr val="777777"/>
              </a:solidFill>
              <a:latin typeface="+mn-ea"/>
              <a:ea typeface="+mn-ea"/>
            </a:endParaRPr>
          </a:p>
        </p:txBody>
      </p:sp>
      <p:sp>
        <p:nvSpPr>
          <p:cNvPr id="1061" name="Text Box 165"/>
          <p:cNvSpPr txBox="1">
            <a:spLocks noChangeArrowheads="1"/>
          </p:cNvSpPr>
          <p:nvPr userDrawn="1"/>
        </p:nvSpPr>
        <p:spPr bwMode="auto">
          <a:xfrm>
            <a:off x="1219200" y="476250"/>
            <a:ext cx="4957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D3000_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설계단계</a:t>
            </a:r>
          </a:p>
        </p:txBody>
      </p:sp>
      <p:sp>
        <p:nvSpPr>
          <p:cNvPr id="1062" name="Text Box 166"/>
          <p:cNvSpPr txBox="1">
            <a:spLocks noChangeArrowheads="1"/>
          </p:cNvSpPr>
          <p:nvPr userDrawn="1"/>
        </p:nvSpPr>
        <p:spPr bwMode="auto">
          <a:xfrm>
            <a:off x="1219200" y="711200"/>
            <a:ext cx="4948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D3220_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화면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UI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설계서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87720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7024688" y="723900"/>
            <a:ext cx="1143000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C281E71A-C618-4194-8508-9F99E59270D4}" type="slidenum">
              <a:rPr lang="ko-KR" altLang="en-US" sz="900" b="1" smtClean="0">
                <a:solidFill>
                  <a:srgbClr val="7F7F7F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 sz="900" b="1">
              <a:solidFill>
                <a:srgbClr val="7F7F7F"/>
              </a:solidFill>
              <a:latin typeface="+mn-ea"/>
              <a:ea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78811"/>
            <a:ext cx="816894" cy="196532"/>
          </a:xfrm>
          <a:prstGeom prst="rect">
            <a:avLst/>
          </a:prstGeom>
        </p:spPr>
      </p:pic>
      <p:pic>
        <p:nvPicPr>
          <p:cNvPr id="1072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892" y="415868"/>
            <a:ext cx="1460221" cy="377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입하예정등록</a:t>
            </a:r>
            <a:r>
              <a:rPr lang="en-US" altLang="ko-KR" sz="900">
                <a:latin typeface="+mn-ea"/>
                <a:ea typeface="+mn-ea"/>
              </a:rPr>
              <a:t>/ </a:t>
            </a:r>
            <a:r>
              <a:rPr lang="ko-KR" altLang="en-US" sz="900">
                <a:latin typeface="+mn-ea"/>
                <a:ea typeface="+mn-ea"/>
              </a:rPr>
              <a:t>내역조회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469149"/>
              </p:ext>
            </p:extLst>
          </p:nvPr>
        </p:nvGraphicFramePr>
        <p:xfrm>
          <a:off x="379413" y="2640013"/>
          <a:ext cx="9037638" cy="428626"/>
        </p:xfrm>
        <a:graphic>
          <a:graphicData uri="http://schemas.openxmlformats.org/drawingml/2006/table">
            <a:tbl>
              <a:tblPr/>
              <a:tblGrid>
                <a:gridCol w="270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9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1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4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88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62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08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오더번호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전표일자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전표번호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입고형태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143100001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 11:20:33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작업없음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38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139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 내역</a:t>
            </a:r>
          </a:p>
        </p:txBody>
      </p:sp>
      <p:sp>
        <p:nvSpPr>
          <p:cNvPr id="4140" name="직사각형 51"/>
          <p:cNvSpPr>
            <a:spLocks noChangeArrowheads="1"/>
          </p:cNvSpPr>
          <p:nvPr/>
        </p:nvSpPr>
        <p:spPr bwMode="auto">
          <a:xfrm>
            <a:off x="848836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4141" name="직사각형 51"/>
          <p:cNvSpPr>
            <a:spLocks noChangeArrowheads="1"/>
          </p:cNvSpPr>
          <p:nvPr/>
        </p:nvSpPr>
        <p:spPr bwMode="auto">
          <a:xfrm>
            <a:off x="7399338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414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414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4144" name="직사각형 51"/>
          <p:cNvSpPr>
            <a:spLocks noChangeArrowheads="1"/>
          </p:cNvSpPr>
          <p:nvPr/>
        </p:nvSpPr>
        <p:spPr bwMode="auto">
          <a:xfrm>
            <a:off x="7945438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신규</a:t>
            </a:r>
          </a:p>
        </p:txBody>
      </p:sp>
      <p:sp>
        <p:nvSpPr>
          <p:cNvPr id="4145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4146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147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입하예정상세</a:t>
            </a: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976796"/>
              </p:ext>
            </p:extLst>
          </p:nvPr>
        </p:nvGraphicFramePr>
        <p:xfrm>
          <a:off x="379413" y="4502150"/>
          <a:ext cx="9069387" cy="503297"/>
        </p:xfrm>
        <a:graphic>
          <a:graphicData uri="http://schemas.openxmlformats.org/drawingml/2006/table">
            <a:tbl>
              <a:tblPr/>
              <a:tblGrid>
                <a:gridCol w="245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49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49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49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41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41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41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8549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090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7453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14475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완료수량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생산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819882"/>
              </p:ext>
            </p:extLst>
          </p:nvPr>
        </p:nvGraphicFramePr>
        <p:xfrm>
          <a:off x="373063" y="3155950"/>
          <a:ext cx="3794125" cy="428626"/>
        </p:xfrm>
        <a:graphic>
          <a:graphicData uri="http://schemas.openxmlformats.org/drawingml/2006/table">
            <a:tbl>
              <a:tblPr/>
              <a:tblGrid>
                <a:gridCol w="734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8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사용여부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805203"/>
              </p:ext>
            </p:extLst>
          </p:nvPr>
        </p:nvGraphicFramePr>
        <p:xfrm>
          <a:off x="381000" y="5160963"/>
          <a:ext cx="2195513" cy="428626"/>
        </p:xfrm>
        <a:graphic>
          <a:graphicData uri="http://schemas.openxmlformats.org/drawingml/2006/table">
            <a:tbl>
              <a:tblPr/>
              <a:tblGrid>
                <a:gridCol w="125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유통기한</a:t>
                      </a:r>
                    </a:p>
                  </a:txBody>
                  <a:tcPr marL="7642" marR="7642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사용여부</a:t>
                      </a:r>
                    </a:p>
                  </a:txBody>
                  <a:tcPr marL="7642" marR="7642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23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42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426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423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4239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4240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4241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0000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42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4243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2016-10-27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44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2016-11-03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45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46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47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4248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4249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입고예정</a:t>
            </a:r>
          </a:p>
        </p:txBody>
      </p:sp>
      <p:sp>
        <p:nvSpPr>
          <p:cNvPr id="4250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4251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201610270001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52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4253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06</a:t>
            </a:r>
            <a:r>
              <a:rPr lang="ko-KR" altLang="en-US">
                <a:latin typeface="+mn-ea"/>
                <a:ea typeface="+mn-ea"/>
              </a:rPr>
              <a:t>머</a:t>
            </a:r>
            <a:r>
              <a:rPr lang="en-US" altLang="ko-KR">
                <a:latin typeface="+mn-ea"/>
                <a:ea typeface="+mn-ea"/>
              </a:rPr>
              <a:t>-0407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54" name="직사각형 66"/>
          <p:cNvSpPr>
            <a:spLocks noChangeArrowheads="1"/>
          </p:cNvSpPr>
          <p:nvPr/>
        </p:nvSpPr>
        <p:spPr bwMode="auto">
          <a:xfrm>
            <a:off x="1239838" y="169386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4255" name="직사각형 33"/>
          <p:cNvSpPr>
            <a:spLocks noChangeArrowheads="1"/>
          </p:cNvSpPr>
          <p:nvPr/>
        </p:nvSpPr>
        <p:spPr bwMode="auto">
          <a:xfrm>
            <a:off x="2105025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4256" name="직사각형 42"/>
          <p:cNvSpPr>
            <a:spLocks noChangeArrowheads="1"/>
          </p:cNvSpPr>
          <p:nvPr/>
        </p:nvSpPr>
        <p:spPr bwMode="auto">
          <a:xfrm>
            <a:off x="9705975" y="4387850"/>
            <a:ext cx="1357313" cy="19288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※</a:t>
            </a:r>
            <a:r>
              <a:rPr lang="ko-KR" altLang="en-US" sz="900">
                <a:latin typeface="+mn-ea"/>
                <a:ea typeface="+mn-ea"/>
              </a:rPr>
              <a:t>진행상태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ko-KR" altLang="en-US" sz="900">
                <a:latin typeface="+mn-ea"/>
                <a:ea typeface="+mn-ea"/>
              </a:rPr>
              <a:t>예정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ko-KR" altLang="en-US" sz="900">
                <a:latin typeface="+mn-ea"/>
                <a:ea typeface="+mn-ea"/>
              </a:rPr>
              <a:t>승인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ko-KR" altLang="en-US" sz="900">
                <a:latin typeface="+mn-ea"/>
                <a:ea typeface="+mn-ea"/>
              </a:rPr>
              <a:t>검수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ko-KR" altLang="en-US" sz="900">
                <a:latin typeface="+mn-ea"/>
                <a:ea typeface="+mn-ea"/>
              </a:rPr>
              <a:t>적치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ko-KR" altLang="en-US" sz="900">
                <a:latin typeface="+mn-ea"/>
                <a:ea typeface="+mn-ea"/>
              </a:rPr>
              <a:t>확정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en-US" altLang="ko-KR" sz="900">
                <a:latin typeface="+mn-ea"/>
                <a:ea typeface="+mn-ea"/>
              </a:rPr>
              <a:t>※</a:t>
            </a:r>
            <a:r>
              <a:rPr lang="ko-KR" altLang="en-US" sz="900">
                <a:latin typeface="+mn-ea"/>
                <a:ea typeface="+mn-ea"/>
              </a:rPr>
              <a:t>작업상태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ko-KR" altLang="en-US" sz="900">
                <a:latin typeface="+mn-ea"/>
                <a:ea typeface="+mn-ea"/>
              </a:rPr>
              <a:t>대기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ko-KR" altLang="en-US" sz="900">
                <a:latin typeface="+mn-ea"/>
                <a:ea typeface="+mn-ea"/>
              </a:rPr>
              <a:t>선택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ko-KR" altLang="en-US" sz="900">
                <a:latin typeface="+mn-ea"/>
                <a:ea typeface="+mn-ea"/>
              </a:rPr>
              <a:t>작업중</a:t>
            </a:r>
            <a:endParaRPr lang="en-US" altLang="ko-KR" sz="900">
              <a:latin typeface="+mn-ea"/>
              <a:ea typeface="+mn-ea"/>
            </a:endParaRPr>
          </a:p>
          <a:p>
            <a:pPr eaLnBrk="1" hangingPunct="1"/>
            <a:r>
              <a:rPr lang="ko-KR" altLang="en-US" sz="900">
                <a:latin typeface="+mn-ea"/>
                <a:ea typeface="+mn-ea"/>
              </a:rPr>
              <a:t>작업완료</a:t>
            </a:r>
          </a:p>
        </p:txBody>
      </p:sp>
      <p:sp>
        <p:nvSpPr>
          <p:cNvPr id="4257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58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4259" name="직사각형 33"/>
          <p:cNvSpPr>
            <a:spLocks noChangeArrowheads="1"/>
          </p:cNvSpPr>
          <p:nvPr/>
        </p:nvSpPr>
        <p:spPr bwMode="auto">
          <a:xfrm>
            <a:off x="8134350" y="1685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입하예정등록 팝업</a:t>
            </a:r>
          </a:p>
        </p:txBody>
      </p:sp>
      <p:sp>
        <p:nvSpPr>
          <p:cNvPr id="6147" name="직사각형 54"/>
          <p:cNvSpPr>
            <a:spLocks noChangeArrowheads="1"/>
          </p:cNvSpPr>
          <p:nvPr/>
        </p:nvSpPr>
        <p:spPr bwMode="auto">
          <a:xfrm>
            <a:off x="309563" y="1571625"/>
            <a:ext cx="9215437" cy="48101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6148" name="직사각형 51"/>
          <p:cNvSpPr>
            <a:spLocks noChangeArrowheads="1"/>
          </p:cNvSpPr>
          <p:nvPr/>
        </p:nvSpPr>
        <p:spPr bwMode="auto">
          <a:xfrm>
            <a:off x="8999538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614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615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6151" name="직사각형 51"/>
          <p:cNvSpPr>
            <a:spLocks noChangeArrowheads="1"/>
          </p:cNvSpPr>
          <p:nvPr/>
        </p:nvSpPr>
        <p:spPr bwMode="auto">
          <a:xfrm>
            <a:off x="8459788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grpSp>
        <p:nvGrpSpPr>
          <p:cNvPr id="6152" name="그룹 52"/>
          <p:cNvGrpSpPr>
            <a:grpSpLocks/>
          </p:cNvGrpSpPr>
          <p:nvPr/>
        </p:nvGrpSpPr>
        <p:grpSpPr bwMode="auto">
          <a:xfrm>
            <a:off x="6119813" y="1682750"/>
            <a:ext cx="2071687" cy="230188"/>
            <a:chOff x="3238492" y="1428736"/>
            <a:chExt cx="2071698" cy="230832"/>
          </a:xfrm>
          <a:noFill/>
        </p:grpSpPr>
        <p:sp>
          <p:nvSpPr>
            <p:cNvPr id="622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+mn-ea"/>
                  <a:ea typeface="+mn-ea"/>
                </a:rPr>
                <a:t>*</a:t>
              </a:r>
              <a:r>
                <a:rPr lang="ko-KR" altLang="en-US" sz="900" dirty="0" err="1">
                  <a:latin typeface="+mn-ea"/>
                  <a:ea typeface="+mn-ea"/>
                </a:rPr>
                <a:t>고객사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6223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6153" name="직사각형 48"/>
          <p:cNvSpPr>
            <a:spLocks noChangeArrowheads="1"/>
          </p:cNvSpPr>
          <p:nvPr/>
        </p:nvSpPr>
        <p:spPr bwMode="auto">
          <a:xfrm>
            <a:off x="8229600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6154" name="직사각형 66"/>
          <p:cNvSpPr>
            <a:spLocks noChangeArrowheads="1"/>
          </p:cNvSpPr>
          <p:nvPr/>
        </p:nvSpPr>
        <p:spPr bwMode="auto">
          <a:xfrm>
            <a:off x="8426450" y="1685925"/>
            <a:ext cx="1000125" cy="21431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6155" name="TextBox 65"/>
          <p:cNvSpPr txBox="1">
            <a:spLocks noChangeArrowheads="1"/>
          </p:cNvSpPr>
          <p:nvPr/>
        </p:nvSpPr>
        <p:spPr bwMode="auto">
          <a:xfrm>
            <a:off x="377825" y="17526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입고예정번호</a:t>
            </a:r>
          </a:p>
        </p:txBody>
      </p:sp>
      <p:sp>
        <p:nvSpPr>
          <p:cNvPr id="95" name="직사각형 66"/>
          <p:cNvSpPr>
            <a:spLocks noChangeArrowheads="1"/>
          </p:cNvSpPr>
          <p:nvPr/>
        </p:nvSpPr>
        <p:spPr bwMode="auto">
          <a:xfrm>
            <a:off x="1447800" y="1751013"/>
            <a:ext cx="1000125" cy="2143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6157" name="TextBox 65"/>
          <p:cNvSpPr txBox="1">
            <a:spLocks noChangeArrowheads="1"/>
          </p:cNvSpPr>
          <p:nvPr/>
        </p:nvSpPr>
        <p:spPr bwMode="auto">
          <a:xfrm>
            <a:off x="3376613" y="169068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주문번호</a:t>
            </a:r>
          </a:p>
        </p:txBody>
      </p:sp>
      <p:sp>
        <p:nvSpPr>
          <p:cNvPr id="6158" name="직사각형 66"/>
          <p:cNvSpPr>
            <a:spLocks noChangeArrowheads="1"/>
          </p:cNvSpPr>
          <p:nvPr/>
        </p:nvSpPr>
        <p:spPr bwMode="auto">
          <a:xfrm>
            <a:off x="4446588" y="16891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6159" name="TextBox 65"/>
          <p:cNvSpPr txBox="1">
            <a:spLocks noChangeArrowheads="1"/>
          </p:cNvSpPr>
          <p:nvPr/>
        </p:nvSpPr>
        <p:spPr bwMode="auto">
          <a:xfrm>
            <a:off x="376238" y="21447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입고형태</a:t>
            </a:r>
          </a:p>
        </p:txBody>
      </p:sp>
      <p:sp>
        <p:nvSpPr>
          <p:cNvPr id="6160" name="직사각형 66"/>
          <p:cNvSpPr>
            <a:spLocks noChangeArrowheads="1"/>
          </p:cNvSpPr>
          <p:nvPr/>
        </p:nvSpPr>
        <p:spPr bwMode="auto">
          <a:xfrm>
            <a:off x="1446213" y="21431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작업없음</a:t>
            </a:r>
          </a:p>
        </p:txBody>
      </p:sp>
      <p:sp>
        <p:nvSpPr>
          <p:cNvPr id="6161" name="TextBox 65"/>
          <p:cNvSpPr txBox="1">
            <a:spLocks noChangeArrowheads="1"/>
          </p:cNvSpPr>
          <p:nvPr/>
        </p:nvSpPr>
        <p:spPr bwMode="auto">
          <a:xfrm>
            <a:off x="3379788" y="21447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6162" name="직사각형 66"/>
          <p:cNvSpPr>
            <a:spLocks noChangeArrowheads="1"/>
          </p:cNvSpPr>
          <p:nvPr/>
        </p:nvSpPr>
        <p:spPr bwMode="auto">
          <a:xfrm>
            <a:off x="4449763" y="21431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6163" name="TextBox 65"/>
          <p:cNvSpPr txBox="1">
            <a:spLocks noChangeArrowheads="1"/>
          </p:cNvSpPr>
          <p:nvPr/>
        </p:nvSpPr>
        <p:spPr bwMode="auto">
          <a:xfrm>
            <a:off x="6115050" y="21399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6164" name="직사각형 66"/>
          <p:cNvSpPr>
            <a:spLocks noChangeArrowheads="1"/>
          </p:cNvSpPr>
          <p:nvPr/>
        </p:nvSpPr>
        <p:spPr bwMode="auto">
          <a:xfrm>
            <a:off x="7185025" y="2138363"/>
            <a:ext cx="1000125" cy="2143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r>
              <a:rPr lang="ko-KR" altLang="en-US">
                <a:latin typeface="+mn-ea"/>
                <a:ea typeface="+mn-ea"/>
              </a:rPr>
              <a:t>입고예정</a:t>
            </a:r>
          </a:p>
        </p:txBody>
      </p:sp>
      <p:sp>
        <p:nvSpPr>
          <p:cNvPr id="6165" name="TextBox 65"/>
          <p:cNvSpPr txBox="1">
            <a:spLocks noChangeArrowheads="1"/>
          </p:cNvSpPr>
          <p:nvPr/>
        </p:nvSpPr>
        <p:spPr bwMode="auto">
          <a:xfrm>
            <a:off x="374650" y="25558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6166" name="직사각형 66"/>
          <p:cNvSpPr>
            <a:spLocks noChangeArrowheads="1"/>
          </p:cNvSpPr>
          <p:nvPr/>
        </p:nvSpPr>
        <p:spPr bwMode="auto">
          <a:xfrm>
            <a:off x="1444625" y="25542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6167" name="TextBox 65"/>
          <p:cNvSpPr txBox="1">
            <a:spLocks noChangeArrowheads="1"/>
          </p:cNvSpPr>
          <p:nvPr/>
        </p:nvSpPr>
        <p:spPr bwMode="auto">
          <a:xfrm>
            <a:off x="3262313" y="2555875"/>
            <a:ext cx="11588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+mn-ea"/>
                <a:ea typeface="+mn-ea"/>
              </a:rPr>
              <a:t>*</a:t>
            </a:r>
            <a:r>
              <a:rPr lang="ko-KR" altLang="en-US" sz="900">
                <a:latin typeface="+mn-ea"/>
                <a:ea typeface="+mn-ea"/>
              </a:rPr>
              <a:t>입고예정일자</a:t>
            </a:r>
          </a:p>
        </p:txBody>
      </p:sp>
      <p:sp>
        <p:nvSpPr>
          <p:cNvPr id="6168" name="직사각형 66"/>
          <p:cNvSpPr>
            <a:spLocks noChangeArrowheads="1"/>
          </p:cNvSpPr>
          <p:nvPr/>
        </p:nvSpPr>
        <p:spPr bwMode="auto">
          <a:xfrm>
            <a:off x="4464050" y="25431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2016-10-28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6169" name="직사각형 48"/>
          <p:cNvSpPr>
            <a:spLocks noChangeArrowheads="1"/>
          </p:cNvSpPr>
          <p:nvPr/>
        </p:nvSpPr>
        <p:spPr bwMode="auto">
          <a:xfrm>
            <a:off x="5321300" y="25431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11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266298"/>
              </p:ext>
            </p:extLst>
          </p:nvPr>
        </p:nvGraphicFramePr>
        <p:xfrm>
          <a:off x="365125" y="3429000"/>
          <a:ext cx="9061452" cy="642939"/>
        </p:xfrm>
        <a:graphic>
          <a:graphicData uri="http://schemas.openxmlformats.org/drawingml/2006/table">
            <a:tbl>
              <a:tblPr/>
              <a:tblGrid>
                <a:gridCol w="26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85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78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78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78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25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25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292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16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16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1566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1566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유통기한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박스바코드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바코드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직사각형 33"/>
          <p:cNvSpPr>
            <a:spLocks noChangeArrowheads="1"/>
          </p:cNvSpPr>
          <p:nvPr/>
        </p:nvSpPr>
        <p:spPr bwMode="auto">
          <a:xfrm>
            <a:off x="2306638" y="21415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6224" name="직사각형 48"/>
          <p:cNvSpPr>
            <a:spLocks noChangeArrowheads="1"/>
          </p:cNvSpPr>
          <p:nvPr/>
        </p:nvSpPr>
        <p:spPr bwMode="auto">
          <a:xfrm>
            <a:off x="1568624" y="3649663"/>
            <a:ext cx="153988" cy="4000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6225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25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625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622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6227" name="직사각형 33"/>
          <p:cNvSpPr>
            <a:spLocks noChangeArrowheads="1"/>
          </p:cNvSpPr>
          <p:nvPr/>
        </p:nvSpPr>
        <p:spPr bwMode="auto">
          <a:xfrm>
            <a:off x="2293938" y="25479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6228" name="직사각형 33"/>
          <p:cNvSpPr>
            <a:spLocks noChangeArrowheads="1"/>
          </p:cNvSpPr>
          <p:nvPr/>
        </p:nvSpPr>
        <p:spPr bwMode="auto">
          <a:xfrm>
            <a:off x="8045450" y="21383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3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9157"/>
              </p:ext>
            </p:extLst>
          </p:nvPr>
        </p:nvGraphicFramePr>
        <p:xfrm>
          <a:off x="374650" y="4149725"/>
          <a:ext cx="3641724" cy="642938"/>
        </p:xfrm>
        <a:graphic>
          <a:graphicData uri="http://schemas.openxmlformats.org/drawingml/2006/table">
            <a:tbl>
              <a:tblPr/>
              <a:tblGrid>
                <a:gridCol w="606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6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6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51" name="TextBox 65"/>
          <p:cNvSpPr txBox="1">
            <a:spLocks noChangeArrowheads="1"/>
          </p:cNvSpPr>
          <p:nvPr/>
        </p:nvSpPr>
        <p:spPr bwMode="auto">
          <a:xfrm>
            <a:off x="6115050" y="2535238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공급처</a:t>
            </a:r>
          </a:p>
        </p:txBody>
      </p:sp>
      <p:sp>
        <p:nvSpPr>
          <p:cNvPr id="6252" name="직사각형 66"/>
          <p:cNvSpPr>
            <a:spLocks noChangeArrowheads="1"/>
          </p:cNvSpPr>
          <p:nvPr/>
        </p:nvSpPr>
        <p:spPr bwMode="auto">
          <a:xfrm>
            <a:off x="7185025" y="25336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6253" name="직사각형 48"/>
          <p:cNvSpPr>
            <a:spLocks noChangeArrowheads="1"/>
          </p:cNvSpPr>
          <p:nvPr/>
        </p:nvSpPr>
        <p:spPr bwMode="auto">
          <a:xfrm>
            <a:off x="8226425" y="25400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1" name="직사각형 66"/>
          <p:cNvSpPr>
            <a:spLocks noChangeArrowheads="1"/>
          </p:cNvSpPr>
          <p:nvPr/>
        </p:nvSpPr>
        <p:spPr bwMode="auto">
          <a:xfrm>
            <a:off x="8423275" y="2538413"/>
            <a:ext cx="1000125" cy="2143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6255" name="TextBox 65"/>
          <p:cNvSpPr txBox="1">
            <a:spLocks noChangeArrowheads="1"/>
          </p:cNvSpPr>
          <p:nvPr/>
        </p:nvSpPr>
        <p:spPr bwMode="auto">
          <a:xfrm>
            <a:off x="373063" y="296386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비고</a:t>
            </a:r>
          </a:p>
        </p:txBody>
      </p:sp>
      <p:sp>
        <p:nvSpPr>
          <p:cNvPr id="6256" name="직사각형 66"/>
          <p:cNvSpPr>
            <a:spLocks noChangeArrowheads="1"/>
          </p:cNvSpPr>
          <p:nvPr/>
        </p:nvSpPr>
        <p:spPr bwMode="auto">
          <a:xfrm>
            <a:off x="1443038" y="29622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입하승인</a:t>
            </a:r>
          </a:p>
        </p:txBody>
      </p:sp>
      <p:sp>
        <p:nvSpPr>
          <p:cNvPr id="8195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2446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196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684213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입하승인</a:t>
            </a:r>
          </a:p>
        </p:txBody>
      </p:sp>
      <p:sp>
        <p:nvSpPr>
          <p:cNvPr id="8197" name="직사각형 51"/>
          <p:cNvSpPr>
            <a:spLocks noChangeArrowheads="1"/>
          </p:cNvSpPr>
          <p:nvPr/>
        </p:nvSpPr>
        <p:spPr bwMode="auto">
          <a:xfrm>
            <a:off x="68564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819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819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8200" name="직사각형 51"/>
          <p:cNvSpPr>
            <a:spLocks noChangeArrowheads="1"/>
          </p:cNvSpPr>
          <p:nvPr/>
        </p:nvSpPr>
        <p:spPr bwMode="auto">
          <a:xfrm>
            <a:off x="7399338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승인</a:t>
            </a:r>
          </a:p>
        </p:txBody>
      </p:sp>
      <p:sp>
        <p:nvSpPr>
          <p:cNvPr id="8201" name="직사각형 51"/>
          <p:cNvSpPr>
            <a:spLocks noChangeArrowheads="1"/>
          </p:cNvSpPr>
          <p:nvPr/>
        </p:nvSpPr>
        <p:spPr bwMode="auto">
          <a:xfrm>
            <a:off x="7942263" y="2274888"/>
            <a:ext cx="48895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취소</a:t>
            </a:r>
          </a:p>
        </p:txBody>
      </p:sp>
      <p:sp>
        <p:nvSpPr>
          <p:cNvPr id="8202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8203" name="직사각형 54"/>
          <p:cNvSpPr>
            <a:spLocks noChangeArrowheads="1"/>
          </p:cNvSpPr>
          <p:nvPr/>
        </p:nvSpPr>
        <p:spPr bwMode="auto">
          <a:xfrm>
            <a:off x="333375" y="4143375"/>
            <a:ext cx="9191625" cy="21653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204" name="TextBox 55"/>
          <p:cNvSpPr txBox="1">
            <a:spLocks noChangeArrowheads="1"/>
          </p:cNvSpPr>
          <p:nvPr/>
        </p:nvSpPr>
        <p:spPr bwMode="auto">
          <a:xfrm>
            <a:off x="404813" y="40195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입하검수상세</a:t>
            </a:r>
          </a:p>
        </p:txBody>
      </p:sp>
      <p:graphicFrame>
        <p:nvGraphicFramePr>
          <p:cNvPr id="3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884130"/>
              </p:ext>
            </p:extLst>
          </p:nvPr>
        </p:nvGraphicFramePr>
        <p:xfrm>
          <a:off x="355600" y="2640013"/>
          <a:ext cx="9061454" cy="564284"/>
        </p:xfrm>
        <a:graphic>
          <a:graphicData uri="http://schemas.openxmlformats.org/drawingml/2006/table">
            <a:tbl>
              <a:tblPr/>
              <a:tblGrid>
                <a:gridCol w="225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1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5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51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51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51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51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51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71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71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718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71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주문번호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승인일시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승인자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2016.10.28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입하승인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53" name="TextBox 55"/>
          <p:cNvSpPr txBox="1">
            <a:spLocks noChangeArrowheads="1"/>
          </p:cNvSpPr>
          <p:nvPr/>
        </p:nvSpPr>
        <p:spPr bwMode="auto">
          <a:xfrm>
            <a:off x="404813" y="40195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입하승인상세</a:t>
            </a:r>
          </a:p>
        </p:txBody>
      </p:sp>
      <p:graphicFrame>
        <p:nvGraphicFramePr>
          <p:cNvPr id="4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440259"/>
              </p:ext>
            </p:extLst>
          </p:nvPr>
        </p:nvGraphicFramePr>
        <p:xfrm>
          <a:off x="385763" y="4268788"/>
          <a:ext cx="9069388" cy="642936"/>
        </p:xfrm>
        <a:graphic>
          <a:graphicData uri="http://schemas.openxmlformats.org/drawingml/2006/table">
            <a:tbl>
              <a:tblPr/>
              <a:tblGrid>
                <a:gridCol w="235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06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9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77744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5323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5119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완료수량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생산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입하승인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31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834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834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831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8319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8320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+mn-ea"/>
                <a:ea typeface="+mn-ea"/>
              </a:rPr>
              <a:t>고객사코드</a:t>
            </a:r>
          </a:p>
        </p:txBody>
      </p:sp>
      <p:sp>
        <p:nvSpPr>
          <p:cNvPr id="8321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22" name="TextBox 65"/>
          <p:cNvSpPr txBox="1">
            <a:spLocks noChangeArrowheads="1"/>
          </p:cNvSpPr>
          <p:nvPr/>
        </p:nvSpPr>
        <p:spPr bwMode="auto">
          <a:xfrm>
            <a:off x="2865438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8323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24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25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326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327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8328" name="TextBox 65"/>
          <p:cNvSpPr txBox="1">
            <a:spLocks noChangeArrowheads="1"/>
          </p:cNvSpPr>
          <p:nvPr/>
        </p:nvSpPr>
        <p:spPr bwMode="auto">
          <a:xfrm>
            <a:off x="6361113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8329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입하승인</a:t>
            </a:r>
          </a:p>
        </p:txBody>
      </p:sp>
      <p:sp>
        <p:nvSpPr>
          <p:cNvPr id="8330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8331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32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8333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34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8335" name="직사각형 33"/>
          <p:cNvSpPr>
            <a:spLocks noChangeArrowheads="1"/>
          </p:cNvSpPr>
          <p:nvPr/>
        </p:nvSpPr>
        <p:spPr bwMode="auto">
          <a:xfrm>
            <a:off x="2103438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8336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8337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338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8339" name="직사각형 51"/>
          <p:cNvSpPr>
            <a:spLocks noChangeArrowheads="1"/>
          </p:cNvSpPr>
          <p:nvPr/>
        </p:nvSpPr>
        <p:spPr bwMode="auto">
          <a:xfrm>
            <a:off x="8483600" y="2274888"/>
            <a:ext cx="48895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sp>
        <p:nvSpPr>
          <p:cNvPr id="8340" name="직사각형 51"/>
          <p:cNvSpPr>
            <a:spLocks noChangeArrowheads="1"/>
          </p:cNvSpPr>
          <p:nvPr/>
        </p:nvSpPr>
        <p:spPr bwMode="auto">
          <a:xfrm>
            <a:off x="9023350" y="3879850"/>
            <a:ext cx="48895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sp>
        <p:nvSpPr>
          <p:cNvPr id="8341" name="TextBox 65"/>
          <p:cNvSpPr txBox="1">
            <a:spLocks noChangeArrowheads="1"/>
          </p:cNvSpPr>
          <p:nvPr/>
        </p:nvSpPr>
        <p:spPr bwMode="auto">
          <a:xfrm>
            <a:off x="311150" y="20542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</a:t>
            </a:r>
          </a:p>
        </p:txBody>
      </p:sp>
      <p:sp>
        <p:nvSpPr>
          <p:cNvPr id="8342" name="직사각형 66"/>
          <p:cNvSpPr>
            <a:spLocks noChangeArrowheads="1"/>
          </p:cNvSpPr>
          <p:nvPr/>
        </p:nvSpPr>
        <p:spPr bwMode="auto">
          <a:xfrm>
            <a:off x="1254125" y="2063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43" name="직사각형 48"/>
          <p:cNvSpPr>
            <a:spLocks noChangeArrowheads="1"/>
          </p:cNvSpPr>
          <p:nvPr/>
        </p:nvSpPr>
        <p:spPr bwMode="auto">
          <a:xfrm>
            <a:off x="2312988" y="20605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344" name="직사각형 66"/>
          <p:cNvSpPr>
            <a:spLocks noChangeArrowheads="1"/>
          </p:cNvSpPr>
          <p:nvPr/>
        </p:nvSpPr>
        <p:spPr bwMode="auto">
          <a:xfrm>
            <a:off x="2513013" y="20685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</a:t>
            </a:r>
          </a:p>
        </p:txBody>
      </p:sp>
      <p:sp>
        <p:nvSpPr>
          <p:cNvPr id="10243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2446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244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 검수</a:t>
            </a:r>
          </a:p>
        </p:txBody>
      </p:sp>
      <p:sp>
        <p:nvSpPr>
          <p:cNvPr id="10245" name="직사각형 51"/>
          <p:cNvSpPr>
            <a:spLocks noChangeArrowheads="1"/>
          </p:cNvSpPr>
          <p:nvPr/>
        </p:nvSpPr>
        <p:spPr bwMode="auto">
          <a:xfrm>
            <a:off x="7100888" y="22637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10246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0247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0248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10249" name="직사각형 54"/>
          <p:cNvSpPr>
            <a:spLocks noChangeArrowheads="1"/>
          </p:cNvSpPr>
          <p:nvPr/>
        </p:nvSpPr>
        <p:spPr bwMode="auto">
          <a:xfrm>
            <a:off x="333375" y="4143375"/>
            <a:ext cx="4324350" cy="21653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250" name="TextBox 55"/>
          <p:cNvSpPr txBox="1">
            <a:spLocks noChangeArrowheads="1"/>
          </p:cNvSpPr>
          <p:nvPr/>
        </p:nvSpPr>
        <p:spPr bwMode="auto">
          <a:xfrm>
            <a:off x="404813" y="40195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입하검수상세</a:t>
            </a:r>
          </a:p>
        </p:txBody>
      </p:sp>
      <p:graphicFrame>
        <p:nvGraphicFramePr>
          <p:cNvPr id="3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643616"/>
              </p:ext>
            </p:extLst>
          </p:nvPr>
        </p:nvGraphicFramePr>
        <p:xfrm>
          <a:off x="355600" y="2640013"/>
          <a:ext cx="8342314" cy="496887"/>
        </p:xfrm>
        <a:graphic>
          <a:graphicData uri="http://schemas.openxmlformats.org/drawingml/2006/table">
            <a:tbl>
              <a:tblPr/>
              <a:tblGrid>
                <a:gridCol w="243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6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06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6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89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11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555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555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3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주문번호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검수완료일자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검수완료자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검수완료여부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입하검수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93" name="직사각형 51"/>
          <p:cNvSpPr>
            <a:spLocks noChangeArrowheads="1"/>
          </p:cNvSpPr>
          <p:nvPr/>
        </p:nvSpPr>
        <p:spPr bwMode="auto">
          <a:xfrm>
            <a:off x="8353425" y="2274888"/>
            <a:ext cx="57785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라벨발행</a:t>
            </a:r>
          </a:p>
        </p:txBody>
      </p:sp>
      <p:sp>
        <p:nvSpPr>
          <p:cNvPr id="10294" name="직사각형 51"/>
          <p:cNvSpPr>
            <a:spLocks noChangeArrowheads="1"/>
          </p:cNvSpPr>
          <p:nvPr/>
        </p:nvSpPr>
        <p:spPr bwMode="auto">
          <a:xfrm>
            <a:off x="4151313" y="38687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10295" name="직사각형 54"/>
          <p:cNvSpPr>
            <a:spLocks noChangeArrowheads="1"/>
          </p:cNvSpPr>
          <p:nvPr/>
        </p:nvSpPr>
        <p:spPr bwMode="auto">
          <a:xfrm>
            <a:off x="4808538" y="4156075"/>
            <a:ext cx="4794250" cy="21526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296" name="TextBox 55"/>
          <p:cNvSpPr txBox="1">
            <a:spLocks noChangeArrowheads="1"/>
          </p:cNvSpPr>
          <p:nvPr/>
        </p:nvSpPr>
        <p:spPr bwMode="auto">
          <a:xfrm>
            <a:off x="404813" y="40195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입하검수상세</a:t>
            </a:r>
          </a:p>
        </p:txBody>
      </p:sp>
      <p:graphicFrame>
        <p:nvGraphicFramePr>
          <p:cNvPr id="4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330177"/>
              </p:ext>
            </p:extLst>
          </p:nvPr>
        </p:nvGraphicFramePr>
        <p:xfrm>
          <a:off x="4864100" y="4262438"/>
          <a:ext cx="4660900" cy="606426"/>
        </p:xfrm>
        <a:graphic>
          <a:graphicData uri="http://schemas.openxmlformats.org/drawingml/2006/table">
            <a:tbl>
              <a:tblPr/>
              <a:tblGrid>
                <a:gridCol w="232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57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18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417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입하검수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검수수량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검수여부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4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336" name="TextBox 55"/>
          <p:cNvSpPr txBox="1">
            <a:spLocks noChangeArrowheads="1"/>
          </p:cNvSpPr>
          <p:nvPr/>
        </p:nvSpPr>
        <p:spPr bwMode="auto">
          <a:xfrm>
            <a:off x="4887913" y="40322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입하검수내역</a:t>
            </a:r>
          </a:p>
        </p:txBody>
      </p:sp>
      <p:graphicFrame>
        <p:nvGraphicFramePr>
          <p:cNvPr id="4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545086"/>
              </p:ext>
            </p:extLst>
          </p:nvPr>
        </p:nvGraphicFramePr>
        <p:xfrm>
          <a:off x="395288" y="4238625"/>
          <a:ext cx="4141788" cy="642938"/>
        </p:xfrm>
        <a:graphic>
          <a:graphicData uri="http://schemas.openxmlformats.org/drawingml/2006/table">
            <a:tbl>
              <a:tblPr/>
              <a:tblGrid>
                <a:gridCol w="24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1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8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1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15829"/>
              </p:ext>
            </p:extLst>
          </p:nvPr>
        </p:nvGraphicFramePr>
        <p:xfrm>
          <a:off x="404813" y="4929188"/>
          <a:ext cx="4116387" cy="642936"/>
        </p:xfrm>
        <a:graphic>
          <a:graphicData uri="http://schemas.openxmlformats.org/drawingml/2006/table">
            <a:tbl>
              <a:tblPr/>
              <a:tblGrid>
                <a:gridCol w="46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1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1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1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31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431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검수한수량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294910"/>
              </p:ext>
            </p:extLst>
          </p:nvPr>
        </p:nvGraphicFramePr>
        <p:xfrm>
          <a:off x="411163" y="5627688"/>
          <a:ext cx="2741612" cy="710589"/>
        </p:xfrm>
        <a:graphic>
          <a:graphicData uri="http://schemas.openxmlformats.org/drawingml/2006/table">
            <a:tbl>
              <a:tblPr/>
              <a:tblGrid>
                <a:gridCol w="77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생산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입하검수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927747"/>
              </p:ext>
            </p:extLst>
          </p:nvPr>
        </p:nvGraphicFramePr>
        <p:xfrm>
          <a:off x="4845050" y="5013325"/>
          <a:ext cx="4645026" cy="496889"/>
        </p:xfrm>
        <a:graphic>
          <a:graphicData uri="http://schemas.openxmlformats.org/drawingml/2006/table">
            <a:tbl>
              <a:tblPr/>
              <a:tblGrid>
                <a:gridCol w="688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1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5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적치여부</a:t>
                      </a: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검수자</a:t>
                      </a: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검수일자</a:t>
                      </a: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15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 13:40:55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1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437" name="직사각형 51"/>
          <p:cNvSpPr>
            <a:spLocks noChangeArrowheads="1"/>
          </p:cNvSpPr>
          <p:nvPr/>
        </p:nvSpPr>
        <p:spPr bwMode="auto">
          <a:xfrm>
            <a:off x="3535363" y="3868738"/>
            <a:ext cx="5461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검수저장</a:t>
            </a:r>
          </a:p>
        </p:txBody>
      </p:sp>
      <p:grpSp>
        <p:nvGrpSpPr>
          <p:cNvPr id="10438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046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046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0439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0440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0441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0442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0000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443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10444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445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446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447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448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0449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0450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0451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452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10453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454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입하검수</a:t>
            </a:r>
          </a:p>
        </p:txBody>
      </p:sp>
      <p:sp>
        <p:nvSpPr>
          <p:cNvPr id="10455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0456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0457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0458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459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10460" name="직사각형 51"/>
          <p:cNvSpPr>
            <a:spLocks noChangeArrowheads="1"/>
          </p:cNvSpPr>
          <p:nvPr/>
        </p:nvSpPr>
        <p:spPr bwMode="auto">
          <a:xfrm>
            <a:off x="7667625" y="2263775"/>
            <a:ext cx="5969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검수완료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입고지시</a:t>
            </a:r>
          </a:p>
        </p:txBody>
      </p:sp>
      <p:sp>
        <p:nvSpPr>
          <p:cNvPr id="12291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093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292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 지시</a:t>
            </a:r>
          </a:p>
        </p:txBody>
      </p:sp>
      <p:sp>
        <p:nvSpPr>
          <p:cNvPr id="12293" name="직사각형 51"/>
          <p:cNvSpPr>
            <a:spLocks noChangeArrowheads="1"/>
          </p:cNvSpPr>
          <p:nvPr/>
        </p:nvSpPr>
        <p:spPr bwMode="auto">
          <a:xfrm>
            <a:off x="8999538" y="22955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1229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229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2296" name="직사각형 54"/>
          <p:cNvSpPr>
            <a:spLocks noChangeArrowheads="1"/>
          </p:cNvSpPr>
          <p:nvPr/>
        </p:nvSpPr>
        <p:spPr bwMode="auto">
          <a:xfrm>
            <a:off x="333375" y="3933825"/>
            <a:ext cx="4475163" cy="24479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297" name="TextBox 55"/>
          <p:cNvSpPr txBox="1">
            <a:spLocks noChangeArrowheads="1"/>
          </p:cNvSpPr>
          <p:nvPr/>
        </p:nvSpPr>
        <p:spPr bwMode="auto">
          <a:xfrm>
            <a:off x="404813" y="381000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입하검수상세</a:t>
            </a:r>
          </a:p>
        </p:txBody>
      </p:sp>
      <p:sp>
        <p:nvSpPr>
          <p:cNvPr id="12298" name="TextBox 55"/>
          <p:cNvSpPr txBox="1">
            <a:spLocks noChangeArrowheads="1"/>
          </p:cNvSpPr>
          <p:nvPr/>
        </p:nvSpPr>
        <p:spPr bwMode="auto">
          <a:xfrm>
            <a:off x="404813" y="3802063"/>
            <a:ext cx="928687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입고지시상세</a:t>
            </a:r>
          </a:p>
        </p:txBody>
      </p:sp>
      <p:graphicFrame>
        <p:nvGraphicFramePr>
          <p:cNvPr id="4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907274"/>
              </p:ext>
            </p:extLst>
          </p:nvPr>
        </p:nvGraphicFramePr>
        <p:xfrm>
          <a:off x="379413" y="2640013"/>
          <a:ext cx="9061447" cy="428626"/>
        </p:xfrm>
        <a:graphic>
          <a:graphicData uri="http://schemas.openxmlformats.org/drawingml/2006/table">
            <a:tbl>
              <a:tblPr/>
              <a:tblGrid>
                <a:gridCol w="252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82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912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오더번호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고객사사명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전표일자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전표번호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입고형태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VERTEXID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143100001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 11:20:33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작업없음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796663"/>
              </p:ext>
            </p:extLst>
          </p:nvPr>
        </p:nvGraphicFramePr>
        <p:xfrm>
          <a:off x="373063" y="3155950"/>
          <a:ext cx="3794125" cy="428626"/>
        </p:xfrm>
        <a:graphic>
          <a:graphicData uri="http://schemas.openxmlformats.org/drawingml/2006/table">
            <a:tbl>
              <a:tblPr/>
              <a:tblGrid>
                <a:gridCol w="734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8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사용여부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일반입고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753898"/>
              </p:ext>
            </p:extLst>
          </p:nvPr>
        </p:nvGraphicFramePr>
        <p:xfrm>
          <a:off x="379413" y="4027488"/>
          <a:ext cx="4357688" cy="642937"/>
        </p:xfrm>
        <a:graphic>
          <a:graphicData uri="http://schemas.openxmlformats.org/drawingml/2006/table">
            <a:tbl>
              <a:tblPr/>
              <a:tblGrid>
                <a:gridCol w="258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5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98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4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24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720401"/>
              </p:ext>
            </p:extLst>
          </p:nvPr>
        </p:nvGraphicFramePr>
        <p:xfrm>
          <a:off x="350838" y="4781550"/>
          <a:ext cx="4306887" cy="711201"/>
        </p:xfrm>
        <a:graphic>
          <a:graphicData uri="http://schemas.openxmlformats.org/drawingml/2006/table">
            <a:tbl>
              <a:tblPr/>
              <a:tblGrid>
                <a:gridCol w="44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9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1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08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0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20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지시수량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생산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4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RCVSTAGE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4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100815"/>
              </p:ext>
            </p:extLst>
          </p:nvPr>
        </p:nvGraphicFramePr>
        <p:xfrm>
          <a:off x="349250" y="5589588"/>
          <a:ext cx="4387849" cy="428624"/>
        </p:xfrm>
        <a:graphic>
          <a:graphicData uri="http://schemas.openxmlformats.org/drawingml/2006/table">
            <a:tbl>
              <a:tblPr/>
              <a:tblGrid>
                <a:gridCol w="1242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유통기한</a:t>
                      </a:r>
                    </a:p>
                  </a:txBody>
                  <a:tcPr marL="7642" marR="7642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사용여부</a:t>
                      </a:r>
                    </a:p>
                  </a:txBody>
                  <a:tcPr marL="7642" marR="7642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2" marR="7642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37" name="직사각형 54"/>
          <p:cNvSpPr>
            <a:spLocks noChangeArrowheads="1"/>
          </p:cNvSpPr>
          <p:nvPr/>
        </p:nvSpPr>
        <p:spPr bwMode="auto">
          <a:xfrm>
            <a:off x="5024438" y="3919538"/>
            <a:ext cx="4492625" cy="24463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438" name="TextBox 55"/>
          <p:cNvSpPr txBox="1">
            <a:spLocks noChangeArrowheads="1"/>
          </p:cNvSpPr>
          <p:nvPr/>
        </p:nvSpPr>
        <p:spPr bwMode="auto">
          <a:xfrm>
            <a:off x="5264150" y="379571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입하검수상세</a:t>
            </a:r>
          </a:p>
        </p:txBody>
      </p:sp>
      <p:sp>
        <p:nvSpPr>
          <p:cNvPr id="12439" name="직사각형 51"/>
          <p:cNvSpPr>
            <a:spLocks noChangeArrowheads="1"/>
          </p:cNvSpPr>
          <p:nvPr/>
        </p:nvSpPr>
        <p:spPr bwMode="auto">
          <a:xfrm>
            <a:off x="8443913" y="36607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취소</a:t>
            </a:r>
          </a:p>
        </p:txBody>
      </p:sp>
      <p:sp>
        <p:nvSpPr>
          <p:cNvPr id="12440" name="직사각형 51"/>
          <p:cNvSpPr>
            <a:spLocks noChangeArrowheads="1"/>
          </p:cNvSpPr>
          <p:nvPr/>
        </p:nvSpPr>
        <p:spPr bwMode="auto">
          <a:xfrm>
            <a:off x="9023350" y="366077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12441" name="TextBox 55"/>
          <p:cNvSpPr txBox="1">
            <a:spLocks noChangeArrowheads="1"/>
          </p:cNvSpPr>
          <p:nvPr/>
        </p:nvSpPr>
        <p:spPr bwMode="auto">
          <a:xfrm>
            <a:off x="5264150" y="3787775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입고지시내역</a:t>
            </a:r>
          </a:p>
        </p:txBody>
      </p:sp>
      <p:graphicFrame>
        <p:nvGraphicFramePr>
          <p:cNvPr id="5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995729"/>
              </p:ext>
            </p:extLst>
          </p:nvPr>
        </p:nvGraphicFramePr>
        <p:xfrm>
          <a:off x="5097463" y="4013200"/>
          <a:ext cx="4319586" cy="709617"/>
        </p:xfrm>
        <a:graphic>
          <a:graphicData uri="http://schemas.openxmlformats.org/drawingml/2006/table">
            <a:tbl>
              <a:tblPr/>
              <a:tblGrid>
                <a:gridCol w="215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39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39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39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19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SEQNO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지시수량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3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11295"/>
              </p:ext>
            </p:extLst>
          </p:nvPr>
        </p:nvGraphicFramePr>
        <p:xfrm>
          <a:off x="5108575" y="4797425"/>
          <a:ext cx="2324100" cy="642938"/>
        </p:xfrm>
        <a:graphic>
          <a:graphicData uri="http://schemas.openxmlformats.org/drawingml/2006/table">
            <a:tbl>
              <a:tblPr/>
              <a:tblGrid>
                <a:gridCol w="57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작성일시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작업상태</a:t>
                      </a: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 12:00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작업지시</a:t>
                      </a: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48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250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251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248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2489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2490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2491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492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12493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494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495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2496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2497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2498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2499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2500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501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12502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503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입고지시</a:t>
            </a:r>
          </a:p>
        </p:txBody>
      </p:sp>
      <p:sp>
        <p:nvSpPr>
          <p:cNvPr id="12504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2505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2506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2507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2508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적치</a:t>
            </a:r>
          </a:p>
        </p:txBody>
      </p:sp>
      <p:sp>
        <p:nvSpPr>
          <p:cNvPr id="14339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2604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340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755650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입고적치</a:t>
            </a:r>
          </a:p>
        </p:txBody>
      </p:sp>
      <p:sp>
        <p:nvSpPr>
          <p:cNvPr id="14341" name="직사각형 51"/>
          <p:cNvSpPr>
            <a:spLocks noChangeArrowheads="1"/>
          </p:cNvSpPr>
          <p:nvPr/>
        </p:nvSpPr>
        <p:spPr bwMode="auto">
          <a:xfrm>
            <a:off x="76168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1434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434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4344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14345" name="직사각형 54"/>
          <p:cNvSpPr>
            <a:spLocks noChangeArrowheads="1"/>
          </p:cNvSpPr>
          <p:nvPr/>
        </p:nvSpPr>
        <p:spPr bwMode="auto">
          <a:xfrm>
            <a:off x="333375" y="4143375"/>
            <a:ext cx="4324350" cy="21653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346" name="TextBox 55"/>
          <p:cNvSpPr txBox="1">
            <a:spLocks noChangeArrowheads="1"/>
          </p:cNvSpPr>
          <p:nvPr/>
        </p:nvSpPr>
        <p:spPr bwMode="auto">
          <a:xfrm>
            <a:off x="404813" y="40195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입하검수상세</a:t>
            </a:r>
          </a:p>
        </p:txBody>
      </p:sp>
      <p:graphicFrame>
        <p:nvGraphicFramePr>
          <p:cNvPr id="3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709140"/>
              </p:ext>
            </p:extLst>
          </p:nvPr>
        </p:nvGraphicFramePr>
        <p:xfrm>
          <a:off x="355600" y="2640013"/>
          <a:ext cx="7780339" cy="496887"/>
        </p:xfrm>
        <a:graphic>
          <a:graphicData uri="http://schemas.openxmlformats.org/drawingml/2006/table">
            <a:tbl>
              <a:tblPr/>
              <a:tblGrid>
                <a:gridCol w="202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08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08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40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40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40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주문번호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86" name="직사각형 51"/>
          <p:cNvSpPr>
            <a:spLocks noChangeArrowheads="1"/>
          </p:cNvSpPr>
          <p:nvPr/>
        </p:nvSpPr>
        <p:spPr bwMode="auto">
          <a:xfrm>
            <a:off x="8535988" y="38846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라벨</a:t>
            </a:r>
          </a:p>
        </p:txBody>
      </p:sp>
      <p:sp>
        <p:nvSpPr>
          <p:cNvPr id="14387" name="직사각형 51"/>
          <p:cNvSpPr>
            <a:spLocks noChangeArrowheads="1"/>
          </p:cNvSpPr>
          <p:nvPr/>
        </p:nvSpPr>
        <p:spPr bwMode="auto">
          <a:xfrm>
            <a:off x="7450138" y="38846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확정</a:t>
            </a:r>
          </a:p>
        </p:txBody>
      </p:sp>
      <p:sp>
        <p:nvSpPr>
          <p:cNvPr id="14388" name="직사각형 51"/>
          <p:cNvSpPr>
            <a:spLocks noChangeArrowheads="1"/>
          </p:cNvSpPr>
          <p:nvPr/>
        </p:nvSpPr>
        <p:spPr bwMode="auto">
          <a:xfrm>
            <a:off x="7996238" y="38846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취소</a:t>
            </a:r>
          </a:p>
        </p:txBody>
      </p:sp>
      <p:sp>
        <p:nvSpPr>
          <p:cNvPr id="14389" name="직사각형 51"/>
          <p:cNvSpPr>
            <a:spLocks noChangeArrowheads="1"/>
          </p:cNvSpPr>
          <p:nvPr/>
        </p:nvSpPr>
        <p:spPr bwMode="auto">
          <a:xfrm>
            <a:off x="9074150" y="38846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14390" name="직사각형 54"/>
          <p:cNvSpPr>
            <a:spLocks noChangeArrowheads="1"/>
          </p:cNvSpPr>
          <p:nvPr/>
        </p:nvSpPr>
        <p:spPr bwMode="auto">
          <a:xfrm>
            <a:off x="4808538" y="4156075"/>
            <a:ext cx="4794250" cy="21526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391" name="TextBox 55"/>
          <p:cNvSpPr txBox="1">
            <a:spLocks noChangeArrowheads="1"/>
          </p:cNvSpPr>
          <p:nvPr/>
        </p:nvSpPr>
        <p:spPr bwMode="auto">
          <a:xfrm>
            <a:off x="404813" y="40195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입고적치상세</a:t>
            </a:r>
          </a:p>
        </p:txBody>
      </p:sp>
      <p:sp>
        <p:nvSpPr>
          <p:cNvPr id="14392" name="TextBox 55"/>
          <p:cNvSpPr txBox="1">
            <a:spLocks noChangeArrowheads="1"/>
          </p:cNvSpPr>
          <p:nvPr/>
        </p:nvSpPr>
        <p:spPr bwMode="auto">
          <a:xfrm>
            <a:off x="4887913" y="4032250"/>
            <a:ext cx="1001712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입고적치확정</a:t>
            </a:r>
          </a:p>
        </p:txBody>
      </p:sp>
      <p:grpSp>
        <p:nvGrpSpPr>
          <p:cNvPr id="14393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453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453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4394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4395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4396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4397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398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14399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400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401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402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403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4404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4405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4406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407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14408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6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707528"/>
              </p:ext>
            </p:extLst>
          </p:nvPr>
        </p:nvGraphicFramePr>
        <p:xfrm>
          <a:off x="4887913" y="4262438"/>
          <a:ext cx="4629149" cy="711201"/>
        </p:xfrm>
        <a:graphic>
          <a:graphicData uri="http://schemas.openxmlformats.org/drawingml/2006/table">
            <a:tbl>
              <a:tblPr/>
              <a:tblGrid>
                <a:gridCol w="231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86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43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43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43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2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SEQNO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적치수량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49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4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92983"/>
              </p:ext>
            </p:extLst>
          </p:nvPr>
        </p:nvGraphicFramePr>
        <p:xfrm>
          <a:off x="379413" y="4248150"/>
          <a:ext cx="4141787" cy="642938"/>
        </p:xfrm>
        <a:graphic>
          <a:graphicData uri="http://schemas.openxmlformats.org/drawingml/2006/table">
            <a:tbl>
              <a:tblPr/>
              <a:tblGrid>
                <a:gridCol w="253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1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428146"/>
              </p:ext>
            </p:extLst>
          </p:nvPr>
        </p:nvGraphicFramePr>
        <p:xfrm>
          <a:off x="350838" y="5002213"/>
          <a:ext cx="4229101" cy="709615"/>
        </p:xfrm>
        <a:graphic>
          <a:graphicData uri="http://schemas.openxmlformats.org/drawingml/2006/table">
            <a:tbl>
              <a:tblPr/>
              <a:tblGrid>
                <a:gridCol w="4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1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19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8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92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5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194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지시수량</a:t>
                      </a: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To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생산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RCVSTAGE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7646" marR="7646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3430"/>
              </p:ext>
            </p:extLst>
          </p:nvPr>
        </p:nvGraphicFramePr>
        <p:xfrm>
          <a:off x="349250" y="5808663"/>
          <a:ext cx="4171951" cy="428624"/>
        </p:xfrm>
        <a:graphic>
          <a:graphicData uri="http://schemas.openxmlformats.org/drawingml/2006/table">
            <a:tbl>
              <a:tblPr/>
              <a:tblGrid>
                <a:gridCol w="1181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유통기한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사용여부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입고적치</a:t>
                      </a: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518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입고지시</a:t>
            </a:r>
          </a:p>
        </p:txBody>
      </p:sp>
      <p:sp>
        <p:nvSpPr>
          <p:cNvPr id="14519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4520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4521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4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399063"/>
              </p:ext>
            </p:extLst>
          </p:nvPr>
        </p:nvGraphicFramePr>
        <p:xfrm>
          <a:off x="4887913" y="5084763"/>
          <a:ext cx="1963737" cy="711200"/>
        </p:xfrm>
        <a:graphic>
          <a:graphicData uri="http://schemas.openxmlformats.org/drawingml/2006/table">
            <a:tbl>
              <a:tblPr/>
              <a:tblGrid>
                <a:gridCol w="597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2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적치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작업상태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9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RCVSTAGE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작업완료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535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536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14537" name="직사각형 51"/>
          <p:cNvSpPr>
            <a:spLocks noChangeArrowheads="1"/>
          </p:cNvSpPr>
          <p:nvPr/>
        </p:nvSpPr>
        <p:spPr bwMode="auto">
          <a:xfrm>
            <a:off x="8207375" y="2273300"/>
            <a:ext cx="7064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적치지시서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공급처별 입고내역</a:t>
            </a:r>
          </a:p>
        </p:txBody>
      </p:sp>
      <p:sp>
        <p:nvSpPr>
          <p:cNvPr id="16387" name="직사각형 51"/>
          <p:cNvSpPr>
            <a:spLocks noChangeArrowheads="1"/>
          </p:cNvSpPr>
          <p:nvPr/>
        </p:nvSpPr>
        <p:spPr bwMode="auto">
          <a:xfrm>
            <a:off x="848836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16388" name="직사각형 51"/>
          <p:cNvSpPr>
            <a:spLocks noChangeArrowheads="1"/>
          </p:cNvSpPr>
          <p:nvPr/>
        </p:nvSpPr>
        <p:spPr bwMode="auto">
          <a:xfrm>
            <a:off x="68564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1638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639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6391" name="직사각형 51"/>
          <p:cNvSpPr>
            <a:spLocks noChangeArrowheads="1"/>
          </p:cNvSpPr>
          <p:nvPr/>
        </p:nvSpPr>
        <p:spPr bwMode="auto">
          <a:xfrm>
            <a:off x="74025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신규</a:t>
            </a:r>
          </a:p>
        </p:txBody>
      </p:sp>
      <p:sp>
        <p:nvSpPr>
          <p:cNvPr id="16392" name="직사각형 51"/>
          <p:cNvSpPr>
            <a:spLocks noChangeArrowheads="1"/>
          </p:cNvSpPr>
          <p:nvPr/>
        </p:nvSpPr>
        <p:spPr bwMode="auto">
          <a:xfrm>
            <a:off x="79486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sp>
        <p:nvSpPr>
          <p:cNvPr id="16393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grpSp>
        <p:nvGrpSpPr>
          <p:cNvPr id="16394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648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648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6395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6396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6397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6398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399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16400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1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2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403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404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6405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6406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6407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8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9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6410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6411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6412" name="직사각형 54"/>
          <p:cNvSpPr>
            <a:spLocks noChangeArrowheads="1"/>
          </p:cNvSpPr>
          <p:nvPr/>
        </p:nvSpPr>
        <p:spPr bwMode="auto">
          <a:xfrm>
            <a:off x="309563" y="2652713"/>
            <a:ext cx="9215437" cy="35131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7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976781"/>
              </p:ext>
            </p:extLst>
          </p:nvPr>
        </p:nvGraphicFramePr>
        <p:xfrm>
          <a:off x="349250" y="2728913"/>
          <a:ext cx="9067800" cy="563872"/>
        </p:xfrm>
        <a:graphic>
          <a:graphicData uri="http://schemas.openxmlformats.org/drawingml/2006/table">
            <a:tbl>
              <a:tblPr/>
              <a:tblGrid>
                <a:gridCol w="218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3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33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3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33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20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28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26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2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28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716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9350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478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공급처코드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확정수량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638475"/>
              </p:ext>
            </p:extLst>
          </p:nvPr>
        </p:nvGraphicFramePr>
        <p:xfrm>
          <a:off x="330200" y="3357563"/>
          <a:ext cx="3327401" cy="428626"/>
        </p:xfrm>
        <a:graphic>
          <a:graphicData uri="http://schemas.openxmlformats.org/drawingml/2006/table">
            <a:tbl>
              <a:tblPr/>
              <a:tblGrid>
                <a:gridCol w="96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83" name="TextBox 65"/>
          <p:cNvSpPr txBox="1">
            <a:spLocks noChangeArrowheads="1"/>
          </p:cNvSpPr>
          <p:nvPr/>
        </p:nvSpPr>
        <p:spPr bwMode="auto">
          <a:xfrm>
            <a:off x="6332538" y="13239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공급처코드</a:t>
            </a:r>
          </a:p>
        </p:txBody>
      </p:sp>
      <p:sp>
        <p:nvSpPr>
          <p:cNvPr id="16484" name="직사각형 66"/>
          <p:cNvSpPr>
            <a:spLocks noChangeArrowheads="1"/>
          </p:cNvSpPr>
          <p:nvPr/>
        </p:nvSpPr>
        <p:spPr bwMode="auto">
          <a:xfrm>
            <a:off x="727710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85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486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제품별 입고내역</a:t>
            </a:r>
          </a:p>
        </p:txBody>
      </p:sp>
      <p:sp>
        <p:nvSpPr>
          <p:cNvPr id="18435" name="직사각형 51"/>
          <p:cNvSpPr>
            <a:spLocks noChangeArrowheads="1"/>
          </p:cNvSpPr>
          <p:nvPr/>
        </p:nvSpPr>
        <p:spPr bwMode="auto">
          <a:xfrm>
            <a:off x="848836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18436" name="직사각형 51"/>
          <p:cNvSpPr>
            <a:spLocks noChangeArrowheads="1"/>
          </p:cNvSpPr>
          <p:nvPr/>
        </p:nvSpPr>
        <p:spPr bwMode="auto">
          <a:xfrm>
            <a:off x="68564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1843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843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8439" name="직사각형 51"/>
          <p:cNvSpPr>
            <a:spLocks noChangeArrowheads="1"/>
          </p:cNvSpPr>
          <p:nvPr/>
        </p:nvSpPr>
        <p:spPr bwMode="auto">
          <a:xfrm>
            <a:off x="74025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신규</a:t>
            </a:r>
          </a:p>
        </p:txBody>
      </p:sp>
      <p:sp>
        <p:nvSpPr>
          <p:cNvPr id="18440" name="직사각형 51"/>
          <p:cNvSpPr>
            <a:spLocks noChangeArrowheads="1"/>
          </p:cNvSpPr>
          <p:nvPr/>
        </p:nvSpPr>
        <p:spPr bwMode="auto">
          <a:xfrm>
            <a:off x="79486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sp>
        <p:nvSpPr>
          <p:cNvPr id="18441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18442" name="직사각형 54"/>
          <p:cNvSpPr>
            <a:spLocks noChangeArrowheads="1"/>
          </p:cNvSpPr>
          <p:nvPr/>
        </p:nvSpPr>
        <p:spPr bwMode="auto">
          <a:xfrm>
            <a:off x="309563" y="2652713"/>
            <a:ext cx="9215437" cy="35131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541655"/>
              </p:ext>
            </p:extLst>
          </p:nvPr>
        </p:nvGraphicFramePr>
        <p:xfrm>
          <a:off x="349250" y="2728913"/>
          <a:ext cx="9067799" cy="563872"/>
        </p:xfrm>
        <a:graphic>
          <a:graphicData uri="http://schemas.openxmlformats.org/drawingml/2006/table">
            <a:tbl>
              <a:tblPr/>
              <a:tblGrid>
                <a:gridCol w="20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1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15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14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8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8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41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64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09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0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070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5278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475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5225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491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확정수량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50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852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852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850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8502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8503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8504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05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18506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07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08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8509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8510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8511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8512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8513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14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18515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16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17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8518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8519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8520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8521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입고진행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696994"/>
              </p:ext>
            </p:extLst>
          </p:nvPr>
        </p:nvGraphicFramePr>
        <p:xfrm>
          <a:off x="355600" y="2640013"/>
          <a:ext cx="7167563" cy="428626"/>
        </p:xfrm>
        <a:graphic>
          <a:graphicData uri="http://schemas.openxmlformats.org/drawingml/2006/table">
            <a:tbl>
              <a:tblPr/>
              <a:tblGrid>
                <a:gridCol w="2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4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4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10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13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143100001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16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17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입고진행</a:t>
            </a:r>
          </a:p>
        </p:txBody>
      </p:sp>
      <p:sp>
        <p:nvSpPr>
          <p:cNvPr id="20518" name="직사각형 51"/>
          <p:cNvSpPr>
            <a:spLocks noChangeArrowheads="1"/>
          </p:cNvSpPr>
          <p:nvPr/>
        </p:nvSpPr>
        <p:spPr bwMode="auto">
          <a:xfrm>
            <a:off x="84947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2051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052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0521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20522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23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입고진행상세</a:t>
            </a: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544619"/>
              </p:ext>
            </p:extLst>
          </p:nvPr>
        </p:nvGraphicFramePr>
        <p:xfrm>
          <a:off x="349250" y="4502150"/>
          <a:ext cx="9067800" cy="428626"/>
        </p:xfrm>
        <a:graphic>
          <a:graphicData uri="http://schemas.openxmlformats.org/drawingml/2006/table">
            <a:tbl>
              <a:tblPr/>
              <a:tblGrid>
                <a:gridCol w="277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3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13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13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6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3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3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83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등록수량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20*4*13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056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058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058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056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0568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20569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20570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71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20572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73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74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0575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0576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0577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20578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20579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80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입고지시</a:t>
            </a:r>
          </a:p>
        </p:txBody>
      </p:sp>
      <p:sp>
        <p:nvSpPr>
          <p:cNvPr id="20581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20582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0583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0584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0585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이고발주등록</a:t>
            </a:r>
          </a:p>
        </p:txBody>
      </p:sp>
      <p:sp>
        <p:nvSpPr>
          <p:cNvPr id="22531" name="직사각형 54"/>
          <p:cNvSpPr>
            <a:spLocks noChangeArrowheads="1"/>
          </p:cNvSpPr>
          <p:nvPr/>
        </p:nvSpPr>
        <p:spPr bwMode="auto">
          <a:xfrm>
            <a:off x="309563" y="1571625"/>
            <a:ext cx="9215437" cy="48101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2532" name="직사각형 51"/>
          <p:cNvSpPr>
            <a:spLocks noChangeArrowheads="1"/>
          </p:cNvSpPr>
          <p:nvPr/>
        </p:nvSpPr>
        <p:spPr bwMode="auto">
          <a:xfrm>
            <a:off x="8999538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2253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253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2535" name="직사각형 51"/>
          <p:cNvSpPr>
            <a:spLocks noChangeArrowheads="1"/>
          </p:cNvSpPr>
          <p:nvPr/>
        </p:nvSpPr>
        <p:spPr bwMode="auto">
          <a:xfrm>
            <a:off x="8459788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grpSp>
        <p:nvGrpSpPr>
          <p:cNvPr id="6152" name="그룹 52"/>
          <p:cNvGrpSpPr>
            <a:grpSpLocks/>
          </p:cNvGrpSpPr>
          <p:nvPr/>
        </p:nvGrpSpPr>
        <p:grpSpPr bwMode="auto">
          <a:xfrm>
            <a:off x="6119813" y="1682750"/>
            <a:ext cx="2071687" cy="230188"/>
            <a:chOff x="3238492" y="1428736"/>
            <a:chExt cx="2071698" cy="230832"/>
          </a:xfrm>
          <a:noFill/>
        </p:grpSpPr>
        <p:sp>
          <p:nvSpPr>
            <p:cNvPr id="622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+mn-ea"/>
                  <a:ea typeface="+mn-ea"/>
                </a:rPr>
                <a:t>*</a:t>
              </a:r>
              <a:r>
                <a:rPr lang="ko-KR" altLang="en-US" sz="900" dirty="0" err="1">
                  <a:latin typeface="+mn-ea"/>
                  <a:ea typeface="+mn-ea"/>
                </a:rPr>
                <a:t>고객사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6223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2537" name="직사각형 48"/>
          <p:cNvSpPr>
            <a:spLocks noChangeArrowheads="1"/>
          </p:cNvSpPr>
          <p:nvPr/>
        </p:nvSpPr>
        <p:spPr bwMode="auto">
          <a:xfrm>
            <a:off x="8229600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6154" name="직사각형 66"/>
          <p:cNvSpPr>
            <a:spLocks noChangeArrowheads="1"/>
          </p:cNvSpPr>
          <p:nvPr/>
        </p:nvSpPr>
        <p:spPr bwMode="auto">
          <a:xfrm>
            <a:off x="8426450" y="1685925"/>
            <a:ext cx="1000125" cy="21431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22539" name="TextBox 65"/>
          <p:cNvSpPr txBox="1">
            <a:spLocks noChangeArrowheads="1"/>
          </p:cNvSpPr>
          <p:nvPr/>
        </p:nvSpPr>
        <p:spPr bwMode="auto">
          <a:xfrm>
            <a:off x="377825" y="17526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이고입고번호</a:t>
            </a:r>
          </a:p>
        </p:txBody>
      </p:sp>
      <p:sp>
        <p:nvSpPr>
          <p:cNvPr id="95" name="직사각형 66"/>
          <p:cNvSpPr>
            <a:spLocks noChangeArrowheads="1"/>
          </p:cNvSpPr>
          <p:nvPr/>
        </p:nvSpPr>
        <p:spPr bwMode="auto">
          <a:xfrm>
            <a:off x="1447800" y="1751013"/>
            <a:ext cx="1000125" cy="2143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22541" name="TextBox 65"/>
          <p:cNvSpPr txBox="1">
            <a:spLocks noChangeArrowheads="1"/>
          </p:cNvSpPr>
          <p:nvPr/>
        </p:nvSpPr>
        <p:spPr bwMode="auto">
          <a:xfrm>
            <a:off x="3376613" y="169068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주문번호</a:t>
            </a:r>
          </a:p>
        </p:txBody>
      </p:sp>
      <p:sp>
        <p:nvSpPr>
          <p:cNvPr id="22542" name="직사각형 66"/>
          <p:cNvSpPr>
            <a:spLocks noChangeArrowheads="1"/>
          </p:cNvSpPr>
          <p:nvPr/>
        </p:nvSpPr>
        <p:spPr bwMode="auto">
          <a:xfrm>
            <a:off x="4446588" y="16891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2543" name="TextBox 65"/>
          <p:cNvSpPr txBox="1">
            <a:spLocks noChangeArrowheads="1"/>
          </p:cNvSpPr>
          <p:nvPr/>
        </p:nvSpPr>
        <p:spPr bwMode="auto">
          <a:xfrm>
            <a:off x="376238" y="21447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입고형태</a:t>
            </a:r>
          </a:p>
        </p:txBody>
      </p:sp>
      <p:sp>
        <p:nvSpPr>
          <p:cNvPr id="22544" name="직사각형 66"/>
          <p:cNvSpPr>
            <a:spLocks noChangeArrowheads="1"/>
          </p:cNvSpPr>
          <p:nvPr/>
        </p:nvSpPr>
        <p:spPr bwMode="auto">
          <a:xfrm>
            <a:off x="1446213" y="21431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작업없음</a:t>
            </a:r>
          </a:p>
        </p:txBody>
      </p:sp>
      <p:sp>
        <p:nvSpPr>
          <p:cNvPr id="22545" name="TextBox 65"/>
          <p:cNvSpPr txBox="1">
            <a:spLocks noChangeArrowheads="1"/>
          </p:cNvSpPr>
          <p:nvPr/>
        </p:nvSpPr>
        <p:spPr bwMode="auto">
          <a:xfrm>
            <a:off x="3379788" y="21447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22546" name="직사각형 66"/>
          <p:cNvSpPr>
            <a:spLocks noChangeArrowheads="1"/>
          </p:cNvSpPr>
          <p:nvPr/>
        </p:nvSpPr>
        <p:spPr bwMode="auto">
          <a:xfrm>
            <a:off x="4449763" y="21431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2547" name="TextBox 65"/>
          <p:cNvSpPr txBox="1">
            <a:spLocks noChangeArrowheads="1"/>
          </p:cNvSpPr>
          <p:nvPr/>
        </p:nvSpPr>
        <p:spPr bwMode="auto">
          <a:xfrm>
            <a:off x="6115050" y="213995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6164" name="직사각형 66"/>
          <p:cNvSpPr>
            <a:spLocks noChangeArrowheads="1"/>
          </p:cNvSpPr>
          <p:nvPr/>
        </p:nvSpPr>
        <p:spPr bwMode="auto">
          <a:xfrm>
            <a:off x="7185025" y="2138363"/>
            <a:ext cx="1000125" cy="2143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r>
              <a:rPr lang="ko-KR" altLang="en-US">
                <a:latin typeface="+mn-ea"/>
                <a:ea typeface="+mn-ea"/>
              </a:rPr>
              <a:t>입고예정</a:t>
            </a:r>
          </a:p>
        </p:txBody>
      </p:sp>
      <p:sp>
        <p:nvSpPr>
          <p:cNvPr id="22549" name="TextBox 65"/>
          <p:cNvSpPr txBox="1">
            <a:spLocks noChangeArrowheads="1"/>
          </p:cNvSpPr>
          <p:nvPr/>
        </p:nvSpPr>
        <p:spPr bwMode="auto">
          <a:xfrm>
            <a:off x="374650" y="25558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22550" name="직사각형 66"/>
          <p:cNvSpPr>
            <a:spLocks noChangeArrowheads="1"/>
          </p:cNvSpPr>
          <p:nvPr/>
        </p:nvSpPr>
        <p:spPr bwMode="auto">
          <a:xfrm>
            <a:off x="1444625" y="25542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이고입고</a:t>
            </a:r>
          </a:p>
        </p:txBody>
      </p:sp>
      <p:sp>
        <p:nvSpPr>
          <p:cNvPr id="22551" name="TextBox 65"/>
          <p:cNvSpPr txBox="1">
            <a:spLocks noChangeArrowheads="1"/>
          </p:cNvSpPr>
          <p:nvPr/>
        </p:nvSpPr>
        <p:spPr bwMode="auto">
          <a:xfrm>
            <a:off x="3262313" y="2555875"/>
            <a:ext cx="11588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+mn-ea"/>
                <a:ea typeface="+mn-ea"/>
              </a:rPr>
              <a:t>*</a:t>
            </a:r>
            <a:r>
              <a:rPr lang="ko-KR" altLang="en-US" sz="900">
                <a:latin typeface="+mn-ea"/>
                <a:ea typeface="+mn-ea"/>
              </a:rPr>
              <a:t>입고예정일자</a:t>
            </a:r>
          </a:p>
        </p:txBody>
      </p:sp>
      <p:sp>
        <p:nvSpPr>
          <p:cNvPr id="22552" name="직사각형 66"/>
          <p:cNvSpPr>
            <a:spLocks noChangeArrowheads="1"/>
          </p:cNvSpPr>
          <p:nvPr/>
        </p:nvSpPr>
        <p:spPr bwMode="auto">
          <a:xfrm>
            <a:off x="4464050" y="25431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2016-10-28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2553" name="직사각형 48"/>
          <p:cNvSpPr>
            <a:spLocks noChangeArrowheads="1"/>
          </p:cNvSpPr>
          <p:nvPr/>
        </p:nvSpPr>
        <p:spPr bwMode="auto">
          <a:xfrm>
            <a:off x="5321300" y="25431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11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174088"/>
              </p:ext>
            </p:extLst>
          </p:nvPr>
        </p:nvGraphicFramePr>
        <p:xfrm>
          <a:off x="365125" y="3429000"/>
          <a:ext cx="9061452" cy="642939"/>
        </p:xfrm>
        <a:graphic>
          <a:graphicData uri="http://schemas.openxmlformats.org/drawingml/2006/table">
            <a:tbl>
              <a:tblPr/>
              <a:tblGrid>
                <a:gridCol w="280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5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45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45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69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93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525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525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75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675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유통기한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박스바코드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바코드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이고예정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04" name="직사각형 33"/>
          <p:cNvSpPr>
            <a:spLocks noChangeArrowheads="1"/>
          </p:cNvSpPr>
          <p:nvPr/>
        </p:nvSpPr>
        <p:spPr bwMode="auto">
          <a:xfrm>
            <a:off x="2306638" y="21415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2605" name="직사각형 48"/>
          <p:cNvSpPr>
            <a:spLocks noChangeArrowheads="1"/>
          </p:cNvSpPr>
          <p:nvPr/>
        </p:nvSpPr>
        <p:spPr bwMode="auto">
          <a:xfrm>
            <a:off x="1673225" y="3649663"/>
            <a:ext cx="153988" cy="4000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grpSp>
        <p:nvGrpSpPr>
          <p:cNvPr id="2260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261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261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260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2608" name="직사각형 33"/>
          <p:cNvSpPr>
            <a:spLocks noChangeArrowheads="1"/>
          </p:cNvSpPr>
          <p:nvPr/>
        </p:nvSpPr>
        <p:spPr bwMode="auto">
          <a:xfrm>
            <a:off x="2293938" y="25479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2609" name="직사각형 33"/>
          <p:cNvSpPr>
            <a:spLocks noChangeArrowheads="1"/>
          </p:cNvSpPr>
          <p:nvPr/>
        </p:nvSpPr>
        <p:spPr bwMode="auto">
          <a:xfrm>
            <a:off x="8045450" y="21383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2610" name="TextBox 65"/>
          <p:cNvSpPr txBox="1">
            <a:spLocks noChangeArrowheads="1"/>
          </p:cNvSpPr>
          <p:nvPr/>
        </p:nvSpPr>
        <p:spPr bwMode="auto">
          <a:xfrm>
            <a:off x="6115050" y="25304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To</a:t>
            </a:r>
            <a:r>
              <a:rPr lang="ko-KR" altLang="en-US" sz="900">
                <a:latin typeface="+mn-ea"/>
                <a:ea typeface="+mn-ea"/>
              </a:rPr>
              <a:t>물류센터</a:t>
            </a:r>
          </a:p>
        </p:txBody>
      </p:sp>
      <p:sp>
        <p:nvSpPr>
          <p:cNvPr id="22611" name="직사각형 66"/>
          <p:cNvSpPr>
            <a:spLocks noChangeArrowheads="1"/>
          </p:cNvSpPr>
          <p:nvPr/>
        </p:nvSpPr>
        <p:spPr bwMode="auto">
          <a:xfrm>
            <a:off x="7185025" y="25288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이고발주예정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246072"/>
              </p:ext>
            </p:extLst>
          </p:nvPr>
        </p:nvGraphicFramePr>
        <p:xfrm>
          <a:off x="355600" y="2640013"/>
          <a:ext cx="9061447" cy="428626"/>
        </p:xfrm>
        <a:graphic>
          <a:graphicData uri="http://schemas.openxmlformats.org/drawingml/2006/table">
            <a:tbl>
              <a:tblPr/>
              <a:tblGrid>
                <a:gridCol w="252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42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93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7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77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912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주문번호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전표일자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전표번호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입고형태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143100001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작업없음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621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622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이고발주</a:t>
            </a:r>
          </a:p>
        </p:txBody>
      </p:sp>
      <p:sp>
        <p:nvSpPr>
          <p:cNvPr id="24623" name="직사각형 51"/>
          <p:cNvSpPr>
            <a:spLocks noChangeArrowheads="1"/>
          </p:cNvSpPr>
          <p:nvPr/>
        </p:nvSpPr>
        <p:spPr bwMode="auto">
          <a:xfrm>
            <a:off x="848836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24624" name="직사각형 51"/>
          <p:cNvSpPr>
            <a:spLocks noChangeArrowheads="1"/>
          </p:cNvSpPr>
          <p:nvPr/>
        </p:nvSpPr>
        <p:spPr bwMode="auto">
          <a:xfrm>
            <a:off x="68564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2462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462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4627" name="직사각형 51"/>
          <p:cNvSpPr>
            <a:spLocks noChangeArrowheads="1"/>
          </p:cNvSpPr>
          <p:nvPr/>
        </p:nvSpPr>
        <p:spPr bwMode="auto">
          <a:xfrm>
            <a:off x="74025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신규</a:t>
            </a:r>
          </a:p>
        </p:txBody>
      </p:sp>
      <p:sp>
        <p:nvSpPr>
          <p:cNvPr id="24628" name="직사각형 51"/>
          <p:cNvSpPr>
            <a:spLocks noChangeArrowheads="1"/>
          </p:cNvSpPr>
          <p:nvPr/>
        </p:nvSpPr>
        <p:spPr bwMode="auto">
          <a:xfrm>
            <a:off x="79486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확정</a:t>
            </a:r>
          </a:p>
        </p:txBody>
      </p:sp>
      <p:sp>
        <p:nvSpPr>
          <p:cNvPr id="24629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24630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631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이고발주상세</a:t>
            </a: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951221"/>
              </p:ext>
            </p:extLst>
          </p:nvPr>
        </p:nvGraphicFramePr>
        <p:xfrm>
          <a:off x="349250" y="4502150"/>
          <a:ext cx="9067802" cy="428626"/>
        </p:xfrm>
        <a:graphic>
          <a:graphicData uri="http://schemas.openxmlformats.org/drawingml/2006/table">
            <a:tbl>
              <a:tblPr/>
              <a:tblGrid>
                <a:gridCol w="291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0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0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3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17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92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32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32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329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입력수량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637904"/>
              </p:ext>
            </p:extLst>
          </p:nvPr>
        </p:nvGraphicFramePr>
        <p:xfrm>
          <a:off x="350838" y="3155950"/>
          <a:ext cx="3378200" cy="428626"/>
        </p:xfrm>
        <a:graphic>
          <a:graphicData uri="http://schemas.openxmlformats.org/drawingml/2006/table">
            <a:tbl>
              <a:tblPr/>
              <a:tblGrid>
                <a:gridCol w="734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입고구분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진행상태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이고입고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입고예정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469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471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471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469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4692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24693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24694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695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24696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697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698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4699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4700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4701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24702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24703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704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24705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706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707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이고입고</a:t>
            </a:r>
          </a:p>
        </p:txBody>
      </p:sp>
      <p:sp>
        <p:nvSpPr>
          <p:cNvPr id="24708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4709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4710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4711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이고발주확정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918298"/>
              </p:ext>
            </p:extLst>
          </p:nvPr>
        </p:nvGraphicFramePr>
        <p:xfrm>
          <a:off x="355600" y="2640013"/>
          <a:ext cx="9061447" cy="428626"/>
        </p:xfrm>
        <a:graphic>
          <a:graphicData uri="http://schemas.openxmlformats.org/drawingml/2006/table">
            <a:tbl>
              <a:tblPr/>
              <a:tblGrid>
                <a:gridCol w="252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42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93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09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7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77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912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주문번호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전표일자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전표번호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입고형태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143100001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작업없음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669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670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입고발주</a:t>
            </a:r>
          </a:p>
        </p:txBody>
      </p:sp>
      <p:sp>
        <p:nvSpPr>
          <p:cNvPr id="26671" name="직사각형 51"/>
          <p:cNvSpPr>
            <a:spLocks noChangeArrowheads="1"/>
          </p:cNvSpPr>
          <p:nvPr/>
        </p:nvSpPr>
        <p:spPr bwMode="auto">
          <a:xfrm>
            <a:off x="848836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26672" name="직사각형 51"/>
          <p:cNvSpPr>
            <a:spLocks noChangeArrowheads="1"/>
          </p:cNvSpPr>
          <p:nvPr/>
        </p:nvSpPr>
        <p:spPr bwMode="auto">
          <a:xfrm>
            <a:off x="68564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2667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667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6675" name="직사각형 51"/>
          <p:cNvSpPr>
            <a:spLocks noChangeArrowheads="1"/>
          </p:cNvSpPr>
          <p:nvPr/>
        </p:nvSpPr>
        <p:spPr bwMode="auto">
          <a:xfrm>
            <a:off x="74025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신규</a:t>
            </a:r>
          </a:p>
        </p:txBody>
      </p:sp>
      <p:sp>
        <p:nvSpPr>
          <p:cNvPr id="26676" name="직사각형 51"/>
          <p:cNvSpPr>
            <a:spLocks noChangeArrowheads="1"/>
          </p:cNvSpPr>
          <p:nvPr/>
        </p:nvSpPr>
        <p:spPr bwMode="auto">
          <a:xfrm>
            <a:off x="79486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sp>
        <p:nvSpPr>
          <p:cNvPr id="26677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26678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679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입고발주상세</a:t>
            </a: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225890"/>
              </p:ext>
            </p:extLst>
          </p:nvPr>
        </p:nvGraphicFramePr>
        <p:xfrm>
          <a:off x="349250" y="4502150"/>
          <a:ext cx="9067802" cy="428626"/>
        </p:xfrm>
        <a:graphic>
          <a:graphicData uri="http://schemas.openxmlformats.org/drawingml/2006/table">
            <a:tbl>
              <a:tblPr/>
              <a:tblGrid>
                <a:gridCol w="291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0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0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3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17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92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32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32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329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입력수량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722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26723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26724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25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26726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27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28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6729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6730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6731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graphicFrame>
        <p:nvGraphicFramePr>
          <p:cNvPr id="6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634235"/>
              </p:ext>
            </p:extLst>
          </p:nvPr>
        </p:nvGraphicFramePr>
        <p:xfrm>
          <a:off x="350838" y="3155950"/>
          <a:ext cx="3378200" cy="428626"/>
        </p:xfrm>
        <a:graphic>
          <a:graphicData uri="http://schemas.openxmlformats.org/drawingml/2006/table">
            <a:tbl>
              <a:tblPr/>
              <a:tblGrid>
                <a:gridCol w="734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입고구분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진행상태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정상입고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베텍스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입고예정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748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26749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pSp>
        <p:nvGrpSpPr>
          <p:cNvPr id="2675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67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676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675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6752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26753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54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55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26756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6757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6758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6759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입고라벨</a:t>
            </a:r>
          </a:p>
        </p:txBody>
      </p:sp>
      <p:sp>
        <p:nvSpPr>
          <p:cNvPr id="2867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867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8677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37" name="Text Box 51"/>
          <p:cNvSpPr txBox="1">
            <a:spLocks noChangeArrowheads="1"/>
          </p:cNvSpPr>
          <p:nvPr/>
        </p:nvSpPr>
        <p:spPr bwMode="auto">
          <a:xfrm>
            <a:off x="4503738" y="1844675"/>
            <a:ext cx="1319212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 err="1">
                <a:latin typeface="+mn-ea"/>
                <a:ea typeface="+mn-ea"/>
              </a:rPr>
              <a:t>입고라벨표</a:t>
            </a:r>
            <a:endParaRPr lang="ko-KR" altLang="en-US" sz="2000" b="1" dirty="0">
              <a:latin typeface="+mn-ea"/>
              <a:ea typeface="+mn-ea"/>
            </a:endParaRPr>
          </a:p>
        </p:txBody>
      </p:sp>
      <p:sp>
        <p:nvSpPr>
          <p:cNvPr id="28679" name="TextBox 65"/>
          <p:cNvSpPr txBox="1">
            <a:spLocks noChangeArrowheads="1"/>
          </p:cNvSpPr>
          <p:nvPr/>
        </p:nvSpPr>
        <p:spPr bwMode="auto">
          <a:xfrm>
            <a:off x="6130925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바코드</a:t>
            </a:r>
            <a:r>
              <a:rPr lang="en-US" altLang="ko-KR" sz="900">
                <a:latin typeface="+mn-ea"/>
                <a:ea typeface="+mn-ea"/>
              </a:rPr>
              <a:t>(</a:t>
            </a:r>
            <a:r>
              <a:rPr lang="ko-KR" altLang="en-US" sz="900">
                <a:latin typeface="+mn-ea"/>
                <a:ea typeface="+mn-ea"/>
              </a:rPr>
              <a:t>제품코드</a:t>
            </a:r>
            <a:r>
              <a:rPr lang="en-US" altLang="ko-KR" sz="900">
                <a:latin typeface="+mn-ea"/>
                <a:ea typeface="+mn-ea"/>
              </a:rPr>
              <a:t>)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8680" name="TextBox 65"/>
          <p:cNvSpPr txBox="1">
            <a:spLocks noChangeArrowheads="1"/>
          </p:cNvSpPr>
          <p:nvPr/>
        </p:nvSpPr>
        <p:spPr bwMode="auto">
          <a:xfrm>
            <a:off x="776288" y="241300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제품코드</a:t>
            </a:r>
          </a:p>
        </p:txBody>
      </p:sp>
      <p:sp>
        <p:nvSpPr>
          <p:cNvPr id="28681" name="TextBox 65"/>
          <p:cNvSpPr txBox="1">
            <a:spLocks noChangeArrowheads="1"/>
          </p:cNvSpPr>
          <p:nvPr/>
        </p:nvSpPr>
        <p:spPr bwMode="auto">
          <a:xfrm>
            <a:off x="776288" y="262731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제품명</a:t>
            </a:r>
          </a:p>
        </p:txBody>
      </p:sp>
      <p:sp>
        <p:nvSpPr>
          <p:cNvPr id="28682" name="TextBox 65"/>
          <p:cNvSpPr txBox="1">
            <a:spLocks noChangeArrowheads="1"/>
          </p:cNvSpPr>
          <p:nvPr/>
        </p:nvSpPr>
        <p:spPr bwMode="auto">
          <a:xfrm>
            <a:off x="776288" y="285750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제품유형</a:t>
            </a:r>
          </a:p>
        </p:txBody>
      </p:sp>
      <p:sp>
        <p:nvSpPr>
          <p:cNvPr id="28683" name="TextBox 65"/>
          <p:cNvSpPr txBox="1">
            <a:spLocks noChangeArrowheads="1"/>
          </p:cNvSpPr>
          <p:nvPr/>
        </p:nvSpPr>
        <p:spPr bwMode="auto">
          <a:xfrm>
            <a:off x="776288" y="307181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재고상태</a:t>
            </a:r>
          </a:p>
        </p:txBody>
      </p:sp>
      <p:sp>
        <p:nvSpPr>
          <p:cNvPr id="28684" name="TextBox 65"/>
          <p:cNvSpPr txBox="1">
            <a:spLocks noChangeArrowheads="1"/>
          </p:cNvSpPr>
          <p:nvPr/>
        </p:nvSpPr>
        <p:spPr bwMode="auto">
          <a:xfrm>
            <a:off x="776288" y="327025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제조일자</a:t>
            </a:r>
          </a:p>
        </p:txBody>
      </p:sp>
      <p:sp>
        <p:nvSpPr>
          <p:cNvPr id="28685" name="TextBox 65"/>
          <p:cNvSpPr txBox="1">
            <a:spLocks noChangeArrowheads="1"/>
          </p:cNvSpPr>
          <p:nvPr/>
        </p:nvSpPr>
        <p:spPr bwMode="auto">
          <a:xfrm>
            <a:off x="776288" y="348456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유통일자</a:t>
            </a:r>
          </a:p>
        </p:txBody>
      </p:sp>
      <p:sp>
        <p:nvSpPr>
          <p:cNvPr id="28686" name="TextBox 65"/>
          <p:cNvSpPr txBox="1">
            <a:spLocks noChangeArrowheads="1"/>
          </p:cNvSpPr>
          <p:nvPr/>
        </p:nvSpPr>
        <p:spPr bwMode="auto">
          <a:xfrm>
            <a:off x="776288" y="36861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로트번호</a:t>
            </a:r>
          </a:p>
        </p:txBody>
      </p:sp>
      <p:sp>
        <p:nvSpPr>
          <p:cNvPr id="28687" name="TextBox 65"/>
          <p:cNvSpPr txBox="1">
            <a:spLocks noChangeArrowheads="1"/>
          </p:cNvSpPr>
          <p:nvPr/>
        </p:nvSpPr>
        <p:spPr bwMode="auto">
          <a:xfrm>
            <a:off x="776288" y="390048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UOM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8688" name="TextBox 65"/>
          <p:cNvSpPr txBox="1">
            <a:spLocks noChangeArrowheads="1"/>
          </p:cNvSpPr>
          <p:nvPr/>
        </p:nvSpPr>
        <p:spPr bwMode="auto">
          <a:xfrm>
            <a:off x="776288" y="41148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입수</a:t>
            </a:r>
          </a:p>
        </p:txBody>
      </p:sp>
      <p:sp>
        <p:nvSpPr>
          <p:cNvPr id="28689" name="TextBox 65"/>
          <p:cNvSpPr txBox="1">
            <a:spLocks noChangeArrowheads="1"/>
          </p:cNvSpPr>
          <p:nvPr/>
        </p:nvSpPr>
        <p:spPr bwMode="auto">
          <a:xfrm>
            <a:off x="776288" y="43291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제품바코드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검수지시서</a:t>
            </a:r>
          </a:p>
        </p:txBody>
      </p:sp>
      <p:sp>
        <p:nvSpPr>
          <p:cNvPr id="3072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3072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30725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16906"/>
              </p:ext>
            </p:extLst>
          </p:nvPr>
        </p:nvGraphicFramePr>
        <p:xfrm>
          <a:off x="415925" y="3429000"/>
          <a:ext cx="9001125" cy="627063"/>
        </p:xfrm>
        <a:graphic>
          <a:graphicData uri="http://schemas.openxmlformats.org/drawingml/2006/table">
            <a:tbl>
              <a:tblPr/>
              <a:tblGrid>
                <a:gridCol w="805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2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4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51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51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094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72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536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검수수량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72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출력자</a:t>
            </a:r>
          </a:p>
        </p:txBody>
      </p:sp>
      <p:sp>
        <p:nvSpPr>
          <p:cNvPr id="30773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작업일자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762375" y="1844675"/>
            <a:ext cx="1831715" cy="380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>
                <a:latin typeface="+mn-ea"/>
                <a:ea typeface="+mn-ea"/>
              </a:rPr>
              <a:t>입하검수지시서</a:t>
            </a:r>
          </a:p>
        </p:txBody>
      </p:sp>
      <p:sp>
        <p:nvSpPr>
          <p:cNvPr id="30775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출력일시</a:t>
            </a:r>
          </a:p>
        </p:txBody>
      </p:sp>
      <p:sp>
        <p:nvSpPr>
          <p:cNvPr id="30776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30777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페이지</a:t>
            </a:r>
          </a:p>
        </p:txBody>
      </p:sp>
      <p:sp>
        <p:nvSpPr>
          <p:cNvPr id="30778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물류센터</a:t>
            </a:r>
          </a:p>
        </p:txBody>
      </p:sp>
      <p:sp>
        <p:nvSpPr>
          <p:cNvPr id="30779" name="TextBox 65"/>
          <p:cNvSpPr txBox="1">
            <a:spLocks noChangeArrowheads="1"/>
          </p:cNvSpPr>
          <p:nvPr/>
        </p:nvSpPr>
        <p:spPr bwMode="auto">
          <a:xfrm>
            <a:off x="52387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주문번호</a:t>
            </a:r>
          </a:p>
        </p:txBody>
      </p:sp>
      <p:sp>
        <p:nvSpPr>
          <p:cNvPr id="30780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바코드</a:t>
            </a:r>
            <a:r>
              <a:rPr lang="en-US" altLang="ko-KR" sz="900">
                <a:latin typeface="+mn-ea"/>
                <a:ea typeface="+mn-ea"/>
              </a:rPr>
              <a:t>(</a:t>
            </a:r>
            <a:r>
              <a:rPr lang="ko-KR" altLang="en-US" sz="900">
                <a:latin typeface="+mn-ea"/>
                <a:ea typeface="+mn-ea"/>
              </a:rPr>
              <a:t>주문번호</a:t>
            </a:r>
            <a:r>
              <a:rPr lang="en-US" altLang="ko-KR" sz="900">
                <a:latin typeface="+mn-ea"/>
                <a:ea typeface="+mn-ea"/>
              </a:rPr>
              <a:t>)</a:t>
            </a:r>
            <a:endParaRPr lang="ko-KR" altLang="en-US" sz="900">
              <a:latin typeface="+mn-ea"/>
              <a:ea typeface="+mn-ea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73461"/>
              </p:ext>
            </p:extLst>
          </p:nvPr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적치지시서</a:t>
            </a:r>
          </a:p>
        </p:txBody>
      </p:sp>
      <p:sp>
        <p:nvSpPr>
          <p:cNvPr id="3277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3277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32773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49546"/>
              </p:ext>
            </p:extLst>
          </p:nvPr>
        </p:nvGraphicFramePr>
        <p:xfrm>
          <a:off x="415925" y="3429000"/>
          <a:ext cx="9001126" cy="627063"/>
        </p:xfrm>
        <a:graphic>
          <a:graphicData uri="http://schemas.openxmlformats.org/drawingml/2006/table">
            <a:tbl>
              <a:tblPr/>
              <a:tblGrid>
                <a:gridCol w="738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7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97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63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63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747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UOM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적치수량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823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출력자</a:t>
            </a:r>
          </a:p>
        </p:txBody>
      </p:sp>
      <p:sp>
        <p:nvSpPr>
          <p:cNvPr id="32824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작업일자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4205288" y="1844675"/>
            <a:ext cx="1319212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>
                <a:latin typeface="+mn-ea"/>
                <a:ea typeface="+mn-ea"/>
              </a:rPr>
              <a:t>적치지시서</a:t>
            </a:r>
          </a:p>
        </p:txBody>
      </p:sp>
      <p:sp>
        <p:nvSpPr>
          <p:cNvPr id="32826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출력일시</a:t>
            </a:r>
          </a:p>
        </p:txBody>
      </p:sp>
      <p:sp>
        <p:nvSpPr>
          <p:cNvPr id="32827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32828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페이지</a:t>
            </a:r>
          </a:p>
        </p:txBody>
      </p:sp>
      <p:sp>
        <p:nvSpPr>
          <p:cNvPr id="32829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물류센터</a:t>
            </a:r>
          </a:p>
        </p:txBody>
      </p:sp>
      <p:sp>
        <p:nvSpPr>
          <p:cNvPr id="32830" name="TextBox 65"/>
          <p:cNvSpPr txBox="1">
            <a:spLocks noChangeArrowheads="1"/>
          </p:cNvSpPr>
          <p:nvPr/>
        </p:nvSpPr>
        <p:spPr bwMode="auto">
          <a:xfrm>
            <a:off x="52387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주문번호</a:t>
            </a:r>
          </a:p>
        </p:txBody>
      </p:sp>
      <p:sp>
        <p:nvSpPr>
          <p:cNvPr id="32831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바코드</a:t>
            </a:r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주문번호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  <a:endParaRPr lang="ko-KR" altLang="en-US" sz="900" dirty="0">
              <a:latin typeface="+mn-ea"/>
              <a:ea typeface="+mn-ea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479408"/>
              </p:ext>
            </p:extLst>
          </p:nvPr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출고거래명세서</a:t>
            </a:r>
          </a:p>
        </p:txBody>
      </p:sp>
      <p:sp>
        <p:nvSpPr>
          <p:cNvPr id="3481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3482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34821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322827"/>
              </p:ext>
            </p:extLst>
          </p:nvPr>
        </p:nvGraphicFramePr>
        <p:xfrm>
          <a:off x="415925" y="3429000"/>
          <a:ext cx="9074150" cy="627063"/>
        </p:xfrm>
        <a:graphic>
          <a:graphicData uri="http://schemas.openxmlformats.org/drawingml/2006/table">
            <a:tbl>
              <a:tblPr/>
              <a:tblGrid>
                <a:gridCol w="812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8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14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51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4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54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UOM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868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출력자</a:t>
            </a:r>
          </a:p>
        </p:txBody>
      </p:sp>
      <p:sp>
        <p:nvSpPr>
          <p:cNvPr id="34869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작업일자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762375" y="1844675"/>
            <a:ext cx="1831975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>
                <a:latin typeface="+mn-ea"/>
                <a:ea typeface="+mn-ea"/>
              </a:rPr>
              <a:t>입고거래명세서</a:t>
            </a:r>
          </a:p>
        </p:txBody>
      </p:sp>
      <p:sp>
        <p:nvSpPr>
          <p:cNvPr id="34871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출력일시</a:t>
            </a:r>
          </a:p>
        </p:txBody>
      </p:sp>
      <p:sp>
        <p:nvSpPr>
          <p:cNvPr id="34872" name="TextBox 34"/>
          <p:cNvSpPr txBox="1">
            <a:spLocks noChangeArrowheads="1"/>
          </p:cNvSpPr>
          <p:nvPr/>
        </p:nvSpPr>
        <p:spPr bwMode="auto">
          <a:xfrm>
            <a:off x="517525" y="228600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34873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페이지</a:t>
            </a:r>
          </a:p>
        </p:txBody>
      </p:sp>
      <p:sp>
        <p:nvSpPr>
          <p:cNvPr id="34874" name="TextBox 34"/>
          <p:cNvSpPr txBox="1">
            <a:spLocks noChangeArrowheads="1"/>
          </p:cNvSpPr>
          <p:nvPr/>
        </p:nvSpPr>
        <p:spPr bwMode="auto">
          <a:xfrm>
            <a:off x="517525" y="200025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물류센터</a:t>
            </a:r>
          </a:p>
        </p:txBody>
      </p:sp>
      <p:sp>
        <p:nvSpPr>
          <p:cNvPr id="34875" name="TextBox 65"/>
          <p:cNvSpPr txBox="1">
            <a:spLocks noChangeArrowheads="1"/>
          </p:cNvSpPr>
          <p:nvPr/>
        </p:nvSpPr>
        <p:spPr bwMode="auto">
          <a:xfrm>
            <a:off x="51752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주문번호</a:t>
            </a:r>
          </a:p>
        </p:txBody>
      </p:sp>
      <p:sp>
        <p:nvSpPr>
          <p:cNvPr id="34876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바코드</a:t>
            </a:r>
            <a:r>
              <a:rPr lang="en-US" altLang="ko-KR" sz="900">
                <a:latin typeface="+mn-ea"/>
                <a:ea typeface="+mn-ea"/>
              </a:rPr>
              <a:t>(</a:t>
            </a:r>
            <a:r>
              <a:rPr lang="ko-KR" altLang="en-US" sz="900">
                <a:latin typeface="+mn-ea"/>
                <a:ea typeface="+mn-ea"/>
              </a:rPr>
              <a:t>주문번호</a:t>
            </a:r>
            <a:r>
              <a:rPr lang="en-US" altLang="ko-KR" sz="900">
                <a:latin typeface="+mn-ea"/>
                <a:ea typeface="+mn-ea"/>
              </a:rPr>
              <a:t>)</a:t>
            </a:r>
            <a:endParaRPr lang="ko-KR" altLang="en-US" sz="900">
              <a:latin typeface="+mn-ea"/>
              <a:ea typeface="+mn-ea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177203"/>
              </p:ext>
            </p:extLst>
          </p:nvPr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0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17896</TotalTime>
  <Words>1454</Words>
  <Application>Microsoft Office PowerPoint</Application>
  <PresentationFormat>A4 용지(210x297mm)</PresentationFormat>
  <Paragraphs>1192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Optima</vt:lpstr>
      <vt:lpstr>굴림체</vt:lpstr>
      <vt:lpstr>Arial</vt:lpstr>
      <vt:lpstr>굴림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jklee</cp:lastModifiedBy>
  <cp:revision>982</cp:revision>
  <dcterms:created xsi:type="dcterms:W3CDTF">2002-03-20T01:19:40Z</dcterms:created>
  <dcterms:modified xsi:type="dcterms:W3CDTF">2016-11-08T05:06:32Z</dcterms:modified>
</cp:coreProperties>
</file>