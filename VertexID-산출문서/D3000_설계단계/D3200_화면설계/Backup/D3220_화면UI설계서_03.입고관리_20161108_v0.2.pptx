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9"/>
  </p:notesMasterIdLst>
  <p:handoutMasterIdLst>
    <p:handoutMasterId r:id="rId20"/>
  </p:handoutMasterIdLst>
  <p:sldIdLst>
    <p:sldId id="279" r:id="rId2"/>
    <p:sldId id="280" r:id="rId3"/>
    <p:sldId id="284" r:id="rId4"/>
    <p:sldId id="281" r:id="rId5"/>
    <p:sldId id="282" r:id="rId6"/>
    <p:sldId id="283" r:id="rId7"/>
    <p:sldId id="286" r:id="rId8"/>
    <p:sldId id="285" r:id="rId9"/>
    <p:sldId id="287" r:id="rId10"/>
    <p:sldId id="288" r:id="rId11"/>
    <p:sldId id="293" r:id="rId12"/>
    <p:sldId id="292" r:id="rId13"/>
    <p:sldId id="295" r:id="rId14"/>
    <p:sldId id="289" r:id="rId15"/>
    <p:sldId id="290" r:id="rId16"/>
    <p:sldId id="291" r:id="rId17"/>
    <p:sldId id="294" r:id="rId18"/>
  </p:sldIdLst>
  <p:sldSz cx="9906000" cy="6858000" type="A4"/>
  <p:notesSz cx="9925050" cy="67929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6144">
          <p15:clr>
            <a:srgbClr val="A4A3A4"/>
          </p15:clr>
        </p15:guide>
        <p15:guide id="3" pos="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9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66"/>
    <a:srgbClr val="538ED5"/>
    <a:srgbClr val="E1D8D3"/>
    <a:srgbClr val="B2B2B2"/>
    <a:srgbClr val="D7DACC"/>
    <a:srgbClr val="EAEAEA"/>
    <a:srgbClr val="5E7586"/>
    <a:srgbClr val="CCE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3" autoAdjust="0"/>
    <p:restoredTop sz="93623" autoAdjust="0"/>
  </p:normalViewPr>
  <p:slideViewPr>
    <p:cSldViewPr>
      <p:cViewPr varScale="1">
        <p:scale>
          <a:sx n="124" d="100"/>
          <a:sy n="124" d="100"/>
        </p:scale>
        <p:origin x="1212" y="96"/>
      </p:cViewPr>
      <p:guideLst>
        <p:guide orient="horz" pos="4247"/>
        <p:guide pos="6144"/>
        <p:guide pos="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4" d="100"/>
          <a:sy n="134" d="100"/>
        </p:scale>
        <p:origin x="1512" y="102"/>
      </p:cViewPr>
      <p:guideLst>
        <p:guide orient="horz" pos="2139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6862FA8-109E-4E8D-BA66-2A25073151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338865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8238" cy="2546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225800"/>
            <a:ext cx="79406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altLang="ko-KR" noProof="0" dirty="0"/>
          </a:p>
          <a:p>
            <a:pPr lvl="4"/>
            <a:endParaRPr lang="ko-KR" altLang="en-US" noProof="0" dirty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5"/>
          </p:nvPr>
        </p:nvSpPr>
        <p:spPr>
          <a:xfrm>
            <a:off x="5621338" y="6451600"/>
            <a:ext cx="4302125" cy="339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2147F54-6D26-4272-BB05-3D68F8A7D9D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615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8A610CD-0E07-49BD-8F1B-D45A4CBF2049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803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5178D1D-C381-49C3-9D10-3EE8AC585467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2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686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BB5281A-F93C-4444-B81D-6F45948BFA94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3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 dirty="0" smtClean="0"/>
              <a:t>승인 시 팔레트 수량 단위로 팔레트 </a:t>
            </a:r>
            <a:r>
              <a:rPr lang="en-US" altLang="ko-KR" dirty="0" smtClean="0"/>
              <a:t>ID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생성</a:t>
            </a:r>
            <a:endParaRPr lang="en-US" altLang="ko-KR" baseline="0" dirty="0" smtClean="0"/>
          </a:p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0631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D0D2BEE-3059-419C-8EB0-1AC5E7B338CE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4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667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440084F-66A9-470F-8DE7-A5E3439CA420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5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7535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781376C-2108-43B1-B593-ABCE9A2DF4DC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6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627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BDBDA33-A9CB-4589-A3DC-97E2043BD6D8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7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889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B9E8134-EF38-4899-AB01-D7F29EA40145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8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329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C00A407-FF6B-4D8B-AEEF-A84C300D94AB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9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3022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0C04593-CDE0-4AD3-90B3-2987782093B8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10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664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930BEB0-789C-41AE-982B-3CA5E4281A51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11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8858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BB964A6-D602-41AB-838B-7DA3B89AC8EE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12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2862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440084F-66A9-470F-8DE7-A5E3439CA420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13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91044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2DC492B-40E4-406C-9B3A-48AA3E121080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14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445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FD46782-3AEC-44BC-B5D5-660A8439C9E4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15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7550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1080698-06D4-4057-9415-454A84E94876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16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42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4E84380-57FE-4FC9-9E11-97D2465F4965}" type="slidenum">
              <a:rPr lang="en-US" altLang="ko-KR" smtClean="0">
                <a:latin typeface="Optima" panose="00000400000000000000" pitchFamily="2" charset="2"/>
                <a:ea typeface="굴림체" panose="020B0609000101010101" pitchFamily="49" charset="-127"/>
              </a:rPr>
              <a:pPr>
                <a:spcBef>
                  <a:spcPct val="0"/>
                </a:spcBef>
              </a:pPr>
              <a:t>17</a:t>
            </a:fld>
            <a:endParaRPr lang="en-US" altLang="ko-KR">
              <a:latin typeface="Optima" panose="00000400000000000000" pitchFamily="2" charset="2"/>
              <a:ea typeface="굴림체" panose="020B0609000101010101" pitchFamily="49" charset="-127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513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819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9"/>
          <p:cNvSpPr>
            <a:spLocks noChangeShapeType="1"/>
          </p:cNvSpPr>
          <p:nvPr userDrawn="1"/>
        </p:nvSpPr>
        <p:spPr bwMode="auto">
          <a:xfrm>
            <a:off x="220663" y="6524625"/>
            <a:ext cx="9432925" cy="0"/>
          </a:xfrm>
          <a:prstGeom prst="line">
            <a:avLst/>
          </a:prstGeom>
          <a:noFill/>
          <a:ln w="22225">
            <a:solidFill>
              <a:srgbClr val="7A6F5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14529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333552"/>
              </p:ext>
            </p:extLst>
          </p:nvPr>
        </p:nvGraphicFramePr>
        <p:xfrm>
          <a:off x="203200" y="260350"/>
          <a:ext cx="9474200" cy="692154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5108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2565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50971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창고관리시스템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(WMS)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구축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 공정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문서명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페이지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9" name="Text Box 162"/>
          <p:cNvSpPr txBox="1">
            <a:spLocks noChangeArrowheads="1"/>
          </p:cNvSpPr>
          <p:nvPr userDrawn="1"/>
        </p:nvSpPr>
        <p:spPr bwMode="auto">
          <a:xfrm>
            <a:off x="6865938" y="261938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ko-KR" altLang="ko-KR" sz="900" b="1">
              <a:solidFill>
                <a:srgbClr val="777777"/>
              </a:solidFill>
              <a:latin typeface="+mn-ea"/>
              <a:ea typeface="+mn-ea"/>
            </a:endParaRPr>
          </a:p>
        </p:txBody>
      </p:sp>
      <p:sp>
        <p:nvSpPr>
          <p:cNvPr id="1061" name="Text Box 165"/>
          <p:cNvSpPr txBox="1">
            <a:spLocks noChangeArrowheads="1"/>
          </p:cNvSpPr>
          <p:nvPr userDrawn="1"/>
        </p:nvSpPr>
        <p:spPr bwMode="auto">
          <a:xfrm>
            <a:off x="1219200" y="476250"/>
            <a:ext cx="4957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D3000_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설계단계</a:t>
            </a:r>
          </a:p>
        </p:txBody>
      </p:sp>
      <p:sp>
        <p:nvSpPr>
          <p:cNvPr id="1062" name="Text Box 166"/>
          <p:cNvSpPr txBox="1">
            <a:spLocks noChangeArrowheads="1"/>
          </p:cNvSpPr>
          <p:nvPr userDrawn="1"/>
        </p:nvSpPr>
        <p:spPr bwMode="auto">
          <a:xfrm>
            <a:off x="1219200" y="711200"/>
            <a:ext cx="49482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D3220_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화면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UI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설계서</a:t>
            </a:r>
          </a:p>
        </p:txBody>
      </p:sp>
      <p:graphicFrame>
        <p:nvGraphicFramePr>
          <p:cNvPr id="10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987720"/>
              </p:ext>
            </p:extLst>
          </p:nvPr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 userDrawn="1"/>
        </p:nvSpPr>
        <p:spPr>
          <a:xfrm>
            <a:off x="7024688" y="723900"/>
            <a:ext cx="1143000" cy="2301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fld id="{C281E71A-C618-4194-8508-9F99E59270D4}" type="slidenum">
              <a:rPr lang="ko-KR" altLang="en-US" sz="900" b="1" smtClean="0">
                <a:solidFill>
                  <a:srgbClr val="7F7F7F"/>
                </a:solidFill>
                <a:latin typeface="+mn-ea"/>
                <a:ea typeface="+mn-ea"/>
              </a:rPr>
              <a:pPr algn="ctr" eaLnBrk="1" latinLnBrk="1" hangingPunct="1">
                <a:defRPr/>
              </a:pPr>
              <a:t>‹#›</a:t>
            </a:fld>
            <a:endParaRPr lang="ko-KR" altLang="en-US" sz="900" b="1">
              <a:solidFill>
                <a:srgbClr val="7F7F7F"/>
              </a:solidFill>
              <a:latin typeface="+mn-ea"/>
              <a:ea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694" y="6578811"/>
            <a:ext cx="816894" cy="196532"/>
          </a:xfrm>
          <a:prstGeom prst="rect">
            <a:avLst/>
          </a:prstGeom>
        </p:spPr>
      </p:pic>
      <p:pic>
        <p:nvPicPr>
          <p:cNvPr id="1072" name="그림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2892" y="415868"/>
            <a:ext cx="1460221" cy="377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입하예정등록</a:t>
            </a:r>
            <a:r>
              <a:rPr lang="en-US" altLang="ko-KR" sz="900">
                <a:latin typeface="+mn-ea"/>
                <a:ea typeface="+mn-ea"/>
              </a:rPr>
              <a:t>/ </a:t>
            </a:r>
            <a:r>
              <a:rPr lang="ko-KR" altLang="en-US" sz="900">
                <a:latin typeface="+mn-ea"/>
                <a:ea typeface="+mn-ea"/>
              </a:rPr>
              <a:t>내역조회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942886"/>
              </p:ext>
            </p:extLst>
          </p:nvPr>
        </p:nvGraphicFramePr>
        <p:xfrm>
          <a:off x="379413" y="2640013"/>
          <a:ext cx="9038082" cy="496277"/>
        </p:xfrm>
        <a:graphic>
          <a:graphicData uri="http://schemas.openxmlformats.org/drawingml/2006/table">
            <a:tbl>
              <a:tblPr/>
              <a:tblGrid>
                <a:gridCol w="22061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1921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28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457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6288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58002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6288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74574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854478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854478"/>
                <a:gridCol w="854478"/>
                <a:gridCol w="854478"/>
                <a:gridCol w="854478"/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발주번호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발주일자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검수확정일시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 11:20:33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정상입고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38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689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4139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입하예정 내역</a:t>
            </a:r>
          </a:p>
        </p:txBody>
      </p:sp>
      <p:sp>
        <p:nvSpPr>
          <p:cNvPr id="4140" name="직사각형 51"/>
          <p:cNvSpPr>
            <a:spLocks noChangeArrowheads="1"/>
          </p:cNvSpPr>
          <p:nvPr/>
        </p:nvSpPr>
        <p:spPr bwMode="auto">
          <a:xfrm>
            <a:off x="848836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4141" name="직사각형 51"/>
          <p:cNvSpPr>
            <a:spLocks noChangeArrowheads="1"/>
          </p:cNvSpPr>
          <p:nvPr/>
        </p:nvSpPr>
        <p:spPr bwMode="auto">
          <a:xfrm>
            <a:off x="7399338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414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414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4144" name="직사각형 51"/>
          <p:cNvSpPr>
            <a:spLocks noChangeArrowheads="1"/>
          </p:cNvSpPr>
          <p:nvPr/>
        </p:nvSpPr>
        <p:spPr bwMode="auto">
          <a:xfrm>
            <a:off x="7945438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+mn-ea"/>
                <a:ea typeface="+mn-ea"/>
              </a:rPr>
              <a:t>신규</a:t>
            </a:r>
          </a:p>
        </p:txBody>
      </p:sp>
      <p:sp>
        <p:nvSpPr>
          <p:cNvPr id="4145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4146" name="직사각형 54"/>
          <p:cNvSpPr>
            <a:spLocks noChangeArrowheads="1"/>
          </p:cNvSpPr>
          <p:nvPr/>
        </p:nvSpPr>
        <p:spPr bwMode="auto">
          <a:xfrm>
            <a:off x="309563" y="4395788"/>
            <a:ext cx="9215437" cy="17700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4147" name="TextBox 55"/>
          <p:cNvSpPr txBox="1">
            <a:spLocks noChangeArrowheads="1"/>
          </p:cNvSpPr>
          <p:nvPr/>
        </p:nvSpPr>
        <p:spPr bwMode="auto">
          <a:xfrm>
            <a:off x="381000" y="427196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입하예정상세</a:t>
            </a:r>
          </a:p>
        </p:txBody>
      </p:sp>
      <p:graphicFrame>
        <p:nvGraphicFramePr>
          <p:cNvPr id="5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278351"/>
              </p:ext>
            </p:extLst>
          </p:nvPr>
        </p:nvGraphicFramePr>
        <p:xfrm>
          <a:off x="379413" y="4502150"/>
          <a:ext cx="9038084" cy="503297"/>
        </p:xfrm>
        <a:graphic>
          <a:graphicData uri="http://schemas.openxmlformats.org/drawingml/2006/table">
            <a:tbl>
              <a:tblPr/>
              <a:tblGrid>
                <a:gridCol w="3096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7288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5065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11827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7406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7137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9817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83029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98177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498177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98177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484533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84533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484533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864591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</a:tblGrid>
              <a:tr h="14475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완료수량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7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137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23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426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426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423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4239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4240" name="TextBox 65"/>
          <p:cNvSpPr txBox="1">
            <a:spLocks noChangeArrowheads="1"/>
          </p:cNvSpPr>
          <p:nvPr/>
        </p:nvSpPr>
        <p:spPr bwMode="auto">
          <a:xfrm>
            <a:off x="296863" y="1340644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+mn-ea"/>
                <a:ea typeface="+mn-ea"/>
              </a:rPr>
              <a:t>고객사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4241" name="직사각형 66"/>
          <p:cNvSpPr>
            <a:spLocks noChangeArrowheads="1"/>
          </p:cNvSpPr>
          <p:nvPr/>
        </p:nvSpPr>
        <p:spPr bwMode="auto">
          <a:xfrm>
            <a:off x="1239838" y="1350169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+mn-ea"/>
                <a:ea typeface="+mn-ea"/>
              </a:rPr>
              <a:t>0000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242" name="TextBox 65"/>
          <p:cNvSpPr txBox="1">
            <a:spLocks noChangeArrowheads="1"/>
          </p:cNvSpPr>
          <p:nvPr/>
        </p:nvSpPr>
        <p:spPr bwMode="auto">
          <a:xfrm>
            <a:off x="3555815" y="1369463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입고예정일자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4243" name="직사각형 66"/>
          <p:cNvSpPr>
            <a:spLocks noChangeArrowheads="1"/>
          </p:cNvSpPr>
          <p:nvPr/>
        </p:nvSpPr>
        <p:spPr bwMode="auto">
          <a:xfrm>
            <a:off x="4497203" y="1356763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2016-10-27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44" name="직사각형 66"/>
          <p:cNvSpPr>
            <a:spLocks noChangeArrowheads="1"/>
          </p:cNvSpPr>
          <p:nvPr/>
        </p:nvSpPr>
        <p:spPr bwMode="auto">
          <a:xfrm>
            <a:off x="5714815" y="1356763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2016-11-03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45" name="직사각형 48"/>
          <p:cNvSpPr>
            <a:spLocks noChangeArrowheads="1"/>
          </p:cNvSpPr>
          <p:nvPr/>
        </p:nvSpPr>
        <p:spPr bwMode="auto">
          <a:xfrm>
            <a:off x="5354453" y="1356763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46" name="직사각형 48"/>
          <p:cNvSpPr>
            <a:spLocks noChangeArrowheads="1"/>
          </p:cNvSpPr>
          <p:nvPr/>
        </p:nvSpPr>
        <p:spPr bwMode="auto">
          <a:xfrm>
            <a:off x="6572065" y="1356763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47" name="TextBox 65"/>
          <p:cNvSpPr txBox="1">
            <a:spLocks noChangeArrowheads="1"/>
          </p:cNvSpPr>
          <p:nvPr/>
        </p:nvSpPr>
        <p:spPr bwMode="auto">
          <a:xfrm>
            <a:off x="5486215" y="1339301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4248" name="TextBox 65"/>
          <p:cNvSpPr txBox="1">
            <a:spLocks noChangeArrowheads="1"/>
          </p:cNvSpPr>
          <p:nvPr/>
        </p:nvSpPr>
        <p:spPr bwMode="auto">
          <a:xfrm>
            <a:off x="6784605" y="1354932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4249" name="직사각형 66"/>
          <p:cNvSpPr>
            <a:spLocks noChangeArrowheads="1"/>
          </p:cNvSpPr>
          <p:nvPr/>
        </p:nvSpPr>
        <p:spPr bwMode="auto">
          <a:xfrm>
            <a:off x="7687893" y="1354932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입고예정</a:t>
            </a:r>
          </a:p>
        </p:txBody>
      </p:sp>
      <p:sp>
        <p:nvSpPr>
          <p:cNvPr id="4250" name="TextBox 65"/>
          <p:cNvSpPr txBox="1">
            <a:spLocks noChangeArrowheads="1"/>
          </p:cNvSpPr>
          <p:nvPr/>
        </p:nvSpPr>
        <p:spPr bwMode="auto">
          <a:xfrm>
            <a:off x="3430353" y="1692366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입고번호</a:t>
            </a:r>
          </a:p>
        </p:txBody>
      </p:sp>
      <p:sp>
        <p:nvSpPr>
          <p:cNvPr id="4251" name="직사각형 66"/>
          <p:cNvSpPr>
            <a:spLocks noChangeArrowheads="1"/>
          </p:cNvSpPr>
          <p:nvPr/>
        </p:nvSpPr>
        <p:spPr bwMode="auto">
          <a:xfrm>
            <a:off x="4482631" y="1693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252" name="TextBox 65"/>
          <p:cNvSpPr txBox="1">
            <a:spLocks noChangeArrowheads="1"/>
          </p:cNvSpPr>
          <p:nvPr/>
        </p:nvSpPr>
        <p:spPr bwMode="auto">
          <a:xfrm>
            <a:off x="6784606" y="1637262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차량번호</a:t>
            </a:r>
          </a:p>
        </p:txBody>
      </p:sp>
      <p:sp>
        <p:nvSpPr>
          <p:cNvPr id="4253" name="직사각형 66"/>
          <p:cNvSpPr>
            <a:spLocks noChangeArrowheads="1"/>
          </p:cNvSpPr>
          <p:nvPr/>
        </p:nvSpPr>
        <p:spPr bwMode="auto">
          <a:xfrm>
            <a:off x="7687893" y="1637262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06</a:t>
            </a:r>
            <a:r>
              <a:rPr lang="ko-KR" altLang="en-US">
                <a:latin typeface="+mn-ea"/>
                <a:ea typeface="+mn-ea"/>
              </a:rPr>
              <a:t>머</a:t>
            </a:r>
            <a:r>
              <a:rPr lang="en-US" altLang="ko-KR">
                <a:latin typeface="+mn-ea"/>
                <a:ea typeface="+mn-ea"/>
              </a:rPr>
              <a:t>-0407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54" name="직사각형 66"/>
          <p:cNvSpPr>
            <a:spLocks noChangeArrowheads="1"/>
          </p:cNvSpPr>
          <p:nvPr/>
        </p:nvSpPr>
        <p:spPr bwMode="auto">
          <a:xfrm>
            <a:off x="1239838" y="169386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+mn-ea"/>
                <a:ea typeface="+mn-ea"/>
              </a:rPr>
              <a:t>정상입고</a:t>
            </a:r>
          </a:p>
        </p:txBody>
      </p:sp>
      <p:sp>
        <p:nvSpPr>
          <p:cNvPr id="4255" name="직사각형 33"/>
          <p:cNvSpPr>
            <a:spLocks noChangeArrowheads="1"/>
          </p:cNvSpPr>
          <p:nvPr/>
        </p:nvSpPr>
        <p:spPr bwMode="auto">
          <a:xfrm>
            <a:off x="2105025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4256" name="직사각형 42"/>
          <p:cNvSpPr>
            <a:spLocks noChangeArrowheads="1"/>
          </p:cNvSpPr>
          <p:nvPr/>
        </p:nvSpPr>
        <p:spPr bwMode="auto">
          <a:xfrm>
            <a:off x="9705975" y="4387850"/>
            <a:ext cx="1357313" cy="19288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+mn-ea"/>
                <a:ea typeface="+mn-ea"/>
              </a:rPr>
              <a:t>※</a:t>
            </a:r>
            <a:r>
              <a:rPr lang="ko-KR" altLang="en-US" sz="900" dirty="0">
                <a:latin typeface="+mn-ea"/>
                <a:ea typeface="+mn-ea"/>
              </a:rPr>
              <a:t>진행상태</a:t>
            </a:r>
            <a:endParaRPr lang="en-US" altLang="ko-KR" sz="900" dirty="0">
              <a:latin typeface="+mn-ea"/>
              <a:ea typeface="+mn-ea"/>
            </a:endParaRPr>
          </a:p>
          <a:p>
            <a:pPr eaLnBrk="1" hangingPunct="1"/>
            <a:r>
              <a:rPr lang="ko-KR" altLang="en-US" sz="900" dirty="0">
                <a:latin typeface="+mn-ea"/>
                <a:ea typeface="+mn-ea"/>
              </a:rPr>
              <a:t>예정</a:t>
            </a:r>
            <a:endParaRPr lang="en-US" altLang="ko-KR" sz="900" dirty="0">
              <a:latin typeface="+mn-ea"/>
              <a:ea typeface="+mn-ea"/>
            </a:endParaRPr>
          </a:p>
          <a:p>
            <a:pPr eaLnBrk="1" hangingPunct="1"/>
            <a:r>
              <a:rPr lang="ko-KR" altLang="en-US" sz="900" dirty="0">
                <a:latin typeface="+mn-ea"/>
                <a:ea typeface="+mn-ea"/>
              </a:rPr>
              <a:t>승인</a:t>
            </a:r>
            <a:endParaRPr lang="en-US" altLang="ko-KR" sz="900" dirty="0">
              <a:latin typeface="+mn-ea"/>
              <a:ea typeface="+mn-ea"/>
            </a:endParaRPr>
          </a:p>
          <a:p>
            <a:pPr eaLnBrk="1" hangingPunct="1"/>
            <a:r>
              <a:rPr lang="ko-KR" altLang="en-US" sz="900" dirty="0" smtClean="0">
                <a:latin typeface="+mn-ea"/>
                <a:ea typeface="+mn-ea"/>
              </a:rPr>
              <a:t>검수</a:t>
            </a:r>
            <a:endParaRPr lang="en-US" altLang="ko-KR" sz="900" dirty="0" smtClean="0">
              <a:latin typeface="+mn-ea"/>
              <a:ea typeface="+mn-ea"/>
            </a:endParaRPr>
          </a:p>
          <a:p>
            <a:pPr eaLnBrk="1" hangingPunct="1"/>
            <a:r>
              <a:rPr lang="ko-KR" altLang="en-US" sz="900" dirty="0" smtClean="0">
                <a:latin typeface="+mn-ea"/>
                <a:ea typeface="+mn-ea"/>
              </a:rPr>
              <a:t>지시</a:t>
            </a:r>
            <a:endParaRPr lang="en-US" altLang="ko-KR" sz="900" dirty="0">
              <a:latin typeface="+mn-ea"/>
              <a:ea typeface="+mn-ea"/>
            </a:endParaRPr>
          </a:p>
          <a:p>
            <a:pPr eaLnBrk="1" hangingPunct="1"/>
            <a:r>
              <a:rPr lang="ko-KR" altLang="en-US" sz="900" dirty="0">
                <a:latin typeface="+mn-ea"/>
                <a:ea typeface="+mn-ea"/>
              </a:rPr>
              <a:t>적치</a:t>
            </a:r>
            <a:endParaRPr lang="en-US" altLang="ko-KR" sz="900" dirty="0">
              <a:latin typeface="+mn-ea"/>
              <a:ea typeface="+mn-ea"/>
            </a:endParaRPr>
          </a:p>
          <a:p>
            <a:pPr eaLnBrk="1" hangingPunct="1"/>
            <a:r>
              <a:rPr lang="ko-KR" altLang="en-US" sz="900" dirty="0">
                <a:latin typeface="+mn-ea"/>
                <a:ea typeface="+mn-ea"/>
              </a:rPr>
              <a:t>확정</a:t>
            </a:r>
            <a:endParaRPr lang="en-US" altLang="ko-KR" sz="900" dirty="0">
              <a:latin typeface="+mn-ea"/>
              <a:ea typeface="+mn-ea"/>
            </a:endParaRPr>
          </a:p>
          <a:p>
            <a:pPr eaLnBrk="1" hangingPunct="1"/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4257" name="직사각형 48"/>
          <p:cNvSpPr>
            <a:spLocks noChangeArrowheads="1"/>
          </p:cNvSpPr>
          <p:nvPr/>
        </p:nvSpPr>
        <p:spPr bwMode="auto">
          <a:xfrm>
            <a:off x="2298700" y="1346994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58" name="직사각형 66"/>
          <p:cNvSpPr>
            <a:spLocks noChangeArrowheads="1"/>
          </p:cNvSpPr>
          <p:nvPr/>
        </p:nvSpPr>
        <p:spPr bwMode="auto">
          <a:xfrm>
            <a:off x="2498725" y="1354932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sp>
        <p:nvSpPr>
          <p:cNvPr id="4259" name="직사각형 33"/>
          <p:cNvSpPr>
            <a:spLocks noChangeArrowheads="1"/>
          </p:cNvSpPr>
          <p:nvPr/>
        </p:nvSpPr>
        <p:spPr bwMode="auto">
          <a:xfrm>
            <a:off x="8549905" y="135493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42" name="TextBox 65"/>
          <p:cNvSpPr txBox="1">
            <a:spLocks noChangeArrowheads="1"/>
          </p:cNvSpPr>
          <p:nvPr/>
        </p:nvSpPr>
        <p:spPr bwMode="auto">
          <a:xfrm>
            <a:off x="311150" y="20542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공급처</a:t>
            </a:r>
          </a:p>
        </p:txBody>
      </p:sp>
      <p:sp>
        <p:nvSpPr>
          <p:cNvPr id="43" name="직사각형 66"/>
          <p:cNvSpPr>
            <a:spLocks noChangeArrowheads="1"/>
          </p:cNvSpPr>
          <p:nvPr/>
        </p:nvSpPr>
        <p:spPr bwMode="auto">
          <a:xfrm>
            <a:off x="1254125" y="2063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44" name="직사각형 48"/>
          <p:cNvSpPr>
            <a:spLocks noChangeArrowheads="1"/>
          </p:cNvSpPr>
          <p:nvPr/>
        </p:nvSpPr>
        <p:spPr bwMode="auto">
          <a:xfrm>
            <a:off x="2312988" y="20605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5" name="직사각형 66"/>
          <p:cNvSpPr>
            <a:spLocks noChangeArrowheads="1"/>
          </p:cNvSpPr>
          <p:nvPr/>
        </p:nvSpPr>
        <p:spPr bwMode="auto">
          <a:xfrm>
            <a:off x="2513013" y="20685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003097"/>
              </p:ext>
            </p:extLst>
          </p:nvPr>
        </p:nvGraphicFramePr>
        <p:xfrm>
          <a:off x="381000" y="5157192"/>
          <a:ext cx="9036495" cy="466395"/>
        </p:xfrm>
        <a:graphic>
          <a:graphicData uri="http://schemas.openxmlformats.org/drawingml/2006/table">
            <a:tbl>
              <a:tblPr/>
              <a:tblGrid>
                <a:gridCol w="1004055"/>
                <a:gridCol w="1004055"/>
                <a:gridCol w="1004055"/>
                <a:gridCol w="1004055"/>
                <a:gridCol w="1004055"/>
                <a:gridCol w="1004055"/>
                <a:gridCol w="1004055"/>
                <a:gridCol w="1004055"/>
                <a:gridCol w="1004055"/>
              </a:tblGrid>
              <a:tr h="25690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</a:tr>
              <a:tr h="2094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입하예정등록 팝업</a:t>
            </a:r>
          </a:p>
        </p:txBody>
      </p:sp>
      <p:sp>
        <p:nvSpPr>
          <p:cNvPr id="6147" name="직사각형 54"/>
          <p:cNvSpPr>
            <a:spLocks noChangeArrowheads="1"/>
          </p:cNvSpPr>
          <p:nvPr/>
        </p:nvSpPr>
        <p:spPr bwMode="auto">
          <a:xfrm>
            <a:off x="309563" y="1571625"/>
            <a:ext cx="9215437" cy="48101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6148" name="직사각형 51"/>
          <p:cNvSpPr>
            <a:spLocks noChangeArrowheads="1"/>
          </p:cNvSpPr>
          <p:nvPr/>
        </p:nvSpPr>
        <p:spPr bwMode="auto">
          <a:xfrm>
            <a:off x="8999538" y="13144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614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615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6151" name="직사각형 51"/>
          <p:cNvSpPr>
            <a:spLocks noChangeArrowheads="1"/>
          </p:cNvSpPr>
          <p:nvPr/>
        </p:nvSpPr>
        <p:spPr bwMode="auto">
          <a:xfrm>
            <a:off x="8459788" y="13144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저장</a:t>
            </a:r>
          </a:p>
        </p:txBody>
      </p:sp>
      <p:grpSp>
        <p:nvGrpSpPr>
          <p:cNvPr id="6152" name="그룹 52"/>
          <p:cNvGrpSpPr>
            <a:grpSpLocks/>
          </p:cNvGrpSpPr>
          <p:nvPr/>
        </p:nvGrpSpPr>
        <p:grpSpPr bwMode="auto">
          <a:xfrm>
            <a:off x="5794276" y="1682750"/>
            <a:ext cx="2071687" cy="230188"/>
            <a:chOff x="3238492" y="1428736"/>
            <a:chExt cx="2071698" cy="230832"/>
          </a:xfrm>
          <a:noFill/>
        </p:grpSpPr>
        <p:sp>
          <p:nvSpPr>
            <p:cNvPr id="622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+mn-ea"/>
                  <a:ea typeface="+mn-ea"/>
                </a:rPr>
                <a:t>*</a:t>
              </a:r>
              <a:r>
                <a:rPr lang="ko-KR" altLang="en-US" sz="900" dirty="0" err="1">
                  <a:latin typeface="+mn-ea"/>
                  <a:ea typeface="+mn-ea"/>
                </a:rPr>
                <a:t>고객사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6223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6154" name="직사각형 66"/>
          <p:cNvSpPr>
            <a:spLocks noChangeArrowheads="1"/>
          </p:cNvSpPr>
          <p:nvPr/>
        </p:nvSpPr>
        <p:spPr bwMode="auto">
          <a:xfrm>
            <a:off x="8100913" y="16859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>
              <a:latin typeface="+mn-ea"/>
              <a:ea typeface="+mn-ea"/>
            </a:endParaRPr>
          </a:p>
        </p:txBody>
      </p:sp>
      <p:sp>
        <p:nvSpPr>
          <p:cNvPr id="6155" name="TextBox 65"/>
          <p:cNvSpPr txBox="1">
            <a:spLocks noChangeArrowheads="1"/>
          </p:cNvSpPr>
          <p:nvPr/>
        </p:nvSpPr>
        <p:spPr bwMode="auto">
          <a:xfrm>
            <a:off x="377825" y="17526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입고예정번호</a:t>
            </a:r>
          </a:p>
        </p:txBody>
      </p:sp>
      <p:sp>
        <p:nvSpPr>
          <p:cNvPr id="95" name="직사각형 66"/>
          <p:cNvSpPr>
            <a:spLocks noChangeArrowheads="1"/>
          </p:cNvSpPr>
          <p:nvPr/>
        </p:nvSpPr>
        <p:spPr bwMode="auto">
          <a:xfrm>
            <a:off x="1447800" y="17510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>
              <a:latin typeface="+mn-ea"/>
              <a:ea typeface="+mn-ea"/>
            </a:endParaRPr>
          </a:p>
        </p:txBody>
      </p:sp>
      <p:sp>
        <p:nvSpPr>
          <p:cNvPr id="6157" name="TextBox 65"/>
          <p:cNvSpPr txBox="1">
            <a:spLocks noChangeArrowheads="1"/>
          </p:cNvSpPr>
          <p:nvPr/>
        </p:nvSpPr>
        <p:spPr bwMode="auto">
          <a:xfrm>
            <a:off x="371476" y="2119314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smtClean="0">
                <a:latin typeface="+mn-ea"/>
                <a:ea typeface="+mn-ea"/>
              </a:rPr>
              <a:t>발주번호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158" name="직사각형 66"/>
          <p:cNvSpPr>
            <a:spLocks noChangeArrowheads="1"/>
          </p:cNvSpPr>
          <p:nvPr/>
        </p:nvSpPr>
        <p:spPr bwMode="auto">
          <a:xfrm>
            <a:off x="1441451" y="2117726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6159" name="TextBox 65"/>
          <p:cNvSpPr txBox="1">
            <a:spLocks noChangeArrowheads="1"/>
          </p:cNvSpPr>
          <p:nvPr/>
        </p:nvSpPr>
        <p:spPr bwMode="auto">
          <a:xfrm>
            <a:off x="2792760" y="2115412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sz="900" dirty="0" smtClean="0">
                <a:latin typeface="+mn-ea"/>
                <a:ea typeface="+mn-ea"/>
              </a:rPr>
              <a:t>발주일자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160" name="직사각형 66"/>
          <p:cNvSpPr>
            <a:spLocks noChangeArrowheads="1"/>
          </p:cNvSpPr>
          <p:nvPr/>
        </p:nvSpPr>
        <p:spPr bwMode="auto">
          <a:xfrm>
            <a:off x="4133750" y="2113824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dirty="0" smtClean="0">
                <a:latin typeface="+mn-ea"/>
              </a:rPr>
              <a:t>2016-10-28</a:t>
            </a:r>
            <a:endParaRPr lang="ko-KR" altLang="en-US" dirty="0">
              <a:latin typeface="+mn-ea"/>
            </a:endParaRPr>
          </a:p>
        </p:txBody>
      </p:sp>
      <p:sp>
        <p:nvSpPr>
          <p:cNvPr id="6161" name="TextBox 65"/>
          <p:cNvSpPr txBox="1">
            <a:spLocks noChangeArrowheads="1"/>
          </p:cNvSpPr>
          <p:nvPr/>
        </p:nvSpPr>
        <p:spPr bwMode="auto">
          <a:xfrm>
            <a:off x="3054251" y="253537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6162" name="직사각형 66"/>
          <p:cNvSpPr>
            <a:spLocks noChangeArrowheads="1"/>
          </p:cNvSpPr>
          <p:nvPr/>
        </p:nvSpPr>
        <p:spPr bwMode="auto">
          <a:xfrm>
            <a:off x="4124226" y="253378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6165" name="TextBox 65"/>
          <p:cNvSpPr txBox="1">
            <a:spLocks noChangeArrowheads="1"/>
          </p:cNvSpPr>
          <p:nvPr/>
        </p:nvSpPr>
        <p:spPr bwMode="auto">
          <a:xfrm>
            <a:off x="374650" y="2555875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6166" name="직사각형 66"/>
          <p:cNvSpPr>
            <a:spLocks noChangeArrowheads="1"/>
          </p:cNvSpPr>
          <p:nvPr/>
        </p:nvSpPr>
        <p:spPr bwMode="auto">
          <a:xfrm>
            <a:off x="1444625" y="255428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6167" name="TextBox 65"/>
          <p:cNvSpPr txBox="1">
            <a:spLocks noChangeArrowheads="1"/>
          </p:cNvSpPr>
          <p:nvPr/>
        </p:nvSpPr>
        <p:spPr bwMode="auto">
          <a:xfrm>
            <a:off x="2936776" y="1791436"/>
            <a:ext cx="11588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+mn-ea"/>
                <a:ea typeface="+mn-ea"/>
              </a:rPr>
              <a:t>*</a:t>
            </a:r>
            <a:r>
              <a:rPr lang="ko-KR" altLang="en-US" sz="900" dirty="0">
                <a:latin typeface="+mn-ea"/>
                <a:ea typeface="+mn-ea"/>
              </a:rPr>
              <a:t>입고예정일자</a:t>
            </a:r>
          </a:p>
        </p:txBody>
      </p:sp>
      <p:sp>
        <p:nvSpPr>
          <p:cNvPr id="6168" name="직사각형 66"/>
          <p:cNvSpPr>
            <a:spLocks noChangeArrowheads="1"/>
          </p:cNvSpPr>
          <p:nvPr/>
        </p:nvSpPr>
        <p:spPr bwMode="auto">
          <a:xfrm>
            <a:off x="4138513" y="1778736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+mn-ea"/>
                <a:ea typeface="+mn-ea"/>
              </a:rPr>
              <a:t>2016-10-28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6169" name="직사각형 48"/>
          <p:cNvSpPr>
            <a:spLocks noChangeArrowheads="1"/>
          </p:cNvSpPr>
          <p:nvPr/>
        </p:nvSpPr>
        <p:spPr bwMode="auto">
          <a:xfrm>
            <a:off x="4995763" y="1772816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+mn-ea"/>
              </a:rPr>
              <a:t>▼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11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227844"/>
              </p:ext>
            </p:extLst>
          </p:nvPr>
        </p:nvGraphicFramePr>
        <p:xfrm>
          <a:off x="365123" y="3429000"/>
          <a:ext cx="8133953" cy="620714"/>
        </p:xfrm>
        <a:graphic>
          <a:graphicData uri="http://schemas.openxmlformats.org/drawingml/2006/table">
            <a:tbl>
              <a:tblPr/>
              <a:tblGrid>
                <a:gridCol w="28295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43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7026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88032"/>
                <a:gridCol w="504056"/>
                <a:gridCol w="24508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3687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9805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9805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39805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62782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662782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897306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759258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</a:tblGrid>
              <a:tr h="17836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유통기한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3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639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직사각형 33"/>
          <p:cNvSpPr>
            <a:spLocks noChangeArrowheads="1"/>
          </p:cNvSpPr>
          <p:nvPr/>
        </p:nvSpPr>
        <p:spPr bwMode="auto">
          <a:xfrm>
            <a:off x="4994175" y="2112237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6224" name="직사각형 48"/>
          <p:cNvSpPr>
            <a:spLocks noChangeArrowheads="1"/>
          </p:cNvSpPr>
          <p:nvPr/>
        </p:nvSpPr>
        <p:spPr bwMode="auto">
          <a:xfrm>
            <a:off x="1560940" y="3788281"/>
            <a:ext cx="144016" cy="2460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grpSp>
        <p:nvGrpSpPr>
          <p:cNvPr id="6225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625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625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6226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6227" name="직사각형 33"/>
          <p:cNvSpPr>
            <a:spLocks noChangeArrowheads="1"/>
          </p:cNvSpPr>
          <p:nvPr/>
        </p:nvSpPr>
        <p:spPr bwMode="auto">
          <a:xfrm>
            <a:off x="2293938" y="25479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3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363414"/>
              </p:ext>
            </p:extLst>
          </p:nvPr>
        </p:nvGraphicFramePr>
        <p:xfrm>
          <a:off x="374650" y="4149725"/>
          <a:ext cx="4362324" cy="642938"/>
        </p:xfrm>
        <a:graphic>
          <a:graphicData uri="http://schemas.openxmlformats.org/drawingml/2006/table">
            <a:tbl>
              <a:tblPr/>
              <a:tblGrid>
                <a:gridCol w="72705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270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70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2705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2705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2705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51" name="TextBox 65"/>
          <p:cNvSpPr txBox="1">
            <a:spLocks noChangeArrowheads="1"/>
          </p:cNvSpPr>
          <p:nvPr/>
        </p:nvSpPr>
        <p:spPr bwMode="auto">
          <a:xfrm>
            <a:off x="5789513" y="2062436"/>
            <a:ext cx="1071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공급처</a:t>
            </a:r>
          </a:p>
        </p:txBody>
      </p:sp>
      <p:sp>
        <p:nvSpPr>
          <p:cNvPr id="6252" name="직사각형 66"/>
          <p:cNvSpPr>
            <a:spLocks noChangeArrowheads="1"/>
          </p:cNvSpPr>
          <p:nvPr/>
        </p:nvSpPr>
        <p:spPr bwMode="auto">
          <a:xfrm>
            <a:off x="6859488" y="2060848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6253" name="직사각형 48"/>
          <p:cNvSpPr>
            <a:spLocks noChangeArrowheads="1"/>
          </p:cNvSpPr>
          <p:nvPr/>
        </p:nvSpPr>
        <p:spPr bwMode="auto">
          <a:xfrm>
            <a:off x="7900888" y="2067198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1" name="직사각형 66"/>
          <p:cNvSpPr>
            <a:spLocks noChangeArrowheads="1"/>
          </p:cNvSpPr>
          <p:nvPr/>
        </p:nvSpPr>
        <p:spPr bwMode="auto">
          <a:xfrm>
            <a:off x="8097738" y="2065611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>
              <a:latin typeface="+mn-ea"/>
              <a:ea typeface="+mn-ea"/>
            </a:endParaRPr>
          </a:p>
        </p:txBody>
      </p:sp>
      <p:sp>
        <p:nvSpPr>
          <p:cNvPr id="6255" name="TextBox 65"/>
          <p:cNvSpPr txBox="1">
            <a:spLocks noChangeArrowheads="1"/>
          </p:cNvSpPr>
          <p:nvPr/>
        </p:nvSpPr>
        <p:spPr bwMode="auto">
          <a:xfrm>
            <a:off x="373063" y="296386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비고</a:t>
            </a:r>
          </a:p>
        </p:txBody>
      </p:sp>
      <p:sp>
        <p:nvSpPr>
          <p:cNvPr id="6256" name="직사각형 66"/>
          <p:cNvSpPr>
            <a:spLocks noChangeArrowheads="1"/>
          </p:cNvSpPr>
          <p:nvPr/>
        </p:nvSpPr>
        <p:spPr bwMode="auto">
          <a:xfrm>
            <a:off x="1443038" y="296227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44" name="직사각형 51"/>
          <p:cNvSpPr>
            <a:spLocks noChangeArrowheads="1"/>
          </p:cNvSpPr>
          <p:nvPr/>
        </p:nvSpPr>
        <p:spPr bwMode="auto">
          <a:xfrm>
            <a:off x="7918847" y="1317716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신규</a:t>
            </a:r>
            <a:endParaRPr lang="ko-KR" altLang="en-US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입하승인</a:t>
            </a:r>
          </a:p>
        </p:txBody>
      </p:sp>
      <p:sp>
        <p:nvSpPr>
          <p:cNvPr id="8195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2446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196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684213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입하승인</a:t>
            </a:r>
          </a:p>
        </p:txBody>
      </p:sp>
      <p:sp>
        <p:nvSpPr>
          <p:cNvPr id="8197" name="직사각형 51"/>
          <p:cNvSpPr>
            <a:spLocks noChangeArrowheads="1"/>
          </p:cNvSpPr>
          <p:nvPr/>
        </p:nvSpPr>
        <p:spPr bwMode="auto">
          <a:xfrm>
            <a:off x="7358262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819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819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8200" name="직사각형 51"/>
          <p:cNvSpPr>
            <a:spLocks noChangeArrowheads="1"/>
          </p:cNvSpPr>
          <p:nvPr/>
        </p:nvSpPr>
        <p:spPr bwMode="auto">
          <a:xfrm>
            <a:off x="7901187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+mn-ea"/>
                <a:ea typeface="+mn-ea"/>
              </a:rPr>
              <a:t>승인</a:t>
            </a:r>
          </a:p>
        </p:txBody>
      </p:sp>
      <p:sp>
        <p:nvSpPr>
          <p:cNvPr id="8201" name="직사각형 51"/>
          <p:cNvSpPr>
            <a:spLocks noChangeArrowheads="1"/>
          </p:cNvSpPr>
          <p:nvPr/>
        </p:nvSpPr>
        <p:spPr bwMode="auto">
          <a:xfrm>
            <a:off x="8444111" y="2274888"/>
            <a:ext cx="5413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승인취소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8202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8203" name="직사각형 54"/>
          <p:cNvSpPr>
            <a:spLocks noChangeArrowheads="1"/>
          </p:cNvSpPr>
          <p:nvPr/>
        </p:nvSpPr>
        <p:spPr bwMode="auto">
          <a:xfrm>
            <a:off x="310323" y="4143375"/>
            <a:ext cx="9214677" cy="21653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204" name="TextBox 55"/>
          <p:cNvSpPr txBox="1">
            <a:spLocks noChangeArrowheads="1"/>
          </p:cNvSpPr>
          <p:nvPr/>
        </p:nvSpPr>
        <p:spPr bwMode="auto">
          <a:xfrm>
            <a:off x="381761" y="4019550"/>
            <a:ext cx="92868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입하검수상세</a:t>
            </a:r>
          </a:p>
        </p:txBody>
      </p:sp>
      <p:graphicFrame>
        <p:nvGraphicFramePr>
          <p:cNvPr id="3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342605"/>
              </p:ext>
            </p:extLst>
          </p:nvPr>
        </p:nvGraphicFramePr>
        <p:xfrm>
          <a:off x="355600" y="2640013"/>
          <a:ext cx="9061893" cy="496887"/>
        </p:xfrm>
        <a:graphic>
          <a:graphicData uri="http://schemas.openxmlformats.org/drawingml/2006/table">
            <a:tbl>
              <a:tblPr/>
              <a:tblGrid>
                <a:gridCol w="22436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336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0047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4894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1150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1150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67378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0204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0204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602040"/>
                <a:gridCol w="60204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61405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61405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61405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61405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</a:tblGrid>
              <a:tr h="2823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고객사명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발주번호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승인일시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승인자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정상입고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2016.10.28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이종혁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입하예정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53" name="TextBox 55"/>
          <p:cNvSpPr txBox="1">
            <a:spLocks noChangeArrowheads="1"/>
          </p:cNvSpPr>
          <p:nvPr/>
        </p:nvSpPr>
        <p:spPr bwMode="auto">
          <a:xfrm>
            <a:off x="381761" y="4019550"/>
            <a:ext cx="92868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입하승인상세</a:t>
            </a:r>
          </a:p>
        </p:txBody>
      </p:sp>
      <p:graphicFrame>
        <p:nvGraphicFramePr>
          <p:cNvPr id="4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425979"/>
              </p:ext>
            </p:extLst>
          </p:nvPr>
        </p:nvGraphicFramePr>
        <p:xfrm>
          <a:off x="362711" y="4268788"/>
          <a:ext cx="9054785" cy="503920"/>
        </p:xfrm>
        <a:graphic>
          <a:graphicData uri="http://schemas.openxmlformats.org/drawingml/2006/table">
            <a:tbl>
              <a:tblPr/>
              <a:tblGrid>
                <a:gridCol w="38687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240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263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9721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1726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6883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1346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33933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709693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06263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591412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1301105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</a:tblGrid>
              <a:tr h="10715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31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834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834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831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8319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8320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+mn-ea"/>
                <a:ea typeface="+mn-ea"/>
              </a:rPr>
              <a:t>고객사코드</a:t>
            </a:r>
          </a:p>
        </p:txBody>
      </p:sp>
      <p:sp>
        <p:nvSpPr>
          <p:cNvPr id="8321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322" name="TextBox 65"/>
          <p:cNvSpPr txBox="1">
            <a:spLocks noChangeArrowheads="1"/>
          </p:cNvSpPr>
          <p:nvPr/>
        </p:nvSpPr>
        <p:spPr bwMode="auto">
          <a:xfrm>
            <a:off x="2865438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smtClean="0">
                <a:latin typeface="+mn-ea"/>
                <a:ea typeface="+mn-ea"/>
              </a:rPr>
              <a:t>입고예정일자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8323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324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325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8326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8327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8328" name="TextBox 65"/>
          <p:cNvSpPr txBox="1">
            <a:spLocks noChangeArrowheads="1"/>
          </p:cNvSpPr>
          <p:nvPr/>
        </p:nvSpPr>
        <p:spPr bwMode="auto">
          <a:xfrm>
            <a:off x="6361113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+mn-ea"/>
                <a:ea typeface="+mn-ea"/>
              </a:rPr>
              <a:t>진행상태</a:t>
            </a:r>
          </a:p>
        </p:txBody>
      </p:sp>
      <p:sp>
        <p:nvSpPr>
          <p:cNvPr id="8329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입하예정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8330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입고번호</a:t>
            </a:r>
          </a:p>
        </p:txBody>
      </p:sp>
      <p:sp>
        <p:nvSpPr>
          <p:cNvPr id="8331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332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8333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334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8335" name="직사각형 33"/>
          <p:cNvSpPr>
            <a:spLocks noChangeArrowheads="1"/>
          </p:cNvSpPr>
          <p:nvPr/>
        </p:nvSpPr>
        <p:spPr bwMode="auto">
          <a:xfrm>
            <a:off x="2103438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+mn-ea"/>
                <a:ea typeface="+mn-ea"/>
              </a:rPr>
              <a:t>▼</a:t>
            </a:r>
          </a:p>
        </p:txBody>
      </p:sp>
      <p:sp>
        <p:nvSpPr>
          <p:cNvPr id="8336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+mn-ea"/>
                <a:ea typeface="+mn-ea"/>
              </a:rPr>
              <a:t>▼</a:t>
            </a:r>
          </a:p>
        </p:txBody>
      </p:sp>
      <p:sp>
        <p:nvSpPr>
          <p:cNvPr id="8337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8338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sp>
        <p:nvSpPr>
          <p:cNvPr id="8341" name="TextBox 65"/>
          <p:cNvSpPr txBox="1">
            <a:spLocks noChangeArrowheads="1"/>
          </p:cNvSpPr>
          <p:nvPr/>
        </p:nvSpPr>
        <p:spPr bwMode="auto">
          <a:xfrm>
            <a:off x="311150" y="20542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공급처</a:t>
            </a:r>
          </a:p>
        </p:txBody>
      </p:sp>
      <p:sp>
        <p:nvSpPr>
          <p:cNvPr id="8342" name="직사각형 66"/>
          <p:cNvSpPr>
            <a:spLocks noChangeArrowheads="1"/>
          </p:cNvSpPr>
          <p:nvPr/>
        </p:nvSpPr>
        <p:spPr bwMode="auto">
          <a:xfrm>
            <a:off x="1254125" y="2063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343" name="직사각형 48"/>
          <p:cNvSpPr>
            <a:spLocks noChangeArrowheads="1"/>
          </p:cNvSpPr>
          <p:nvPr/>
        </p:nvSpPr>
        <p:spPr bwMode="auto">
          <a:xfrm>
            <a:off x="2312988" y="20605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8344" name="직사각형 66"/>
          <p:cNvSpPr>
            <a:spLocks noChangeArrowheads="1"/>
          </p:cNvSpPr>
          <p:nvPr/>
        </p:nvSpPr>
        <p:spPr bwMode="auto">
          <a:xfrm>
            <a:off x="2513013" y="20685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sp>
        <p:nvSpPr>
          <p:cNvPr id="52" name="TextBox 65"/>
          <p:cNvSpPr txBox="1">
            <a:spLocks noChangeArrowheads="1"/>
          </p:cNvSpPr>
          <p:nvPr/>
        </p:nvSpPr>
        <p:spPr bwMode="auto">
          <a:xfrm>
            <a:off x="2520198" y="6560021"/>
            <a:ext cx="193977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smtClean="0">
                <a:latin typeface="+mn-ea"/>
                <a:ea typeface="+mn-ea"/>
              </a:rPr>
              <a:t>진행상태 </a:t>
            </a:r>
            <a:r>
              <a:rPr lang="en-US" altLang="ko-KR" sz="900" dirty="0" smtClean="0">
                <a:latin typeface="+mn-ea"/>
                <a:ea typeface="+mn-ea"/>
              </a:rPr>
              <a:t>: </a:t>
            </a:r>
            <a:r>
              <a:rPr lang="ko-KR" altLang="en-US" sz="900" dirty="0" smtClean="0">
                <a:latin typeface="+mn-ea"/>
                <a:ea typeface="+mn-ea"/>
              </a:rPr>
              <a:t>입하예정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smtClean="0">
                <a:latin typeface="+mn-ea"/>
                <a:ea typeface="+mn-ea"/>
              </a:rPr>
              <a:t>입하승인</a:t>
            </a:r>
            <a:endParaRPr lang="ko-KR" altLang="en-US" sz="900" dirty="0">
              <a:latin typeface="+mn-ea"/>
              <a:ea typeface="+mn-ea"/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423643"/>
              </p:ext>
            </p:extLst>
          </p:nvPr>
        </p:nvGraphicFramePr>
        <p:xfrm>
          <a:off x="365632" y="4853792"/>
          <a:ext cx="9036495" cy="466395"/>
        </p:xfrm>
        <a:graphic>
          <a:graphicData uri="http://schemas.openxmlformats.org/drawingml/2006/table">
            <a:tbl>
              <a:tblPr/>
              <a:tblGrid>
                <a:gridCol w="1004055"/>
                <a:gridCol w="1004055"/>
                <a:gridCol w="1004055"/>
                <a:gridCol w="1004055"/>
                <a:gridCol w="1004055"/>
                <a:gridCol w="1004055"/>
                <a:gridCol w="1004055"/>
                <a:gridCol w="1004055"/>
                <a:gridCol w="1004055"/>
              </a:tblGrid>
              <a:tr h="25690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</a:tr>
              <a:tr h="2094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입하예정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입하검수</a:t>
            </a:r>
          </a:p>
        </p:txBody>
      </p:sp>
      <p:sp>
        <p:nvSpPr>
          <p:cNvPr id="10243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3780804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0244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 검수</a:t>
            </a:r>
          </a:p>
        </p:txBody>
      </p:sp>
      <p:sp>
        <p:nvSpPr>
          <p:cNvPr id="10245" name="직사각형 51"/>
          <p:cNvSpPr>
            <a:spLocks noChangeArrowheads="1"/>
          </p:cNvSpPr>
          <p:nvPr/>
        </p:nvSpPr>
        <p:spPr bwMode="auto">
          <a:xfrm>
            <a:off x="6578997" y="22637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10246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0247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10248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graphicFrame>
        <p:nvGraphicFramePr>
          <p:cNvPr id="3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962726"/>
              </p:ext>
            </p:extLst>
          </p:nvPr>
        </p:nvGraphicFramePr>
        <p:xfrm>
          <a:off x="355600" y="2640013"/>
          <a:ext cx="9061893" cy="496887"/>
        </p:xfrm>
        <a:graphic>
          <a:graphicData uri="http://schemas.openxmlformats.org/drawingml/2006/table">
            <a:tbl>
              <a:tblPr/>
              <a:tblGrid>
                <a:gridCol w="2902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191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1841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5677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2051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92051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2051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2350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31761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992766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902514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682437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</a:tblGrid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발주번호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검수확정일자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검수확정자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23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입하승인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293" name="직사각형 51"/>
          <p:cNvSpPr>
            <a:spLocks noChangeArrowheads="1"/>
          </p:cNvSpPr>
          <p:nvPr/>
        </p:nvSpPr>
        <p:spPr bwMode="auto">
          <a:xfrm>
            <a:off x="7831534" y="2274888"/>
            <a:ext cx="57785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검수취소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4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045074"/>
              </p:ext>
            </p:extLst>
          </p:nvPr>
        </p:nvGraphicFramePr>
        <p:xfrm>
          <a:off x="367540" y="3219329"/>
          <a:ext cx="3641078" cy="569711"/>
        </p:xfrm>
        <a:graphic>
          <a:graphicData uri="http://schemas.openxmlformats.org/drawingml/2006/table">
            <a:tbl>
              <a:tblPr/>
              <a:tblGrid>
                <a:gridCol w="71453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8638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50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3215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9487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58118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29730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240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932298"/>
              </p:ext>
            </p:extLst>
          </p:nvPr>
        </p:nvGraphicFramePr>
        <p:xfrm>
          <a:off x="4005488" y="3218588"/>
          <a:ext cx="5412006" cy="570452"/>
        </p:xfrm>
        <a:graphic>
          <a:graphicData uri="http://schemas.openxmlformats.org/drawingml/2006/table">
            <a:tbl>
              <a:tblPr/>
              <a:tblGrid>
                <a:gridCol w="61251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251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251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9574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9574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9574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59574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95742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595742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10542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승인수량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미검수수량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849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</a:tr>
              <a:tr h="2808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725203"/>
              </p:ext>
            </p:extLst>
          </p:nvPr>
        </p:nvGraphicFramePr>
        <p:xfrm>
          <a:off x="371595" y="3873648"/>
          <a:ext cx="9045900" cy="491456"/>
        </p:xfrm>
        <a:graphic>
          <a:graphicData uri="http://schemas.openxmlformats.org/drawingml/2006/table">
            <a:tbl>
              <a:tblPr/>
              <a:tblGrid>
                <a:gridCol w="853863"/>
                <a:gridCol w="853863"/>
                <a:gridCol w="85386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20479"/>
                <a:gridCol w="7204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04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2047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20479"/>
                <a:gridCol w="720479"/>
                <a:gridCol w="720479"/>
                <a:gridCol w="720479"/>
                <a:gridCol w="720479"/>
              </a:tblGrid>
              <a:tr h="25690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PalletID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출력매수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Pallet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94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입하승인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438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046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046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0439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0440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10441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10442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0000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0443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입고일자</a:t>
            </a:r>
          </a:p>
        </p:txBody>
      </p:sp>
      <p:sp>
        <p:nvSpPr>
          <p:cNvPr id="10444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0445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0446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0447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0448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10449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10450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10451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0452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10453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0454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입하승인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0455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10456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0457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0458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0459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sp>
        <p:nvSpPr>
          <p:cNvPr id="10460" name="직사각형 51"/>
          <p:cNvSpPr>
            <a:spLocks noChangeArrowheads="1"/>
          </p:cNvSpPr>
          <p:nvPr/>
        </p:nvSpPr>
        <p:spPr bwMode="auto">
          <a:xfrm>
            <a:off x="7145734" y="2263775"/>
            <a:ext cx="59690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검수확정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8" name="TextBox 65"/>
          <p:cNvSpPr txBox="1">
            <a:spLocks noChangeArrowheads="1"/>
          </p:cNvSpPr>
          <p:nvPr/>
        </p:nvSpPr>
        <p:spPr bwMode="auto">
          <a:xfrm>
            <a:off x="2543250" y="6560021"/>
            <a:ext cx="193977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smtClean="0">
                <a:latin typeface="+mn-ea"/>
                <a:ea typeface="+mn-ea"/>
              </a:rPr>
              <a:t>진행상태 </a:t>
            </a:r>
            <a:r>
              <a:rPr lang="en-US" altLang="ko-KR" sz="900" dirty="0" smtClean="0">
                <a:latin typeface="+mn-ea"/>
                <a:ea typeface="+mn-ea"/>
              </a:rPr>
              <a:t>: </a:t>
            </a:r>
            <a:r>
              <a:rPr lang="ko-KR" altLang="en-US" sz="900" dirty="0" smtClean="0">
                <a:latin typeface="+mn-ea"/>
                <a:ea typeface="+mn-ea"/>
              </a:rPr>
              <a:t>입하승인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smtClean="0">
                <a:latin typeface="+mn-ea"/>
                <a:ea typeface="+mn-ea"/>
              </a:rPr>
              <a:t>입하검수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49" name="TextBox 65"/>
          <p:cNvSpPr txBox="1">
            <a:spLocks noChangeArrowheads="1"/>
          </p:cNvSpPr>
          <p:nvPr/>
        </p:nvSpPr>
        <p:spPr bwMode="auto">
          <a:xfrm>
            <a:off x="6362424" y="1974676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smtClean="0">
                <a:latin typeface="+mn-ea"/>
                <a:ea typeface="+mn-ea"/>
              </a:rPr>
              <a:t>출력종류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50" name="직사각형 66"/>
          <p:cNvSpPr>
            <a:spLocks noChangeArrowheads="1"/>
          </p:cNvSpPr>
          <p:nvPr/>
        </p:nvSpPr>
        <p:spPr bwMode="auto">
          <a:xfrm>
            <a:off x="7273649" y="1974676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dirty="0" smtClean="0">
                <a:latin typeface="+mn-ea"/>
                <a:ea typeface="+mn-ea"/>
              </a:rPr>
              <a:t>검수지시서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1" name="직사각형 33"/>
          <p:cNvSpPr>
            <a:spLocks noChangeArrowheads="1"/>
          </p:cNvSpPr>
          <p:nvPr/>
        </p:nvSpPr>
        <p:spPr bwMode="auto">
          <a:xfrm>
            <a:off x="8149397" y="1979406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+mn-ea"/>
                <a:ea typeface="+mn-ea"/>
              </a:rPr>
              <a:t>▼</a:t>
            </a:r>
          </a:p>
        </p:txBody>
      </p:sp>
      <p:sp>
        <p:nvSpPr>
          <p:cNvPr id="52" name="직사각형 51"/>
          <p:cNvSpPr>
            <a:spLocks noChangeArrowheads="1"/>
          </p:cNvSpPr>
          <p:nvPr/>
        </p:nvSpPr>
        <p:spPr bwMode="auto">
          <a:xfrm>
            <a:off x="8471000" y="2274815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인쇄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4" name="TextBox 65"/>
          <p:cNvSpPr txBox="1">
            <a:spLocks noChangeArrowheads="1"/>
          </p:cNvSpPr>
          <p:nvPr/>
        </p:nvSpPr>
        <p:spPr bwMode="auto">
          <a:xfrm>
            <a:off x="4597400" y="6560343"/>
            <a:ext cx="22542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smtClean="0">
                <a:latin typeface="+mn-ea"/>
                <a:ea typeface="+mn-ea"/>
              </a:rPr>
              <a:t>출력종류 </a:t>
            </a:r>
            <a:r>
              <a:rPr lang="en-US" altLang="ko-KR" sz="900" dirty="0" smtClean="0">
                <a:latin typeface="+mn-ea"/>
                <a:ea typeface="+mn-ea"/>
              </a:rPr>
              <a:t>: </a:t>
            </a:r>
            <a:r>
              <a:rPr lang="ko-KR" altLang="en-US" sz="900" dirty="0" smtClean="0">
                <a:latin typeface="+mn-ea"/>
                <a:ea typeface="+mn-ea"/>
              </a:rPr>
              <a:t>검수지시서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en-US" altLang="ko-KR" sz="900" dirty="0" err="1" smtClean="0">
                <a:latin typeface="+mn-ea"/>
                <a:ea typeface="+mn-ea"/>
              </a:rPr>
              <a:t>PalletID</a:t>
            </a:r>
            <a:r>
              <a:rPr lang="en-US" altLang="ko-KR" sz="900" dirty="0" smtClean="0">
                <a:latin typeface="+mn-ea"/>
                <a:ea typeface="+mn-ea"/>
              </a:rPr>
              <a:t> </a:t>
            </a:r>
            <a:r>
              <a:rPr lang="ko-KR" altLang="en-US" sz="900" dirty="0" smtClean="0">
                <a:latin typeface="+mn-ea"/>
                <a:ea typeface="+mn-ea"/>
              </a:rPr>
              <a:t>라벨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55" name="직사각형 48"/>
          <p:cNvSpPr>
            <a:spLocks noChangeArrowheads="1"/>
          </p:cNvSpPr>
          <p:nvPr/>
        </p:nvSpPr>
        <p:spPr bwMode="auto">
          <a:xfrm>
            <a:off x="2776604" y="414908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입고지시</a:t>
            </a:r>
          </a:p>
        </p:txBody>
      </p:sp>
      <p:sp>
        <p:nvSpPr>
          <p:cNvPr id="12291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74111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292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 지시</a:t>
            </a:r>
          </a:p>
        </p:txBody>
      </p:sp>
      <p:sp>
        <p:nvSpPr>
          <p:cNvPr id="12293" name="직사각형 51"/>
          <p:cNvSpPr>
            <a:spLocks noChangeArrowheads="1"/>
          </p:cNvSpPr>
          <p:nvPr/>
        </p:nvSpPr>
        <p:spPr bwMode="auto">
          <a:xfrm>
            <a:off x="8999538" y="229552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+mn-ea"/>
                <a:ea typeface="+mn-ea"/>
              </a:rPr>
              <a:t>조회</a:t>
            </a:r>
          </a:p>
        </p:txBody>
      </p:sp>
      <p:sp>
        <p:nvSpPr>
          <p:cNvPr id="12294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2295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graphicFrame>
        <p:nvGraphicFramePr>
          <p:cNvPr id="4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121285"/>
              </p:ext>
            </p:extLst>
          </p:nvPr>
        </p:nvGraphicFramePr>
        <p:xfrm>
          <a:off x="373063" y="2640013"/>
          <a:ext cx="6373787" cy="428626"/>
        </p:xfrm>
        <a:graphic>
          <a:graphicData uri="http://schemas.openxmlformats.org/drawingml/2006/table">
            <a:tbl>
              <a:tblPr/>
              <a:tblGrid>
                <a:gridCol w="2525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271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3073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5129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92088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1368152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오더번호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고객사사명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VERTEXID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 11:20:33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338457"/>
              </p:ext>
            </p:extLst>
          </p:nvPr>
        </p:nvGraphicFramePr>
        <p:xfrm>
          <a:off x="373063" y="3155950"/>
          <a:ext cx="2348646" cy="489074"/>
        </p:xfrm>
        <a:graphic>
          <a:graphicData uri="http://schemas.openxmlformats.org/drawingml/2006/table">
            <a:tbl>
              <a:tblPr/>
              <a:tblGrid>
                <a:gridCol w="7345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4651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675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476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일반입고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054191"/>
              </p:ext>
            </p:extLst>
          </p:nvPr>
        </p:nvGraphicFramePr>
        <p:xfrm>
          <a:off x="2723604" y="3155950"/>
          <a:ext cx="3830878" cy="479033"/>
        </p:xfrm>
        <a:graphic>
          <a:graphicData uri="http://schemas.openxmlformats.org/drawingml/2006/table">
            <a:tbl>
              <a:tblPr/>
              <a:tblGrid>
                <a:gridCol w="7517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3258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7874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5989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1545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92424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472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437" name="직사각형 54"/>
          <p:cNvSpPr>
            <a:spLocks noChangeArrowheads="1"/>
          </p:cNvSpPr>
          <p:nvPr/>
        </p:nvSpPr>
        <p:spPr bwMode="auto">
          <a:xfrm>
            <a:off x="309564" y="4551859"/>
            <a:ext cx="9207500" cy="168545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441" name="TextBox 55"/>
          <p:cNvSpPr txBox="1">
            <a:spLocks noChangeArrowheads="1"/>
          </p:cNvSpPr>
          <p:nvPr/>
        </p:nvSpPr>
        <p:spPr bwMode="auto">
          <a:xfrm>
            <a:off x="367540" y="4436765"/>
            <a:ext cx="9286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입고지시내역</a:t>
            </a:r>
          </a:p>
        </p:txBody>
      </p:sp>
      <p:graphicFrame>
        <p:nvGraphicFramePr>
          <p:cNvPr id="5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400801"/>
              </p:ext>
            </p:extLst>
          </p:nvPr>
        </p:nvGraphicFramePr>
        <p:xfrm>
          <a:off x="380656" y="4662915"/>
          <a:ext cx="5651844" cy="710301"/>
        </p:xfrm>
        <a:graphic>
          <a:graphicData uri="http://schemas.openxmlformats.org/drawingml/2006/table">
            <a:tbl>
              <a:tblPr/>
              <a:tblGrid>
                <a:gridCol w="25186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2869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02748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02472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59432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94322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594322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14097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SEQNO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지시수량</a:t>
                      </a: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09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</a:tr>
              <a:tr h="4207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378184"/>
              </p:ext>
            </p:extLst>
          </p:nvPr>
        </p:nvGraphicFramePr>
        <p:xfrm>
          <a:off x="6028288" y="4666953"/>
          <a:ext cx="2601597" cy="706263"/>
        </p:xfrm>
        <a:graphic>
          <a:graphicData uri="http://schemas.openxmlformats.org/drawingml/2006/table">
            <a:tbl>
              <a:tblPr/>
              <a:tblGrid>
                <a:gridCol w="59939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381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64096"/>
              </a:tblGrid>
              <a:tr h="27421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작성일시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적치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LOC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이종혁</a:t>
                      </a: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2016-10-31 12:00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7" marR="7647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48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250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251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248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2489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12490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12491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492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12493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494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495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2496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2497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12498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12499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12500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501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12502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503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입고검수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2504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12505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2506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2507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2508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sp>
        <p:nvSpPr>
          <p:cNvPr id="51" name="TextBox 65"/>
          <p:cNvSpPr txBox="1">
            <a:spLocks noChangeArrowheads="1"/>
          </p:cNvSpPr>
          <p:nvPr/>
        </p:nvSpPr>
        <p:spPr bwMode="auto">
          <a:xfrm>
            <a:off x="2543250" y="6560021"/>
            <a:ext cx="193977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smtClean="0">
                <a:latin typeface="+mn-ea"/>
                <a:ea typeface="+mn-ea"/>
              </a:rPr>
              <a:t>진행상태 </a:t>
            </a:r>
            <a:r>
              <a:rPr lang="en-US" altLang="ko-KR" sz="900" dirty="0" smtClean="0">
                <a:latin typeface="+mn-ea"/>
                <a:ea typeface="+mn-ea"/>
              </a:rPr>
              <a:t>: </a:t>
            </a:r>
            <a:r>
              <a:rPr lang="ko-KR" altLang="en-US" sz="900" dirty="0" smtClean="0">
                <a:latin typeface="+mn-ea"/>
                <a:ea typeface="+mn-ea"/>
              </a:rPr>
              <a:t>입하검수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smtClean="0">
                <a:latin typeface="+mn-ea"/>
                <a:ea typeface="+mn-ea"/>
              </a:rPr>
              <a:t>입고지시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52" name="직사각형 51"/>
          <p:cNvSpPr>
            <a:spLocks noChangeArrowheads="1"/>
          </p:cNvSpPr>
          <p:nvPr/>
        </p:nvSpPr>
        <p:spPr bwMode="auto">
          <a:xfrm>
            <a:off x="7381101" y="2304257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+mn-ea"/>
                <a:ea typeface="+mn-ea"/>
              </a:rPr>
              <a:t>조회</a:t>
            </a:r>
          </a:p>
        </p:txBody>
      </p:sp>
      <p:sp>
        <p:nvSpPr>
          <p:cNvPr id="53" name="직사각형 51"/>
          <p:cNvSpPr>
            <a:spLocks noChangeArrowheads="1"/>
          </p:cNvSpPr>
          <p:nvPr/>
        </p:nvSpPr>
        <p:spPr bwMode="auto">
          <a:xfrm>
            <a:off x="7926480" y="2301876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입고지시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4" name="직사각형 51"/>
          <p:cNvSpPr>
            <a:spLocks noChangeArrowheads="1"/>
          </p:cNvSpPr>
          <p:nvPr/>
        </p:nvSpPr>
        <p:spPr bwMode="auto">
          <a:xfrm>
            <a:off x="8471859" y="2301876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지시취소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55199"/>
              </p:ext>
            </p:extLst>
          </p:nvPr>
        </p:nvGraphicFramePr>
        <p:xfrm>
          <a:off x="373063" y="3691553"/>
          <a:ext cx="6636432" cy="503920"/>
        </p:xfrm>
        <a:graphic>
          <a:graphicData uri="http://schemas.openxmlformats.org/drawingml/2006/table">
            <a:tbl>
              <a:tblPr/>
              <a:tblGrid>
                <a:gridCol w="60331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0331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0331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0331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03312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03312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03312"/>
                <a:gridCol w="603312"/>
                <a:gridCol w="603312"/>
                <a:gridCol w="603312"/>
                <a:gridCol w="603312"/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지시수량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유통기한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849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적치</a:t>
            </a:r>
          </a:p>
        </p:txBody>
      </p:sp>
      <p:sp>
        <p:nvSpPr>
          <p:cNvPr id="14339" name="직사각형 54"/>
          <p:cNvSpPr>
            <a:spLocks noChangeArrowheads="1"/>
          </p:cNvSpPr>
          <p:nvPr/>
        </p:nvSpPr>
        <p:spPr bwMode="auto">
          <a:xfrm>
            <a:off x="309563" y="2532062"/>
            <a:ext cx="9215437" cy="221312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4340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755650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입고적치</a:t>
            </a:r>
          </a:p>
        </p:txBody>
      </p:sp>
      <p:sp>
        <p:nvSpPr>
          <p:cNvPr id="14341" name="직사각형 51"/>
          <p:cNvSpPr>
            <a:spLocks noChangeArrowheads="1"/>
          </p:cNvSpPr>
          <p:nvPr/>
        </p:nvSpPr>
        <p:spPr bwMode="auto">
          <a:xfrm>
            <a:off x="6658767" y="227330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1434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434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14344" name="직사각형 51"/>
          <p:cNvSpPr>
            <a:spLocks noChangeArrowheads="1"/>
          </p:cNvSpPr>
          <p:nvPr/>
        </p:nvSpPr>
        <p:spPr bwMode="auto">
          <a:xfrm>
            <a:off x="9026525" y="227330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graphicFrame>
        <p:nvGraphicFramePr>
          <p:cNvPr id="3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67588"/>
              </p:ext>
            </p:extLst>
          </p:nvPr>
        </p:nvGraphicFramePr>
        <p:xfrm>
          <a:off x="355600" y="2640013"/>
          <a:ext cx="9133904" cy="496887"/>
        </p:xfrm>
        <a:graphic>
          <a:graphicData uri="http://schemas.openxmlformats.org/drawingml/2006/table">
            <a:tbl>
              <a:tblPr/>
              <a:tblGrid>
                <a:gridCol w="19031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16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6090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3366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3366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3366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3366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20794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20794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20794"/>
                <a:gridCol w="620794"/>
                <a:gridCol w="620794"/>
                <a:gridCol w="620794"/>
                <a:gridCol w="620794"/>
                <a:gridCol w="620794"/>
              </a:tblGrid>
              <a:tr h="2145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발주번호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23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90" name="직사각형 54"/>
          <p:cNvSpPr>
            <a:spLocks noChangeArrowheads="1"/>
          </p:cNvSpPr>
          <p:nvPr/>
        </p:nvSpPr>
        <p:spPr bwMode="auto">
          <a:xfrm>
            <a:off x="309563" y="4876155"/>
            <a:ext cx="9293225" cy="143316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4392" name="TextBox 55"/>
          <p:cNvSpPr txBox="1">
            <a:spLocks noChangeArrowheads="1"/>
          </p:cNvSpPr>
          <p:nvPr/>
        </p:nvSpPr>
        <p:spPr bwMode="auto">
          <a:xfrm>
            <a:off x="381000" y="4761061"/>
            <a:ext cx="1001712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입고적치확정</a:t>
            </a:r>
          </a:p>
        </p:txBody>
      </p:sp>
      <p:grpSp>
        <p:nvGrpSpPr>
          <p:cNvPr id="14393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453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453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4394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4395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14396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14397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4398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14399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4400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4401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4402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4403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14404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14405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14406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4407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14408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6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612273"/>
              </p:ext>
            </p:extLst>
          </p:nvPr>
        </p:nvGraphicFramePr>
        <p:xfrm>
          <a:off x="369288" y="4997193"/>
          <a:ext cx="9147773" cy="736063"/>
        </p:xfrm>
        <a:graphic>
          <a:graphicData uri="http://schemas.openxmlformats.org/drawingml/2006/table">
            <a:tbl>
              <a:tblPr/>
              <a:tblGrid>
                <a:gridCol w="3068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1644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085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036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3961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95461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02263"/>
                <a:gridCol w="602263"/>
                <a:gridCol w="602263"/>
                <a:gridCol w="602263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02263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02263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72913"/>
                <a:gridCol w="531613"/>
              </a:tblGrid>
              <a:tr h="14110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SEQNO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지시수량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적치수량</a:t>
                      </a: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적치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LOC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11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</a:tr>
              <a:tr h="4464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518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입고지시</a:t>
            </a:r>
          </a:p>
        </p:txBody>
      </p:sp>
      <p:sp>
        <p:nvSpPr>
          <p:cNvPr id="14519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14520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4521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4535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4536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sp>
        <p:nvSpPr>
          <p:cNvPr id="14537" name="직사각형 51"/>
          <p:cNvSpPr>
            <a:spLocks noChangeArrowheads="1"/>
          </p:cNvSpPr>
          <p:nvPr/>
        </p:nvSpPr>
        <p:spPr bwMode="auto">
          <a:xfrm>
            <a:off x="8449234" y="2273300"/>
            <a:ext cx="504429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mtClean="0">
                <a:latin typeface="+mn-ea"/>
                <a:ea typeface="+mn-ea"/>
              </a:rPr>
              <a:t>인쇄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0" name="TextBox 65"/>
          <p:cNvSpPr txBox="1">
            <a:spLocks noChangeArrowheads="1"/>
          </p:cNvSpPr>
          <p:nvPr/>
        </p:nvSpPr>
        <p:spPr bwMode="auto">
          <a:xfrm>
            <a:off x="4597400" y="6560343"/>
            <a:ext cx="193977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smtClean="0">
                <a:latin typeface="+mn-ea"/>
                <a:ea typeface="+mn-ea"/>
              </a:rPr>
              <a:t>출력종류 </a:t>
            </a:r>
            <a:r>
              <a:rPr lang="en-US" altLang="ko-KR" sz="900" dirty="0" smtClean="0">
                <a:latin typeface="+mn-ea"/>
                <a:ea typeface="+mn-ea"/>
              </a:rPr>
              <a:t>: </a:t>
            </a:r>
            <a:r>
              <a:rPr lang="ko-KR" altLang="en-US" sz="900" dirty="0" smtClean="0">
                <a:latin typeface="+mn-ea"/>
                <a:ea typeface="+mn-ea"/>
              </a:rPr>
              <a:t>적치지시서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smtClean="0">
                <a:latin typeface="+mn-ea"/>
                <a:ea typeface="+mn-ea"/>
              </a:rPr>
              <a:t>입고라벨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51" name="TextBox 65"/>
          <p:cNvSpPr txBox="1">
            <a:spLocks noChangeArrowheads="1"/>
          </p:cNvSpPr>
          <p:nvPr/>
        </p:nvSpPr>
        <p:spPr bwMode="auto">
          <a:xfrm>
            <a:off x="6362424" y="1974676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smtClean="0">
                <a:latin typeface="+mn-ea"/>
                <a:ea typeface="+mn-ea"/>
              </a:rPr>
              <a:t>출력종류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52" name="직사각형 66"/>
          <p:cNvSpPr>
            <a:spLocks noChangeArrowheads="1"/>
          </p:cNvSpPr>
          <p:nvPr/>
        </p:nvSpPr>
        <p:spPr bwMode="auto">
          <a:xfrm>
            <a:off x="7273649" y="1974676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dirty="0" smtClean="0">
                <a:latin typeface="+mn-ea"/>
                <a:ea typeface="+mn-ea"/>
              </a:rPr>
              <a:t>적치지시서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3" name="직사각형 33"/>
          <p:cNvSpPr>
            <a:spLocks noChangeArrowheads="1"/>
          </p:cNvSpPr>
          <p:nvPr/>
        </p:nvSpPr>
        <p:spPr bwMode="auto">
          <a:xfrm>
            <a:off x="8149397" y="1979406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+mn-ea"/>
                <a:ea typeface="+mn-ea"/>
              </a:rPr>
              <a:t>▼</a:t>
            </a:r>
          </a:p>
        </p:txBody>
      </p:sp>
      <p:sp>
        <p:nvSpPr>
          <p:cNvPr id="54" name="직사각형 51"/>
          <p:cNvSpPr>
            <a:spLocks noChangeArrowheads="1"/>
          </p:cNvSpPr>
          <p:nvPr/>
        </p:nvSpPr>
        <p:spPr bwMode="auto">
          <a:xfrm>
            <a:off x="7222169" y="2273300"/>
            <a:ext cx="54000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적치확정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5" name="직사각형 51"/>
          <p:cNvSpPr>
            <a:spLocks noChangeArrowheads="1"/>
          </p:cNvSpPr>
          <p:nvPr/>
        </p:nvSpPr>
        <p:spPr bwMode="auto">
          <a:xfrm>
            <a:off x="7835033" y="2273300"/>
            <a:ext cx="5413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적치취소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6" name="TextBox 65"/>
          <p:cNvSpPr txBox="1">
            <a:spLocks noChangeArrowheads="1"/>
          </p:cNvSpPr>
          <p:nvPr/>
        </p:nvSpPr>
        <p:spPr bwMode="auto">
          <a:xfrm>
            <a:off x="2095500" y="6560021"/>
            <a:ext cx="238752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smtClean="0">
                <a:latin typeface="+mn-ea"/>
                <a:ea typeface="+mn-ea"/>
              </a:rPr>
              <a:t>진행상태 </a:t>
            </a:r>
            <a:r>
              <a:rPr lang="en-US" altLang="ko-KR" sz="900" dirty="0" smtClean="0">
                <a:latin typeface="+mn-ea"/>
                <a:ea typeface="+mn-ea"/>
              </a:rPr>
              <a:t>: </a:t>
            </a:r>
            <a:r>
              <a:rPr lang="ko-KR" altLang="en-US" sz="900" dirty="0" smtClean="0">
                <a:latin typeface="+mn-ea"/>
                <a:ea typeface="+mn-ea"/>
              </a:rPr>
              <a:t>입고지시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smtClean="0">
                <a:latin typeface="+mn-ea"/>
                <a:ea typeface="+mn-ea"/>
              </a:rPr>
              <a:t>입고적치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smtClean="0">
                <a:latin typeface="+mn-ea"/>
                <a:ea typeface="+mn-ea"/>
              </a:rPr>
              <a:t>입고완료</a:t>
            </a:r>
            <a:endParaRPr lang="ko-KR" altLang="en-US" sz="900" dirty="0">
              <a:latin typeface="+mn-ea"/>
              <a:ea typeface="+mn-ea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629544"/>
              </p:ext>
            </p:extLst>
          </p:nvPr>
        </p:nvGraphicFramePr>
        <p:xfrm>
          <a:off x="357948" y="3212976"/>
          <a:ext cx="7164289" cy="648072"/>
        </p:xfrm>
        <a:graphic>
          <a:graphicData uri="http://schemas.openxmlformats.org/drawingml/2006/table">
            <a:tbl>
              <a:tblPr/>
              <a:tblGrid>
                <a:gridCol w="41858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04056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32048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936104"/>
                <a:gridCol w="792088"/>
                <a:gridCol w="792088"/>
                <a:gridCol w="864096"/>
                <a:gridCol w="985061"/>
              </a:tblGrid>
              <a:tr h="18622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지시수량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유통기한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62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561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공급처별 입고내역</a:t>
            </a:r>
          </a:p>
        </p:txBody>
      </p:sp>
      <p:sp>
        <p:nvSpPr>
          <p:cNvPr id="16387" name="직사각형 51"/>
          <p:cNvSpPr>
            <a:spLocks noChangeArrowheads="1"/>
          </p:cNvSpPr>
          <p:nvPr/>
        </p:nvSpPr>
        <p:spPr bwMode="auto">
          <a:xfrm>
            <a:off x="8483997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16388" name="직사각형 51"/>
          <p:cNvSpPr>
            <a:spLocks noChangeArrowheads="1"/>
          </p:cNvSpPr>
          <p:nvPr/>
        </p:nvSpPr>
        <p:spPr bwMode="auto">
          <a:xfrm>
            <a:off x="68564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1638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639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16391" name="직사각형 51"/>
          <p:cNvSpPr>
            <a:spLocks noChangeArrowheads="1"/>
          </p:cNvSpPr>
          <p:nvPr/>
        </p:nvSpPr>
        <p:spPr bwMode="auto">
          <a:xfrm>
            <a:off x="7398941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신규</a:t>
            </a:r>
          </a:p>
        </p:txBody>
      </p:sp>
      <p:sp>
        <p:nvSpPr>
          <p:cNvPr id="16392" name="직사각형 51"/>
          <p:cNvSpPr>
            <a:spLocks noChangeArrowheads="1"/>
          </p:cNvSpPr>
          <p:nvPr/>
        </p:nvSpPr>
        <p:spPr bwMode="auto">
          <a:xfrm>
            <a:off x="7941469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저장</a:t>
            </a:r>
          </a:p>
        </p:txBody>
      </p:sp>
      <p:sp>
        <p:nvSpPr>
          <p:cNvPr id="16393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grpSp>
        <p:nvGrpSpPr>
          <p:cNvPr id="16394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648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648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6395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6396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16397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16398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399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16400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01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02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403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404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16405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16406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16407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08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09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16410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6411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6412" name="직사각형 54"/>
          <p:cNvSpPr>
            <a:spLocks noChangeArrowheads="1"/>
          </p:cNvSpPr>
          <p:nvPr/>
        </p:nvSpPr>
        <p:spPr bwMode="auto">
          <a:xfrm>
            <a:off x="309563" y="2652713"/>
            <a:ext cx="9215437" cy="35131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7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38939"/>
              </p:ext>
            </p:extLst>
          </p:nvPr>
        </p:nvGraphicFramePr>
        <p:xfrm>
          <a:off x="349250" y="2728913"/>
          <a:ext cx="9068245" cy="563562"/>
        </p:xfrm>
        <a:graphic>
          <a:graphicData uri="http://schemas.openxmlformats.org/drawingml/2006/table">
            <a:tbl>
              <a:tblPr/>
              <a:tblGrid>
                <a:gridCol w="3700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489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6932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6932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6932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115754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100347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1095377">
                  <a:extLst>
                    <a:ext uri="{9D8B030D-6E8A-4147-A177-3AD203B41FA5}">
                      <a16:colId xmlns="" xmlns:a16="http://schemas.microsoft.com/office/drawing/2014/main" val="20016"/>
                    </a:ext>
                  </a:extLst>
                </a:gridCol>
                <a:gridCol w="1095377"/>
                <a:gridCol w="1095377"/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확정수량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204/4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204/4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정상입고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483" name="TextBox 65"/>
          <p:cNvSpPr txBox="1">
            <a:spLocks noChangeArrowheads="1"/>
          </p:cNvSpPr>
          <p:nvPr/>
        </p:nvSpPr>
        <p:spPr bwMode="auto">
          <a:xfrm>
            <a:off x="6332538" y="132397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공급처코드</a:t>
            </a:r>
          </a:p>
        </p:txBody>
      </p:sp>
      <p:sp>
        <p:nvSpPr>
          <p:cNvPr id="16484" name="직사각형 66"/>
          <p:cNvSpPr>
            <a:spLocks noChangeArrowheads="1"/>
          </p:cNvSpPr>
          <p:nvPr/>
        </p:nvSpPr>
        <p:spPr bwMode="auto">
          <a:xfrm>
            <a:off x="7277100" y="1333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6485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486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제품별 입고내역</a:t>
            </a:r>
          </a:p>
        </p:txBody>
      </p:sp>
      <p:sp>
        <p:nvSpPr>
          <p:cNvPr id="18435" name="직사각형 51"/>
          <p:cNvSpPr>
            <a:spLocks noChangeArrowheads="1"/>
          </p:cNvSpPr>
          <p:nvPr/>
        </p:nvSpPr>
        <p:spPr bwMode="auto">
          <a:xfrm>
            <a:off x="848836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18436" name="직사각형 51"/>
          <p:cNvSpPr>
            <a:spLocks noChangeArrowheads="1"/>
          </p:cNvSpPr>
          <p:nvPr/>
        </p:nvSpPr>
        <p:spPr bwMode="auto">
          <a:xfrm>
            <a:off x="68564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1843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843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18439" name="직사각형 51"/>
          <p:cNvSpPr>
            <a:spLocks noChangeArrowheads="1"/>
          </p:cNvSpPr>
          <p:nvPr/>
        </p:nvSpPr>
        <p:spPr bwMode="auto">
          <a:xfrm>
            <a:off x="74025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신규</a:t>
            </a:r>
          </a:p>
        </p:txBody>
      </p:sp>
      <p:sp>
        <p:nvSpPr>
          <p:cNvPr id="18440" name="직사각형 51"/>
          <p:cNvSpPr>
            <a:spLocks noChangeArrowheads="1"/>
          </p:cNvSpPr>
          <p:nvPr/>
        </p:nvSpPr>
        <p:spPr bwMode="auto">
          <a:xfrm>
            <a:off x="79486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저장</a:t>
            </a:r>
          </a:p>
        </p:txBody>
      </p:sp>
      <p:sp>
        <p:nvSpPr>
          <p:cNvPr id="18441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18442" name="직사각형 54"/>
          <p:cNvSpPr>
            <a:spLocks noChangeArrowheads="1"/>
          </p:cNvSpPr>
          <p:nvPr/>
        </p:nvSpPr>
        <p:spPr bwMode="auto">
          <a:xfrm>
            <a:off x="309563" y="2652713"/>
            <a:ext cx="9215437" cy="35131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5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530934"/>
              </p:ext>
            </p:extLst>
          </p:nvPr>
        </p:nvGraphicFramePr>
        <p:xfrm>
          <a:off x="349250" y="2728913"/>
          <a:ext cx="9068245" cy="563562"/>
        </p:xfrm>
        <a:graphic>
          <a:graphicData uri="http://schemas.openxmlformats.org/drawingml/2006/table">
            <a:tbl>
              <a:tblPr/>
              <a:tblGrid>
                <a:gridCol w="28933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09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5792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5792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09996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98651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79678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479693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657262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784623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856484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930739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확정수량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204/4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204/4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1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850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852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852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850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8502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18503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18504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8505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18506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8507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8508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8509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8510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18511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18512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18513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8514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18515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8516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8517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18518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8519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8520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8521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입고진행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696994"/>
              </p:ext>
            </p:extLst>
          </p:nvPr>
        </p:nvGraphicFramePr>
        <p:xfrm>
          <a:off x="355600" y="2640013"/>
          <a:ext cx="7167563" cy="428626"/>
        </p:xfrm>
        <a:graphic>
          <a:graphicData uri="http://schemas.openxmlformats.org/drawingml/2006/table">
            <a:tbl>
              <a:tblPr/>
              <a:tblGrid>
                <a:gridCol w="252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010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0106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0106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2430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3943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0106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7781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77819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91341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16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689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17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입고진행</a:t>
            </a:r>
          </a:p>
        </p:txBody>
      </p:sp>
      <p:sp>
        <p:nvSpPr>
          <p:cNvPr id="20518" name="직사각형 51"/>
          <p:cNvSpPr>
            <a:spLocks noChangeArrowheads="1"/>
          </p:cNvSpPr>
          <p:nvPr/>
        </p:nvSpPr>
        <p:spPr bwMode="auto">
          <a:xfrm>
            <a:off x="84947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2051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2052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20521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20522" name="직사각형 54"/>
          <p:cNvSpPr>
            <a:spLocks noChangeArrowheads="1"/>
          </p:cNvSpPr>
          <p:nvPr/>
        </p:nvSpPr>
        <p:spPr bwMode="auto">
          <a:xfrm>
            <a:off x="309563" y="4395788"/>
            <a:ext cx="9215437" cy="17700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23" name="TextBox 55"/>
          <p:cNvSpPr txBox="1">
            <a:spLocks noChangeArrowheads="1"/>
          </p:cNvSpPr>
          <p:nvPr/>
        </p:nvSpPr>
        <p:spPr bwMode="auto">
          <a:xfrm>
            <a:off x="381000" y="427196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입고진행상세</a:t>
            </a:r>
          </a:p>
        </p:txBody>
      </p:sp>
      <p:graphicFrame>
        <p:nvGraphicFramePr>
          <p:cNvPr id="5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748481"/>
              </p:ext>
            </p:extLst>
          </p:nvPr>
        </p:nvGraphicFramePr>
        <p:xfrm>
          <a:off x="349250" y="4502150"/>
          <a:ext cx="9067800" cy="428626"/>
        </p:xfrm>
        <a:graphic>
          <a:graphicData uri="http://schemas.openxmlformats.org/drawingml/2006/table">
            <a:tbl>
              <a:tblPr/>
              <a:tblGrid>
                <a:gridCol w="2770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0661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8271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96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6296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2162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2937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51327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751327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97664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648395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648395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648395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등록수량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확정중량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20*4*13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20/4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20/4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0566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058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2058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2056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0568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20569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20570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71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20572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73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74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0575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0576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20577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20578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20579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0580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입고지시</a:t>
            </a:r>
          </a:p>
        </p:txBody>
      </p:sp>
      <p:sp>
        <p:nvSpPr>
          <p:cNvPr id="20581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20582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0583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0584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0585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+mn-ea"/>
                <a:ea typeface="+mn-ea"/>
              </a:rPr>
              <a:t>이고발주예정</a:t>
            </a:r>
            <a:endParaRPr lang="ko-KR" altLang="en-US" sz="900" dirty="0">
              <a:latin typeface="+mn-ea"/>
              <a:ea typeface="+mn-ea"/>
            </a:endParaRP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123898"/>
              </p:ext>
            </p:extLst>
          </p:nvPr>
        </p:nvGraphicFramePr>
        <p:xfrm>
          <a:off x="412368" y="2640013"/>
          <a:ext cx="5533504" cy="428626"/>
        </p:xfrm>
        <a:graphic>
          <a:graphicData uri="http://schemas.openxmlformats.org/drawingml/2006/table">
            <a:tbl>
              <a:tblPr/>
              <a:tblGrid>
                <a:gridCol w="291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292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5788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2359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2359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065687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1068573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이고의뢰번호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이고의뢰일자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출고예정일자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이고의뢰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621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689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4622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이고발주</a:t>
            </a:r>
          </a:p>
        </p:txBody>
      </p:sp>
      <p:sp>
        <p:nvSpPr>
          <p:cNvPr id="24623" name="직사각형 51"/>
          <p:cNvSpPr>
            <a:spLocks noChangeArrowheads="1"/>
          </p:cNvSpPr>
          <p:nvPr/>
        </p:nvSpPr>
        <p:spPr bwMode="auto">
          <a:xfrm>
            <a:off x="8483997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24624" name="직사각형 51"/>
          <p:cNvSpPr>
            <a:spLocks noChangeArrowheads="1"/>
          </p:cNvSpPr>
          <p:nvPr/>
        </p:nvSpPr>
        <p:spPr bwMode="auto">
          <a:xfrm>
            <a:off x="68564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2462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2462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24627" name="직사각형 51"/>
          <p:cNvSpPr>
            <a:spLocks noChangeArrowheads="1"/>
          </p:cNvSpPr>
          <p:nvPr/>
        </p:nvSpPr>
        <p:spPr bwMode="auto">
          <a:xfrm>
            <a:off x="7398941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+mn-ea"/>
                <a:ea typeface="+mn-ea"/>
              </a:rPr>
              <a:t>신규</a:t>
            </a:r>
          </a:p>
        </p:txBody>
      </p:sp>
      <p:sp>
        <p:nvSpPr>
          <p:cNvPr id="24628" name="직사각형 51"/>
          <p:cNvSpPr>
            <a:spLocks noChangeArrowheads="1"/>
          </p:cNvSpPr>
          <p:nvPr/>
        </p:nvSpPr>
        <p:spPr bwMode="auto">
          <a:xfrm>
            <a:off x="7941469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확정</a:t>
            </a:r>
          </a:p>
        </p:txBody>
      </p:sp>
      <p:sp>
        <p:nvSpPr>
          <p:cNvPr id="24629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24630" name="직사각형 54"/>
          <p:cNvSpPr>
            <a:spLocks noChangeArrowheads="1"/>
          </p:cNvSpPr>
          <p:nvPr/>
        </p:nvSpPr>
        <p:spPr bwMode="auto">
          <a:xfrm>
            <a:off x="309563" y="4395788"/>
            <a:ext cx="9215437" cy="17700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4631" name="TextBox 55"/>
          <p:cNvSpPr txBox="1">
            <a:spLocks noChangeArrowheads="1"/>
          </p:cNvSpPr>
          <p:nvPr/>
        </p:nvSpPr>
        <p:spPr bwMode="auto">
          <a:xfrm>
            <a:off x="381000" y="427196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이고발주상세</a:t>
            </a:r>
          </a:p>
        </p:txBody>
      </p:sp>
      <p:grpSp>
        <p:nvGrpSpPr>
          <p:cNvPr id="2469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471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2471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2469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4693" name="TextBox 65"/>
          <p:cNvSpPr txBox="1">
            <a:spLocks noChangeArrowheads="1"/>
          </p:cNvSpPr>
          <p:nvPr/>
        </p:nvSpPr>
        <p:spPr bwMode="auto">
          <a:xfrm>
            <a:off x="3767237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24694" name="직사각형 66"/>
          <p:cNvSpPr>
            <a:spLocks noChangeArrowheads="1"/>
          </p:cNvSpPr>
          <p:nvPr/>
        </p:nvSpPr>
        <p:spPr bwMode="auto">
          <a:xfrm>
            <a:off x="4710212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+mn-ea"/>
                <a:ea typeface="+mn-ea"/>
              </a:rPr>
              <a:t>1</a:t>
            </a:r>
            <a:r>
              <a:rPr lang="en-US" altLang="ko-KR" smtClean="0">
                <a:latin typeface="+mn-ea"/>
                <a:ea typeface="+mn-ea"/>
              </a:rPr>
              <a:t>000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4695" name="TextBox 65"/>
          <p:cNvSpPr txBox="1">
            <a:spLocks noChangeArrowheads="1"/>
          </p:cNvSpPr>
          <p:nvPr/>
        </p:nvSpPr>
        <p:spPr bwMode="auto">
          <a:xfrm>
            <a:off x="310580" y="168148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 smtClean="0">
                <a:latin typeface="+mn-ea"/>
                <a:ea typeface="+mn-ea"/>
              </a:rPr>
              <a:t>이고의뢰일자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4696" name="직사각형 66"/>
          <p:cNvSpPr>
            <a:spLocks noChangeArrowheads="1"/>
          </p:cNvSpPr>
          <p:nvPr/>
        </p:nvSpPr>
        <p:spPr bwMode="auto">
          <a:xfrm>
            <a:off x="1251968" y="166878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4697" name="직사각형 66"/>
          <p:cNvSpPr>
            <a:spLocks noChangeArrowheads="1"/>
          </p:cNvSpPr>
          <p:nvPr/>
        </p:nvSpPr>
        <p:spPr bwMode="auto">
          <a:xfrm>
            <a:off x="2469580" y="166878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4698" name="직사각형 48"/>
          <p:cNvSpPr>
            <a:spLocks noChangeArrowheads="1"/>
          </p:cNvSpPr>
          <p:nvPr/>
        </p:nvSpPr>
        <p:spPr bwMode="auto">
          <a:xfrm>
            <a:off x="2109218" y="166878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4699" name="직사각형 48"/>
          <p:cNvSpPr>
            <a:spLocks noChangeArrowheads="1"/>
          </p:cNvSpPr>
          <p:nvPr/>
        </p:nvSpPr>
        <p:spPr bwMode="auto">
          <a:xfrm>
            <a:off x="3326830" y="166878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4700" name="TextBox 65"/>
          <p:cNvSpPr txBox="1">
            <a:spLocks noChangeArrowheads="1"/>
          </p:cNvSpPr>
          <p:nvPr/>
        </p:nvSpPr>
        <p:spPr bwMode="auto">
          <a:xfrm>
            <a:off x="2259935" y="16589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+mn-ea"/>
                <a:ea typeface="+mn-ea"/>
              </a:rPr>
              <a:t>~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4701" name="TextBox 65"/>
          <p:cNvSpPr txBox="1">
            <a:spLocks noChangeArrowheads="1"/>
          </p:cNvSpPr>
          <p:nvPr/>
        </p:nvSpPr>
        <p:spPr bwMode="auto">
          <a:xfrm>
            <a:off x="7437689" y="1656496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24702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 smtClean="0">
                <a:latin typeface="+mn-ea"/>
                <a:ea typeface="+mn-ea"/>
              </a:rPr>
              <a:t>이고의뢰번호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4703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4706" name="직사각형 66"/>
          <p:cNvSpPr>
            <a:spLocks noChangeArrowheads="1"/>
          </p:cNvSpPr>
          <p:nvPr/>
        </p:nvSpPr>
        <p:spPr bwMode="auto">
          <a:xfrm>
            <a:off x="8340977" y="1656496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err="1" smtClean="0">
                <a:latin typeface="+mn-ea"/>
                <a:ea typeface="+mn-ea"/>
              </a:rPr>
              <a:t>이고의뢰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4709" name="직사각형 33"/>
          <p:cNvSpPr>
            <a:spLocks noChangeArrowheads="1"/>
          </p:cNvSpPr>
          <p:nvPr/>
        </p:nvSpPr>
        <p:spPr bwMode="auto">
          <a:xfrm>
            <a:off x="9204577" y="1658084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4710" name="직사각형 48"/>
          <p:cNvSpPr>
            <a:spLocks noChangeArrowheads="1"/>
          </p:cNvSpPr>
          <p:nvPr/>
        </p:nvSpPr>
        <p:spPr bwMode="auto">
          <a:xfrm>
            <a:off x="5769074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4711" name="직사각형 66"/>
          <p:cNvSpPr>
            <a:spLocks noChangeArrowheads="1"/>
          </p:cNvSpPr>
          <p:nvPr/>
        </p:nvSpPr>
        <p:spPr bwMode="auto">
          <a:xfrm>
            <a:off x="5969099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graphicFrame>
        <p:nvGraphicFramePr>
          <p:cNvPr id="4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389866"/>
              </p:ext>
            </p:extLst>
          </p:nvPr>
        </p:nvGraphicFramePr>
        <p:xfrm>
          <a:off x="410528" y="4515842"/>
          <a:ext cx="8709809" cy="503921"/>
        </p:xfrm>
        <a:graphic>
          <a:graphicData uri="http://schemas.openxmlformats.org/drawingml/2006/table">
            <a:tbl>
              <a:tblPr/>
              <a:tblGrid>
                <a:gridCol w="32989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639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1640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04056"/>
                <a:gridCol w="57606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0958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6409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6409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6409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464095"/>
                <a:gridCol w="464095"/>
                <a:gridCol w="464095"/>
                <a:gridCol w="112241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902893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</a:tblGrid>
              <a:tr h="10715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이고의뢰수량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출고물류센터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20*3*4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이고의뢰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" name="TextBox 65"/>
          <p:cNvSpPr txBox="1">
            <a:spLocks noChangeArrowheads="1"/>
          </p:cNvSpPr>
          <p:nvPr/>
        </p:nvSpPr>
        <p:spPr bwMode="auto">
          <a:xfrm>
            <a:off x="3752229" y="1676608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출고예정일자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43" name="직사각형 66"/>
          <p:cNvSpPr>
            <a:spLocks noChangeArrowheads="1"/>
          </p:cNvSpPr>
          <p:nvPr/>
        </p:nvSpPr>
        <p:spPr bwMode="auto">
          <a:xfrm>
            <a:off x="4693617" y="1663908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44" name="직사각형 66"/>
          <p:cNvSpPr>
            <a:spLocks noChangeArrowheads="1"/>
          </p:cNvSpPr>
          <p:nvPr/>
        </p:nvSpPr>
        <p:spPr bwMode="auto">
          <a:xfrm>
            <a:off x="5911229" y="1663908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45" name="직사각형 48"/>
          <p:cNvSpPr>
            <a:spLocks noChangeArrowheads="1"/>
          </p:cNvSpPr>
          <p:nvPr/>
        </p:nvSpPr>
        <p:spPr bwMode="auto">
          <a:xfrm>
            <a:off x="5550867" y="1663908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6" name="직사각형 48"/>
          <p:cNvSpPr>
            <a:spLocks noChangeArrowheads="1"/>
          </p:cNvSpPr>
          <p:nvPr/>
        </p:nvSpPr>
        <p:spPr bwMode="auto">
          <a:xfrm>
            <a:off x="6768479" y="1663908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7" name="TextBox 65"/>
          <p:cNvSpPr txBox="1">
            <a:spLocks noChangeArrowheads="1"/>
          </p:cNvSpPr>
          <p:nvPr/>
        </p:nvSpPr>
        <p:spPr bwMode="auto">
          <a:xfrm>
            <a:off x="5682629" y="1646446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48" name="TextBox 65"/>
          <p:cNvSpPr txBox="1">
            <a:spLocks noChangeArrowheads="1"/>
          </p:cNvSpPr>
          <p:nvPr/>
        </p:nvSpPr>
        <p:spPr bwMode="auto">
          <a:xfrm>
            <a:off x="2520198" y="6560021"/>
            <a:ext cx="193977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smtClean="0">
                <a:latin typeface="+mn-ea"/>
                <a:ea typeface="+mn-ea"/>
              </a:rPr>
              <a:t>진행상태 </a:t>
            </a:r>
            <a:r>
              <a:rPr lang="en-US" altLang="ko-KR" sz="900" dirty="0" smtClean="0">
                <a:latin typeface="+mn-ea"/>
                <a:ea typeface="+mn-ea"/>
              </a:rPr>
              <a:t>: </a:t>
            </a:r>
            <a:r>
              <a:rPr lang="ko-KR" altLang="en-US" sz="900" dirty="0" err="1" smtClean="0">
                <a:latin typeface="+mn-ea"/>
                <a:ea typeface="+mn-ea"/>
              </a:rPr>
              <a:t>이고의뢰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err="1" smtClean="0">
                <a:latin typeface="+mn-ea"/>
                <a:ea typeface="+mn-ea"/>
              </a:rPr>
              <a:t>이고확정</a:t>
            </a:r>
            <a:endParaRPr lang="ko-KR" altLang="en-US" sz="9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 smtClean="0">
                <a:latin typeface="+mn-ea"/>
                <a:ea typeface="+mn-ea"/>
              </a:rPr>
              <a:t>이고의뢰등록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2531" name="직사각형 54"/>
          <p:cNvSpPr>
            <a:spLocks noChangeArrowheads="1"/>
          </p:cNvSpPr>
          <p:nvPr/>
        </p:nvSpPr>
        <p:spPr bwMode="auto">
          <a:xfrm>
            <a:off x="309563" y="1571625"/>
            <a:ext cx="9215437" cy="48101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2532" name="직사각형 51"/>
          <p:cNvSpPr>
            <a:spLocks noChangeArrowheads="1"/>
          </p:cNvSpPr>
          <p:nvPr/>
        </p:nvSpPr>
        <p:spPr bwMode="auto">
          <a:xfrm>
            <a:off x="8999538" y="13144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2253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2253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22535" name="직사각형 51"/>
          <p:cNvSpPr>
            <a:spLocks noChangeArrowheads="1"/>
          </p:cNvSpPr>
          <p:nvPr/>
        </p:nvSpPr>
        <p:spPr bwMode="auto">
          <a:xfrm>
            <a:off x="8432588" y="13144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저장</a:t>
            </a:r>
          </a:p>
        </p:txBody>
      </p:sp>
      <p:grpSp>
        <p:nvGrpSpPr>
          <p:cNvPr id="6152" name="그룹 52"/>
          <p:cNvGrpSpPr>
            <a:grpSpLocks/>
          </p:cNvGrpSpPr>
          <p:nvPr/>
        </p:nvGrpSpPr>
        <p:grpSpPr bwMode="auto">
          <a:xfrm>
            <a:off x="2819360" y="1682750"/>
            <a:ext cx="2071687" cy="230188"/>
            <a:chOff x="3238492" y="1428736"/>
            <a:chExt cx="2071698" cy="230832"/>
          </a:xfrm>
          <a:noFill/>
        </p:grpSpPr>
        <p:sp>
          <p:nvSpPr>
            <p:cNvPr id="622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900" dirty="0">
                  <a:latin typeface="+mn-ea"/>
                  <a:ea typeface="+mn-ea"/>
                </a:rPr>
                <a:t>*</a:t>
              </a:r>
              <a:r>
                <a:rPr lang="ko-KR" altLang="en-US" sz="900" dirty="0" err="1">
                  <a:latin typeface="+mn-ea"/>
                  <a:ea typeface="+mn-ea"/>
                </a:rPr>
                <a:t>고객사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6223" name="직사각형 66"/>
            <p:cNvSpPr>
              <a:spLocks noChangeArrowheads="1"/>
            </p:cNvSpPr>
            <p:nvPr/>
          </p:nvSpPr>
          <p:spPr bwMode="auto">
            <a:xfrm>
              <a:off x="4310060" y="1433511"/>
              <a:ext cx="1000130" cy="21491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dirty="0" smtClean="0">
                  <a:latin typeface="+mn-ea"/>
                  <a:ea typeface="+mn-ea"/>
                </a:rPr>
                <a:t>1000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sp>
        <p:nvSpPr>
          <p:cNvPr id="22537" name="직사각형 48"/>
          <p:cNvSpPr>
            <a:spLocks noChangeArrowheads="1"/>
          </p:cNvSpPr>
          <p:nvPr/>
        </p:nvSpPr>
        <p:spPr bwMode="auto">
          <a:xfrm>
            <a:off x="4929147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6154" name="직사각형 66"/>
          <p:cNvSpPr>
            <a:spLocks noChangeArrowheads="1"/>
          </p:cNvSpPr>
          <p:nvPr/>
        </p:nvSpPr>
        <p:spPr bwMode="auto">
          <a:xfrm>
            <a:off x="5125997" y="1685925"/>
            <a:ext cx="1000125" cy="214313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err="1" smtClean="0">
                <a:latin typeface="+mn-ea"/>
                <a:ea typeface="+mn-ea"/>
              </a:rPr>
              <a:t>버텍스아이디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2539" name="TextBox 65"/>
          <p:cNvSpPr txBox="1">
            <a:spLocks noChangeArrowheads="1"/>
          </p:cNvSpPr>
          <p:nvPr/>
        </p:nvSpPr>
        <p:spPr bwMode="auto">
          <a:xfrm>
            <a:off x="536798" y="1752600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 smtClean="0">
                <a:latin typeface="+mn-ea"/>
                <a:ea typeface="+mn-ea"/>
              </a:rPr>
              <a:t>이고의뢰번호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95" name="직사각형 66"/>
          <p:cNvSpPr>
            <a:spLocks noChangeArrowheads="1"/>
          </p:cNvSpPr>
          <p:nvPr/>
        </p:nvSpPr>
        <p:spPr bwMode="auto">
          <a:xfrm>
            <a:off x="1606773" y="1751013"/>
            <a:ext cx="1000125" cy="21431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endParaRPr lang="ko-KR" altLang="en-US">
              <a:latin typeface="+mn-ea"/>
              <a:ea typeface="+mn-ea"/>
            </a:endParaRPr>
          </a:p>
        </p:txBody>
      </p:sp>
      <p:sp>
        <p:nvSpPr>
          <p:cNvPr id="22547" name="TextBox 65"/>
          <p:cNvSpPr txBox="1">
            <a:spLocks noChangeArrowheads="1"/>
          </p:cNvSpPr>
          <p:nvPr/>
        </p:nvSpPr>
        <p:spPr bwMode="auto">
          <a:xfrm>
            <a:off x="7200205" y="1665744"/>
            <a:ext cx="10715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6164" name="직사각형 66"/>
          <p:cNvSpPr>
            <a:spLocks noChangeArrowheads="1"/>
          </p:cNvSpPr>
          <p:nvPr/>
        </p:nvSpPr>
        <p:spPr bwMode="auto">
          <a:xfrm>
            <a:off x="8270180" y="1664157"/>
            <a:ext cx="1000125" cy="21431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err="1" smtClean="0">
                <a:latin typeface="+mn-ea"/>
                <a:ea typeface="+mn-ea"/>
              </a:rPr>
              <a:t>이고의뢰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2551" name="TextBox 65"/>
          <p:cNvSpPr txBox="1">
            <a:spLocks noChangeArrowheads="1"/>
          </p:cNvSpPr>
          <p:nvPr/>
        </p:nvSpPr>
        <p:spPr bwMode="auto">
          <a:xfrm>
            <a:off x="389052" y="2152154"/>
            <a:ext cx="11588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latin typeface="+mn-ea"/>
                <a:ea typeface="+mn-ea"/>
              </a:rPr>
              <a:t>*</a:t>
            </a:r>
            <a:r>
              <a:rPr lang="ko-KR" altLang="en-US" sz="900" dirty="0" err="1" smtClean="0">
                <a:latin typeface="+mn-ea"/>
                <a:ea typeface="+mn-ea"/>
              </a:rPr>
              <a:t>이고의뢰일자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2552" name="직사각형 66"/>
          <p:cNvSpPr>
            <a:spLocks noChangeArrowheads="1"/>
          </p:cNvSpPr>
          <p:nvPr/>
        </p:nvSpPr>
        <p:spPr bwMode="auto">
          <a:xfrm>
            <a:off x="1590789" y="2139454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2016-10-28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2553" name="직사각형 48"/>
          <p:cNvSpPr>
            <a:spLocks noChangeArrowheads="1"/>
          </p:cNvSpPr>
          <p:nvPr/>
        </p:nvSpPr>
        <p:spPr bwMode="auto">
          <a:xfrm>
            <a:off x="2448039" y="2139454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11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729444"/>
              </p:ext>
            </p:extLst>
          </p:nvPr>
        </p:nvGraphicFramePr>
        <p:xfrm>
          <a:off x="365125" y="3429000"/>
          <a:ext cx="9052942" cy="503921"/>
        </p:xfrm>
        <a:graphic>
          <a:graphicData uri="http://schemas.openxmlformats.org/drawingml/2006/table">
            <a:tbl>
              <a:tblPr/>
              <a:tblGrid>
                <a:gridCol w="32989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3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639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2100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71275"/>
                <a:gridCol w="56080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5302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6409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6409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6409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464095"/>
                <a:gridCol w="464095"/>
                <a:gridCol w="464095"/>
                <a:gridCol w="112241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902893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</a:tblGrid>
              <a:tr h="10715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이고의뢰수량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출고물류센터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이고의뢰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05" name="직사각형 48"/>
          <p:cNvSpPr>
            <a:spLocks noChangeArrowheads="1"/>
          </p:cNvSpPr>
          <p:nvPr/>
        </p:nvSpPr>
        <p:spPr bwMode="auto">
          <a:xfrm>
            <a:off x="1943613" y="3703346"/>
            <a:ext cx="144307" cy="23733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grpSp>
        <p:nvGrpSpPr>
          <p:cNvPr id="22606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261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2261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2260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2609" name="직사각형 33"/>
          <p:cNvSpPr>
            <a:spLocks noChangeArrowheads="1"/>
          </p:cNvSpPr>
          <p:nvPr/>
        </p:nvSpPr>
        <p:spPr bwMode="auto">
          <a:xfrm>
            <a:off x="9130605" y="1664157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39" name="TextBox 65"/>
          <p:cNvSpPr txBox="1">
            <a:spLocks noChangeArrowheads="1"/>
          </p:cNvSpPr>
          <p:nvPr/>
        </p:nvSpPr>
        <p:spPr bwMode="auto">
          <a:xfrm>
            <a:off x="2671321" y="2126312"/>
            <a:ext cx="11588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 smtClean="0">
                <a:latin typeface="+mn-ea"/>
                <a:ea typeface="+mn-ea"/>
              </a:rPr>
              <a:t>*</a:t>
            </a:r>
            <a:r>
              <a:rPr lang="ko-KR" altLang="en-US" sz="900" dirty="0" smtClean="0">
                <a:latin typeface="+mn-ea"/>
                <a:ea typeface="+mn-ea"/>
              </a:rPr>
              <a:t>출고예정일자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40" name="직사각형 66"/>
          <p:cNvSpPr>
            <a:spLocks noChangeArrowheads="1"/>
          </p:cNvSpPr>
          <p:nvPr/>
        </p:nvSpPr>
        <p:spPr bwMode="auto">
          <a:xfrm>
            <a:off x="3873058" y="2113612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2016-10-28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1" name="직사각형 48"/>
          <p:cNvSpPr>
            <a:spLocks noChangeArrowheads="1"/>
          </p:cNvSpPr>
          <p:nvPr/>
        </p:nvSpPr>
        <p:spPr bwMode="auto">
          <a:xfrm>
            <a:off x="4730308" y="211361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2" name="직사각형 51"/>
          <p:cNvSpPr>
            <a:spLocks noChangeArrowheads="1"/>
          </p:cNvSpPr>
          <p:nvPr/>
        </p:nvSpPr>
        <p:spPr bwMode="auto">
          <a:xfrm>
            <a:off x="7865639" y="13144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신규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3" name="직사각형 51"/>
          <p:cNvSpPr>
            <a:spLocks noChangeArrowheads="1"/>
          </p:cNvSpPr>
          <p:nvPr/>
        </p:nvSpPr>
        <p:spPr bwMode="auto">
          <a:xfrm>
            <a:off x="7298690" y="13144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생성</a:t>
            </a:r>
            <a:endParaRPr lang="ko-KR" altLang="en-US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이고발주확정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918298"/>
              </p:ext>
            </p:extLst>
          </p:nvPr>
        </p:nvGraphicFramePr>
        <p:xfrm>
          <a:off x="355600" y="2640013"/>
          <a:ext cx="7397838" cy="428626"/>
        </p:xfrm>
        <a:graphic>
          <a:graphicData uri="http://schemas.openxmlformats.org/drawingml/2006/table">
            <a:tbl>
              <a:tblPr/>
              <a:tblGrid>
                <a:gridCol w="2525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271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3073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0099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0099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0099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0099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800998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677766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677766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691287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발주번호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입고형태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작업없음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669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689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670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+mn-ea"/>
                <a:ea typeface="+mn-ea"/>
              </a:rPr>
              <a:t>이</a:t>
            </a:r>
            <a:r>
              <a:rPr lang="ko-KR" altLang="en-US" sz="900" dirty="0" err="1" smtClean="0">
                <a:latin typeface="+mn-ea"/>
                <a:ea typeface="+mn-ea"/>
              </a:rPr>
              <a:t>고발주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6671" name="직사각형 51"/>
          <p:cNvSpPr>
            <a:spLocks noChangeArrowheads="1"/>
          </p:cNvSpPr>
          <p:nvPr/>
        </p:nvSpPr>
        <p:spPr bwMode="auto">
          <a:xfrm>
            <a:off x="848836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26672" name="직사각형 51"/>
          <p:cNvSpPr>
            <a:spLocks noChangeArrowheads="1"/>
          </p:cNvSpPr>
          <p:nvPr/>
        </p:nvSpPr>
        <p:spPr bwMode="auto">
          <a:xfrm>
            <a:off x="68564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2667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2667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26675" name="직사각형 51"/>
          <p:cNvSpPr>
            <a:spLocks noChangeArrowheads="1"/>
          </p:cNvSpPr>
          <p:nvPr/>
        </p:nvSpPr>
        <p:spPr bwMode="auto">
          <a:xfrm>
            <a:off x="74025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신규</a:t>
            </a:r>
          </a:p>
        </p:txBody>
      </p:sp>
      <p:sp>
        <p:nvSpPr>
          <p:cNvPr id="26676" name="직사각형 51"/>
          <p:cNvSpPr>
            <a:spLocks noChangeArrowheads="1"/>
          </p:cNvSpPr>
          <p:nvPr/>
        </p:nvSpPr>
        <p:spPr bwMode="auto">
          <a:xfrm>
            <a:off x="7948613" y="22748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저장</a:t>
            </a:r>
          </a:p>
        </p:txBody>
      </p:sp>
      <p:sp>
        <p:nvSpPr>
          <p:cNvPr id="26677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26678" name="직사각형 54"/>
          <p:cNvSpPr>
            <a:spLocks noChangeArrowheads="1"/>
          </p:cNvSpPr>
          <p:nvPr/>
        </p:nvSpPr>
        <p:spPr bwMode="auto">
          <a:xfrm>
            <a:off x="259556" y="4281488"/>
            <a:ext cx="9215437" cy="17700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679" name="TextBox 55"/>
          <p:cNvSpPr txBox="1">
            <a:spLocks noChangeArrowheads="1"/>
          </p:cNvSpPr>
          <p:nvPr/>
        </p:nvSpPr>
        <p:spPr bwMode="auto">
          <a:xfrm>
            <a:off x="381000" y="4271963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입고발주상세</a:t>
            </a:r>
          </a:p>
        </p:txBody>
      </p:sp>
      <p:sp>
        <p:nvSpPr>
          <p:cNvPr id="26722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26723" name="TextBox 65"/>
          <p:cNvSpPr txBox="1">
            <a:spLocks noChangeArrowheads="1"/>
          </p:cNvSpPr>
          <p:nvPr/>
        </p:nvSpPr>
        <p:spPr bwMode="auto">
          <a:xfrm>
            <a:off x="2865438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26724" name="직사각형 66"/>
          <p:cNvSpPr>
            <a:spLocks noChangeArrowheads="1"/>
          </p:cNvSpPr>
          <p:nvPr/>
        </p:nvSpPr>
        <p:spPr bwMode="auto">
          <a:xfrm>
            <a:off x="3808413" y="131127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725" name="TextBox 65"/>
          <p:cNvSpPr txBox="1">
            <a:spLocks noChangeArrowheads="1"/>
          </p:cNvSpPr>
          <p:nvPr/>
        </p:nvSpPr>
        <p:spPr bwMode="auto">
          <a:xfrm>
            <a:off x="2873375" y="17272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입고일자</a:t>
            </a:r>
          </a:p>
        </p:txBody>
      </p:sp>
      <p:sp>
        <p:nvSpPr>
          <p:cNvPr id="26726" name="직사각형 66"/>
          <p:cNvSpPr>
            <a:spLocks noChangeArrowheads="1"/>
          </p:cNvSpPr>
          <p:nvPr/>
        </p:nvSpPr>
        <p:spPr bwMode="auto">
          <a:xfrm>
            <a:off x="3814763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727" name="직사각형 66"/>
          <p:cNvSpPr>
            <a:spLocks noChangeArrowheads="1"/>
          </p:cNvSpPr>
          <p:nvPr/>
        </p:nvSpPr>
        <p:spPr bwMode="auto">
          <a:xfrm>
            <a:off x="5032375" y="17145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728" name="직사각형 48"/>
          <p:cNvSpPr>
            <a:spLocks noChangeArrowheads="1"/>
          </p:cNvSpPr>
          <p:nvPr/>
        </p:nvSpPr>
        <p:spPr bwMode="auto">
          <a:xfrm>
            <a:off x="4672013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6729" name="직사각형 48"/>
          <p:cNvSpPr>
            <a:spLocks noChangeArrowheads="1"/>
          </p:cNvSpPr>
          <p:nvPr/>
        </p:nvSpPr>
        <p:spPr bwMode="auto">
          <a:xfrm>
            <a:off x="5889625" y="17145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6730" name="TextBox 65"/>
          <p:cNvSpPr txBox="1">
            <a:spLocks noChangeArrowheads="1"/>
          </p:cNvSpPr>
          <p:nvPr/>
        </p:nvSpPr>
        <p:spPr bwMode="auto">
          <a:xfrm>
            <a:off x="4803775" y="16970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26731" name="TextBox 65"/>
          <p:cNvSpPr txBox="1">
            <a:spLocks noChangeArrowheads="1"/>
          </p:cNvSpPr>
          <p:nvPr/>
        </p:nvSpPr>
        <p:spPr bwMode="auto">
          <a:xfrm>
            <a:off x="6369050" y="16859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graphicFrame>
        <p:nvGraphicFramePr>
          <p:cNvPr id="6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634235"/>
              </p:ext>
            </p:extLst>
          </p:nvPr>
        </p:nvGraphicFramePr>
        <p:xfrm>
          <a:off x="350838" y="3155950"/>
          <a:ext cx="3378200" cy="428626"/>
        </p:xfrm>
        <a:graphic>
          <a:graphicData uri="http://schemas.openxmlformats.org/drawingml/2006/table">
            <a:tbl>
              <a:tblPr/>
              <a:tblGrid>
                <a:gridCol w="73437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557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317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17507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입고구분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공급처명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진행상태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정상입고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베텍스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입고예정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748" name="TextBox 65"/>
          <p:cNvSpPr txBox="1">
            <a:spLocks noChangeArrowheads="1"/>
          </p:cNvSpPr>
          <p:nvPr/>
        </p:nvSpPr>
        <p:spPr bwMode="auto">
          <a:xfrm>
            <a:off x="330200" y="130810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입고번호</a:t>
            </a:r>
          </a:p>
        </p:txBody>
      </p:sp>
      <p:sp>
        <p:nvSpPr>
          <p:cNvPr id="26749" name="직사각형 66"/>
          <p:cNvSpPr>
            <a:spLocks noChangeArrowheads="1"/>
          </p:cNvSpPr>
          <p:nvPr/>
        </p:nvSpPr>
        <p:spPr bwMode="auto">
          <a:xfrm>
            <a:off x="123666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pSp>
        <p:nvGrpSpPr>
          <p:cNvPr id="2675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676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2676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2675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6752" name="TextBox 65"/>
          <p:cNvSpPr txBox="1">
            <a:spLocks noChangeArrowheads="1"/>
          </p:cNvSpPr>
          <p:nvPr/>
        </p:nvSpPr>
        <p:spPr bwMode="auto">
          <a:xfrm>
            <a:off x="6361113" y="130175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차량번호</a:t>
            </a:r>
          </a:p>
        </p:txBody>
      </p:sp>
      <p:sp>
        <p:nvSpPr>
          <p:cNvPr id="26753" name="직사각형 66"/>
          <p:cNvSpPr>
            <a:spLocks noChangeArrowheads="1"/>
          </p:cNvSpPr>
          <p:nvPr/>
        </p:nvSpPr>
        <p:spPr bwMode="auto">
          <a:xfrm>
            <a:off x="7264400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754" name="직사각형 66"/>
          <p:cNvSpPr>
            <a:spLocks noChangeArrowheads="1"/>
          </p:cNvSpPr>
          <p:nvPr/>
        </p:nvSpPr>
        <p:spPr bwMode="auto">
          <a:xfrm>
            <a:off x="7272338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26755" name="직사각형 66"/>
          <p:cNvSpPr>
            <a:spLocks noChangeArrowheads="1"/>
          </p:cNvSpPr>
          <p:nvPr/>
        </p:nvSpPr>
        <p:spPr bwMode="auto">
          <a:xfrm>
            <a:off x="1246188" y="170180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정상입고</a:t>
            </a:r>
          </a:p>
        </p:txBody>
      </p:sp>
      <p:sp>
        <p:nvSpPr>
          <p:cNvPr id="26756" name="직사각형 33"/>
          <p:cNvSpPr>
            <a:spLocks noChangeArrowheads="1"/>
          </p:cNvSpPr>
          <p:nvPr/>
        </p:nvSpPr>
        <p:spPr bwMode="auto">
          <a:xfrm>
            <a:off x="2095500" y="16970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6757" name="직사각형 33"/>
          <p:cNvSpPr>
            <a:spLocks noChangeArrowheads="1"/>
          </p:cNvSpPr>
          <p:nvPr/>
        </p:nvSpPr>
        <p:spPr bwMode="auto">
          <a:xfrm>
            <a:off x="8135938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26758" name="직사각형 48"/>
          <p:cNvSpPr>
            <a:spLocks noChangeArrowheads="1"/>
          </p:cNvSpPr>
          <p:nvPr/>
        </p:nvSpPr>
        <p:spPr bwMode="auto">
          <a:xfrm>
            <a:off x="4867275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6759" name="직사각형 66"/>
          <p:cNvSpPr>
            <a:spLocks noChangeArrowheads="1"/>
          </p:cNvSpPr>
          <p:nvPr/>
        </p:nvSpPr>
        <p:spPr bwMode="auto">
          <a:xfrm>
            <a:off x="5067300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graphicFrame>
        <p:nvGraphicFramePr>
          <p:cNvPr id="4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308273"/>
              </p:ext>
            </p:extLst>
          </p:nvPr>
        </p:nvGraphicFramePr>
        <p:xfrm>
          <a:off x="381000" y="5157192"/>
          <a:ext cx="9052942" cy="503921"/>
        </p:xfrm>
        <a:graphic>
          <a:graphicData uri="http://schemas.openxmlformats.org/drawingml/2006/table">
            <a:tbl>
              <a:tblPr/>
              <a:tblGrid>
                <a:gridCol w="32989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3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639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2100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71275"/>
                <a:gridCol w="56080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5302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6409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6409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6409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464095"/>
                <a:gridCol w="464095"/>
                <a:gridCol w="464095"/>
                <a:gridCol w="112241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902893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</a:tblGrid>
              <a:tr h="10715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이고의뢰수량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가용재고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출고물류센터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고예정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입고시리얼스캔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291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74111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292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입고시리얼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294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12295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graphicFrame>
        <p:nvGraphicFramePr>
          <p:cNvPr id="4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209714"/>
              </p:ext>
            </p:extLst>
          </p:nvPr>
        </p:nvGraphicFramePr>
        <p:xfrm>
          <a:off x="373063" y="2640013"/>
          <a:ext cx="5390991" cy="428626"/>
        </p:xfrm>
        <a:graphic>
          <a:graphicData uri="http://schemas.openxmlformats.org/drawingml/2006/table">
            <a:tbl>
              <a:tblPr/>
              <a:tblGrid>
                <a:gridCol w="2525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3073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5129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92088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1368152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발주번호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VERTEXID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 11:20:33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331638"/>
              </p:ext>
            </p:extLst>
          </p:nvPr>
        </p:nvGraphicFramePr>
        <p:xfrm>
          <a:off x="373063" y="3155950"/>
          <a:ext cx="1581050" cy="489074"/>
        </p:xfrm>
        <a:graphic>
          <a:graphicData uri="http://schemas.openxmlformats.org/drawingml/2006/table">
            <a:tbl>
              <a:tblPr/>
              <a:tblGrid>
                <a:gridCol w="7345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4651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476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정상입고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575110"/>
              </p:ext>
            </p:extLst>
          </p:nvPr>
        </p:nvGraphicFramePr>
        <p:xfrm>
          <a:off x="1951524" y="3155950"/>
          <a:ext cx="3830878" cy="479033"/>
        </p:xfrm>
        <a:graphic>
          <a:graphicData uri="http://schemas.openxmlformats.org/drawingml/2006/table">
            <a:tbl>
              <a:tblPr/>
              <a:tblGrid>
                <a:gridCol w="7517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3258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7874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5989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1545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92424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472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437" name="직사각형 54"/>
          <p:cNvSpPr>
            <a:spLocks noChangeArrowheads="1"/>
          </p:cNvSpPr>
          <p:nvPr/>
        </p:nvSpPr>
        <p:spPr bwMode="auto">
          <a:xfrm>
            <a:off x="309564" y="4551859"/>
            <a:ext cx="9207500" cy="168545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2441" name="TextBox 55"/>
          <p:cNvSpPr txBox="1">
            <a:spLocks noChangeArrowheads="1"/>
          </p:cNvSpPr>
          <p:nvPr/>
        </p:nvSpPr>
        <p:spPr bwMode="auto">
          <a:xfrm>
            <a:off x="367540" y="4436765"/>
            <a:ext cx="985060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smtClean="0">
                <a:latin typeface="+mn-ea"/>
                <a:ea typeface="+mn-ea"/>
              </a:rPr>
              <a:t>입고시리얼상세</a:t>
            </a:r>
            <a:endParaRPr lang="ko-KR" altLang="en-US" sz="900" dirty="0">
              <a:latin typeface="+mn-ea"/>
              <a:ea typeface="+mn-ea"/>
            </a:endParaRPr>
          </a:p>
        </p:txBody>
      </p:sp>
      <p:graphicFrame>
        <p:nvGraphicFramePr>
          <p:cNvPr id="5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486824"/>
              </p:ext>
            </p:extLst>
          </p:nvPr>
        </p:nvGraphicFramePr>
        <p:xfrm>
          <a:off x="380656" y="4662915"/>
          <a:ext cx="2212694" cy="490582"/>
        </p:xfrm>
        <a:graphic>
          <a:graphicData uri="http://schemas.openxmlformats.org/drawingml/2006/table">
            <a:tbl>
              <a:tblPr/>
              <a:tblGrid>
                <a:gridCol w="25186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2472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06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시리얼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43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3" marR="7643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48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250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251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248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52" name="직사각형 51"/>
          <p:cNvSpPr>
            <a:spLocks noChangeArrowheads="1"/>
          </p:cNvSpPr>
          <p:nvPr/>
        </p:nvSpPr>
        <p:spPr bwMode="auto">
          <a:xfrm>
            <a:off x="9034463" y="231016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+mn-ea"/>
                <a:ea typeface="+mn-ea"/>
              </a:rPr>
              <a:t>조회</a:t>
            </a:r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394444"/>
              </p:ext>
            </p:extLst>
          </p:nvPr>
        </p:nvGraphicFramePr>
        <p:xfrm>
          <a:off x="373063" y="3691553"/>
          <a:ext cx="4486476" cy="503920"/>
        </p:xfrm>
        <a:graphic>
          <a:graphicData uri="http://schemas.openxmlformats.org/drawingml/2006/table">
            <a:tbl>
              <a:tblPr/>
              <a:tblGrid>
                <a:gridCol w="51773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1773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1773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585068"/>
                <a:gridCol w="617945"/>
                <a:gridCol w="494356"/>
                <a:gridCol w="494356"/>
                <a:gridCol w="741534"/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유통기한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849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입고지시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직사각형 51"/>
          <p:cNvSpPr>
            <a:spLocks noChangeArrowheads="1"/>
          </p:cNvSpPr>
          <p:nvPr/>
        </p:nvSpPr>
        <p:spPr bwMode="auto">
          <a:xfrm>
            <a:off x="8471859" y="43195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신규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8" name="직사각형 51"/>
          <p:cNvSpPr>
            <a:spLocks noChangeArrowheads="1"/>
          </p:cNvSpPr>
          <p:nvPr/>
        </p:nvSpPr>
        <p:spPr bwMode="auto">
          <a:xfrm>
            <a:off x="9017238" y="43195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삭제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7" name="TextBox 65"/>
          <p:cNvSpPr txBox="1">
            <a:spLocks noChangeArrowheads="1"/>
          </p:cNvSpPr>
          <p:nvPr/>
        </p:nvSpPr>
        <p:spPr bwMode="auto">
          <a:xfrm>
            <a:off x="333375" y="16986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59" name="TextBox 65"/>
          <p:cNvSpPr txBox="1">
            <a:spLocks noChangeArrowheads="1"/>
          </p:cNvSpPr>
          <p:nvPr/>
        </p:nvSpPr>
        <p:spPr bwMode="auto">
          <a:xfrm>
            <a:off x="296863" y="1340644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+mn-ea"/>
                <a:ea typeface="+mn-ea"/>
              </a:rPr>
              <a:t>고객사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0" name="직사각형 66"/>
          <p:cNvSpPr>
            <a:spLocks noChangeArrowheads="1"/>
          </p:cNvSpPr>
          <p:nvPr/>
        </p:nvSpPr>
        <p:spPr bwMode="auto">
          <a:xfrm>
            <a:off x="1239838" y="1350169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+mn-ea"/>
                <a:ea typeface="+mn-ea"/>
              </a:rPr>
              <a:t>0000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61" name="TextBox 65"/>
          <p:cNvSpPr txBox="1">
            <a:spLocks noChangeArrowheads="1"/>
          </p:cNvSpPr>
          <p:nvPr/>
        </p:nvSpPr>
        <p:spPr bwMode="auto">
          <a:xfrm>
            <a:off x="3555815" y="1369463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+mn-ea"/>
                <a:ea typeface="+mn-ea"/>
              </a:rPr>
              <a:t>입고예정일자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2" name="직사각형 66"/>
          <p:cNvSpPr>
            <a:spLocks noChangeArrowheads="1"/>
          </p:cNvSpPr>
          <p:nvPr/>
        </p:nvSpPr>
        <p:spPr bwMode="auto">
          <a:xfrm>
            <a:off x="4497203" y="1356763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2016-10-27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63" name="직사각형 66"/>
          <p:cNvSpPr>
            <a:spLocks noChangeArrowheads="1"/>
          </p:cNvSpPr>
          <p:nvPr/>
        </p:nvSpPr>
        <p:spPr bwMode="auto">
          <a:xfrm>
            <a:off x="5714815" y="1356763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2016-11-03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64" name="직사각형 48"/>
          <p:cNvSpPr>
            <a:spLocks noChangeArrowheads="1"/>
          </p:cNvSpPr>
          <p:nvPr/>
        </p:nvSpPr>
        <p:spPr bwMode="auto">
          <a:xfrm>
            <a:off x="5354453" y="1356763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65" name="직사각형 48"/>
          <p:cNvSpPr>
            <a:spLocks noChangeArrowheads="1"/>
          </p:cNvSpPr>
          <p:nvPr/>
        </p:nvSpPr>
        <p:spPr bwMode="auto">
          <a:xfrm>
            <a:off x="6572065" y="1356763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5486215" y="1339301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67" name="TextBox 65"/>
          <p:cNvSpPr txBox="1">
            <a:spLocks noChangeArrowheads="1"/>
          </p:cNvSpPr>
          <p:nvPr/>
        </p:nvSpPr>
        <p:spPr bwMode="auto">
          <a:xfrm>
            <a:off x="6784605" y="1354932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68" name="직사각형 66"/>
          <p:cNvSpPr>
            <a:spLocks noChangeArrowheads="1"/>
          </p:cNvSpPr>
          <p:nvPr/>
        </p:nvSpPr>
        <p:spPr bwMode="auto">
          <a:xfrm>
            <a:off x="7687893" y="1354932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smtClean="0">
                <a:latin typeface="+mn-ea"/>
                <a:ea typeface="+mn-ea"/>
              </a:rPr>
              <a:t>입고지시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69" name="TextBox 65"/>
          <p:cNvSpPr txBox="1">
            <a:spLocks noChangeArrowheads="1"/>
          </p:cNvSpPr>
          <p:nvPr/>
        </p:nvSpPr>
        <p:spPr bwMode="auto">
          <a:xfrm>
            <a:off x="3430353" y="1692366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입고번호</a:t>
            </a:r>
          </a:p>
        </p:txBody>
      </p:sp>
      <p:sp>
        <p:nvSpPr>
          <p:cNvPr id="70" name="직사각형 66"/>
          <p:cNvSpPr>
            <a:spLocks noChangeArrowheads="1"/>
          </p:cNvSpPr>
          <p:nvPr/>
        </p:nvSpPr>
        <p:spPr bwMode="auto">
          <a:xfrm>
            <a:off x="4482631" y="169386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71" name="TextBox 65"/>
          <p:cNvSpPr txBox="1">
            <a:spLocks noChangeArrowheads="1"/>
          </p:cNvSpPr>
          <p:nvPr/>
        </p:nvSpPr>
        <p:spPr bwMode="auto">
          <a:xfrm>
            <a:off x="6784606" y="1637262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차량번호</a:t>
            </a:r>
          </a:p>
        </p:txBody>
      </p:sp>
      <p:sp>
        <p:nvSpPr>
          <p:cNvPr id="72" name="직사각형 66"/>
          <p:cNvSpPr>
            <a:spLocks noChangeArrowheads="1"/>
          </p:cNvSpPr>
          <p:nvPr/>
        </p:nvSpPr>
        <p:spPr bwMode="auto">
          <a:xfrm>
            <a:off x="7687893" y="1637262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06</a:t>
            </a:r>
            <a:r>
              <a:rPr lang="ko-KR" altLang="en-US">
                <a:latin typeface="+mn-ea"/>
                <a:ea typeface="+mn-ea"/>
              </a:rPr>
              <a:t>머</a:t>
            </a:r>
            <a:r>
              <a:rPr lang="en-US" altLang="ko-KR">
                <a:latin typeface="+mn-ea"/>
                <a:ea typeface="+mn-ea"/>
              </a:rPr>
              <a:t>-0407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73" name="직사각형 66"/>
          <p:cNvSpPr>
            <a:spLocks noChangeArrowheads="1"/>
          </p:cNvSpPr>
          <p:nvPr/>
        </p:nvSpPr>
        <p:spPr bwMode="auto">
          <a:xfrm>
            <a:off x="1239838" y="169386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+mn-ea"/>
                <a:ea typeface="+mn-ea"/>
              </a:rPr>
              <a:t>정상입고</a:t>
            </a:r>
          </a:p>
        </p:txBody>
      </p:sp>
      <p:sp>
        <p:nvSpPr>
          <p:cNvPr id="74" name="직사각형 33"/>
          <p:cNvSpPr>
            <a:spLocks noChangeArrowheads="1"/>
          </p:cNvSpPr>
          <p:nvPr/>
        </p:nvSpPr>
        <p:spPr bwMode="auto">
          <a:xfrm>
            <a:off x="2105025" y="16875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75" name="직사각형 48"/>
          <p:cNvSpPr>
            <a:spLocks noChangeArrowheads="1"/>
          </p:cNvSpPr>
          <p:nvPr/>
        </p:nvSpPr>
        <p:spPr bwMode="auto">
          <a:xfrm>
            <a:off x="2298700" y="1346994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76" name="직사각형 66"/>
          <p:cNvSpPr>
            <a:spLocks noChangeArrowheads="1"/>
          </p:cNvSpPr>
          <p:nvPr/>
        </p:nvSpPr>
        <p:spPr bwMode="auto">
          <a:xfrm>
            <a:off x="2498725" y="1354932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  <p:sp>
        <p:nvSpPr>
          <p:cNvPr id="77" name="직사각형 33"/>
          <p:cNvSpPr>
            <a:spLocks noChangeArrowheads="1"/>
          </p:cNvSpPr>
          <p:nvPr/>
        </p:nvSpPr>
        <p:spPr bwMode="auto">
          <a:xfrm>
            <a:off x="8549905" y="135493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78" name="TextBox 65"/>
          <p:cNvSpPr txBox="1">
            <a:spLocks noChangeArrowheads="1"/>
          </p:cNvSpPr>
          <p:nvPr/>
        </p:nvSpPr>
        <p:spPr bwMode="auto">
          <a:xfrm>
            <a:off x="311150" y="2054225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공급처</a:t>
            </a:r>
          </a:p>
        </p:txBody>
      </p:sp>
      <p:sp>
        <p:nvSpPr>
          <p:cNvPr id="79" name="직사각형 66"/>
          <p:cNvSpPr>
            <a:spLocks noChangeArrowheads="1"/>
          </p:cNvSpPr>
          <p:nvPr/>
        </p:nvSpPr>
        <p:spPr bwMode="auto">
          <a:xfrm>
            <a:off x="1254125" y="2063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80" name="직사각형 48"/>
          <p:cNvSpPr>
            <a:spLocks noChangeArrowheads="1"/>
          </p:cNvSpPr>
          <p:nvPr/>
        </p:nvSpPr>
        <p:spPr bwMode="auto">
          <a:xfrm>
            <a:off x="2312988" y="20605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81" name="직사각형 66"/>
          <p:cNvSpPr>
            <a:spLocks noChangeArrowheads="1"/>
          </p:cNvSpPr>
          <p:nvPr/>
        </p:nvSpPr>
        <p:spPr bwMode="auto">
          <a:xfrm>
            <a:off x="2513013" y="2068513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버텍스아이디</a:t>
            </a:r>
          </a:p>
        </p:txBody>
      </p:sp>
    </p:spTree>
    <p:extLst>
      <p:ext uri="{BB962C8B-B14F-4D97-AF65-F5344CB8AC3E}">
        <p14:creationId xmlns:p14="http://schemas.microsoft.com/office/powerpoint/2010/main" val="272525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입고라벨</a:t>
            </a:r>
          </a:p>
        </p:txBody>
      </p:sp>
      <p:sp>
        <p:nvSpPr>
          <p:cNvPr id="2867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2867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28677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37" name="Text Box 51"/>
          <p:cNvSpPr txBox="1">
            <a:spLocks noChangeArrowheads="1"/>
          </p:cNvSpPr>
          <p:nvPr/>
        </p:nvSpPr>
        <p:spPr bwMode="auto">
          <a:xfrm>
            <a:off x="4503738" y="1844675"/>
            <a:ext cx="1319212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 err="1">
                <a:latin typeface="+mn-ea"/>
                <a:ea typeface="+mn-ea"/>
              </a:rPr>
              <a:t>입고라벨표</a:t>
            </a:r>
            <a:endParaRPr lang="ko-KR" altLang="en-US" sz="2000" b="1" dirty="0">
              <a:latin typeface="+mn-ea"/>
              <a:ea typeface="+mn-ea"/>
            </a:endParaRPr>
          </a:p>
        </p:txBody>
      </p:sp>
      <p:sp>
        <p:nvSpPr>
          <p:cNvPr id="28679" name="TextBox 65"/>
          <p:cNvSpPr txBox="1">
            <a:spLocks noChangeArrowheads="1"/>
          </p:cNvSpPr>
          <p:nvPr/>
        </p:nvSpPr>
        <p:spPr bwMode="auto">
          <a:xfrm>
            <a:off x="6130925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바코드</a:t>
            </a:r>
            <a:r>
              <a:rPr lang="en-US" altLang="ko-KR" sz="900">
                <a:latin typeface="+mn-ea"/>
                <a:ea typeface="+mn-ea"/>
              </a:rPr>
              <a:t>(</a:t>
            </a:r>
            <a:r>
              <a:rPr lang="ko-KR" altLang="en-US" sz="900">
                <a:latin typeface="+mn-ea"/>
                <a:ea typeface="+mn-ea"/>
              </a:rPr>
              <a:t>제품코드</a:t>
            </a:r>
            <a:r>
              <a:rPr lang="en-US" altLang="ko-KR" sz="900">
                <a:latin typeface="+mn-ea"/>
                <a:ea typeface="+mn-ea"/>
              </a:rPr>
              <a:t>)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28680" name="TextBox 65"/>
          <p:cNvSpPr txBox="1">
            <a:spLocks noChangeArrowheads="1"/>
          </p:cNvSpPr>
          <p:nvPr/>
        </p:nvSpPr>
        <p:spPr bwMode="auto">
          <a:xfrm>
            <a:off x="776288" y="2413000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제품코드</a:t>
            </a:r>
          </a:p>
        </p:txBody>
      </p:sp>
      <p:sp>
        <p:nvSpPr>
          <p:cNvPr id="28681" name="TextBox 65"/>
          <p:cNvSpPr txBox="1">
            <a:spLocks noChangeArrowheads="1"/>
          </p:cNvSpPr>
          <p:nvPr/>
        </p:nvSpPr>
        <p:spPr bwMode="auto">
          <a:xfrm>
            <a:off x="776288" y="2627313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제품명</a:t>
            </a:r>
          </a:p>
        </p:txBody>
      </p:sp>
      <p:sp>
        <p:nvSpPr>
          <p:cNvPr id="28682" name="TextBox 65"/>
          <p:cNvSpPr txBox="1">
            <a:spLocks noChangeArrowheads="1"/>
          </p:cNvSpPr>
          <p:nvPr/>
        </p:nvSpPr>
        <p:spPr bwMode="auto">
          <a:xfrm>
            <a:off x="776288" y="2857500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제품유형</a:t>
            </a:r>
          </a:p>
        </p:txBody>
      </p:sp>
      <p:sp>
        <p:nvSpPr>
          <p:cNvPr id="28683" name="TextBox 65"/>
          <p:cNvSpPr txBox="1">
            <a:spLocks noChangeArrowheads="1"/>
          </p:cNvSpPr>
          <p:nvPr/>
        </p:nvSpPr>
        <p:spPr bwMode="auto">
          <a:xfrm>
            <a:off x="776288" y="3071813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재고상태</a:t>
            </a:r>
          </a:p>
        </p:txBody>
      </p:sp>
      <p:sp>
        <p:nvSpPr>
          <p:cNvPr id="28684" name="TextBox 65"/>
          <p:cNvSpPr txBox="1">
            <a:spLocks noChangeArrowheads="1"/>
          </p:cNvSpPr>
          <p:nvPr/>
        </p:nvSpPr>
        <p:spPr bwMode="auto">
          <a:xfrm>
            <a:off x="776288" y="3270250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제조일자</a:t>
            </a:r>
          </a:p>
        </p:txBody>
      </p:sp>
      <p:sp>
        <p:nvSpPr>
          <p:cNvPr id="28685" name="TextBox 65"/>
          <p:cNvSpPr txBox="1">
            <a:spLocks noChangeArrowheads="1"/>
          </p:cNvSpPr>
          <p:nvPr/>
        </p:nvSpPr>
        <p:spPr bwMode="auto">
          <a:xfrm>
            <a:off x="776288" y="3484563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유통일자</a:t>
            </a:r>
          </a:p>
        </p:txBody>
      </p:sp>
      <p:sp>
        <p:nvSpPr>
          <p:cNvPr id="28686" name="TextBox 65"/>
          <p:cNvSpPr txBox="1">
            <a:spLocks noChangeArrowheads="1"/>
          </p:cNvSpPr>
          <p:nvPr/>
        </p:nvSpPr>
        <p:spPr bwMode="auto">
          <a:xfrm>
            <a:off x="776288" y="3686175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로트번호</a:t>
            </a:r>
          </a:p>
        </p:txBody>
      </p:sp>
      <p:sp>
        <p:nvSpPr>
          <p:cNvPr id="28687" name="TextBox 65"/>
          <p:cNvSpPr txBox="1">
            <a:spLocks noChangeArrowheads="1"/>
          </p:cNvSpPr>
          <p:nvPr/>
        </p:nvSpPr>
        <p:spPr bwMode="auto">
          <a:xfrm>
            <a:off x="776288" y="3900488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UOM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28688" name="TextBox 65"/>
          <p:cNvSpPr txBox="1">
            <a:spLocks noChangeArrowheads="1"/>
          </p:cNvSpPr>
          <p:nvPr/>
        </p:nvSpPr>
        <p:spPr bwMode="auto">
          <a:xfrm>
            <a:off x="776288" y="4114800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입수</a:t>
            </a:r>
          </a:p>
        </p:txBody>
      </p:sp>
      <p:sp>
        <p:nvSpPr>
          <p:cNvPr id="28689" name="TextBox 65"/>
          <p:cNvSpPr txBox="1">
            <a:spLocks noChangeArrowheads="1"/>
          </p:cNvSpPr>
          <p:nvPr/>
        </p:nvSpPr>
        <p:spPr bwMode="auto">
          <a:xfrm>
            <a:off x="776288" y="4329113"/>
            <a:ext cx="10715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제품바코드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검수지시서</a:t>
            </a:r>
          </a:p>
        </p:txBody>
      </p:sp>
      <p:sp>
        <p:nvSpPr>
          <p:cNvPr id="3072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3072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30725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7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816906"/>
              </p:ext>
            </p:extLst>
          </p:nvPr>
        </p:nvGraphicFramePr>
        <p:xfrm>
          <a:off x="415925" y="3429000"/>
          <a:ext cx="9001125" cy="627063"/>
        </p:xfrm>
        <a:graphic>
          <a:graphicData uri="http://schemas.openxmlformats.org/drawingml/2006/table">
            <a:tbl>
              <a:tblPr/>
              <a:tblGrid>
                <a:gridCol w="8055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0792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3489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2931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6420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9443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94436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05132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705131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0652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520941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51722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51536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검수수량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772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출력자</a:t>
            </a:r>
          </a:p>
        </p:txBody>
      </p:sp>
      <p:sp>
        <p:nvSpPr>
          <p:cNvPr id="30773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작업일자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762375" y="1844675"/>
            <a:ext cx="1831715" cy="380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>
                <a:latin typeface="+mn-ea"/>
                <a:ea typeface="+mn-ea"/>
              </a:rPr>
              <a:t>입하검수지시서</a:t>
            </a:r>
          </a:p>
        </p:txBody>
      </p:sp>
      <p:sp>
        <p:nvSpPr>
          <p:cNvPr id="30775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출력일시</a:t>
            </a:r>
          </a:p>
        </p:txBody>
      </p:sp>
      <p:sp>
        <p:nvSpPr>
          <p:cNvPr id="30776" name="TextBox 34"/>
          <p:cNvSpPr txBox="1">
            <a:spLocks noChangeArrowheads="1"/>
          </p:cNvSpPr>
          <p:nvPr/>
        </p:nvSpPr>
        <p:spPr bwMode="auto">
          <a:xfrm>
            <a:off x="595313" y="228600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30777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페이지</a:t>
            </a:r>
          </a:p>
        </p:txBody>
      </p:sp>
      <p:sp>
        <p:nvSpPr>
          <p:cNvPr id="30778" name="TextBox 34"/>
          <p:cNvSpPr txBox="1">
            <a:spLocks noChangeArrowheads="1"/>
          </p:cNvSpPr>
          <p:nvPr/>
        </p:nvSpPr>
        <p:spPr bwMode="auto">
          <a:xfrm>
            <a:off x="595313" y="200025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물류센터</a:t>
            </a:r>
          </a:p>
        </p:txBody>
      </p:sp>
      <p:sp>
        <p:nvSpPr>
          <p:cNvPr id="30779" name="TextBox 65"/>
          <p:cNvSpPr txBox="1">
            <a:spLocks noChangeArrowheads="1"/>
          </p:cNvSpPr>
          <p:nvPr/>
        </p:nvSpPr>
        <p:spPr bwMode="auto">
          <a:xfrm>
            <a:off x="523875" y="2841625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smtClean="0">
                <a:latin typeface="+mn-ea"/>
                <a:ea typeface="+mn-ea"/>
              </a:rPr>
              <a:t>발주번호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0780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+mn-ea"/>
                <a:ea typeface="+mn-ea"/>
              </a:rPr>
              <a:t>바코드</a:t>
            </a:r>
            <a:r>
              <a:rPr lang="en-US" altLang="ko-KR" sz="900" dirty="0" smtClean="0">
                <a:latin typeface="+mn-ea"/>
                <a:ea typeface="+mn-ea"/>
              </a:rPr>
              <a:t>(</a:t>
            </a:r>
            <a:r>
              <a:rPr lang="ko-KR" altLang="en-US" sz="900" dirty="0" smtClean="0">
                <a:latin typeface="+mn-ea"/>
                <a:ea typeface="+mn-ea"/>
              </a:rPr>
              <a:t>발주번호</a:t>
            </a:r>
            <a:r>
              <a:rPr lang="en-US" altLang="ko-KR" sz="900" dirty="0" smtClean="0">
                <a:latin typeface="+mn-ea"/>
                <a:ea typeface="+mn-ea"/>
              </a:rPr>
              <a:t>)</a:t>
            </a:r>
            <a:endParaRPr lang="ko-KR" altLang="en-US" sz="900" dirty="0">
              <a:latin typeface="+mn-ea"/>
              <a:ea typeface="+mn-ea"/>
            </a:endParaRPr>
          </a:p>
        </p:txBody>
      </p:sp>
      <p:graphicFrame>
        <p:nvGraphicFramePr>
          <p:cNvPr id="17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773461"/>
              </p:ext>
            </p:extLst>
          </p:nvPr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적치지시서</a:t>
            </a:r>
          </a:p>
        </p:txBody>
      </p:sp>
      <p:sp>
        <p:nvSpPr>
          <p:cNvPr id="3277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3277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32773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7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149546"/>
              </p:ext>
            </p:extLst>
          </p:nvPr>
        </p:nvGraphicFramePr>
        <p:xfrm>
          <a:off x="415925" y="3429000"/>
          <a:ext cx="9001126" cy="627063"/>
        </p:xfrm>
        <a:graphic>
          <a:graphicData uri="http://schemas.openxmlformats.org/drawingml/2006/table">
            <a:tbl>
              <a:tblPr/>
              <a:tblGrid>
                <a:gridCol w="7389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389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3343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601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6860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0933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2972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29721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46377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46378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557476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477837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74134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474134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로케이션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UOM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적치수량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TOT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EA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823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출력자</a:t>
            </a:r>
          </a:p>
        </p:txBody>
      </p:sp>
      <p:sp>
        <p:nvSpPr>
          <p:cNvPr id="32824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작업일자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4205288" y="1844675"/>
            <a:ext cx="1319212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>
                <a:latin typeface="+mn-ea"/>
                <a:ea typeface="+mn-ea"/>
              </a:rPr>
              <a:t>적치지시서</a:t>
            </a:r>
          </a:p>
        </p:txBody>
      </p:sp>
      <p:sp>
        <p:nvSpPr>
          <p:cNvPr id="32826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출력일시</a:t>
            </a:r>
          </a:p>
        </p:txBody>
      </p:sp>
      <p:sp>
        <p:nvSpPr>
          <p:cNvPr id="32827" name="TextBox 34"/>
          <p:cNvSpPr txBox="1">
            <a:spLocks noChangeArrowheads="1"/>
          </p:cNvSpPr>
          <p:nvPr/>
        </p:nvSpPr>
        <p:spPr bwMode="auto">
          <a:xfrm>
            <a:off x="595313" y="228600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32828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페이지</a:t>
            </a:r>
          </a:p>
        </p:txBody>
      </p:sp>
      <p:sp>
        <p:nvSpPr>
          <p:cNvPr id="32829" name="TextBox 34"/>
          <p:cNvSpPr txBox="1">
            <a:spLocks noChangeArrowheads="1"/>
          </p:cNvSpPr>
          <p:nvPr/>
        </p:nvSpPr>
        <p:spPr bwMode="auto">
          <a:xfrm>
            <a:off x="595313" y="200025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물류센터</a:t>
            </a:r>
          </a:p>
        </p:txBody>
      </p:sp>
      <p:sp>
        <p:nvSpPr>
          <p:cNvPr id="32830" name="TextBox 65"/>
          <p:cNvSpPr txBox="1">
            <a:spLocks noChangeArrowheads="1"/>
          </p:cNvSpPr>
          <p:nvPr/>
        </p:nvSpPr>
        <p:spPr bwMode="auto">
          <a:xfrm>
            <a:off x="523875" y="2841625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smtClean="0">
                <a:latin typeface="+mn-ea"/>
                <a:ea typeface="+mn-ea"/>
              </a:rPr>
              <a:t>발주번호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2831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+mn-ea"/>
                <a:ea typeface="+mn-ea"/>
              </a:rPr>
              <a:t>바코드</a:t>
            </a:r>
            <a:r>
              <a:rPr lang="en-US" altLang="ko-KR" sz="900" dirty="0" smtClean="0">
                <a:latin typeface="+mn-ea"/>
                <a:ea typeface="+mn-ea"/>
              </a:rPr>
              <a:t>(</a:t>
            </a:r>
            <a:r>
              <a:rPr lang="ko-KR" altLang="en-US" sz="900" dirty="0" smtClean="0">
                <a:latin typeface="+mn-ea"/>
                <a:ea typeface="+mn-ea"/>
              </a:rPr>
              <a:t>발주번호</a:t>
            </a:r>
            <a:r>
              <a:rPr lang="en-US" altLang="ko-KR" sz="900" dirty="0" smtClean="0">
                <a:latin typeface="+mn-ea"/>
                <a:ea typeface="+mn-ea"/>
              </a:rPr>
              <a:t>)</a:t>
            </a:r>
            <a:endParaRPr lang="ko-KR" altLang="en-US" sz="900" dirty="0">
              <a:latin typeface="+mn-ea"/>
              <a:ea typeface="+mn-ea"/>
            </a:endParaRPr>
          </a:p>
        </p:txBody>
      </p:sp>
      <p:graphicFrame>
        <p:nvGraphicFramePr>
          <p:cNvPr id="17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479408"/>
              </p:ext>
            </p:extLst>
          </p:nvPr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출고거래명세서</a:t>
            </a:r>
          </a:p>
        </p:txBody>
      </p:sp>
      <p:sp>
        <p:nvSpPr>
          <p:cNvPr id="3481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2016 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년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10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월 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27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 일</a:t>
            </a:r>
          </a:p>
        </p:txBody>
      </p:sp>
      <p:sp>
        <p:nvSpPr>
          <p:cNvPr id="3482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이종혁</a:t>
            </a:r>
          </a:p>
        </p:txBody>
      </p:sp>
      <p:sp>
        <p:nvSpPr>
          <p:cNvPr id="34821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7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322827"/>
              </p:ext>
            </p:extLst>
          </p:nvPr>
        </p:nvGraphicFramePr>
        <p:xfrm>
          <a:off x="415925" y="3429000"/>
          <a:ext cx="9074150" cy="627063"/>
        </p:xfrm>
        <a:graphic>
          <a:graphicData uri="http://schemas.openxmlformats.org/drawingml/2006/table">
            <a:tbl>
              <a:tblPr/>
              <a:tblGrid>
                <a:gridCol w="81213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152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4086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352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6958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0088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0088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10853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710852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1144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525168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521417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519542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제품유형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재고상태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UOM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TOT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EA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PLT</a:t>
                      </a: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868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출력자</a:t>
            </a:r>
          </a:p>
        </p:txBody>
      </p:sp>
      <p:sp>
        <p:nvSpPr>
          <p:cNvPr id="34869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작업일자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762375" y="1844675"/>
            <a:ext cx="1831975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>
              <a:defRPr/>
            </a:pPr>
            <a:r>
              <a:rPr lang="ko-KR" altLang="en-US" sz="2000" b="1" dirty="0">
                <a:latin typeface="+mn-ea"/>
                <a:ea typeface="+mn-ea"/>
              </a:rPr>
              <a:t>입고거래명세서</a:t>
            </a:r>
          </a:p>
        </p:txBody>
      </p:sp>
      <p:sp>
        <p:nvSpPr>
          <p:cNvPr id="34871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출력일시</a:t>
            </a:r>
          </a:p>
        </p:txBody>
      </p:sp>
      <p:sp>
        <p:nvSpPr>
          <p:cNvPr id="34872" name="TextBox 34"/>
          <p:cNvSpPr txBox="1">
            <a:spLocks noChangeArrowheads="1"/>
          </p:cNvSpPr>
          <p:nvPr/>
        </p:nvSpPr>
        <p:spPr bwMode="auto">
          <a:xfrm>
            <a:off x="517525" y="2286000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고객사</a:t>
            </a:r>
          </a:p>
        </p:txBody>
      </p:sp>
      <p:sp>
        <p:nvSpPr>
          <p:cNvPr id="34873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페이지</a:t>
            </a:r>
          </a:p>
        </p:txBody>
      </p:sp>
      <p:sp>
        <p:nvSpPr>
          <p:cNvPr id="34874" name="TextBox 34"/>
          <p:cNvSpPr txBox="1">
            <a:spLocks noChangeArrowheads="1"/>
          </p:cNvSpPr>
          <p:nvPr/>
        </p:nvSpPr>
        <p:spPr bwMode="auto">
          <a:xfrm>
            <a:off x="517525" y="2000250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>
                <a:latin typeface="+mn-ea"/>
                <a:ea typeface="+mn-ea"/>
              </a:rPr>
              <a:t>물류센터</a:t>
            </a:r>
          </a:p>
        </p:txBody>
      </p:sp>
      <p:sp>
        <p:nvSpPr>
          <p:cNvPr id="34875" name="TextBox 65"/>
          <p:cNvSpPr txBox="1">
            <a:spLocks noChangeArrowheads="1"/>
          </p:cNvSpPr>
          <p:nvPr/>
        </p:nvSpPr>
        <p:spPr bwMode="auto">
          <a:xfrm>
            <a:off x="517525" y="2841625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smtClean="0">
                <a:latin typeface="+mn-ea"/>
                <a:ea typeface="+mn-ea"/>
              </a:rPr>
              <a:t>발주번호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4876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+mn-ea"/>
                <a:ea typeface="+mn-ea"/>
              </a:rPr>
              <a:t>바코드</a:t>
            </a:r>
            <a:r>
              <a:rPr lang="en-US" altLang="ko-KR" sz="900" dirty="0" smtClean="0">
                <a:latin typeface="+mn-ea"/>
                <a:ea typeface="+mn-ea"/>
              </a:rPr>
              <a:t>(</a:t>
            </a:r>
            <a:r>
              <a:rPr lang="ko-KR" altLang="en-US" sz="900" dirty="0" smtClean="0">
                <a:latin typeface="+mn-ea"/>
                <a:ea typeface="+mn-ea"/>
              </a:rPr>
              <a:t>발주번호</a:t>
            </a:r>
            <a:r>
              <a:rPr lang="en-US" altLang="ko-KR" sz="900" dirty="0" smtClean="0">
                <a:latin typeface="+mn-ea"/>
                <a:ea typeface="+mn-ea"/>
              </a:rPr>
              <a:t>)</a:t>
            </a:r>
            <a:endParaRPr lang="ko-KR" altLang="en-US" sz="900" dirty="0">
              <a:latin typeface="+mn-ea"/>
              <a:ea typeface="+mn-ea"/>
            </a:endParaRPr>
          </a:p>
        </p:txBody>
      </p:sp>
      <p:graphicFrame>
        <p:nvGraphicFramePr>
          <p:cNvPr id="17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177203"/>
              </p:ext>
            </p:extLst>
          </p:nvPr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900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18810</TotalTime>
  <Words>1481</Words>
  <Application>Microsoft Office PowerPoint</Application>
  <PresentationFormat>A4 용지(210x297mm)</PresentationFormat>
  <Paragraphs>1166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굴림</vt:lpstr>
      <vt:lpstr>굴림체</vt:lpstr>
      <vt:lpstr>맑은 고딕</vt:lpstr>
      <vt:lpstr>Optima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이종건</dc:creator>
  <cp:lastModifiedBy>vertexID</cp:lastModifiedBy>
  <cp:revision>1049</cp:revision>
  <dcterms:created xsi:type="dcterms:W3CDTF">2002-03-20T01:19:40Z</dcterms:created>
  <dcterms:modified xsi:type="dcterms:W3CDTF">2016-11-10T09:30:34Z</dcterms:modified>
</cp:coreProperties>
</file>