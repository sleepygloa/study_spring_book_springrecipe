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8"/>
  </p:notesMasterIdLst>
  <p:handoutMasterIdLst>
    <p:handoutMasterId r:id="rId29"/>
  </p:handoutMasterIdLst>
  <p:sldIdLst>
    <p:sldId id="281" r:id="rId2"/>
    <p:sldId id="280" r:id="rId3"/>
    <p:sldId id="308" r:id="rId4"/>
    <p:sldId id="303" r:id="rId5"/>
    <p:sldId id="279" r:id="rId6"/>
    <p:sldId id="282" r:id="rId7"/>
    <p:sldId id="309" r:id="rId8"/>
    <p:sldId id="283" r:id="rId9"/>
    <p:sldId id="284" r:id="rId10"/>
    <p:sldId id="287" r:id="rId11"/>
    <p:sldId id="286" r:id="rId12"/>
    <p:sldId id="300" r:id="rId13"/>
    <p:sldId id="290" r:id="rId14"/>
    <p:sldId id="288" r:id="rId15"/>
    <p:sldId id="289" r:id="rId16"/>
    <p:sldId id="292" r:id="rId17"/>
    <p:sldId id="294" r:id="rId18"/>
    <p:sldId id="293" r:id="rId19"/>
    <p:sldId id="302" r:id="rId20"/>
    <p:sldId id="295" r:id="rId21"/>
    <p:sldId id="296" r:id="rId22"/>
    <p:sldId id="297" r:id="rId23"/>
    <p:sldId id="305" r:id="rId24"/>
    <p:sldId id="306" r:id="rId25"/>
    <p:sldId id="307" r:id="rId26"/>
    <p:sldId id="291" r:id="rId27"/>
  </p:sldIdLst>
  <p:sldSz cx="9906000" cy="6858000" type="A4"/>
  <p:notesSz cx="9925050" cy="67929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6144">
          <p15:clr>
            <a:srgbClr val="A4A3A4"/>
          </p15:clr>
        </p15:guide>
        <p15:guide id="3" pos="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9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B2B2B2"/>
    <a:srgbClr val="E1D8D3"/>
    <a:srgbClr val="538ED5"/>
    <a:srgbClr val="D7DACC"/>
    <a:srgbClr val="EAEAEA"/>
    <a:srgbClr val="5E7586"/>
    <a:srgbClr val="CCE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93" autoAdjust="0"/>
    <p:restoredTop sz="90891" autoAdjust="0"/>
  </p:normalViewPr>
  <p:slideViewPr>
    <p:cSldViewPr>
      <p:cViewPr varScale="1">
        <p:scale>
          <a:sx n="95" d="100"/>
          <a:sy n="95" d="100"/>
        </p:scale>
        <p:origin x="66" y="78"/>
      </p:cViewPr>
      <p:guideLst>
        <p:guide orient="horz" pos="4247"/>
        <p:guide pos="6144"/>
        <p:guide pos="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4" d="100"/>
          <a:sy n="134" d="100"/>
        </p:scale>
        <p:origin x="1512" y="102"/>
      </p:cViewPr>
      <p:guideLst>
        <p:guide orient="horz" pos="2139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C200B7-AF2C-4CB9-B550-9C7EB9EAF19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193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8238" cy="2546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225800"/>
            <a:ext cx="79406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altLang="ko-KR" noProof="0" dirty="0"/>
          </a:p>
          <a:p>
            <a:pPr lvl="4"/>
            <a:endParaRPr lang="ko-KR" altLang="en-US" noProof="0" dirty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5"/>
          </p:nvPr>
        </p:nvSpPr>
        <p:spPr>
          <a:xfrm>
            <a:off x="5621338" y="6451600"/>
            <a:ext cx="4302125" cy="339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05C7832-D80B-4AF9-A40D-AD43E129F7E5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37334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790AD09-3161-4D3D-A9D5-7637FB15CDB8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1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601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96705FF-2E64-467D-92A1-2521B5F279B1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2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445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790AD09-3161-4D3D-A9D5-7637FB15CDB8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3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918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96960A8-06E3-43BF-B8E0-19358497463D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4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기준조건 내용</a:t>
            </a:r>
            <a:r>
              <a:rPr lang="en-US" altLang="ko-KR"/>
              <a:t>(</a:t>
            </a:r>
            <a:r>
              <a:rPr lang="ko-KR" altLang="en-US"/>
              <a:t>고객사</a:t>
            </a:r>
            <a:r>
              <a:rPr lang="en-US" altLang="ko-KR"/>
              <a:t>, </a:t>
            </a:r>
            <a:r>
              <a:rPr lang="ko-KR" altLang="en-US"/>
              <a:t>출고예정일자</a:t>
            </a:r>
            <a:r>
              <a:rPr lang="en-US" altLang="ko-KR"/>
              <a:t>, </a:t>
            </a:r>
            <a:r>
              <a:rPr lang="ko-KR" altLang="en-US"/>
              <a:t>차량</a:t>
            </a:r>
            <a:r>
              <a:rPr lang="en-US" altLang="ko-KR"/>
              <a:t>, </a:t>
            </a:r>
            <a:r>
              <a:rPr lang="ko-KR" altLang="en-US"/>
              <a:t>배송차수</a:t>
            </a:r>
            <a:r>
              <a:rPr lang="en-US" altLang="ko-KR"/>
              <a:t>, </a:t>
            </a:r>
            <a:r>
              <a:rPr lang="ko-KR" altLang="en-US"/>
              <a:t>배송처</a:t>
            </a:r>
            <a:r>
              <a:rPr lang="en-US" altLang="ko-KR"/>
              <a:t>, </a:t>
            </a:r>
            <a:r>
              <a:rPr lang="ko-KR" altLang="en-US"/>
              <a:t>권역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75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7495C83-FED6-4B57-886F-DA408AE6695A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5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 dirty="0"/>
              <a:t>기준조건 내용</a:t>
            </a:r>
            <a:r>
              <a:rPr lang="en-US" altLang="ko-KR" dirty="0"/>
              <a:t>(</a:t>
            </a:r>
            <a:r>
              <a:rPr lang="ko-KR" altLang="en-US" dirty="0" err="1"/>
              <a:t>고객사</a:t>
            </a:r>
            <a:r>
              <a:rPr lang="en-US" altLang="ko-KR" dirty="0"/>
              <a:t>, </a:t>
            </a:r>
            <a:r>
              <a:rPr lang="ko-KR" altLang="en-US" dirty="0"/>
              <a:t>출고구분</a:t>
            </a:r>
            <a:r>
              <a:rPr lang="en-US" altLang="ko-KR" dirty="0"/>
              <a:t>, </a:t>
            </a:r>
            <a:r>
              <a:rPr lang="ko-KR" altLang="en-US" dirty="0"/>
              <a:t>출고예정일자</a:t>
            </a:r>
            <a:r>
              <a:rPr lang="en-US" altLang="ko-KR" dirty="0"/>
              <a:t>, </a:t>
            </a:r>
            <a:r>
              <a:rPr lang="ko-KR" altLang="en-US" dirty="0"/>
              <a:t>배송권역</a:t>
            </a:r>
            <a:r>
              <a:rPr lang="en-US" altLang="ko-KR" dirty="0"/>
              <a:t>, </a:t>
            </a:r>
            <a:r>
              <a:rPr lang="ko-KR" altLang="en-US" dirty="0"/>
              <a:t>차량번호</a:t>
            </a:r>
            <a:r>
              <a:rPr lang="en-US" altLang="ko-KR" dirty="0"/>
              <a:t>, </a:t>
            </a:r>
            <a:r>
              <a:rPr lang="ko-KR" altLang="en-US" dirty="0"/>
              <a:t>배송차수</a:t>
            </a:r>
            <a:r>
              <a:rPr lang="en-US" altLang="ko-KR" dirty="0"/>
              <a:t>, </a:t>
            </a:r>
            <a:r>
              <a:rPr lang="ko-KR" altLang="en-US" dirty="0" err="1"/>
              <a:t>배송처</a:t>
            </a:r>
            <a:r>
              <a:rPr lang="en-US" altLang="ko-KR" dirty="0"/>
              <a:t>, </a:t>
            </a:r>
            <a:r>
              <a:rPr lang="ko-KR" altLang="en-US" dirty="0"/>
              <a:t>출고번호</a:t>
            </a:r>
            <a:r>
              <a:rPr lang="en-US" altLang="ko-KR" dirty="0"/>
              <a:t>, </a:t>
            </a:r>
            <a:r>
              <a:rPr lang="ko-KR" altLang="en-US" dirty="0"/>
              <a:t>주문번호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7391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342568-5716-48F8-8DFE-FF2DA897E1BB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6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836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342568-5716-48F8-8DFE-FF2DA897E1BB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7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72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D5F057E-CD9E-4D61-AC15-22F90F2BED6E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8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503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F6B252B-E13B-4409-9BE5-59DF4B676AF3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9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425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EEE845E-F50C-4766-8B98-3DED416C7470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10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740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0298FF5-75EE-4AF9-9BE7-289CAD2D5109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11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 dirty="0"/>
              <a:t>출력종류</a:t>
            </a:r>
            <a:r>
              <a:rPr lang="en-US" altLang="ko-KR" dirty="0"/>
              <a:t>:</a:t>
            </a:r>
            <a:r>
              <a:rPr lang="ko-KR" altLang="en-US" dirty="0"/>
              <a:t>거래명세서</a:t>
            </a:r>
            <a:r>
              <a:rPr lang="en-US" altLang="ko-KR" dirty="0"/>
              <a:t>, </a:t>
            </a:r>
            <a:r>
              <a:rPr lang="ko-KR" altLang="en-US" dirty="0"/>
              <a:t>출고시리얼리스트</a:t>
            </a:r>
          </a:p>
        </p:txBody>
      </p:sp>
    </p:spTree>
    <p:extLst>
      <p:ext uri="{BB962C8B-B14F-4D97-AF65-F5344CB8AC3E}">
        <p14:creationId xmlns:p14="http://schemas.microsoft.com/office/powerpoint/2010/main" val="2203926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362C2D6-E04E-4926-B243-40CCB4CD801A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12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154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428C148-4CAD-4DBB-9880-09385AE956EA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13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47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5BB26C4-688A-4D75-A7D0-EE0E85B0B7E9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14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배송처별 소계</a:t>
            </a:r>
            <a:r>
              <a:rPr lang="en-US" altLang="ko-KR"/>
              <a:t>/</a:t>
            </a:r>
            <a:r>
              <a:rPr lang="ko-KR" altLang="en-US"/>
              <a:t>합계</a:t>
            </a:r>
          </a:p>
        </p:txBody>
      </p:sp>
    </p:spTree>
    <p:extLst>
      <p:ext uri="{BB962C8B-B14F-4D97-AF65-F5344CB8AC3E}">
        <p14:creationId xmlns:p14="http://schemas.microsoft.com/office/powerpoint/2010/main" val="1641379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6D92C7C-1FE8-4286-8C8F-3DCA562D311B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15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소계</a:t>
            </a:r>
            <a:r>
              <a:rPr lang="en-US" altLang="ko-KR"/>
              <a:t>/</a:t>
            </a:r>
            <a:r>
              <a:rPr lang="ko-KR" altLang="en-US"/>
              <a:t>합계</a:t>
            </a:r>
          </a:p>
        </p:txBody>
      </p:sp>
    </p:spTree>
    <p:extLst>
      <p:ext uri="{BB962C8B-B14F-4D97-AF65-F5344CB8AC3E}">
        <p14:creationId xmlns:p14="http://schemas.microsoft.com/office/powerpoint/2010/main" val="1020880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D53A13B-F1E1-42AD-A426-533589A390F3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16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30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32154F9-627D-4876-8172-D287CBA648EE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17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4704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B33CD9C-F26C-4D73-BB55-331A1598710C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18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4437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E54E7E4-8E0F-4C0F-8112-44EC02020794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19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8958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9E2CF3-3272-4EEF-B5D0-A0C2B0C03E39}" type="slidenum">
              <a:rPr lang="en-US" altLang="ko-KR" smtClean="0"/>
              <a:pPr>
                <a:spcBef>
                  <a:spcPct val="0"/>
                </a:spcBef>
              </a:pPr>
              <a:t>20</a:t>
            </a:fld>
            <a:endParaRPr lang="en-US" altLang="ko-KR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9078187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E26B501-A359-4E92-9167-7907DD18A2B0}" type="slidenum">
              <a:rPr lang="en-US" altLang="ko-KR" smtClean="0"/>
              <a:pPr>
                <a:spcBef>
                  <a:spcPct val="0"/>
                </a:spcBef>
              </a:pPr>
              <a:t>21</a:t>
            </a:fld>
            <a:endParaRPr lang="en-US" altLang="ko-KR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470232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8FCF319-5D93-4FA6-9678-691F54AC5A5F}" type="slidenum">
              <a:rPr lang="en-US" altLang="ko-KR" smtClean="0"/>
              <a:pPr>
                <a:spcBef>
                  <a:spcPct val="0"/>
                </a:spcBef>
              </a:pPr>
              <a:t>22</a:t>
            </a:fld>
            <a:endParaRPr lang="en-US" altLang="ko-KR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3239625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 txBox="1">
            <a:spLocks noGrp="1" noChangeArrowheads="1"/>
          </p:cNvSpPr>
          <p:nvPr/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latinLnBrk="0" hangingPunct="1">
              <a:spcBef>
                <a:spcPct val="0"/>
              </a:spcBef>
            </a:pPr>
            <a:fld id="{CFB48AD2-ECDA-4C9F-9404-B4AAEEB952F8}" type="slidenum">
              <a:rPr lang="en-US" altLang="ko-KR">
                <a:latin typeface="Optima" pitchFamily="2" charset="2"/>
                <a:ea typeface="굴림체" panose="020B0609000101010101" pitchFamily="49" charset="-127"/>
              </a:rPr>
              <a:pPr algn="r" eaLnBrk="1" latinLnBrk="0" hangingPunct="1">
                <a:spcBef>
                  <a:spcPct val="0"/>
                </a:spcBef>
              </a:pPr>
              <a:t>23</a:t>
            </a:fld>
            <a:endParaRPr lang="en-US" altLang="ko-KR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6746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 txBox="1">
            <a:spLocks noGrp="1" noChangeArrowheads="1"/>
          </p:cNvSpPr>
          <p:nvPr/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latinLnBrk="0" hangingPunct="1">
              <a:spcBef>
                <a:spcPct val="0"/>
              </a:spcBef>
            </a:pPr>
            <a:fld id="{74921E30-A4E7-419A-B8E7-62BFB22D09C9}" type="slidenum">
              <a:rPr lang="en-US" altLang="ko-KR">
                <a:latin typeface="Optima" pitchFamily="2" charset="2"/>
                <a:ea typeface="굴림체" panose="020B0609000101010101" pitchFamily="49" charset="-127"/>
              </a:rPr>
              <a:pPr algn="r" eaLnBrk="1" latinLnBrk="0" hangingPunct="1">
                <a:spcBef>
                  <a:spcPct val="0"/>
                </a:spcBef>
              </a:pPr>
              <a:t>24</a:t>
            </a:fld>
            <a:endParaRPr lang="en-US" altLang="ko-KR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9091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 txBox="1">
            <a:spLocks noGrp="1" noChangeArrowheads="1"/>
          </p:cNvSpPr>
          <p:nvPr/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latinLnBrk="0" hangingPunct="1">
              <a:spcBef>
                <a:spcPct val="0"/>
              </a:spcBef>
            </a:pPr>
            <a:fld id="{F1233182-903C-4D74-9875-F4F36D4BE08C}" type="slidenum">
              <a:rPr lang="en-US" altLang="ko-KR">
                <a:latin typeface="Optima" pitchFamily="2" charset="2"/>
                <a:ea typeface="굴림체" panose="020B0609000101010101" pitchFamily="49" charset="-127"/>
              </a:rPr>
              <a:pPr algn="r" eaLnBrk="1" latinLnBrk="0" hangingPunct="1">
                <a:spcBef>
                  <a:spcPct val="0"/>
                </a:spcBef>
              </a:pPr>
              <a:t>25</a:t>
            </a:fld>
            <a:endParaRPr lang="en-US" altLang="ko-KR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5960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A6304CF-3E6A-4BD9-A3C8-53F83A435FB6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26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96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432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 userDrawn="1"/>
        </p:nvSpPr>
        <p:spPr bwMode="auto">
          <a:xfrm>
            <a:off x="220663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529" name="Group 193"/>
          <p:cNvGraphicFramePr>
            <a:graphicFrameLocks noGrp="1"/>
          </p:cNvGraphicFramePr>
          <p:nvPr/>
        </p:nvGraphicFramePr>
        <p:xfrm>
          <a:off x="203200" y="260350"/>
          <a:ext cx="9474200" cy="692154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9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(WMS)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구축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 공정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문서명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페이지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9" name="Text Box 162"/>
          <p:cNvSpPr txBox="1">
            <a:spLocks noChangeArrowheads="1"/>
          </p:cNvSpPr>
          <p:nvPr userDrawn="1"/>
        </p:nvSpPr>
        <p:spPr bwMode="auto">
          <a:xfrm>
            <a:off x="6865938" y="261938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ko-KR" altLang="ko-KR" sz="900" b="1">
              <a:solidFill>
                <a:srgbClr val="777777"/>
              </a:solidFill>
              <a:latin typeface="+mn-ea"/>
              <a:ea typeface="+mn-ea"/>
            </a:endParaRPr>
          </a:p>
        </p:txBody>
      </p:sp>
      <p:sp>
        <p:nvSpPr>
          <p:cNvPr id="1061" name="Text Box 165"/>
          <p:cNvSpPr txBox="1">
            <a:spLocks noChangeArrowheads="1"/>
          </p:cNvSpPr>
          <p:nvPr userDrawn="1"/>
        </p:nvSpPr>
        <p:spPr bwMode="auto">
          <a:xfrm>
            <a:off x="1219200" y="476250"/>
            <a:ext cx="4957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D3000_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설계단계</a:t>
            </a:r>
          </a:p>
        </p:txBody>
      </p:sp>
      <p:sp>
        <p:nvSpPr>
          <p:cNvPr id="1062" name="Text Box 166"/>
          <p:cNvSpPr txBox="1">
            <a:spLocks noChangeArrowheads="1"/>
          </p:cNvSpPr>
          <p:nvPr userDrawn="1"/>
        </p:nvSpPr>
        <p:spPr bwMode="auto">
          <a:xfrm>
            <a:off x="1219200" y="711200"/>
            <a:ext cx="49482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D3220_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화면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UI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설계서</a:t>
            </a:r>
          </a:p>
        </p:txBody>
      </p:sp>
      <p:graphicFrame>
        <p:nvGraphicFramePr>
          <p:cNvPr id="10" name="Group 13"/>
          <p:cNvGraphicFramePr>
            <a:graphicFrameLocks noGrp="1"/>
          </p:cNvGraphicFramePr>
          <p:nvPr/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 userDrawn="1"/>
        </p:nvSpPr>
        <p:spPr>
          <a:xfrm>
            <a:off x="7024688" y="723900"/>
            <a:ext cx="1143000" cy="230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fld id="{76BDACEE-C42F-495C-85B3-9F4C9E9CD526}" type="slidenum">
              <a:rPr lang="ko-KR" altLang="en-US" sz="900" b="1" smtClean="0">
                <a:solidFill>
                  <a:srgbClr val="7F7F7F"/>
                </a:solidFill>
                <a:latin typeface="+mn-ea"/>
                <a:ea typeface="+mn-ea"/>
              </a:rPr>
              <a:pPr algn="ctr" eaLnBrk="1" latinLnBrk="1" hangingPunct="1">
                <a:defRPr/>
              </a:pPr>
              <a:t>‹#›</a:t>
            </a:fld>
            <a:endParaRPr lang="ko-KR" altLang="en-US" sz="900" b="1">
              <a:solidFill>
                <a:srgbClr val="7F7F7F"/>
              </a:solidFill>
              <a:latin typeface="+mn-ea"/>
              <a:ea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694" y="6578811"/>
            <a:ext cx="816894" cy="196532"/>
          </a:xfrm>
          <a:prstGeom prst="rect">
            <a:avLst/>
          </a:prstGeom>
        </p:spPr>
      </p:pic>
      <p:pic>
        <p:nvPicPr>
          <p:cNvPr id="1072" name="그림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0" y="439738"/>
            <a:ext cx="13271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출고예정등록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79413" y="3009900"/>
          <a:ext cx="9110663" cy="563888"/>
        </p:xfrm>
        <a:graphic>
          <a:graphicData uri="http://schemas.openxmlformats.org/drawingml/2006/table">
            <a:tbl>
              <a:tblPr/>
              <a:tblGrid>
                <a:gridCol w="196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1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24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700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31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31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7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78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출고예정일자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47" name="직사각형 54"/>
          <p:cNvSpPr>
            <a:spLocks noChangeArrowheads="1"/>
          </p:cNvSpPr>
          <p:nvPr/>
        </p:nvSpPr>
        <p:spPr bwMode="auto">
          <a:xfrm>
            <a:off x="309563" y="2901950"/>
            <a:ext cx="9215437" cy="16541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48" name="TextBox 55"/>
          <p:cNvSpPr txBox="1">
            <a:spLocks noChangeArrowheads="1"/>
          </p:cNvSpPr>
          <p:nvPr/>
        </p:nvSpPr>
        <p:spPr bwMode="auto">
          <a:xfrm>
            <a:off x="381000" y="2774950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 목록</a:t>
            </a:r>
          </a:p>
        </p:txBody>
      </p:sp>
      <p:sp>
        <p:nvSpPr>
          <p:cNvPr id="4149" name="직사각형 51"/>
          <p:cNvSpPr>
            <a:spLocks noChangeArrowheads="1"/>
          </p:cNvSpPr>
          <p:nvPr/>
        </p:nvSpPr>
        <p:spPr bwMode="auto">
          <a:xfrm>
            <a:off x="8488363" y="26368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4150" name="직사각형 51"/>
          <p:cNvSpPr>
            <a:spLocks noChangeArrowheads="1"/>
          </p:cNvSpPr>
          <p:nvPr/>
        </p:nvSpPr>
        <p:spPr bwMode="auto">
          <a:xfrm>
            <a:off x="7397750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415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415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4153" name="직사각형 51"/>
          <p:cNvSpPr>
            <a:spLocks noChangeArrowheads="1"/>
          </p:cNvSpPr>
          <p:nvPr/>
        </p:nvSpPr>
        <p:spPr bwMode="auto">
          <a:xfrm>
            <a:off x="7943850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4154" name="직사각형 51"/>
          <p:cNvSpPr>
            <a:spLocks noChangeArrowheads="1"/>
          </p:cNvSpPr>
          <p:nvPr/>
        </p:nvSpPr>
        <p:spPr bwMode="auto">
          <a:xfrm>
            <a:off x="9026525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4155" name="직사각형 54"/>
          <p:cNvSpPr>
            <a:spLocks noChangeArrowheads="1"/>
          </p:cNvSpPr>
          <p:nvPr/>
        </p:nvSpPr>
        <p:spPr bwMode="auto">
          <a:xfrm>
            <a:off x="309563" y="4672013"/>
            <a:ext cx="9215437" cy="17097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56" name="TextBox 55"/>
          <p:cNvSpPr txBox="1">
            <a:spLocks noChangeArrowheads="1"/>
          </p:cNvSpPr>
          <p:nvPr/>
        </p:nvSpPr>
        <p:spPr bwMode="auto">
          <a:xfrm>
            <a:off x="381000" y="4565650"/>
            <a:ext cx="1187624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 상세목록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798560"/>
              </p:ext>
            </p:extLst>
          </p:nvPr>
        </p:nvGraphicFramePr>
        <p:xfrm>
          <a:off x="379413" y="4838700"/>
          <a:ext cx="9037637" cy="503270"/>
        </p:xfrm>
        <a:graphic>
          <a:graphicData uri="http://schemas.openxmlformats.org/drawingml/2006/table">
            <a:tbl>
              <a:tblPr/>
              <a:tblGrid>
                <a:gridCol w="253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8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95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10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0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70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743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7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출고예정수량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20*3*4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95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4196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4197" name="TextBox 65"/>
          <p:cNvSpPr txBox="1">
            <a:spLocks noChangeArrowheads="1"/>
          </p:cNvSpPr>
          <p:nvPr/>
        </p:nvSpPr>
        <p:spPr bwMode="auto">
          <a:xfrm>
            <a:off x="326548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4198" name="직사각형 66"/>
          <p:cNvSpPr>
            <a:spLocks noChangeArrowheads="1"/>
          </p:cNvSpPr>
          <p:nvPr/>
        </p:nvSpPr>
        <p:spPr bwMode="auto">
          <a:xfrm>
            <a:off x="419100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99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출고예정일자</a:t>
            </a:r>
          </a:p>
        </p:txBody>
      </p:sp>
      <p:sp>
        <p:nvSpPr>
          <p:cNvPr id="4200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1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2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3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4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5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4206" name="직사각형 66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</a:t>
            </a:r>
          </a:p>
        </p:txBody>
      </p:sp>
      <p:sp>
        <p:nvSpPr>
          <p:cNvPr id="4207" name="TextBox 65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4208" name="직사각형 66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9" name="직사각형 48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40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4211" name="TextBox 65"/>
          <p:cNvSpPr txBox="1">
            <a:spLocks noChangeArrowheads="1"/>
          </p:cNvSpPr>
          <p:nvPr/>
        </p:nvSpPr>
        <p:spPr bwMode="auto">
          <a:xfrm>
            <a:off x="645953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4212" name="직사각형 66"/>
          <p:cNvSpPr>
            <a:spLocks noChangeArrowheads="1"/>
          </p:cNvSpPr>
          <p:nvPr/>
        </p:nvSpPr>
        <p:spPr bwMode="auto">
          <a:xfrm>
            <a:off x="7364413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3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4214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5" name="직사각형 48"/>
          <p:cNvSpPr>
            <a:spLocks noChangeArrowheads="1"/>
          </p:cNvSpPr>
          <p:nvPr/>
        </p:nvSpPr>
        <p:spPr bwMode="auto">
          <a:xfrm>
            <a:off x="8412163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66"/>
          <p:cNvSpPr>
            <a:spLocks noChangeArrowheads="1"/>
          </p:cNvSpPr>
          <p:nvPr/>
        </p:nvSpPr>
        <p:spPr bwMode="auto">
          <a:xfrm>
            <a:off x="8609013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4217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18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219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426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426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220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847232"/>
              </p:ext>
            </p:extLst>
          </p:nvPr>
        </p:nvGraphicFramePr>
        <p:xfrm>
          <a:off x="387350" y="5445125"/>
          <a:ext cx="9036054" cy="466725"/>
        </p:xfrm>
        <a:graphic>
          <a:graphicData uri="http://schemas.openxmlformats.org/drawingml/2006/table">
            <a:tbl>
              <a:tblPr/>
              <a:tblGrid>
                <a:gridCol w="1004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70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52" name="TextBox 65"/>
          <p:cNvSpPr txBox="1">
            <a:spLocks noChangeArrowheads="1"/>
          </p:cNvSpPr>
          <p:nvPr/>
        </p:nvSpPr>
        <p:spPr bwMode="auto">
          <a:xfrm>
            <a:off x="3265488" y="2044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4253" name="직사각형 66"/>
          <p:cNvSpPr>
            <a:spLocks noChangeArrowheads="1"/>
          </p:cNvSpPr>
          <p:nvPr/>
        </p:nvSpPr>
        <p:spPr bwMode="auto">
          <a:xfrm>
            <a:off x="4191000" y="2044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54" name="TextBox 65"/>
          <p:cNvSpPr txBox="1">
            <a:spLocks noChangeArrowheads="1"/>
          </p:cNvSpPr>
          <p:nvPr/>
        </p:nvSpPr>
        <p:spPr bwMode="auto">
          <a:xfrm>
            <a:off x="6477000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4255" name="직사각형 66"/>
          <p:cNvSpPr>
            <a:spLocks noChangeArrowheads="1"/>
          </p:cNvSpPr>
          <p:nvPr/>
        </p:nvSpPr>
        <p:spPr bwMode="auto">
          <a:xfrm>
            <a:off x="7381875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56" name="직사각형 48"/>
          <p:cNvSpPr>
            <a:spLocks noChangeArrowheads="1"/>
          </p:cNvSpPr>
          <p:nvPr/>
        </p:nvSpPr>
        <p:spPr bwMode="auto">
          <a:xfrm>
            <a:off x="8429625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66"/>
          <p:cNvSpPr>
            <a:spLocks noChangeArrowheads="1"/>
          </p:cNvSpPr>
          <p:nvPr/>
        </p:nvSpPr>
        <p:spPr bwMode="auto">
          <a:xfrm>
            <a:off x="8626475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4258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492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4259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895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출고예정등록 팝업</a:t>
            </a:r>
          </a:p>
        </p:txBody>
      </p:sp>
      <p:sp>
        <p:nvSpPr>
          <p:cNvPr id="6147" name="직사각형 54"/>
          <p:cNvSpPr>
            <a:spLocks noChangeArrowheads="1"/>
          </p:cNvSpPr>
          <p:nvPr/>
        </p:nvSpPr>
        <p:spPr bwMode="auto">
          <a:xfrm>
            <a:off x="309563" y="1571625"/>
            <a:ext cx="9215437" cy="48101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8" name="직사각형 51"/>
          <p:cNvSpPr>
            <a:spLocks noChangeArrowheads="1"/>
          </p:cNvSpPr>
          <p:nvPr/>
        </p:nvSpPr>
        <p:spPr bwMode="auto">
          <a:xfrm>
            <a:off x="8999538" y="13144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614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615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6151" name="직사각형 51"/>
          <p:cNvSpPr>
            <a:spLocks noChangeArrowheads="1"/>
          </p:cNvSpPr>
          <p:nvPr/>
        </p:nvSpPr>
        <p:spPr bwMode="auto">
          <a:xfrm>
            <a:off x="7921625" y="13144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graphicFrame>
        <p:nvGraphicFramePr>
          <p:cNvPr id="11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07466"/>
              </p:ext>
            </p:extLst>
          </p:nvPr>
        </p:nvGraphicFramePr>
        <p:xfrm>
          <a:off x="365125" y="3429000"/>
          <a:ext cx="8234363" cy="647701"/>
        </p:xfrm>
        <a:graphic>
          <a:graphicData uri="http://schemas.openxmlformats.org/drawingml/2006/table">
            <a:tbl>
              <a:tblPr/>
              <a:tblGrid>
                <a:gridCol w="285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49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4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4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41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68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68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68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771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96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출고예정수량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1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47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93" name="직사각형 48"/>
          <p:cNvSpPr>
            <a:spLocks noChangeArrowheads="1"/>
          </p:cNvSpPr>
          <p:nvPr/>
        </p:nvSpPr>
        <p:spPr bwMode="auto">
          <a:xfrm>
            <a:off x="2122488" y="3814763"/>
            <a:ext cx="166687" cy="2619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94" name="직사각형 51"/>
          <p:cNvSpPr>
            <a:spLocks noChangeArrowheads="1"/>
          </p:cNvSpPr>
          <p:nvPr/>
        </p:nvSpPr>
        <p:spPr bwMode="auto">
          <a:xfrm>
            <a:off x="8467725" y="13144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6195" name="TextBox 65"/>
          <p:cNvSpPr txBox="1">
            <a:spLocks noChangeArrowheads="1"/>
          </p:cNvSpPr>
          <p:nvPr/>
        </p:nvSpPr>
        <p:spPr bwMode="auto">
          <a:xfrm>
            <a:off x="400050" y="2063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6196" name="직사각형 66"/>
          <p:cNvSpPr>
            <a:spLocks noChangeArrowheads="1"/>
          </p:cNvSpPr>
          <p:nvPr/>
        </p:nvSpPr>
        <p:spPr bwMode="auto">
          <a:xfrm>
            <a:off x="1111250" y="2063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6197" name="TextBox 65"/>
          <p:cNvSpPr txBox="1">
            <a:spLocks noChangeArrowheads="1"/>
          </p:cNvSpPr>
          <p:nvPr/>
        </p:nvSpPr>
        <p:spPr bwMode="auto">
          <a:xfrm>
            <a:off x="3217863" y="2063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6198" name="직사각형 66"/>
          <p:cNvSpPr>
            <a:spLocks noChangeArrowheads="1"/>
          </p:cNvSpPr>
          <p:nvPr/>
        </p:nvSpPr>
        <p:spPr bwMode="auto">
          <a:xfrm>
            <a:off x="4078288" y="2063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99" name="TextBox 65"/>
          <p:cNvSpPr txBox="1">
            <a:spLocks noChangeArrowheads="1"/>
          </p:cNvSpPr>
          <p:nvPr/>
        </p:nvSpPr>
        <p:spPr bwMode="auto">
          <a:xfrm>
            <a:off x="3217863" y="17049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출고예정일자</a:t>
            </a:r>
          </a:p>
        </p:txBody>
      </p:sp>
      <p:sp>
        <p:nvSpPr>
          <p:cNvPr id="6200" name="직사각형 66"/>
          <p:cNvSpPr>
            <a:spLocks noChangeArrowheads="1"/>
          </p:cNvSpPr>
          <p:nvPr/>
        </p:nvSpPr>
        <p:spPr bwMode="auto">
          <a:xfrm>
            <a:off x="4068763" y="17049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01" name="직사각형 48"/>
          <p:cNvSpPr>
            <a:spLocks noChangeArrowheads="1"/>
          </p:cNvSpPr>
          <p:nvPr/>
        </p:nvSpPr>
        <p:spPr bwMode="auto">
          <a:xfrm>
            <a:off x="4935538" y="17049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02" name="TextBox 65"/>
          <p:cNvSpPr txBox="1">
            <a:spLocks noChangeArrowheads="1"/>
          </p:cNvSpPr>
          <p:nvPr/>
        </p:nvSpPr>
        <p:spPr bwMode="auto">
          <a:xfrm>
            <a:off x="400050" y="24066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6203" name="직사각형 66"/>
          <p:cNvSpPr>
            <a:spLocks noChangeArrowheads="1"/>
          </p:cNvSpPr>
          <p:nvPr/>
        </p:nvSpPr>
        <p:spPr bwMode="auto">
          <a:xfrm>
            <a:off x="1095375" y="24066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</a:t>
            </a:r>
          </a:p>
        </p:txBody>
      </p:sp>
      <p:sp>
        <p:nvSpPr>
          <p:cNvPr id="6204" name="TextBox 65"/>
          <p:cNvSpPr txBox="1">
            <a:spLocks noChangeArrowheads="1"/>
          </p:cNvSpPr>
          <p:nvPr/>
        </p:nvSpPr>
        <p:spPr bwMode="auto">
          <a:xfrm>
            <a:off x="400050" y="17049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6205" name="직사각형 66"/>
          <p:cNvSpPr>
            <a:spLocks noChangeArrowheads="1"/>
          </p:cNvSpPr>
          <p:nvPr/>
        </p:nvSpPr>
        <p:spPr bwMode="auto">
          <a:xfrm>
            <a:off x="1111250" y="17049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06" name="직사각형 48"/>
          <p:cNvSpPr>
            <a:spLocks noChangeArrowheads="1"/>
          </p:cNvSpPr>
          <p:nvPr/>
        </p:nvSpPr>
        <p:spPr bwMode="auto">
          <a:xfrm>
            <a:off x="1995488" y="17049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07" name="직사각형 66"/>
          <p:cNvSpPr>
            <a:spLocks noChangeArrowheads="1"/>
          </p:cNvSpPr>
          <p:nvPr/>
        </p:nvSpPr>
        <p:spPr bwMode="auto">
          <a:xfrm>
            <a:off x="2216150" y="17049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6208" name="TextBox 65"/>
          <p:cNvSpPr txBox="1">
            <a:spLocks noChangeArrowheads="1"/>
          </p:cNvSpPr>
          <p:nvPr/>
        </p:nvSpPr>
        <p:spPr bwMode="auto">
          <a:xfrm>
            <a:off x="6345238" y="2063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6209" name="직사각형 66"/>
          <p:cNvSpPr>
            <a:spLocks noChangeArrowheads="1"/>
          </p:cNvSpPr>
          <p:nvPr/>
        </p:nvSpPr>
        <p:spPr bwMode="auto">
          <a:xfrm>
            <a:off x="7250113" y="2063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10" name="TextBox 65"/>
          <p:cNvSpPr txBox="1">
            <a:spLocks noChangeArrowheads="1"/>
          </p:cNvSpPr>
          <p:nvPr/>
        </p:nvSpPr>
        <p:spPr bwMode="auto">
          <a:xfrm>
            <a:off x="6345238" y="1704975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6211" name="직사각형 66"/>
          <p:cNvSpPr>
            <a:spLocks noChangeArrowheads="1"/>
          </p:cNvSpPr>
          <p:nvPr/>
        </p:nvSpPr>
        <p:spPr bwMode="auto">
          <a:xfrm>
            <a:off x="7232650" y="17049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12" name="직사각형 61"/>
          <p:cNvSpPr>
            <a:spLocks noChangeArrowheads="1"/>
          </p:cNvSpPr>
          <p:nvPr/>
        </p:nvSpPr>
        <p:spPr bwMode="auto">
          <a:xfrm>
            <a:off x="8297863" y="20637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13" name="직사각형 66"/>
          <p:cNvSpPr>
            <a:spLocks noChangeArrowheads="1"/>
          </p:cNvSpPr>
          <p:nvPr/>
        </p:nvSpPr>
        <p:spPr bwMode="auto">
          <a:xfrm>
            <a:off x="8493125" y="2063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14" name="직사각형 33"/>
          <p:cNvSpPr>
            <a:spLocks noChangeArrowheads="1"/>
          </p:cNvSpPr>
          <p:nvPr/>
        </p:nvSpPr>
        <p:spPr bwMode="auto">
          <a:xfrm>
            <a:off x="1970088" y="20637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215" name="직사각형 33"/>
          <p:cNvSpPr>
            <a:spLocks noChangeArrowheads="1"/>
          </p:cNvSpPr>
          <p:nvPr/>
        </p:nvSpPr>
        <p:spPr bwMode="auto">
          <a:xfrm>
            <a:off x="1947863" y="24066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6216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625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625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21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39" name="표 38"/>
          <p:cNvGraphicFramePr>
            <a:graphicFrameLocks noGrp="1"/>
          </p:cNvGraphicFramePr>
          <p:nvPr/>
        </p:nvGraphicFramePr>
        <p:xfrm>
          <a:off x="368300" y="4221163"/>
          <a:ext cx="8032753" cy="466725"/>
        </p:xfrm>
        <a:graphic>
          <a:graphicData uri="http://schemas.openxmlformats.org/drawingml/2006/table">
            <a:tbl>
              <a:tblPr/>
              <a:tblGrid>
                <a:gridCol w="892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53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96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2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25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70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49" name="TextBox 65"/>
          <p:cNvSpPr txBox="1">
            <a:spLocks noChangeArrowheads="1"/>
          </p:cNvSpPr>
          <p:nvPr/>
        </p:nvSpPr>
        <p:spPr bwMode="auto">
          <a:xfrm>
            <a:off x="6324600" y="24066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6250" name="직사각형 66"/>
          <p:cNvSpPr>
            <a:spLocks noChangeArrowheads="1"/>
          </p:cNvSpPr>
          <p:nvPr/>
        </p:nvSpPr>
        <p:spPr bwMode="auto">
          <a:xfrm>
            <a:off x="7229475" y="24066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51" name="직사각형 48"/>
          <p:cNvSpPr>
            <a:spLocks noChangeArrowheads="1"/>
          </p:cNvSpPr>
          <p:nvPr/>
        </p:nvSpPr>
        <p:spPr bwMode="auto">
          <a:xfrm>
            <a:off x="8277225" y="24066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66"/>
          <p:cNvSpPr>
            <a:spLocks noChangeArrowheads="1"/>
          </p:cNvSpPr>
          <p:nvPr/>
        </p:nvSpPr>
        <p:spPr bwMode="auto">
          <a:xfrm>
            <a:off x="8474075" y="24066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6253" name="TextBox 65"/>
          <p:cNvSpPr txBox="1">
            <a:spLocks noChangeArrowheads="1"/>
          </p:cNvSpPr>
          <p:nvPr/>
        </p:nvSpPr>
        <p:spPr bwMode="auto">
          <a:xfrm>
            <a:off x="3219450" y="24161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6254" name="직사각형 66"/>
          <p:cNvSpPr>
            <a:spLocks noChangeArrowheads="1"/>
          </p:cNvSpPr>
          <p:nvPr/>
        </p:nvSpPr>
        <p:spPr bwMode="auto">
          <a:xfrm>
            <a:off x="4079875" y="24161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55" name="TextBox 65"/>
          <p:cNvSpPr txBox="1">
            <a:spLocks noChangeArrowheads="1"/>
          </p:cNvSpPr>
          <p:nvPr/>
        </p:nvSpPr>
        <p:spPr bwMode="auto">
          <a:xfrm>
            <a:off x="5273675" y="2060575"/>
            <a:ext cx="649288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6256" name="직사각형 66"/>
          <p:cNvSpPr>
            <a:spLocks noChangeArrowheads="1"/>
          </p:cNvSpPr>
          <p:nvPr/>
        </p:nvSpPr>
        <p:spPr bwMode="auto">
          <a:xfrm>
            <a:off x="5922963" y="2068513"/>
            <a:ext cx="48895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출고승인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801292"/>
              </p:ext>
            </p:extLst>
          </p:nvPr>
        </p:nvGraphicFramePr>
        <p:xfrm>
          <a:off x="379413" y="3009900"/>
          <a:ext cx="9110663" cy="563888"/>
        </p:xfrm>
        <a:graphic>
          <a:graphicData uri="http://schemas.openxmlformats.org/drawingml/2006/table">
            <a:tbl>
              <a:tblPr/>
              <a:tblGrid>
                <a:gridCol w="18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22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72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89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31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78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16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16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16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234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234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출고예정일자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권역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47" name="직사각형 54"/>
          <p:cNvSpPr>
            <a:spLocks noChangeArrowheads="1"/>
          </p:cNvSpPr>
          <p:nvPr/>
        </p:nvSpPr>
        <p:spPr bwMode="auto">
          <a:xfrm>
            <a:off x="309563" y="2901950"/>
            <a:ext cx="9215437" cy="16541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48" name="TextBox 55"/>
          <p:cNvSpPr txBox="1">
            <a:spLocks noChangeArrowheads="1"/>
          </p:cNvSpPr>
          <p:nvPr/>
        </p:nvSpPr>
        <p:spPr bwMode="auto">
          <a:xfrm>
            <a:off x="381000" y="2774950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출고승인 목록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49" name="직사각형 51"/>
          <p:cNvSpPr>
            <a:spLocks noChangeArrowheads="1"/>
          </p:cNvSpPr>
          <p:nvPr/>
        </p:nvSpPr>
        <p:spPr bwMode="auto">
          <a:xfrm>
            <a:off x="7915821" y="26368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승인취소</a:t>
            </a:r>
          </a:p>
        </p:txBody>
      </p:sp>
      <p:sp>
        <p:nvSpPr>
          <p:cNvPr id="4150" name="직사각형 51"/>
          <p:cNvSpPr>
            <a:spLocks noChangeArrowheads="1"/>
          </p:cNvSpPr>
          <p:nvPr/>
        </p:nvSpPr>
        <p:spPr bwMode="auto">
          <a:xfrm>
            <a:off x="6825208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415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415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4153" name="직사각형 51"/>
          <p:cNvSpPr>
            <a:spLocks noChangeArrowheads="1"/>
          </p:cNvSpPr>
          <p:nvPr/>
        </p:nvSpPr>
        <p:spPr bwMode="auto">
          <a:xfrm>
            <a:off x="7371308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출고승인</a:t>
            </a:r>
          </a:p>
        </p:txBody>
      </p:sp>
      <p:sp>
        <p:nvSpPr>
          <p:cNvPr id="4154" name="직사각형 51"/>
          <p:cNvSpPr>
            <a:spLocks noChangeArrowheads="1"/>
          </p:cNvSpPr>
          <p:nvPr/>
        </p:nvSpPr>
        <p:spPr bwMode="auto">
          <a:xfrm>
            <a:off x="9026525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4155" name="직사각형 54"/>
          <p:cNvSpPr>
            <a:spLocks noChangeArrowheads="1"/>
          </p:cNvSpPr>
          <p:nvPr/>
        </p:nvSpPr>
        <p:spPr bwMode="auto">
          <a:xfrm>
            <a:off x="309563" y="4672013"/>
            <a:ext cx="9215437" cy="17097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183633"/>
              </p:ext>
            </p:extLst>
          </p:nvPr>
        </p:nvGraphicFramePr>
        <p:xfrm>
          <a:off x="379413" y="4838700"/>
          <a:ext cx="8504711" cy="503270"/>
        </p:xfrm>
        <a:graphic>
          <a:graphicData uri="http://schemas.openxmlformats.org/drawingml/2006/table">
            <a:tbl>
              <a:tblPr/>
              <a:tblGrid>
                <a:gridCol w="230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93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0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18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0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82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7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출고예정수량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20*3*4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95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4196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4197" name="TextBox 65"/>
          <p:cNvSpPr txBox="1">
            <a:spLocks noChangeArrowheads="1"/>
          </p:cNvSpPr>
          <p:nvPr/>
        </p:nvSpPr>
        <p:spPr bwMode="auto">
          <a:xfrm>
            <a:off x="326548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4198" name="직사각형 66"/>
          <p:cNvSpPr>
            <a:spLocks noChangeArrowheads="1"/>
          </p:cNvSpPr>
          <p:nvPr/>
        </p:nvSpPr>
        <p:spPr bwMode="auto">
          <a:xfrm>
            <a:off x="419100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99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출고예정일자</a:t>
            </a:r>
          </a:p>
        </p:txBody>
      </p:sp>
      <p:sp>
        <p:nvSpPr>
          <p:cNvPr id="4200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1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2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3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4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5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4206" name="직사각형 66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</a:t>
            </a:r>
          </a:p>
        </p:txBody>
      </p:sp>
      <p:sp>
        <p:nvSpPr>
          <p:cNvPr id="4207" name="TextBox 65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4208" name="직사각형 66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9" name="직사각형 48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40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4211" name="TextBox 65"/>
          <p:cNvSpPr txBox="1">
            <a:spLocks noChangeArrowheads="1"/>
          </p:cNvSpPr>
          <p:nvPr/>
        </p:nvSpPr>
        <p:spPr bwMode="auto">
          <a:xfrm>
            <a:off x="645953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4212" name="직사각형 66"/>
          <p:cNvSpPr>
            <a:spLocks noChangeArrowheads="1"/>
          </p:cNvSpPr>
          <p:nvPr/>
        </p:nvSpPr>
        <p:spPr bwMode="auto">
          <a:xfrm>
            <a:off x="7364413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3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4214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5" name="직사각형 48"/>
          <p:cNvSpPr>
            <a:spLocks noChangeArrowheads="1"/>
          </p:cNvSpPr>
          <p:nvPr/>
        </p:nvSpPr>
        <p:spPr bwMode="auto">
          <a:xfrm>
            <a:off x="8412163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66"/>
          <p:cNvSpPr>
            <a:spLocks noChangeArrowheads="1"/>
          </p:cNvSpPr>
          <p:nvPr/>
        </p:nvSpPr>
        <p:spPr bwMode="auto">
          <a:xfrm>
            <a:off x="8609013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4217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18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219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426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426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220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377574"/>
              </p:ext>
            </p:extLst>
          </p:nvPr>
        </p:nvGraphicFramePr>
        <p:xfrm>
          <a:off x="387350" y="5445125"/>
          <a:ext cx="9036054" cy="466725"/>
        </p:xfrm>
        <a:graphic>
          <a:graphicData uri="http://schemas.openxmlformats.org/drawingml/2006/table">
            <a:tbl>
              <a:tblPr/>
              <a:tblGrid>
                <a:gridCol w="1004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70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52" name="TextBox 65"/>
          <p:cNvSpPr txBox="1">
            <a:spLocks noChangeArrowheads="1"/>
          </p:cNvSpPr>
          <p:nvPr/>
        </p:nvSpPr>
        <p:spPr bwMode="auto">
          <a:xfrm>
            <a:off x="3265488" y="2044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4253" name="직사각형 66"/>
          <p:cNvSpPr>
            <a:spLocks noChangeArrowheads="1"/>
          </p:cNvSpPr>
          <p:nvPr/>
        </p:nvSpPr>
        <p:spPr bwMode="auto">
          <a:xfrm>
            <a:off x="4191000" y="2044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54" name="TextBox 65"/>
          <p:cNvSpPr txBox="1">
            <a:spLocks noChangeArrowheads="1"/>
          </p:cNvSpPr>
          <p:nvPr/>
        </p:nvSpPr>
        <p:spPr bwMode="auto">
          <a:xfrm>
            <a:off x="6477000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4255" name="직사각형 66"/>
          <p:cNvSpPr>
            <a:spLocks noChangeArrowheads="1"/>
          </p:cNvSpPr>
          <p:nvPr/>
        </p:nvSpPr>
        <p:spPr bwMode="auto">
          <a:xfrm>
            <a:off x="7381875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56" name="직사각형 48"/>
          <p:cNvSpPr>
            <a:spLocks noChangeArrowheads="1"/>
          </p:cNvSpPr>
          <p:nvPr/>
        </p:nvSpPr>
        <p:spPr bwMode="auto">
          <a:xfrm>
            <a:off x="8429625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66"/>
          <p:cNvSpPr>
            <a:spLocks noChangeArrowheads="1"/>
          </p:cNvSpPr>
          <p:nvPr/>
        </p:nvSpPr>
        <p:spPr bwMode="auto">
          <a:xfrm>
            <a:off x="8626475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4258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492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4259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895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65"/>
          <p:cNvSpPr txBox="1">
            <a:spLocks noChangeArrowheads="1"/>
          </p:cNvSpPr>
          <p:nvPr/>
        </p:nvSpPr>
        <p:spPr bwMode="auto">
          <a:xfrm>
            <a:off x="194618" y="242886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권역</a:t>
            </a:r>
          </a:p>
        </p:txBody>
      </p:sp>
      <p:sp>
        <p:nvSpPr>
          <p:cNvPr id="60" name="직사각형 66"/>
          <p:cNvSpPr>
            <a:spLocks noChangeArrowheads="1"/>
          </p:cNvSpPr>
          <p:nvPr/>
        </p:nvSpPr>
        <p:spPr bwMode="auto">
          <a:xfrm>
            <a:off x="1055463" y="242886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1"/>
          <p:cNvSpPr>
            <a:spLocks noChangeArrowheads="1"/>
          </p:cNvSpPr>
          <p:nvPr/>
        </p:nvSpPr>
        <p:spPr bwMode="auto">
          <a:xfrm>
            <a:off x="8471693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배분조정</a:t>
            </a:r>
          </a:p>
        </p:txBody>
      </p:sp>
      <p:sp>
        <p:nvSpPr>
          <p:cNvPr id="54" name="TextBox 55"/>
          <p:cNvSpPr txBox="1">
            <a:spLocks noChangeArrowheads="1"/>
          </p:cNvSpPr>
          <p:nvPr/>
        </p:nvSpPr>
        <p:spPr bwMode="auto">
          <a:xfrm>
            <a:off x="395012" y="4600560"/>
            <a:ext cx="1173612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출고승인 상세목록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4576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직사각형 54"/>
          <p:cNvSpPr>
            <a:spLocks noChangeArrowheads="1"/>
          </p:cNvSpPr>
          <p:nvPr/>
        </p:nvSpPr>
        <p:spPr bwMode="auto">
          <a:xfrm>
            <a:off x="273050" y="4467225"/>
            <a:ext cx="9215438" cy="9064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95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출고승인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배분조정</a:t>
            </a:r>
          </a:p>
        </p:txBody>
      </p:sp>
      <p:sp>
        <p:nvSpPr>
          <p:cNvPr id="8196" name="직사각형 54"/>
          <p:cNvSpPr>
            <a:spLocks noChangeArrowheads="1"/>
          </p:cNvSpPr>
          <p:nvPr/>
        </p:nvSpPr>
        <p:spPr bwMode="auto">
          <a:xfrm>
            <a:off x="309563" y="3027363"/>
            <a:ext cx="9215437" cy="9064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97" name="직사각형 51"/>
          <p:cNvSpPr>
            <a:spLocks noChangeArrowheads="1"/>
          </p:cNvSpPr>
          <p:nvPr/>
        </p:nvSpPr>
        <p:spPr bwMode="auto">
          <a:xfrm>
            <a:off x="7329264" y="27701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819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819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8200" name="직사각형 51"/>
          <p:cNvSpPr>
            <a:spLocks noChangeArrowheads="1"/>
          </p:cNvSpPr>
          <p:nvPr/>
        </p:nvSpPr>
        <p:spPr bwMode="auto">
          <a:xfrm>
            <a:off x="7881714" y="27701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8201" name="직사각형 51"/>
          <p:cNvSpPr>
            <a:spLocks noChangeArrowheads="1"/>
          </p:cNvSpPr>
          <p:nvPr/>
        </p:nvSpPr>
        <p:spPr bwMode="auto">
          <a:xfrm>
            <a:off x="8437339" y="27701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8202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830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830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203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204" name="TextBox 65"/>
          <p:cNvSpPr txBox="1">
            <a:spLocks noChangeArrowheads="1"/>
          </p:cNvSpPr>
          <p:nvPr/>
        </p:nvSpPr>
        <p:spPr bwMode="auto">
          <a:xfrm>
            <a:off x="420688" y="169386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8205" name="직사각형 66"/>
          <p:cNvSpPr>
            <a:spLocks noChangeArrowheads="1"/>
          </p:cNvSpPr>
          <p:nvPr/>
        </p:nvSpPr>
        <p:spPr bwMode="auto">
          <a:xfrm>
            <a:off x="1131888" y="1693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8206" name="TextBox 65"/>
          <p:cNvSpPr txBox="1">
            <a:spLocks noChangeArrowheads="1"/>
          </p:cNvSpPr>
          <p:nvPr/>
        </p:nvSpPr>
        <p:spPr bwMode="auto">
          <a:xfrm>
            <a:off x="3238500" y="169386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8207" name="직사각형 66"/>
          <p:cNvSpPr>
            <a:spLocks noChangeArrowheads="1"/>
          </p:cNvSpPr>
          <p:nvPr/>
        </p:nvSpPr>
        <p:spPr bwMode="auto">
          <a:xfrm>
            <a:off x="4098925" y="1693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08" name="TextBox 65"/>
          <p:cNvSpPr txBox="1">
            <a:spLocks noChangeArrowheads="1"/>
          </p:cNvSpPr>
          <p:nvPr/>
        </p:nvSpPr>
        <p:spPr bwMode="auto">
          <a:xfrm>
            <a:off x="3238500" y="13350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출고예정일자</a:t>
            </a:r>
          </a:p>
        </p:txBody>
      </p:sp>
      <p:sp>
        <p:nvSpPr>
          <p:cNvPr id="8209" name="직사각형 66"/>
          <p:cNvSpPr>
            <a:spLocks noChangeArrowheads="1"/>
          </p:cNvSpPr>
          <p:nvPr/>
        </p:nvSpPr>
        <p:spPr bwMode="auto">
          <a:xfrm>
            <a:off x="4089400" y="13350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10" name="직사각형 48"/>
          <p:cNvSpPr>
            <a:spLocks noChangeArrowheads="1"/>
          </p:cNvSpPr>
          <p:nvPr/>
        </p:nvSpPr>
        <p:spPr bwMode="auto">
          <a:xfrm>
            <a:off x="4956175" y="13350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13" name="TextBox 65"/>
          <p:cNvSpPr txBox="1">
            <a:spLocks noChangeArrowheads="1"/>
          </p:cNvSpPr>
          <p:nvPr/>
        </p:nvSpPr>
        <p:spPr bwMode="auto">
          <a:xfrm>
            <a:off x="420688" y="13350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8214" name="직사각형 66"/>
          <p:cNvSpPr>
            <a:spLocks noChangeArrowheads="1"/>
          </p:cNvSpPr>
          <p:nvPr/>
        </p:nvSpPr>
        <p:spPr bwMode="auto">
          <a:xfrm>
            <a:off x="1131888" y="13350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15" name="직사각형 48"/>
          <p:cNvSpPr>
            <a:spLocks noChangeArrowheads="1"/>
          </p:cNvSpPr>
          <p:nvPr/>
        </p:nvSpPr>
        <p:spPr bwMode="auto">
          <a:xfrm>
            <a:off x="2016125" y="13350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16" name="직사각형 66"/>
          <p:cNvSpPr>
            <a:spLocks noChangeArrowheads="1"/>
          </p:cNvSpPr>
          <p:nvPr/>
        </p:nvSpPr>
        <p:spPr bwMode="auto">
          <a:xfrm>
            <a:off x="2236788" y="1335088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8217" name="TextBox 65"/>
          <p:cNvSpPr txBox="1">
            <a:spLocks noChangeArrowheads="1"/>
          </p:cNvSpPr>
          <p:nvPr/>
        </p:nvSpPr>
        <p:spPr bwMode="auto">
          <a:xfrm>
            <a:off x="6469063" y="169386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8218" name="직사각형 66"/>
          <p:cNvSpPr>
            <a:spLocks noChangeArrowheads="1"/>
          </p:cNvSpPr>
          <p:nvPr/>
        </p:nvSpPr>
        <p:spPr bwMode="auto">
          <a:xfrm>
            <a:off x="7373938" y="1693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19" name="TextBox 65"/>
          <p:cNvSpPr txBox="1">
            <a:spLocks noChangeArrowheads="1"/>
          </p:cNvSpPr>
          <p:nvPr/>
        </p:nvSpPr>
        <p:spPr bwMode="auto">
          <a:xfrm>
            <a:off x="6469063" y="1335088"/>
            <a:ext cx="98901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8220" name="직사각형 66"/>
          <p:cNvSpPr>
            <a:spLocks noChangeArrowheads="1"/>
          </p:cNvSpPr>
          <p:nvPr/>
        </p:nvSpPr>
        <p:spPr bwMode="auto">
          <a:xfrm>
            <a:off x="7356475" y="133508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21" name="직사각형 61"/>
          <p:cNvSpPr>
            <a:spLocks noChangeArrowheads="1"/>
          </p:cNvSpPr>
          <p:nvPr/>
        </p:nvSpPr>
        <p:spPr bwMode="auto">
          <a:xfrm>
            <a:off x="8421688" y="16938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22" name="직사각형 66"/>
          <p:cNvSpPr>
            <a:spLocks noChangeArrowheads="1"/>
          </p:cNvSpPr>
          <p:nvPr/>
        </p:nvSpPr>
        <p:spPr bwMode="auto">
          <a:xfrm>
            <a:off x="8616950" y="169386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23" name="직사각형 33"/>
          <p:cNvSpPr>
            <a:spLocks noChangeArrowheads="1"/>
          </p:cNvSpPr>
          <p:nvPr/>
        </p:nvSpPr>
        <p:spPr bwMode="auto">
          <a:xfrm>
            <a:off x="1990725" y="16938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225" name="TextBox 65"/>
          <p:cNvSpPr txBox="1">
            <a:spLocks noChangeArrowheads="1"/>
          </p:cNvSpPr>
          <p:nvPr/>
        </p:nvSpPr>
        <p:spPr bwMode="auto">
          <a:xfrm>
            <a:off x="6448425" y="203676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8226" name="직사각형 66"/>
          <p:cNvSpPr>
            <a:spLocks noChangeArrowheads="1"/>
          </p:cNvSpPr>
          <p:nvPr/>
        </p:nvSpPr>
        <p:spPr bwMode="auto">
          <a:xfrm>
            <a:off x="7353300" y="20367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27" name="직사각형 48"/>
          <p:cNvSpPr>
            <a:spLocks noChangeArrowheads="1"/>
          </p:cNvSpPr>
          <p:nvPr/>
        </p:nvSpPr>
        <p:spPr bwMode="auto">
          <a:xfrm>
            <a:off x="8401050" y="20367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66"/>
          <p:cNvSpPr>
            <a:spLocks noChangeArrowheads="1"/>
          </p:cNvSpPr>
          <p:nvPr/>
        </p:nvSpPr>
        <p:spPr bwMode="auto">
          <a:xfrm>
            <a:off x="8597900" y="203676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8229" name="TextBox 65"/>
          <p:cNvSpPr txBox="1">
            <a:spLocks noChangeArrowheads="1"/>
          </p:cNvSpPr>
          <p:nvPr/>
        </p:nvSpPr>
        <p:spPr bwMode="auto">
          <a:xfrm>
            <a:off x="3240088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8230" name="직사각형 66"/>
          <p:cNvSpPr>
            <a:spLocks noChangeArrowheads="1"/>
          </p:cNvSpPr>
          <p:nvPr/>
        </p:nvSpPr>
        <p:spPr bwMode="auto">
          <a:xfrm>
            <a:off x="4100513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2" name="Group 4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159469"/>
              </p:ext>
            </p:extLst>
          </p:nvPr>
        </p:nvGraphicFramePr>
        <p:xfrm>
          <a:off x="381000" y="4581525"/>
          <a:ext cx="5652121" cy="503297"/>
        </p:xfrm>
        <a:graphic>
          <a:graphicData uri="http://schemas.openxmlformats.org/drawingml/2006/table">
            <a:tbl>
              <a:tblPr/>
              <a:tblGrid>
                <a:gridCol w="348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4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84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84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84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4475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주문번호</a:t>
                      </a: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주문수량</a:t>
                      </a: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배분수량</a:t>
                      </a: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비고</a:t>
                      </a: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총량</a:t>
                      </a: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박스</a:t>
                      </a: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낱개</a:t>
                      </a: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총량</a:t>
                      </a: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박스</a:t>
                      </a: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낱개</a:t>
                      </a: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6" marR="7646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4" name="Group 4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25826"/>
              </p:ext>
            </p:extLst>
          </p:nvPr>
        </p:nvGraphicFramePr>
        <p:xfrm>
          <a:off x="415925" y="3141663"/>
          <a:ext cx="9001571" cy="701063"/>
        </p:xfrm>
        <a:graphic>
          <a:graphicData uri="http://schemas.openxmlformats.org/drawingml/2006/table">
            <a:tbl>
              <a:tblPr/>
              <a:tblGrid>
                <a:gridCol w="32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7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89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89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32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6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32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32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6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320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956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95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0956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0956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0478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주문수량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가용수량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부족수량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20*3*4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EA/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204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20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4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102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10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2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300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492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8301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895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02" name="직사각형 66"/>
          <p:cNvSpPr>
            <a:spLocks noChangeArrowheads="1"/>
          </p:cNvSpPr>
          <p:nvPr/>
        </p:nvSpPr>
        <p:spPr bwMode="auto">
          <a:xfrm>
            <a:off x="5297488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03" name="직사각형 48"/>
          <p:cNvSpPr>
            <a:spLocks noChangeArrowheads="1"/>
          </p:cNvSpPr>
          <p:nvPr/>
        </p:nvSpPr>
        <p:spPr bwMode="auto">
          <a:xfrm>
            <a:off x="615473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04" name="TextBox 65"/>
          <p:cNvSpPr txBox="1">
            <a:spLocks noChangeArrowheads="1"/>
          </p:cNvSpPr>
          <p:nvPr/>
        </p:nvSpPr>
        <p:spPr bwMode="auto">
          <a:xfrm>
            <a:off x="5068888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05" name="TextBox 55"/>
          <p:cNvSpPr txBox="1">
            <a:spLocks noChangeArrowheads="1"/>
          </p:cNvSpPr>
          <p:nvPr/>
        </p:nvSpPr>
        <p:spPr bwMode="auto">
          <a:xfrm>
            <a:off x="342899" y="4349750"/>
            <a:ext cx="1109661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출고배송처 목록</a:t>
            </a:r>
          </a:p>
        </p:txBody>
      </p:sp>
      <p:sp>
        <p:nvSpPr>
          <p:cNvPr id="8306" name="TextBox 55"/>
          <p:cNvSpPr txBox="1">
            <a:spLocks noChangeArrowheads="1"/>
          </p:cNvSpPr>
          <p:nvPr/>
        </p:nvSpPr>
        <p:spPr bwMode="auto">
          <a:xfrm>
            <a:off x="441325" y="2835275"/>
            <a:ext cx="939726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출고제품 목록</a:t>
            </a:r>
          </a:p>
        </p:txBody>
      </p:sp>
      <p:sp>
        <p:nvSpPr>
          <p:cNvPr id="50" name="TextBox 65"/>
          <p:cNvSpPr txBox="1">
            <a:spLocks noChangeArrowheads="1"/>
          </p:cNvSpPr>
          <p:nvPr/>
        </p:nvSpPr>
        <p:spPr bwMode="auto">
          <a:xfrm>
            <a:off x="341312" y="1985354"/>
            <a:ext cx="79057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재고부족만</a:t>
            </a:r>
          </a:p>
        </p:txBody>
      </p:sp>
      <p:sp>
        <p:nvSpPr>
          <p:cNvPr id="51" name="직사각형 66"/>
          <p:cNvSpPr>
            <a:spLocks noChangeArrowheads="1"/>
          </p:cNvSpPr>
          <p:nvPr/>
        </p:nvSpPr>
        <p:spPr bwMode="auto">
          <a:xfrm>
            <a:off x="1136576" y="1993292"/>
            <a:ext cx="2444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</a:t>
            </a:r>
          </a:p>
        </p:txBody>
      </p:sp>
      <p:sp>
        <p:nvSpPr>
          <p:cNvPr id="53" name="TextBox 65"/>
          <p:cNvSpPr txBox="1">
            <a:spLocks noChangeArrowheads="1"/>
          </p:cNvSpPr>
          <p:nvPr/>
        </p:nvSpPr>
        <p:spPr bwMode="auto">
          <a:xfrm>
            <a:off x="7642225" y="413543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미출고사유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66"/>
          <p:cNvSpPr>
            <a:spLocks noChangeArrowheads="1"/>
          </p:cNvSpPr>
          <p:nvPr/>
        </p:nvSpPr>
        <p:spPr bwMode="auto">
          <a:xfrm>
            <a:off x="8353425" y="41354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재고부족</a:t>
            </a:r>
          </a:p>
        </p:txBody>
      </p:sp>
      <p:sp>
        <p:nvSpPr>
          <p:cNvPr id="56" name="직사각형 33"/>
          <p:cNvSpPr>
            <a:spLocks noChangeArrowheads="1"/>
          </p:cNvSpPr>
          <p:nvPr/>
        </p:nvSpPr>
        <p:spPr bwMode="auto">
          <a:xfrm>
            <a:off x="9212262" y="41354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7" name="직사각형 51"/>
          <p:cNvSpPr>
            <a:spLocks noChangeArrowheads="1"/>
          </p:cNvSpPr>
          <p:nvPr/>
        </p:nvSpPr>
        <p:spPr bwMode="auto">
          <a:xfrm>
            <a:off x="8998966" y="2771527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WAVE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560916"/>
              </p:ext>
            </p:extLst>
          </p:nvPr>
        </p:nvGraphicFramePr>
        <p:xfrm>
          <a:off x="379413" y="2640013"/>
          <a:ext cx="6361110" cy="642936"/>
        </p:xfrm>
        <a:graphic>
          <a:graphicData uri="http://schemas.openxmlformats.org/drawingml/2006/table">
            <a:tbl>
              <a:tblPr/>
              <a:tblGrid>
                <a:gridCol w="26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9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3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17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61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86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웨이브기준번호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웨이브기준설명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기준조건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권역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권역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283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9064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84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1259632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Wave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기준목록</a:t>
            </a:r>
          </a:p>
        </p:txBody>
      </p:sp>
      <p:sp>
        <p:nvSpPr>
          <p:cNvPr id="10285" name="직사각형 51"/>
          <p:cNvSpPr>
            <a:spLocks noChangeArrowheads="1"/>
          </p:cNvSpPr>
          <p:nvPr/>
        </p:nvSpPr>
        <p:spPr bwMode="auto">
          <a:xfrm>
            <a:off x="8470900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0286" name="직사각형 51"/>
          <p:cNvSpPr>
            <a:spLocks noChangeArrowheads="1"/>
          </p:cNvSpPr>
          <p:nvPr/>
        </p:nvSpPr>
        <p:spPr bwMode="auto">
          <a:xfrm>
            <a:off x="68040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02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02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10289" name="직사각형 51"/>
          <p:cNvSpPr>
            <a:spLocks noChangeArrowheads="1"/>
          </p:cNvSpPr>
          <p:nvPr/>
        </p:nvSpPr>
        <p:spPr bwMode="auto">
          <a:xfrm>
            <a:off x="7359650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10290" name="직사각형 51"/>
          <p:cNvSpPr>
            <a:spLocks noChangeArrowheads="1"/>
          </p:cNvSpPr>
          <p:nvPr/>
        </p:nvSpPr>
        <p:spPr bwMode="auto">
          <a:xfrm>
            <a:off x="791527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0291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10292" name="TextBox 65"/>
          <p:cNvSpPr txBox="1">
            <a:spLocks noChangeArrowheads="1"/>
          </p:cNvSpPr>
          <p:nvPr/>
        </p:nvSpPr>
        <p:spPr bwMode="auto">
          <a:xfrm>
            <a:off x="344488" y="1381125"/>
            <a:ext cx="11207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웨이브기준번호</a:t>
            </a:r>
          </a:p>
        </p:txBody>
      </p:sp>
      <p:sp>
        <p:nvSpPr>
          <p:cNvPr id="10293" name="직사각형 66"/>
          <p:cNvSpPr>
            <a:spLocks noChangeArrowheads="1"/>
          </p:cNvSpPr>
          <p:nvPr/>
        </p:nvSpPr>
        <p:spPr bwMode="auto">
          <a:xfrm>
            <a:off x="1525588" y="13811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294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029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1029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295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296" name="TextBox 65"/>
          <p:cNvSpPr txBox="1">
            <a:spLocks noChangeArrowheads="1"/>
          </p:cNvSpPr>
          <p:nvPr/>
        </p:nvSpPr>
        <p:spPr bwMode="auto">
          <a:xfrm>
            <a:off x="3267075" y="1381125"/>
            <a:ext cx="11207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웨이브기준설명</a:t>
            </a:r>
          </a:p>
        </p:txBody>
      </p:sp>
      <p:sp>
        <p:nvSpPr>
          <p:cNvPr id="10297" name="직사각형 66"/>
          <p:cNvSpPr>
            <a:spLocks noChangeArrowheads="1"/>
          </p:cNvSpPr>
          <p:nvPr/>
        </p:nvSpPr>
        <p:spPr bwMode="auto">
          <a:xfrm>
            <a:off x="4448175" y="13811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WAVE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984645"/>
              </p:ext>
            </p:extLst>
          </p:nvPr>
        </p:nvGraphicFramePr>
        <p:xfrm>
          <a:off x="379413" y="2640013"/>
          <a:ext cx="4967569" cy="563729"/>
        </p:xfrm>
        <a:graphic>
          <a:graphicData uri="http://schemas.openxmlformats.org/drawingml/2006/table">
            <a:tbl>
              <a:tblPr/>
              <a:tblGrid>
                <a:gridCol w="295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0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7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웨이브기준번호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웨이브기준설명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고객사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+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출고예정일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</a:rPr>
                        <a:t>출고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</a:rPr>
                        <a:t>WAVE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333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4493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4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71550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Wave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2335" name="직사각형 51"/>
          <p:cNvSpPr>
            <a:spLocks noChangeArrowheads="1"/>
          </p:cNvSpPr>
          <p:nvPr/>
        </p:nvSpPr>
        <p:spPr bwMode="auto">
          <a:xfrm>
            <a:off x="84804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</a:p>
        </p:txBody>
      </p:sp>
      <p:sp>
        <p:nvSpPr>
          <p:cNvPr id="12336" name="직사각형 51"/>
          <p:cNvSpPr>
            <a:spLocks noChangeArrowheads="1"/>
          </p:cNvSpPr>
          <p:nvPr/>
        </p:nvSpPr>
        <p:spPr bwMode="auto">
          <a:xfrm>
            <a:off x="6825208" y="22717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233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233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12339" name="직사각형 51"/>
          <p:cNvSpPr>
            <a:spLocks noChangeArrowheads="1"/>
          </p:cNvSpPr>
          <p:nvPr/>
        </p:nvSpPr>
        <p:spPr bwMode="auto">
          <a:xfrm>
            <a:off x="79343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2340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12345" name="TextBox 65"/>
          <p:cNvSpPr txBox="1">
            <a:spLocks noChangeArrowheads="1"/>
          </p:cNvSpPr>
          <p:nvPr/>
        </p:nvSpPr>
        <p:spPr bwMode="auto">
          <a:xfrm>
            <a:off x="344488" y="1308100"/>
            <a:ext cx="10191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</a:p>
        </p:txBody>
      </p:sp>
      <p:sp>
        <p:nvSpPr>
          <p:cNvPr id="12346" name="직사각형 66"/>
          <p:cNvSpPr>
            <a:spLocks noChangeArrowheads="1"/>
          </p:cNvSpPr>
          <p:nvPr/>
        </p:nvSpPr>
        <p:spPr bwMode="auto">
          <a:xfrm>
            <a:off x="1438896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kumimoji="0"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1000000001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2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194521"/>
              </p:ext>
            </p:extLst>
          </p:nvPr>
        </p:nvGraphicFramePr>
        <p:xfrm>
          <a:off x="388938" y="4443413"/>
          <a:ext cx="8526462" cy="778675"/>
        </p:xfrm>
        <a:graphic>
          <a:graphicData uri="http://schemas.openxmlformats.org/drawingml/2006/table">
            <a:tbl>
              <a:tblPr/>
              <a:tblGrid>
                <a:gridCol w="19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822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출고예정일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49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0000000123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</a:rPr>
                        <a:t>출고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</a:rPr>
                        <a:t>WAVE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49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0000000124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</a:rPr>
                        <a:t>출고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</a:rPr>
                        <a:t>WAVE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399" name="직사각형 54"/>
          <p:cNvSpPr>
            <a:spLocks noChangeArrowheads="1"/>
          </p:cNvSpPr>
          <p:nvPr/>
        </p:nvSpPr>
        <p:spPr bwMode="auto">
          <a:xfrm>
            <a:off x="319088" y="4335463"/>
            <a:ext cx="9215437" cy="19732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00" name="TextBox 55"/>
          <p:cNvSpPr txBox="1">
            <a:spLocks noChangeArrowheads="1"/>
          </p:cNvSpPr>
          <p:nvPr/>
        </p:nvSpPr>
        <p:spPr bwMode="auto">
          <a:xfrm>
            <a:off x="390525" y="4211638"/>
            <a:ext cx="1250107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Wave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상세목록</a:t>
            </a:r>
          </a:p>
        </p:txBody>
      </p:sp>
      <p:sp>
        <p:nvSpPr>
          <p:cNvPr id="12401" name="직사각형 51"/>
          <p:cNvSpPr>
            <a:spLocks noChangeArrowheads="1"/>
          </p:cNvSpPr>
          <p:nvPr/>
        </p:nvSpPr>
        <p:spPr bwMode="auto">
          <a:xfrm>
            <a:off x="9026525" y="40767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grpSp>
        <p:nvGrpSpPr>
          <p:cNvPr id="12402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241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1241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403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404" name="직사각형 51"/>
          <p:cNvSpPr>
            <a:spLocks noChangeArrowheads="1"/>
          </p:cNvSpPr>
          <p:nvPr/>
        </p:nvSpPr>
        <p:spPr bwMode="auto">
          <a:xfrm>
            <a:off x="8477250" y="40767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2405" name="TextBox 65"/>
          <p:cNvSpPr txBox="1">
            <a:spLocks noChangeArrowheads="1"/>
          </p:cNvSpPr>
          <p:nvPr/>
        </p:nvSpPr>
        <p:spPr bwMode="auto">
          <a:xfrm>
            <a:off x="7138987" y="1309688"/>
            <a:ext cx="8699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12406" name="직사각형 66"/>
          <p:cNvSpPr>
            <a:spLocks noChangeArrowheads="1"/>
          </p:cNvSpPr>
          <p:nvPr/>
        </p:nvSpPr>
        <p:spPr bwMode="auto">
          <a:xfrm>
            <a:off x="7977336" y="1309688"/>
            <a:ext cx="1000125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출고승인</a:t>
            </a:r>
          </a:p>
        </p:txBody>
      </p:sp>
      <p:sp>
        <p:nvSpPr>
          <p:cNvPr id="12407" name="직사각형 33"/>
          <p:cNvSpPr>
            <a:spLocks noChangeArrowheads="1"/>
          </p:cNvSpPr>
          <p:nvPr/>
        </p:nvSpPr>
        <p:spPr bwMode="auto">
          <a:xfrm>
            <a:off x="8834586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408" name="직사각형 51"/>
          <p:cNvSpPr>
            <a:spLocks noChangeArrowheads="1"/>
          </p:cNvSpPr>
          <p:nvPr/>
        </p:nvSpPr>
        <p:spPr bwMode="auto">
          <a:xfrm>
            <a:off x="7926388" y="40719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33" name="직사각형 51"/>
          <p:cNvSpPr>
            <a:spLocks noChangeArrowheads="1"/>
          </p:cNvSpPr>
          <p:nvPr/>
        </p:nvSpPr>
        <p:spPr bwMode="auto">
          <a:xfrm>
            <a:off x="7371357" y="2276872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34" name="TextBox 65"/>
          <p:cNvSpPr txBox="1">
            <a:spLocks noChangeArrowheads="1"/>
          </p:cNvSpPr>
          <p:nvPr/>
        </p:nvSpPr>
        <p:spPr bwMode="auto">
          <a:xfrm>
            <a:off x="3582392" y="1671638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35" name="직사각형 66"/>
          <p:cNvSpPr>
            <a:spLocks noChangeArrowheads="1"/>
          </p:cNvSpPr>
          <p:nvPr/>
        </p:nvSpPr>
        <p:spPr bwMode="auto">
          <a:xfrm>
            <a:off x="4452342" y="1671638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48"/>
          <p:cNvSpPr>
            <a:spLocks noChangeArrowheads="1"/>
          </p:cNvSpPr>
          <p:nvPr/>
        </p:nvSpPr>
        <p:spPr bwMode="auto">
          <a:xfrm>
            <a:off x="5336580" y="1671638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66"/>
          <p:cNvSpPr>
            <a:spLocks noChangeArrowheads="1"/>
          </p:cNvSpPr>
          <p:nvPr/>
        </p:nvSpPr>
        <p:spPr bwMode="auto">
          <a:xfrm>
            <a:off x="5557242" y="1671638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65"/>
          <p:cNvSpPr txBox="1">
            <a:spLocks noChangeArrowheads="1"/>
          </p:cNvSpPr>
          <p:nvPr/>
        </p:nvSpPr>
        <p:spPr bwMode="auto">
          <a:xfrm>
            <a:off x="3537942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39" name="직사각형 66"/>
          <p:cNvSpPr>
            <a:spLocks noChangeArrowheads="1"/>
          </p:cNvSpPr>
          <p:nvPr/>
        </p:nvSpPr>
        <p:spPr bwMode="auto">
          <a:xfrm>
            <a:off x="4453929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66"/>
          <p:cNvSpPr>
            <a:spLocks noChangeArrowheads="1"/>
          </p:cNvSpPr>
          <p:nvPr/>
        </p:nvSpPr>
        <p:spPr bwMode="auto">
          <a:xfrm>
            <a:off x="5681067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8"/>
          <p:cNvSpPr>
            <a:spLocks noChangeArrowheads="1"/>
          </p:cNvSpPr>
          <p:nvPr/>
        </p:nvSpPr>
        <p:spPr bwMode="auto">
          <a:xfrm>
            <a:off x="5320704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8"/>
          <p:cNvSpPr>
            <a:spLocks noChangeArrowheads="1"/>
          </p:cNvSpPr>
          <p:nvPr/>
        </p:nvSpPr>
        <p:spPr bwMode="auto">
          <a:xfrm>
            <a:off x="6538317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65"/>
          <p:cNvSpPr txBox="1">
            <a:spLocks noChangeArrowheads="1"/>
          </p:cNvSpPr>
          <p:nvPr/>
        </p:nvSpPr>
        <p:spPr bwMode="auto">
          <a:xfrm>
            <a:off x="5452467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65"/>
          <p:cNvSpPr txBox="1">
            <a:spLocks noChangeArrowheads="1"/>
          </p:cNvSpPr>
          <p:nvPr/>
        </p:nvSpPr>
        <p:spPr bwMode="auto">
          <a:xfrm>
            <a:off x="333375" y="1628800"/>
            <a:ext cx="11191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웨이브기준번호</a:t>
            </a:r>
          </a:p>
        </p:txBody>
      </p:sp>
      <p:sp>
        <p:nvSpPr>
          <p:cNvPr id="45" name="직사각형 66"/>
          <p:cNvSpPr>
            <a:spLocks noChangeArrowheads="1"/>
          </p:cNvSpPr>
          <p:nvPr/>
        </p:nvSpPr>
        <p:spPr bwMode="auto">
          <a:xfrm>
            <a:off x="1424608" y="16367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000001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8"/>
          <p:cNvSpPr>
            <a:spLocks noChangeArrowheads="1"/>
          </p:cNvSpPr>
          <p:nvPr/>
        </p:nvSpPr>
        <p:spPr bwMode="auto">
          <a:xfrm>
            <a:off x="2297560" y="1630983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66"/>
          <p:cNvSpPr>
            <a:spLocks noChangeArrowheads="1"/>
          </p:cNvSpPr>
          <p:nvPr/>
        </p:nvSpPr>
        <p:spPr bwMode="auto">
          <a:xfrm>
            <a:off x="2518222" y="1630983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WAVE-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생성팝업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3" name="직사각형 54"/>
          <p:cNvSpPr>
            <a:spLocks noChangeArrowheads="1"/>
          </p:cNvSpPr>
          <p:nvPr/>
        </p:nvSpPr>
        <p:spPr bwMode="auto">
          <a:xfrm>
            <a:off x="1712640" y="2532063"/>
            <a:ext cx="6149256" cy="14493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6" name="직사각형 51"/>
          <p:cNvSpPr>
            <a:spLocks noChangeArrowheads="1"/>
          </p:cNvSpPr>
          <p:nvPr/>
        </p:nvSpPr>
        <p:spPr bwMode="auto">
          <a:xfrm>
            <a:off x="6825208" y="22717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</p:txBody>
      </p:sp>
      <p:sp>
        <p:nvSpPr>
          <p:cNvPr id="1233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233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12402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241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1241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403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3" name="직사각형 51"/>
          <p:cNvSpPr>
            <a:spLocks noChangeArrowheads="1"/>
          </p:cNvSpPr>
          <p:nvPr/>
        </p:nvSpPr>
        <p:spPr bwMode="auto">
          <a:xfrm>
            <a:off x="7371357" y="2276872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sp>
        <p:nvSpPr>
          <p:cNvPr id="34" name="TextBox 65"/>
          <p:cNvSpPr txBox="1">
            <a:spLocks noChangeArrowheads="1"/>
          </p:cNvSpPr>
          <p:nvPr/>
        </p:nvSpPr>
        <p:spPr bwMode="auto">
          <a:xfrm>
            <a:off x="2960688" y="3130564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WAVE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</a:t>
            </a:r>
          </a:p>
        </p:txBody>
      </p:sp>
      <p:sp>
        <p:nvSpPr>
          <p:cNvPr id="35" name="직사각형 66"/>
          <p:cNvSpPr>
            <a:spLocks noChangeArrowheads="1"/>
          </p:cNvSpPr>
          <p:nvPr/>
        </p:nvSpPr>
        <p:spPr bwMode="auto">
          <a:xfrm>
            <a:off x="3865563" y="3130564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000001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48"/>
          <p:cNvSpPr>
            <a:spLocks noChangeArrowheads="1"/>
          </p:cNvSpPr>
          <p:nvPr/>
        </p:nvSpPr>
        <p:spPr bwMode="auto">
          <a:xfrm>
            <a:off x="4913313" y="3130564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66"/>
          <p:cNvSpPr>
            <a:spLocks noChangeArrowheads="1"/>
          </p:cNvSpPr>
          <p:nvPr/>
        </p:nvSpPr>
        <p:spPr bwMode="auto">
          <a:xfrm>
            <a:off x="5110163" y="3130564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lvl="0" algn="ctr" eaLnBrk="1" fontAlgn="ctr" latinLnBrk="1" hangingPunct="1"/>
            <a:r>
              <a:rPr kumimoji="0"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r>
              <a:rPr kumimoji="0"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kumimoji="0"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권역</a:t>
            </a:r>
          </a:p>
        </p:txBody>
      </p:sp>
    </p:spTree>
    <p:extLst>
      <p:ext uri="{BB962C8B-B14F-4D97-AF65-F5344CB8AC3E}">
        <p14:creationId xmlns:p14="http://schemas.microsoft.com/office/powerpoint/2010/main" val="1824045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출고지시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/>
        </p:nvGraphicFramePr>
        <p:xfrm>
          <a:off x="379413" y="2476500"/>
          <a:ext cx="4286250" cy="563564"/>
        </p:xfrm>
        <a:graphic>
          <a:graphicData uri="http://schemas.openxmlformats.org/drawingml/2006/table">
            <a:tbl>
              <a:tblPr/>
              <a:tblGrid>
                <a:gridCol w="45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웨이브설명</a:t>
                      </a: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고객사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+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출고예정일</a:t>
                      </a: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</a:rPr>
                        <a:t>출고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</a:rPr>
                        <a:t>WAVE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405" name="직사각형 54"/>
          <p:cNvSpPr>
            <a:spLocks noChangeArrowheads="1"/>
          </p:cNvSpPr>
          <p:nvPr/>
        </p:nvSpPr>
        <p:spPr bwMode="auto">
          <a:xfrm>
            <a:off x="309563" y="2368550"/>
            <a:ext cx="4572000" cy="10477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06" name="TextBox 55"/>
          <p:cNvSpPr txBox="1">
            <a:spLocks noChangeArrowheads="1"/>
          </p:cNvSpPr>
          <p:nvPr/>
        </p:nvSpPr>
        <p:spPr bwMode="auto">
          <a:xfrm>
            <a:off x="381000" y="2244725"/>
            <a:ext cx="982663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Wave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07" name="직사각형 51"/>
          <p:cNvSpPr>
            <a:spLocks noChangeArrowheads="1"/>
          </p:cNvSpPr>
          <p:nvPr/>
        </p:nvSpPr>
        <p:spPr bwMode="auto">
          <a:xfrm>
            <a:off x="7769225" y="2060575"/>
            <a:ext cx="62865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지시취소</a:t>
            </a:r>
          </a:p>
        </p:txBody>
      </p:sp>
      <p:sp>
        <p:nvSpPr>
          <p:cNvPr id="16408" name="직사각형 51"/>
          <p:cNvSpPr>
            <a:spLocks noChangeArrowheads="1"/>
          </p:cNvSpPr>
          <p:nvPr/>
        </p:nvSpPr>
        <p:spPr bwMode="auto">
          <a:xfrm>
            <a:off x="6681788" y="20605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640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641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16411" name="직사각형 51"/>
          <p:cNvSpPr>
            <a:spLocks noChangeArrowheads="1"/>
          </p:cNvSpPr>
          <p:nvPr/>
        </p:nvSpPr>
        <p:spPr bwMode="auto">
          <a:xfrm>
            <a:off x="7226300" y="206057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출고지시</a:t>
            </a:r>
          </a:p>
        </p:txBody>
      </p:sp>
      <p:sp>
        <p:nvSpPr>
          <p:cNvPr id="16412" name="직사각형 51"/>
          <p:cNvSpPr>
            <a:spLocks noChangeArrowheads="1"/>
          </p:cNvSpPr>
          <p:nvPr/>
        </p:nvSpPr>
        <p:spPr bwMode="auto">
          <a:xfrm>
            <a:off x="9026525" y="206057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16413" name="직사각형 54"/>
          <p:cNvSpPr>
            <a:spLocks noChangeArrowheads="1"/>
          </p:cNvSpPr>
          <p:nvPr/>
        </p:nvSpPr>
        <p:spPr bwMode="auto">
          <a:xfrm>
            <a:off x="303213" y="3613150"/>
            <a:ext cx="4578350" cy="262413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14" name="TextBox 55"/>
          <p:cNvSpPr txBox="1">
            <a:spLocks noChangeArrowheads="1"/>
          </p:cNvSpPr>
          <p:nvPr/>
        </p:nvSpPr>
        <p:spPr bwMode="auto">
          <a:xfrm>
            <a:off x="344488" y="3497263"/>
            <a:ext cx="1019175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 상세목록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415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661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1661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416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417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11191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웨이브기준번호</a:t>
            </a:r>
          </a:p>
        </p:txBody>
      </p:sp>
      <p:sp>
        <p:nvSpPr>
          <p:cNvPr id="16418" name="직사각형 66"/>
          <p:cNvSpPr>
            <a:spLocks noChangeArrowheads="1"/>
          </p:cNvSpPr>
          <p:nvPr/>
        </p:nvSpPr>
        <p:spPr bwMode="auto">
          <a:xfrm>
            <a:off x="1635125" y="17065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000001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23" name="TextBox 65"/>
          <p:cNvSpPr txBox="1">
            <a:spLocks noChangeArrowheads="1"/>
          </p:cNvSpPr>
          <p:nvPr/>
        </p:nvSpPr>
        <p:spPr bwMode="auto">
          <a:xfrm>
            <a:off x="344488" y="1308100"/>
            <a:ext cx="10191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</a:p>
        </p:txBody>
      </p:sp>
      <p:sp>
        <p:nvSpPr>
          <p:cNvPr id="16424" name="직사각형 66"/>
          <p:cNvSpPr>
            <a:spLocks noChangeArrowheads="1"/>
          </p:cNvSpPr>
          <p:nvPr/>
        </p:nvSpPr>
        <p:spPr bwMode="auto">
          <a:xfrm>
            <a:off x="164941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25" name="TextBox 65"/>
          <p:cNvSpPr txBox="1">
            <a:spLocks noChangeArrowheads="1"/>
          </p:cNvSpPr>
          <p:nvPr/>
        </p:nvSpPr>
        <p:spPr bwMode="auto">
          <a:xfrm>
            <a:off x="6897216" y="1309688"/>
            <a:ext cx="8699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16426" name="직사각형 66"/>
          <p:cNvSpPr>
            <a:spLocks noChangeArrowheads="1"/>
          </p:cNvSpPr>
          <p:nvPr/>
        </p:nvSpPr>
        <p:spPr bwMode="auto">
          <a:xfrm>
            <a:off x="7839720" y="1309688"/>
            <a:ext cx="1000125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출고배차</a:t>
            </a:r>
          </a:p>
        </p:txBody>
      </p:sp>
      <p:sp>
        <p:nvSpPr>
          <p:cNvPr id="16427" name="직사각형 54"/>
          <p:cNvSpPr>
            <a:spLocks noChangeArrowheads="1"/>
          </p:cNvSpPr>
          <p:nvPr/>
        </p:nvSpPr>
        <p:spPr bwMode="auto">
          <a:xfrm>
            <a:off x="5024438" y="2379663"/>
            <a:ext cx="4554537" cy="10223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28" name="TextBox 55"/>
          <p:cNvSpPr txBox="1">
            <a:spLocks noChangeArrowheads="1"/>
          </p:cNvSpPr>
          <p:nvPr/>
        </p:nvSpPr>
        <p:spPr bwMode="auto">
          <a:xfrm>
            <a:off x="5095875" y="2244725"/>
            <a:ext cx="12334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Wave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상세목록</a:t>
            </a:r>
          </a:p>
        </p:txBody>
      </p:sp>
      <p:graphicFrame>
        <p:nvGraphicFramePr>
          <p:cNvPr id="36" name="Group 139"/>
          <p:cNvGraphicFramePr>
            <a:graphicFrameLocks noGrp="1"/>
          </p:cNvGraphicFramePr>
          <p:nvPr/>
        </p:nvGraphicFramePr>
        <p:xfrm>
          <a:off x="5095875" y="2489200"/>
          <a:ext cx="4421191" cy="846138"/>
        </p:xfrm>
        <a:graphic>
          <a:graphicData uri="http://schemas.openxmlformats.org/drawingml/2006/table">
            <a:tbl>
              <a:tblPr/>
              <a:tblGrid>
                <a:gridCol w="217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4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95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95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8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0000000123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</a:rPr>
                        <a:t>출고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</a:rPr>
                        <a:t>WAVE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0000000124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</a:rPr>
                        <a:t>출고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</a:rPr>
                        <a:t>WAVE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469" name="직사각형 33"/>
          <p:cNvSpPr>
            <a:spLocks noChangeArrowheads="1"/>
          </p:cNvSpPr>
          <p:nvPr/>
        </p:nvSpPr>
        <p:spPr bwMode="auto">
          <a:xfrm>
            <a:off x="8698557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39" name="Group 139"/>
          <p:cNvGraphicFramePr>
            <a:graphicFrameLocks noGrp="1"/>
          </p:cNvGraphicFramePr>
          <p:nvPr/>
        </p:nvGraphicFramePr>
        <p:xfrm>
          <a:off x="400050" y="3706813"/>
          <a:ext cx="4408487" cy="706438"/>
        </p:xfrm>
        <a:graphic>
          <a:graphicData uri="http://schemas.openxmlformats.org/drawingml/2006/table">
            <a:tbl>
              <a:tblPr/>
              <a:tblGrid>
                <a:gridCol w="23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7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7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73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4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49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019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출고예정수량</a:t>
                      </a: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38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VTX(100)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20*3*4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EA/BOX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388938" y="4497388"/>
          <a:ext cx="1785936" cy="706438"/>
        </p:xfrm>
        <a:graphic>
          <a:graphicData uri="http://schemas.openxmlformats.org/drawingml/2006/table">
            <a:tbl>
              <a:tblPr/>
              <a:tblGrid>
                <a:gridCol w="446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19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출고지시수량</a:t>
                      </a: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38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DOCK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524" name="직사각형 54"/>
          <p:cNvSpPr>
            <a:spLocks noChangeArrowheads="1"/>
          </p:cNvSpPr>
          <p:nvPr/>
        </p:nvSpPr>
        <p:spPr bwMode="auto">
          <a:xfrm>
            <a:off x="5024438" y="3613150"/>
            <a:ext cx="4578350" cy="262413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25" name="TextBox 55"/>
          <p:cNvSpPr txBox="1">
            <a:spLocks noChangeArrowheads="1"/>
          </p:cNvSpPr>
          <p:nvPr/>
        </p:nvSpPr>
        <p:spPr bwMode="auto">
          <a:xfrm>
            <a:off x="5065713" y="3497263"/>
            <a:ext cx="928687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출고지시 목록</a:t>
            </a:r>
          </a:p>
        </p:txBody>
      </p:sp>
      <p:graphicFrame>
        <p:nvGraphicFramePr>
          <p:cNvPr id="3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333626"/>
              </p:ext>
            </p:extLst>
          </p:nvPr>
        </p:nvGraphicFramePr>
        <p:xfrm>
          <a:off x="5121274" y="3729038"/>
          <a:ext cx="1919957" cy="773927"/>
        </p:xfrm>
        <a:graphic>
          <a:graphicData uri="http://schemas.openxmlformats.org/drawingml/2006/table">
            <a:tbl>
              <a:tblPr/>
              <a:tblGrid>
                <a:gridCol w="234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0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피킹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피킹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8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805133"/>
              </p:ext>
            </p:extLst>
          </p:nvPr>
        </p:nvGraphicFramePr>
        <p:xfrm>
          <a:off x="5157164" y="4653136"/>
          <a:ext cx="3134348" cy="773113"/>
        </p:xfrm>
        <a:graphic>
          <a:graphicData uri="http://schemas.openxmlformats.org/drawingml/2006/table">
            <a:tbl>
              <a:tblPr/>
              <a:tblGrid>
                <a:gridCol w="335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6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58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969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출고지시수량</a:t>
                      </a: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7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DOCK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" name="TextBox 65"/>
          <p:cNvSpPr txBox="1">
            <a:spLocks noChangeArrowheads="1"/>
          </p:cNvSpPr>
          <p:nvPr/>
        </p:nvSpPr>
        <p:spPr bwMode="auto">
          <a:xfrm>
            <a:off x="6931025" y="1663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>
              <a:defRPr/>
            </a:pPr>
            <a:r>
              <a:rPr lang="ko-KR" altLang="en-US" sz="900" dirty="0">
                <a:latin typeface="+mn-ea"/>
                <a:ea typeface="+mn-ea"/>
              </a:rPr>
              <a:t>출력종류</a:t>
            </a:r>
          </a:p>
        </p:txBody>
      </p:sp>
      <p:sp>
        <p:nvSpPr>
          <p:cNvPr id="41" name="직사각형 66"/>
          <p:cNvSpPr>
            <a:spLocks noChangeArrowheads="1"/>
          </p:cNvSpPr>
          <p:nvPr/>
        </p:nvSpPr>
        <p:spPr bwMode="auto">
          <a:xfrm>
            <a:off x="7842250" y="1663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>
              <a:defRPr/>
            </a:pPr>
            <a:r>
              <a:rPr lang="ko-KR" altLang="en-US" dirty="0" err="1">
                <a:latin typeface="+mn-ea"/>
                <a:ea typeface="+mn-ea"/>
              </a:rPr>
              <a:t>피킹지시서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6580" name="직사각형 33"/>
          <p:cNvSpPr>
            <a:spLocks noChangeArrowheads="1"/>
          </p:cNvSpPr>
          <p:nvPr/>
        </p:nvSpPr>
        <p:spPr bwMode="auto">
          <a:xfrm>
            <a:off x="8699500" y="16605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581" name="직사각형 51"/>
          <p:cNvSpPr>
            <a:spLocks noChangeArrowheads="1"/>
          </p:cNvSpPr>
          <p:nvPr/>
        </p:nvSpPr>
        <p:spPr bwMode="auto">
          <a:xfrm>
            <a:off x="8475663" y="20605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인쇄</a:t>
            </a: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807041"/>
              </p:ext>
            </p:extLst>
          </p:nvPr>
        </p:nvGraphicFramePr>
        <p:xfrm>
          <a:off x="381000" y="5373688"/>
          <a:ext cx="4278310" cy="563928"/>
        </p:xfrm>
        <a:graphic>
          <a:graphicData uri="http://schemas.openxmlformats.org/drawingml/2006/table">
            <a:tbl>
              <a:tblPr/>
              <a:tblGrid>
                <a:gridCol w="427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7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7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8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78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78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78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</a:rPr>
                        <a:t>출고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</a:rPr>
                        <a:t>WAVE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" name="TextBox 65"/>
          <p:cNvSpPr txBox="1">
            <a:spLocks noChangeArrowheads="1"/>
          </p:cNvSpPr>
          <p:nvPr/>
        </p:nvSpPr>
        <p:spPr bwMode="auto">
          <a:xfrm>
            <a:off x="3779366" y="1704392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44" name="직사각형 66"/>
          <p:cNvSpPr>
            <a:spLocks noChangeArrowheads="1"/>
          </p:cNvSpPr>
          <p:nvPr/>
        </p:nvSpPr>
        <p:spPr bwMode="auto">
          <a:xfrm>
            <a:off x="4649316" y="1704392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8"/>
          <p:cNvSpPr>
            <a:spLocks noChangeArrowheads="1"/>
          </p:cNvSpPr>
          <p:nvPr/>
        </p:nvSpPr>
        <p:spPr bwMode="auto">
          <a:xfrm>
            <a:off x="5533554" y="170439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66"/>
          <p:cNvSpPr>
            <a:spLocks noChangeArrowheads="1"/>
          </p:cNvSpPr>
          <p:nvPr/>
        </p:nvSpPr>
        <p:spPr bwMode="auto">
          <a:xfrm>
            <a:off x="5754216" y="1704392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65"/>
          <p:cNvSpPr txBox="1">
            <a:spLocks noChangeArrowheads="1"/>
          </p:cNvSpPr>
          <p:nvPr/>
        </p:nvSpPr>
        <p:spPr bwMode="auto">
          <a:xfrm>
            <a:off x="2151063" y="6575003"/>
            <a:ext cx="47799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>
              <a:defRPr/>
            </a:pPr>
            <a:r>
              <a:rPr lang="ko-KR" altLang="en-US" sz="900" dirty="0">
                <a:latin typeface="+mn-ea"/>
                <a:ea typeface="+mn-ea"/>
              </a:rPr>
              <a:t>출력종류 </a:t>
            </a:r>
            <a:r>
              <a:rPr lang="en-US" altLang="ko-KR" sz="900" dirty="0">
                <a:latin typeface="+mn-ea"/>
                <a:ea typeface="+mn-ea"/>
              </a:rPr>
              <a:t>: </a:t>
            </a:r>
            <a:r>
              <a:rPr lang="ko-KR" altLang="en-US" sz="900" dirty="0" err="1">
                <a:latin typeface="+mn-ea"/>
                <a:ea typeface="+mn-ea"/>
              </a:rPr>
              <a:t>피킹지시서</a:t>
            </a:r>
            <a:r>
              <a:rPr lang="en-US" altLang="ko-KR" sz="900" dirty="0">
                <a:latin typeface="+mn-ea"/>
                <a:ea typeface="+mn-ea"/>
              </a:rPr>
              <a:t>, Total</a:t>
            </a:r>
            <a:r>
              <a:rPr lang="ko-KR" altLang="en-US" sz="900" dirty="0" err="1">
                <a:latin typeface="+mn-ea"/>
                <a:ea typeface="+mn-ea"/>
              </a:rPr>
              <a:t>피킹지시서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분배지시서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출고라벨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상차지시서</a:t>
            </a:r>
          </a:p>
        </p:txBody>
      </p:sp>
      <p:sp>
        <p:nvSpPr>
          <p:cNvPr id="48" name="TextBox 65"/>
          <p:cNvSpPr txBox="1">
            <a:spLocks noChangeArrowheads="1"/>
          </p:cNvSpPr>
          <p:nvPr/>
        </p:nvSpPr>
        <p:spPr bwMode="auto">
          <a:xfrm>
            <a:off x="3753966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49" name="직사각형 66"/>
          <p:cNvSpPr>
            <a:spLocks noChangeArrowheads="1"/>
          </p:cNvSpPr>
          <p:nvPr/>
        </p:nvSpPr>
        <p:spPr bwMode="auto">
          <a:xfrm>
            <a:off x="466995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66"/>
          <p:cNvSpPr>
            <a:spLocks noChangeArrowheads="1"/>
          </p:cNvSpPr>
          <p:nvPr/>
        </p:nvSpPr>
        <p:spPr bwMode="auto">
          <a:xfrm>
            <a:off x="5897091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48"/>
          <p:cNvSpPr>
            <a:spLocks noChangeArrowheads="1"/>
          </p:cNvSpPr>
          <p:nvPr/>
        </p:nvSpPr>
        <p:spPr bwMode="auto">
          <a:xfrm>
            <a:off x="553672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48"/>
          <p:cNvSpPr>
            <a:spLocks noChangeArrowheads="1"/>
          </p:cNvSpPr>
          <p:nvPr/>
        </p:nvSpPr>
        <p:spPr bwMode="auto">
          <a:xfrm>
            <a:off x="6754341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65"/>
          <p:cNvSpPr txBox="1">
            <a:spLocks noChangeArrowheads="1"/>
          </p:cNvSpPr>
          <p:nvPr/>
        </p:nvSpPr>
        <p:spPr bwMode="auto">
          <a:xfrm>
            <a:off x="5668491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48"/>
          <p:cNvSpPr>
            <a:spLocks noChangeArrowheads="1"/>
          </p:cNvSpPr>
          <p:nvPr/>
        </p:nvSpPr>
        <p:spPr bwMode="auto">
          <a:xfrm>
            <a:off x="2508077" y="1700808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66"/>
          <p:cNvSpPr>
            <a:spLocks noChangeArrowheads="1"/>
          </p:cNvSpPr>
          <p:nvPr/>
        </p:nvSpPr>
        <p:spPr bwMode="auto">
          <a:xfrm>
            <a:off x="2728739" y="1700808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출고피킹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175299"/>
              </p:ext>
            </p:extLst>
          </p:nvPr>
        </p:nvGraphicFramePr>
        <p:xfrm>
          <a:off x="379413" y="3506788"/>
          <a:ext cx="9037639" cy="773159"/>
        </p:xfrm>
        <a:graphic>
          <a:graphicData uri="http://schemas.openxmlformats.org/drawingml/2006/table">
            <a:tbl>
              <a:tblPr/>
              <a:tblGrid>
                <a:gridCol w="234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59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9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71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04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38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9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462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1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954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954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954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954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4763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144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144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7144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333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58438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64179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</a:tblGrid>
              <a:tr h="20941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피킹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피킹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출고지시수량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피킹수량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미출고사유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파란곤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DOCK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출고지시</a:t>
                      </a:r>
                    </a:p>
                  </a:txBody>
                  <a:tcPr marL="7644" marR="7644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510" name="직사각형 54"/>
          <p:cNvSpPr>
            <a:spLocks noChangeArrowheads="1"/>
          </p:cNvSpPr>
          <p:nvPr/>
        </p:nvSpPr>
        <p:spPr bwMode="auto">
          <a:xfrm>
            <a:off x="309563" y="3398838"/>
            <a:ext cx="9215437" cy="29098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11" name="TextBox 55"/>
          <p:cNvSpPr txBox="1">
            <a:spLocks noChangeArrowheads="1"/>
          </p:cNvSpPr>
          <p:nvPr/>
        </p:nvSpPr>
        <p:spPr bwMode="auto">
          <a:xfrm>
            <a:off x="381000" y="327501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출고지시 목록</a:t>
            </a:r>
          </a:p>
        </p:txBody>
      </p:sp>
      <p:sp>
        <p:nvSpPr>
          <p:cNvPr id="18512" name="직사각형 51"/>
          <p:cNvSpPr>
            <a:spLocks noChangeArrowheads="1"/>
          </p:cNvSpPr>
          <p:nvPr/>
        </p:nvSpPr>
        <p:spPr bwMode="auto">
          <a:xfrm>
            <a:off x="7329488" y="31353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851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851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18515" name="직사각형 51"/>
          <p:cNvSpPr>
            <a:spLocks noChangeArrowheads="1"/>
          </p:cNvSpPr>
          <p:nvPr/>
        </p:nvSpPr>
        <p:spPr bwMode="auto">
          <a:xfrm>
            <a:off x="7897813" y="31353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18516" name="직사각형 51"/>
          <p:cNvSpPr>
            <a:spLocks noChangeArrowheads="1"/>
          </p:cNvSpPr>
          <p:nvPr/>
        </p:nvSpPr>
        <p:spPr bwMode="auto">
          <a:xfrm>
            <a:off x="9026525" y="31353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18517" name="TextBox 65"/>
          <p:cNvSpPr txBox="1">
            <a:spLocks noChangeArrowheads="1"/>
          </p:cNvSpPr>
          <p:nvPr/>
        </p:nvSpPr>
        <p:spPr bwMode="auto">
          <a:xfrm>
            <a:off x="171450" y="2395538"/>
            <a:ext cx="8191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SEQNO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18" name="직사각형 66"/>
          <p:cNvSpPr>
            <a:spLocks noChangeArrowheads="1"/>
          </p:cNvSpPr>
          <p:nvPr/>
        </p:nvSpPr>
        <p:spPr bwMode="auto">
          <a:xfrm>
            <a:off x="1057275" y="24034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19" name="TextBox 65"/>
          <p:cNvSpPr txBox="1">
            <a:spLocks noChangeArrowheads="1"/>
          </p:cNvSpPr>
          <p:nvPr/>
        </p:nvSpPr>
        <p:spPr bwMode="auto">
          <a:xfrm>
            <a:off x="3311525" y="2382838"/>
            <a:ext cx="6445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20" name="직사각형 66"/>
          <p:cNvSpPr>
            <a:spLocks noChangeArrowheads="1"/>
          </p:cNvSpPr>
          <p:nvPr/>
        </p:nvSpPr>
        <p:spPr bwMode="auto">
          <a:xfrm>
            <a:off x="4210050" y="23828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521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861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1861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522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62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459382"/>
              </p:ext>
            </p:extLst>
          </p:nvPr>
        </p:nvGraphicFramePr>
        <p:xfrm>
          <a:off x="381000" y="4481513"/>
          <a:ext cx="7879744" cy="598488"/>
        </p:xfrm>
        <a:graphic>
          <a:graphicData uri="http://schemas.openxmlformats.org/drawingml/2006/table">
            <a:tbl>
              <a:tblPr/>
              <a:tblGrid>
                <a:gridCol w="437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71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71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71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5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5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9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7493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44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058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0220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992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주문일</a:t>
                      </a: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출고일자</a:t>
                      </a: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78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18579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18580" name="TextBox 65"/>
          <p:cNvSpPr txBox="1">
            <a:spLocks noChangeArrowheads="1"/>
          </p:cNvSpPr>
          <p:nvPr/>
        </p:nvSpPr>
        <p:spPr bwMode="auto">
          <a:xfrm>
            <a:off x="326548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18581" name="직사각형 66"/>
          <p:cNvSpPr>
            <a:spLocks noChangeArrowheads="1"/>
          </p:cNvSpPr>
          <p:nvPr/>
        </p:nvSpPr>
        <p:spPr bwMode="auto">
          <a:xfrm>
            <a:off x="419100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82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18583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84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85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86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87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88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18589" name="직사각형 66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출고지시</a:t>
            </a:r>
          </a:p>
        </p:txBody>
      </p:sp>
      <p:sp>
        <p:nvSpPr>
          <p:cNvPr id="18590" name="TextBox 65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18591" name="직사각형 66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92" name="직사각형 48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18594" name="TextBox 65"/>
          <p:cNvSpPr txBox="1">
            <a:spLocks noChangeArrowheads="1"/>
          </p:cNvSpPr>
          <p:nvPr/>
        </p:nvSpPr>
        <p:spPr bwMode="auto">
          <a:xfrm>
            <a:off x="645953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18595" name="직사각형 66"/>
          <p:cNvSpPr>
            <a:spLocks noChangeArrowheads="1"/>
          </p:cNvSpPr>
          <p:nvPr/>
        </p:nvSpPr>
        <p:spPr bwMode="auto">
          <a:xfrm>
            <a:off x="7364413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96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18597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98" name="직사각형 48"/>
          <p:cNvSpPr>
            <a:spLocks noChangeArrowheads="1"/>
          </p:cNvSpPr>
          <p:nvPr/>
        </p:nvSpPr>
        <p:spPr bwMode="auto">
          <a:xfrm>
            <a:off x="8412163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직사각형 66"/>
          <p:cNvSpPr>
            <a:spLocks noChangeArrowheads="1"/>
          </p:cNvSpPr>
          <p:nvPr/>
        </p:nvSpPr>
        <p:spPr bwMode="auto">
          <a:xfrm>
            <a:off x="8609013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18600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601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602" name="TextBox 65"/>
          <p:cNvSpPr txBox="1">
            <a:spLocks noChangeArrowheads="1"/>
          </p:cNvSpPr>
          <p:nvPr/>
        </p:nvSpPr>
        <p:spPr bwMode="auto">
          <a:xfrm>
            <a:off x="3265488" y="2044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18603" name="직사각형 66"/>
          <p:cNvSpPr>
            <a:spLocks noChangeArrowheads="1"/>
          </p:cNvSpPr>
          <p:nvPr/>
        </p:nvSpPr>
        <p:spPr bwMode="auto">
          <a:xfrm>
            <a:off x="4191000" y="2044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604" name="TextBox 65"/>
          <p:cNvSpPr txBox="1">
            <a:spLocks noChangeArrowheads="1"/>
          </p:cNvSpPr>
          <p:nvPr/>
        </p:nvSpPr>
        <p:spPr bwMode="auto">
          <a:xfrm>
            <a:off x="6477000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18605" name="직사각형 66"/>
          <p:cNvSpPr>
            <a:spLocks noChangeArrowheads="1"/>
          </p:cNvSpPr>
          <p:nvPr/>
        </p:nvSpPr>
        <p:spPr bwMode="auto">
          <a:xfrm>
            <a:off x="7381875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606" name="직사각형 48"/>
          <p:cNvSpPr>
            <a:spLocks noChangeArrowheads="1"/>
          </p:cNvSpPr>
          <p:nvPr/>
        </p:nvSpPr>
        <p:spPr bwMode="auto">
          <a:xfrm>
            <a:off x="8429625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8" name="직사각형 66"/>
          <p:cNvSpPr>
            <a:spLocks noChangeArrowheads="1"/>
          </p:cNvSpPr>
          <p:nvPr/>
        </p:nvSpPr>
        <p:spPr bwMode="auto">
          <a:xfrm>
            <a:off x="8626475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18608" name="TextBox 65"/>
          <p:cNvSpPr txBox="1">
            <a:spLocks noChangeArrowheads="1"/>
          </p:cNvSpPr>
          <p:nvPr/>
        </p:nvSpPr>
        <p:spPr bwMode="auto">
          <a:xfrm>
            <a:off x="176213" y="2749550"/>
            <a:ext cx="8429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</a:p>
        </p:txBody>
      </p:sp>
      <p:sp>
        <p:nvSpPr>
          <p:cNvPr id="18609" name="직사각형 66"/>
          <p:cNvSpPr>
            <a:spLocks noChangeArrowheads="1"/>
          </p:cNvSpPr>
          <p:nvPr/>
        </p:nvSpPr>
        <p:spPr bwMode="auto">
          <a:xfrm>
            <a:off x="1076325" y="27495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610" name="직사각형 51"/>
          <p:cNvSpPr>
            <a:spLocks noChangeArrowheads="1"/>
          </p:cNvSpPr>
          <p:nvPr/>
        </p:nvSpPr>
        <p:spPr bwMode="auto">
          <a:xfrm>
            <a:off x="8466138" y="31353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</a:p>
        </p:txBody>
      </p:sp>
      <p:sp>
        <p:nvSpPr>
          <p:cNvPr id="18611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492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18612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895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출하상차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483" name="직사각형 51"/>
          <p:cNvSpPr>
            <a:spLocks noChangeArrowheads="1"/>
          </p:cNvSpPr>
          <p:nvPr/>
        </p:nvSpPr>
        <p:spPr bwMode="auto">
          <a:xfrm>
            <a:off x="6824663" y="32305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0484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0485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20486" name="직사각형 51"/>
          <p:cNvSpPr>
            <a:spLocks noChangeArrowheads="1"/>
          </p:cNvSpPr>
          <p:nvPr/>
        </p:nvSpPr>
        <p:spPr bwMode="auto">
          <a:xfrm>
            <a:off x="7375525" y="32305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20487" name="직사각형 51"/>
          <p:cNvSpPr>
            <a:spLocks noChangeArrowheads="1"/>
          </p:cNvSpPr>
          <p:nvPr/>
        </p:nvSpPr>
        <p:spPr bwMode="auto">
          <a:xfrm>
            <a:off x="9026525" y="32305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aphicFrame>
        <p:nvGraphicFramePr>
          <p:cNvPr id="33" name="Group 139"/>
          <p:cNvGraphicFramePr>
            <a:graphicFrameLocks noGrp="1"/>
          </p:cNvGraphicFramePr>
          <p:nvPr/>
        </p:nvGraphicFramePr>
        <p:xfrm>
          <a:off x="379413" y="3581400"/>
          <a:ext cx="9110659" cy="563906"/>
        </p:xfrm>
        <a:graphic>
          <a:graphicData uri="http://schemas.openxmlformats.org/drawingml/2006/table">
            <a:tbl>
              <a:tblPr/>
              <a:tblGrid>
                <a:gridCol w="227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59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59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9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1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39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35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57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86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137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612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663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출고일자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1" hangingPunct="1"/>
                      <a:r>
                        <a:rPr kumimoji="0" lang="en-US" altLang="ko-KR" sz="900" b="1" dirty="0">
                          <a:latin typeface="맑은 고딕" panose="020B0503020000020004" pitchFamily="50" charset="-127"/>
                          <a:ea typeface="+mn-ea"/>
                        </a:rPr>
                        <a:t>1000001001</a:t>
                      </a:r>
                      <a:endParaRPr kumimoji="0" lang="ko-KR" altLang="en-US" sz="900" b="1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출고피킹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36" name="직사각형 54"/>
          <p:cNvSpPr>
            <a:spLocks noChangeArrowheads="1"/>
          </p:cNvSpPr>
          <p:nvPr/>
        </p:nvSpPr>
        <p:spPr bwMode="auto">
          <a:xfrm>
            <a:off x="309563" y="3473450"/>
            <a:ext cx="9215437" cy="7477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37" name="TextBox 55"/>
          <p:cNvSpPr txBox="1">
            <a:spLocks noChangeArrowheads="1"/>
          </p:cNvSpPr>
          <p:nvPr/>
        </p:nvSpPr>
        <p:spPr bwMode="auto">
          <a:xfrm>
            <a:off x="381000" y="3346450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출하상차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목록</a:t>
            </a:r>
          </a:p>
        </p:txBody>
      </p:sp>
      <p:sp>
        <p:nvSpPr>
          <p:cNvPr id="20538" name="직사각형 54"/>
          <p:cNvSpPr>
            <a:spLocks noChangeArrowheads="1"/>
          </p:cNvSpPr>
          <p:nvPr/>
        </p:nvSpPr>
        <p:spPr bwMode="auto">
          <a:xfrm>
            <a:off x="309563" y="4400550"/>
            <a:ext cx="6167437" cy="17653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39" name="TextBox 55"/>
          <p:cNvSpPr txBox="1">
            <a:spLocks noChangeArrowheads="1"/>
          </p:cNvSpPr>
          <p:nvPr/>
        </p:nvSpPr>
        <p:spPr bwMode="auto">
          <a:xfrm>
            <a:off x="381000" y="4278313"/>
            <a:ext cx="1187624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출하상차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상세목록</a:t>
            </a:r>
          </a:p>
        </p:txBody>
      </p:sp>
      <p:graphicFrame>
        <p:nvGraphicFramePr>
          <p:cNvPr id="38" name="Group 139"/>
          <p:cNvGraphicFramePr>
            <a:graphicFrameLocks noGrp="1"/>
          </p:cNvGraphicFramePr>
          <p:nvPr/>
        </p:nvGraphicFramePr>
        <p:xfrm>
          <a:off x="379413" y="4567238"/>
          <a:ext cx="5953125" cy="663574"/>
        </p:xfrm>
        <a:graphic>
          <a:graphicData uri="http://schemas.openxmlformats.org/drawingml/2006/table">
            <a:tbl>
              <a:tblPr/>
              <a:tblGrid>
                <a:gridCol w="405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6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6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26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26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26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83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피킹수량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8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8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131784"/>
              </p:ext>
            </p:extLst>
          </p:nvPr>
        </p:nvGraphicFramePr>
        <p:xfrm>
          <a:off x="382588" y="5414963"/>
          <a:ext cx="2868381" cy="642936"/>
        </p:xfrm>
        <a:graphic>
          <a:graphicData uri="http://schemas.openxmlformats.org/drawingml/2006/table">
            <a:tbl>
              <a:tblPr/>
              <a:tblGrid>
                <a:gridCol w="683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출고피킹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97" name="직사각형 51"/>
          <p:cNvSpPr>
            <a:spLocks noChangeArrowheads="1"/>
          </p:cNvSpPr>
          <p:nvPr/>
        </p:nvSpPr>
        <p:spPr bwMode="auto">
          <a:xfrm>
            <a:off x="7926388" y="32305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</a:p>
        </p:txBody>
      </p:sp>
      <p:sp>
        <p:nvSpPr>
          <p:cNvPr id="20598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20599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20600" name="TextBox 65"/>
          <p:cNvSpPr txBox="1">
            <a:spLocks noChangeArrowheads="1"/>
          </p:cNvSpPr>
          <p:nvPr/>
        </p:nvSpPr>
        <p:spPr bwMode="auto">
          <a:xfrm>
            <a:off x="326548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20601" name="직사각형 66"/>
          <p:cNvSpPr>
            <a:spLocks noChangeArrowheads="1"/>
          </p:cNvSpPr>
          <p:nvPr/>
        </p:nvSpPr>
        <p:spPr bwMode="auto">
          <a:xfrm>
            <a:off x="419100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02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20603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04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05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06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07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08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20609" name="직사각형 66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출고피킹</a:t>
            </a:r>
          </a:p>
        </p:txBody>
      </p:sp>
      <p:sp>
        <p:nvSpPr>
          <p:cNvPr id="20610" name="TextBox 65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20611" name="직사각형 66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12" name="직사각형 48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0614" name="TextBox 65"/>
          <p:cNvSpPr txBox="1">
            <a:spLocks noChangeArrowheads="1"/>
          </p:cNvSpPr>
          <p:nvPr/>
        </p:nvSpPr>
        <p:spPr bwMode="auto">
          <a:xfrm>
            <a:off x="645953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20615" name="직사각형 66"/>
          <p:cNvSpPr>
            <a:spLocks noChangeArrowheads="1"/>
          </p:cNvSpPr>
          <p:nvPr/>
        </p:nvSpPr>
        <p:spPr bwMode="auto">
          <a:xfrm>
            <a:off x="7364413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16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20617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18" name="직사각형 48"/>
          <p:cNvSpPr>
            <a:spLocks noChangeArrowheads="1"/>
          </p:cNvSpPr>
          <p:nvPr/>
        </p:nvSpPr>
        <p:spPr bwMode="auto">
          <a:xfrm>
            <a:off x="8412163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66"/>
          <p:cNvSpPr>
            <a:spLocks noChangeArrowheads="1"/>
          </p:cNvSpPr>
          <p:nvPr/>
        </p:nvSpPr>
        <p:spPr bwMode="auto">
          <a:xfrm>
            <a:off x="8609013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0620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0621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0622" name="TextBox 65"/>
          <p:cNvSpPr txBox="1">
            <a:spLocks noChangeArrowheads="1"/>
          </p:cNvSpPr>
          <p:nvPr/>
        </p:nvSpPr>
        <p:spPr bwMode="auto">
          <a:xfrm>
            <a:off x="3265488" y="2044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20623" name="직사각형 66"/>
          <p:cNvSpPr>
            <a:spLocks noChangeArrowheads="1"/>
          </p:cNvSpPr>
          <p:nvPr/>
        </p:nvSpPr>
        <p:spPr bwMode="auto">
          <a:xfrm>
            <a:off x="4191000" y="2044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24" name="TextBox 65"/>
          <p:cNvSpPr txBox="1">
            <a:spLocks noChangeArrowheads="1"/>
          </p:cNvSpPr>
          <p:nvPr/>
        </p:nvSpPr>
        <p:spPr bwMode="auto">
          <a:xfrm>
            <a:off x="6477000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20625" name="직사각형 66"/>
          <p:cNvSpPr>
            <a:spLocks noChangeArrowheads="1"/>
          </p:cNvSpPr>
          <p:nvPr/>
        </p:nvSpPr>
        <p:spPr bwMode="auto">
          <a:xfrm>
            <a:off x="7381875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26" name="직사각형 48"/>
          <p:cNvSpPr>
            <a:spLocks noChangeArrowheads="1"/>
          </p:cNvSpPr>
          <p:nvPr/>
        </p:nvSpPr>
        <p:spPr bwMode="auto">
          <a:xfrm>
            <a:off x="8429625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6"/>
          <p:cNvSpPr>
            <a:spLocks noChangeArrowheads="1"/>
          </p:cNvSpPr>
          <p:nvPr/>
        </p:nvSpPr>
        <p:spPr bwMode="auto">
          <a:xfrm>
            <a:off x="8626475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0628" name="TextBox 65"/>
          <p:cNvSpPr txBox="1">
            <a:spLocks noChangeArrowheads="1"/>
          </p:cNvSpPr>
          <p:nvPr/>
        </p:nvSpPr>
        <p:spPr bwMode="auto">
          <a:xfrm>
            <a:off x="139700" y="2416175"/>
            <a:ext cx="10683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</a:p>
        </p:txBody>
      </p:sp>
      <p:sp>
        <p:nvSpPr>
          <p:cNvPr id="20629" name="직사각형 66"/>
          <p:cNvSpPr>
            <a:spLocks noChangeArrowheads="1"/>
          </p:cNvSpPr>
          <p:nvPr/>
        </p:nvSpPr>
        <p:spPr bwMode="auto">
          <a:xfrm>
            <a:off x="1065213" y="24161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063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065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2065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63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0632" name="직사각형 51"/>
          <p:cNvSpPr>
            <a:spLocks noChangeArrowheads="1"/>
          </p:cNvSpPr>
          <p:nvPr/>
        </p:nvSpPr>
        <p:spPr bwMode="auto">
          <a:xfrm>
            <a:off x="8475663" y="32305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인쇄</a:t>
            </a:r>
          </a:p>
        </p:txBody>
      </p:sp>
      <p:sp>
        <p:nvSpPr>
          <p:cNvPr id="20636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492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20637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895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38" name="직사각형 54"/>
          <p:cNvSpPr>
            <a:spLocks noChangeArrowheads="1"/>
          </p:cNvSpPr>
          <p:nvPr/>
        </p:nvSpPr>
        <p:spPr bwMode="auto">
          <a:xfrm>
            <a:off x="6608763" y="4392613"/>
            <a:ext cx="2916237" cy="17653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39" name="TextBox 55"/>
          <p:cNvSpPr txBox="1">
            <a:spLocks noChangeArrowheads="1"/>
          </p:cNvSpPr>
          <p:nvPr/>
        </p:nvSpPr>
        <p:spPr bwMode="auto">
          <a:xfrm>
            <a:off x="6691313" y="4310063"/>
            <a:ext cx="1174750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출하상차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PLT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6691313" y="4557713"/>
          <a:ext cx="2122487" cy="642937"/>
        </p:xfrm>
        <a:graphic>
          <a:graphicData uri="http://schemas.openxmlformats.org/drawingml/2006/table">
            <a:tbl>
              <a:tblPr/>
              <a:tblGrid>
                <a:gridCol w="683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출하확정</a:t>
            </a:r>
          </a:p>
        </p:txBody>
      </p:sp>
      <p:sp>
        <p:nvSpPr>
          <p:cNvPr id="22531" name="직사각형 54"/>
          <p:cNvSpPr>
            <a:spLocks noChangeArrowheads="1"/>
          </p:cNvSpPr>
          <p:nvPr/>
        </p:nvSpPr>
        <p:spPr bwMode="auto">
          <a:xfrm>
            <a:off x="309563" y="3271838"/>
            <a:ext cx="9215437" cy="8778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32" name="TextBox 55"/>
          <p:cNvSpPr txBox="1">
            <a:spLocks noChangeArrowheads="1"/>
          </p:cNvSpPr>
          <p:nvPr/>
        </p:nvSpPr>
        <p:spPr bwMode="auto">
          <a:xfrm>
            <a:off x="381000" y="314801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출하확정 목록</a:t>
            </a:r>
          </a:p>
        </p:txBody>
      </p:sp>
      <p:sp>
        <p:nvSpPr>
          <p:cNvPr id="22533" name="직사각형 51"/>
          <p:cNvSpPr>
            <a:spLocks noChangeArrowheads="1"/>
          </p:cNvSpPr>
          <p:nvPr/>
        </p:nvSpPr>
        <p:spPr bwMode="auto">
          <a:xfrm>
            <a:off x="6824663" y="30146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2534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2535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22536" name="직사각형 51"/>
          <p:cNvSpPr>
            <a:spLocks noChangeArrowheads="1"/>
          </p:cNvSpPr>
          <p:nvPr/>
        </p:nvSpPr>
        <p:spPr bwMode="auto">
          <a:xfrm>
            <a:off x="7385050" y="30146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22537" name="직사각형 51"/>
          <p:cNvSpPr>
            <a:spLocks noChangeArrowheads="1"/>
          </p:cNvSpPr>
          <p:nvPr/>
        </p:nvSpPr>
        <p:spPr bwMode="auto">
          <a:xfrm>
            <a:off x="9026525" y="30146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22538" name="직사각형 54"/>
          <p:cNvSpPr>
            <a:spLocks noChangeArrowheads="1"/>
          </p:cNvSpPr>
          <p:nvPr/>
        </p:nvSpPr>
        <p:spPr bwMode="auto">
          <a:xfrm>
            <a:off x="309563" y="4395788"/>
            <a:ext cx="9215437" cy="11398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39" name="TextBox 55"/>
          <p:cNvSpPr txBox="1">
            <a:spLocks noChangeArrowheads="1"/>
          </p:cNvSpPr>
          <p:nvPr/>
        </p:nvSpPr>
        <p:spPr bwMode="auto">
          <a:xfrm>
            <a:off x="381000" y="4271963"/>
            <a:ext cx="1187624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출하확정 상세목록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1" name="Group 139"/>
          <p:cNvGraphicFramePr>
            <a:graphicFrameLocks noGrp="1"/>
          </p:cNvGraphicFramePr>
          <p:nvPr/>
        </p:nvGraphicFramePr>
        <p:xfrm>
          <a:off x="379413" y="4508500"/>
          <a:ext cx="7859713" cy="727076"/>
        </p:xfrm>
        <a:graphic>
          <a:graphicData uri="http://schemas.openxmlformats.org/drawingml/2006/table">
            <a:tbl>
              <a:tblPr/>
              <a:tblGrid>
                <a:gridCol w="260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8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2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2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772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77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772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308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0977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842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6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출하상차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591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22592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22593" name="TextBox 65"/>
          <p:cNvSpPr txBox="1">
            <a:spLocks noChangeArrowheads="1"/>
          </p:cNvSpPr>
          <p:nvPr/>
        </p:nvSpPr>
        <p:spPr bwMode="auto">
          <a:xfrm>
            <a:off x="326548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22594" name="직사각형 66"/>
          <p:cNvSpPr>
            <a:spLocks noChangeArrowheads="1"/>
          </p:cNvSpPr>
          <p:nvPr/>
        </p:nvSpPr>
        <p:spPr bwMode="auto">
          <a:xfrm>
            <a:off x="419100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95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22596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97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98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99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00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01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22602" name="직사각형 66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</a:t>
            </a:r>
          </a:p>
        </p:txBody>
      </p:sp>
      <p:sp>
        <p:nvSpPr>
          <p:cNvPr id="22603" name="TextBox 65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22604" name="직사각형 66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05" name="직사각형 48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2607" name="TextBox 65"/>
          <p:cNvSpPr txBox="1">
            <a:spLocks noChangeArrowheads="1"/>
          </p:cNvSpPr>
          <p:nvPr/>
        </p:nvSpPr>
        <p:spPr bwMode="auto">
          <a:xfrm>
            <a:off x="645953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22608" name="직사각형 66"/>
          <p:cNvSpPr>
            <a:spLocks noChangeArrowheads="1"/>
          </p:cNvSpPr>
          <p:nvPr/>
        </p:nvSpPr>
        <p:spPr bwMode="auto">
          <a:xfrm>
            <a:off x="7364413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09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22610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11" name="직사각형 48"/>
          <p:cNvSpPr>
            <a:spLocks noChangeArrowheads="1"/>
          </p:cNvSpPr>
          <p:nvPr/>
        </p:nvSpPr>
        <p:spPr bwMode="auto">
          <a:xfrm>
            <a:off x="8412163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66"/>
          <p:cNvSpPr>
            <a:spLocks noChangeArrowheads="1"/>
          </p:cNvSpPr>
          <p:nvPr/>
        </p:nvSpPr>
        <p:spPr bwMode="auto">
          <a:xfrm>
            <a:off x="8609013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2613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614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615" name="TextBox 65"/>
          <p:cNvSpPr txBox="1">
            <a:spLocks noChangeArrowheads="1"/>
          </p:cNvSpPr>
          <p:nvPr/>
        </p:nvSpPr>
        <p:spPr bwMode="auto">
          <a:xfrm>
            <a:off x="3265488" y="2044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22616" name="직사각형 66"/>
          <p:cNvSpPr>
            <a:spLocks noChangeArrowheads="1"/>
          </p:cNvSpPr>
          <p:nvPr/>
        </p:nvSpPr>
        <p:spPr bwMode="auto">
          <a:xfrm>
            <a:off x="4191000" y="2044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17" name="TextBox 65"/>
          <p:cNvSpPr txBox="1">
            <a:spLocks noChangeArrowheads="1"/>
          </p:cNvSpPr>
          <p:nvPr/>
        </p:nvSpPr>
        <p:spPr bwMode="auto">
          <a:xfrm>
            <a:off x="6477000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22618" name="직사각형 66"/>
          <p:cNvSpPr>
            <a:spLocks noChangeArrowheads="1"/>
          </p:cNvSpPr>
          <p:nvPr/>
        </p:nvSpPr>
        <p:spPr bwMode="auto">
          <a:xfrm>
            <a:off x="7381875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19" name="직사각형 48"/>
          <p:cNvSpPr>
            <a:spLocks noChangeArrowheads="1"/>
          </p:cNvSpPr>
          <p:nvPr/>
        </p:nvSpPr>
        <p:spPr bwMode="auto">
          <a:xfrm>
            <a:off x="8429625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/>
          <p:cNvSpPr>
            <a:spLocks noChangeArrowheads="1"/>
          </p:cNvSpPr>
          <p:nvPr/>
        </p:nvSpPr>
        <p:spPr bwMode="auto">
          <a:xfrm>
            <a:off x="8626475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graphicFrame>
        <p:nvGraphicFramePr>
          <p:cNvPr id="68" name="Group 139"/>
          <p:cNvGraphicFramePr>
            <a:graphicFrameLocks noGrp="1"/>
          </p:cNvGraphicFramePr>
          <p:nvPr/>
        </p:nvGraphicFramePr>
        <p:xfrm>
          <a:off x="379413" y="3414713"/>
          <a:ext cx="9110664" cy="563888"/>
        </p:xfrm>
        <a:graphic>
          <a:graphicData uri="http://schemas.openxmlformats.org/drawingml/2006/table">
            <a:tbl>
              <a:tblPr/>
              <a:tblGrid>
                <a:gridCol w="18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5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84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28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98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59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19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681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78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78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784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784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출고일자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출고상차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672" name="TextBox 65"/>
          <p:cNvSpPr txBox="1">
            <a:spLocks noChangeArrowheads="1"/>
          </p:cNvSpPr>
          <p:nvPr/>
        </p:nvSpPr>
        <p:spPr bwMode="auto">
          <a:xfrm>
            <a:off x="182563" y="23590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</a:p>
        </p:txBody>
      </p:sp>
      <p:sp>
        <p:nvSpPr>
          <p:cNvPr id="22673" name="직사각형 66"/>
          <p:cNvSpPr>
            <a:spLocks noChangeArrowheads="1"/>
          </p:cNvSpPr>
          <p:nvPr/>
        </p:nvSpPr>
        <p:spPr bwMode="auto">
          <a:xfrm>
            <a:off x="1077913" y="23590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2674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268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2268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675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676" name="직사각형 51"/>
          <p:cNvSpPr>
            <a:spLocks noChangeArrowheads="1"/>
          </p:cNvSpPr>
          <p:nvPr/>
        </p:nvSpPr>
        <p:spPr bwMode="auto">
          <a:xfrm>
            <a:off x="7943850" y="30146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</a:p>
        </p:txBody>
      </p:sp>
      <p:sp>
        <p:nvSpPr>
          <p:cNvPr id="53" name="TextBox 65"/>
          <p:cNvSpPr txBox="1">
            <a:spLocks noChangeArrowheads="1"/>
          </p:cNvSpPr>
          <p:nvPr/>
        </p:nvSpPr>
        <p:spPr bwMode="auto">
          <a:xfrm>
            <a:off x="6470650" y="23891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>
              <a:defRPr/>
            </a:pPr>
            <a:r>
              <a:rPr lang="ko-KR" altLang="en-US" sz="900" dirty="0">
                <a:latin typeface="+mn-ea"/>
                <a:ea typeface="+mn-ea"/>
              </a:rPr>
              <a:t>출력종류</a:t>
            </a:r>
          </a:p>
        </p:txBody>
      </p:sp>
      <p:sp>
        <p:nvSpPr>
          <p:cNvPr id="54" name="직사각형 66"/>
          <p:cNvSpPr>
            <a:spLocks noChangeArrowheads="1"/>
          </p:cNvSpPr>
          <p:nvPr/>
        </p:nvSpPr>
        <p:spPr bwMode="auto">
          <a:xfrm>
            <a:off x="7381875" y="23891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>
              <a:defRPr/>
            </a:pPr>
            <a:r>
              <a:rPr lang="ko-KR" altLang="en-US" dirty="0">
                <a:latin typeface="+mn-ea"/>
                <a:ea typeface="+mn-ea"/>
              </a:rPr>
              <a:t>출고거래명세서</a:t>
            </a:r>
          </a:p>
        </p:txBody>
      </p:sp>
      <p:sp>
        <p:nvSpPr>
          <p:cNvPr id="22679" name="직사각형 33"/>
          <p:cNvSpPr>
            <a:spLocks noChangeArrowheads="1"/>
          </p:cNvSpPr>
          <p:nvPr/>
        </p:nvSpPr>
        <p:spPr bwMode="auto">
          <a:xfrm>
            <a:off x="8239125" y="23860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680" name="직사각형 51"/>
          <p:cNvSpPr>
            <a:spLocks noChangeArrowheads="1"/>
          </p:cNvSpPr>
          <p:nvPr/>
        </p:nvSpPr>
        <p:spPr bwMode="auto">
          <a:xfrm>
            <a:off x="8483600" y="30162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인쇄</a:t>
            </a:r>
          </a:p>
        </p:txBody>
      </p:sp>
      <p:sp>
        <p:nvSpPr>
          <p:cNvPr id="22681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492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22682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895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65"/>
          <p:cNvSpPr txBox="1">
            <a:spLocks noChangeArrowheads="1"/>
          </p:cNvSpPr>
          <p:nvPr/>
        </p:nvSpPr>
        <p:spPr bwMode="auto">
          <a:xfrm>
            <a:off x="141288" y="2926556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출고확정일자</a:t>
            </a:r>
          </a:p>
        </p:txBody>
      </p:sp>
      <p:sp>
        <p:nvSpPr>
          <p:cNvPr id="59" name="직사각형 66"/>
          <p:cNvSpPr>
            <a:spLocks noChangeArrowheads="1"/>
          </p:cNvSpPr>
          <p:nvPr/>
        </p:nvSpPr>
        <p:spPr bwMode="auto">
          <a:xfrm>
            <a:off x="1057275" y="2926556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48"/>
          <p:cNvSpPr>
            <a:spLocks noChangeArrowheads="1"/>
          </p:cNvSpPr>
          <p:nvPr/>
        </p:nvSpPr>
        <p:spPr bwMode="auto">
          <a:xfrm>
            <a:off x="1924050" y="2926556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5"/>
          <p:cNvSpPr txBox="1">
            <a:spLocks noChangeArrowheads="1"/>
          </p:cNvSpPr>
          <p:nvPr/>
        </p:nvSpPr>
        <p:spPr bwMode="auto">
          <a:xfrm>
            <a:off x="2151063" y="6575003"/>
            <a:ext cx="47799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>
              <a:defRPr/>
            </a:pPr>
            <a:r>
              <a:rPr lang="ko-KR" altLang="en-US" sz="900" dirty="0">
                <a:latin typeface="+mn-ea"/>
                <a:ea typeface="+mn-ea"/>
              </a:rPr>
              <a:t>출력종류 </a:t>
            </a:r>
            <a:r>
              <a:rPr lang="en-US" altLang="ko-KR" sz="900" dirty="0">
                <a:latin typeface="+mn-ea"/>
                <a:ea typeface="+mn-ea"/>
              </a:rPr>
              <a:t>: </a:t>
            </a:r>
            <a:r>
              <a:rPr lang="ko-KR" altLang="en-US" sz="900" dirty="0">
                <a:latin typeface="+mn-ea"/>
                <a:ea typeface="+mn-ea"/>
              </a:rPr>
              <a:t>출고거래명세서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900" dirty="0">
                <a:latin typeface="+mn-ea"/>
                <a:ea typeface="+mn-ea"/>
              </a:rPr>
              <a:t>출고시리얼스캔</a:t>
            </a:r>
          </a:p>
        </p:txBody>
      </p:sp>
      <p:sp>
        <p:nvSpPr>
          <p:cNvPr id="12291" name="직사각형 54"/>
          <p:cNvSpPr>
            <a:spLocks noChangeArrowheads="1"/>
          </p:cNvSpPr>
          <p:nvPr/>
        </p:nvSpPr>
        <p:spPr bwMode="auto">
          <a:xfrm>
            <a:off x="309563" y="3267075"/>
            <a:ext cx="9215437" cy="1990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12292" name="TextBox 55"/>
          <p:cNvSpPr txBox="1">
            <a:spLocks noChangeArrowheads="1"/>
          </p:cNvSpPr>
          <p:nvPr/>
        </p:nvSpPr>
        <p:spPr bwMode="auto">
          <a:xfrm>
            <a:off x="423863" y="3148013"/>
            <a:ext cx="776287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900" dirty="0">
                <a:latin typeface="+mn-ea"/>
                <a:ea typeface="+mn-ea"/>
              </a:rPr>
              <a:t>출고 목록</a:t>
            </a:r>
          </a:p>
        </p:txBody>
      </p:sp>
      <p:sp>
        <p:nvSpPr>
          <p:cNvPr id="12294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2295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  <a:defRPr/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12437" name="직사각형 54"/>
          <p:cNvSpPr>
            <a:spLocks noChangeArrowheads="1"/>
          </p:cNvSpPr>
          <p:nvPr/>
        </p:nvSpPr>
        <p:spPr bwMode="auto">
          <a:xfrm>
            <a:off x="309563" y="5591175"/>
            <a:ext cx="9207500" cy="7905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12441" name="TextBox 55"/>
          <p:cNvSpPr txBox="1">
            <a:spLocks noChangeArrowheads="1"/>
          </p:cNvSpPr>
          <p:nvPr/>
        </p:nvSpPr>
        <p:spPr bwMode="auto">
          <a:xfrm>
            <a:off x="368300" y="5476875"/>
            <a:ext cx="1200324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900" err="1">
                <a:latin typeface="+mn-ea"/>
                <a:ea typeface="+mn-ea"/>
              </a:rPr>
              <a:t>출고시리얼</a:t>
            </a:r>
            <a:r>
              <a:rPr lang="ko-KR" altLang="en-US" sz="900" dirty="0">
                <a:latin typeface="+mn-ea"/>
                <a:ea typeface="+mn-ea"/>
              </a:rPr>
              <a:t> 목록</a:t>
            </a:r>
          </a:p>
        </p:txBody>
      </p:sp>
      <p:graphicFrame>
        <p:nvGraphicFramePr>
          <p:cNvPr id="5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188312"/>
              </p:ext>
            </p:extLst>
          </p:nvPr>
        </p:nvGraphicFramePr>
        <p:xfrm>
          <a:off x="381000" y="5702300"/>
          <a:ext cx="3132137" cy="490538"/>
        </p:xfrm>
        <a:graphic>
          <a:graphicData uri="http://schemas.openxmlformats.org/drawingml/2006/table">
            <a:tbl>
              <a:tblPr/>
              <a:tblGrid>
                <a:gridCol w="320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2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622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5" marR="7645" marT="762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시리얼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645" marR="7645" marT="762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2792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250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8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2510" name="직사각형 66"/>
            <p:cNvSpPr>
              <a:spLocks noChangeArrowheads="1"/>
            </p:cNvSpPr>
            <p:nvPr/>
          </p:nvSpPr>
          <p:spPr bwMode="auto">
            <a:xfrm>
              <a:off x="4310060" y="1433512"/>
              <a:ext cx="1000130" cy="2149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248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52" name="직사각형 51"/>
          <p:cNvSpPr>
            <a:spLocks noChangeArrowheads="1"/>
          </p:cNvSpPr>
          <p:nvPr/>
        </p:nvSpPr>
        <p:spPr bwMode="auto">
          <a:xfrm>
            <a:off x="9017000" y="29972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+mn-ea"/>
                <a:ea typeface="+mn-ea"/>
              </a:rPr>
              <a:t>인쇄</a:t>
            </a:r>
          </a:p>
        </p:txBody>
      </p:sp>
      <p:sp>
        <p:nvSpPr>
          <p:cNvPr id="46" name="직사각형 51"/>
          <p:cNvSpPr>
            <a:spLocks noChangeArrowheads="1"/>
          </p:cNvSpPr>
          <p:nvPr/>
        </p:nvSpPr>
        <p:spPr bwMode="auto">
          <a:xfrm>
            <a:off x="8472488" y="535940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+mn-ea"/>
                <a:ea typeface="+mn-ea"/>
              </a:rPr>
              <a:t>신규</a:t>
            </a:r>
          </a:p>
        </p:txBody>
      </p:sp>
      <p:sp>
        <p:nvSpPr>
          <p:cNvPr id="48" name="직사각형 51"/>
          <p:cNvSpPr>
            <a:spLocks noChangeArrowheads="1"/>
          </p:cNvSpPr>
          <p:nvPr/>
        </p:nvSpPr>
        <p:spPr bwMode="auto">
          <a:xfrm>
            <a:off x="9017000" y="53594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+mn-ea"/>
                <a:ea typeface="+mn-ea"/>
              </a:rPr>
              <a:t>삭제</a:t>
            </a:r>
          </a:p>
        </p:txBody>
      </p:sp>
      <p:graphicFrame>
        <p:nvGraphicFramePr>
          <p:cNvPr id="39" name="Group 139"/>
          <p:cNvGraphicFramePr>
            <a:graphicFrameLocks noGrp="1"/>
          </p:cNvGraphicFramePr>
          <p:nvPr/>
        </p:nvGraphicFramePr>
        <p:xfrm>
          <a:off x="415925" y="3371850"/>
          <a:ext cx="9001125" cy="496888"/>
        </p:xfrm>
        <a:graphic>
          <a:graphicData uri="http://schemas.openxmlformats.org/drawingml/2006/table">
            <a:tbl>
              <a:tblPr/>
              <a:tblGrid>
                <a:gridCol w="220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92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92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81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9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166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79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54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85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759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2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출고예정일자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Group 139"/>
          <p:cNvGraphicFramePr>
            <a:graphicFrameLocks noGrp="1"/>
          </p:cNvGraphicFramePr>
          <p:nvPr/>
        </p:nvGraphicFramePr>
        <p:xfrm>
          <a:off x="431800" y="4008438"/>
          <a:ext cx="7400926" cy="503270"/>
        </p:xfrm>
        <a:graphic>
          <a:graphicData uri="http://schemas.openxmlformats.org/drawingml/2006/table">
            <a:tbl>
              <a:tblPr/>
              <a:tblGrid>
                <a:gridCol w="1052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8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8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6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4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0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45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45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447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출고예정수량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20*3*4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/>
        </p:nvGraphicFramePr>
        <p:xfrm>
          <a:off x="447675" y="4656138"/>
          <a:ext cx="5259392" cy="492125"/>
        </p:xfrm>
        <a:graphic>
          <a:graphicData uri="http://schemas.openxmlformats.org/drawingml/2006/table">
            <a:tbl>
              <a:tblPr/>
              <a:tblGrid>
                <a:gridCol w="657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4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22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8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5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903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32904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32905" name="TextBox 65"/>
          <p:cNvSpPr txBox="1">
            <a:spLocks noChangeArrowheads="1"/>
          </p:cNvSpPr>
          <p:nvPr/>
        </p:nvSpPr>
        <p:spPr bwMode="auto">
          <a:xfrm>
            <a:off x="326548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32906" name="직사각형 66"/>
          <p:cNvSpPr>
            <a:spLocks noChangeArrowheads="1"/>
          </p:cNvSpPr>
          <p:nvPr/>
        </p:nvSpPr>
        <p:spPr bwMode="auto">
          <a:xfrm>
            <a:off x="419100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07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32908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09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10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11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12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13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32914" name="직사각형 61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출고확정</a:t>
            </a:r>
          </a:p>
        </p:txBody>
      </p:sp>
      <p:sp>
        <p:nvSpPr>
          <p:cNvPr id="32915" name="TextBox 62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32916" name="직사각형 63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17" name="직사각형 64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32919" name="TextBox 65"/>
          <p:cNvSpPr txBox="1">
            <a:spLocks noChangeArrowheads="1"/>
          </p:cNvSpPr>
          <p:nvPr/>
        </p:nvSpPr>
        <p:spPr bwMode="auto">
          <a:xfrm>
            <a:off x="645953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32920" name="직사각형 66"/>
          <p:cNvSpPr>
            <a:spLocks noChangeArrowheads="1"/>
          </p:cNvSpPr>
          <p:nvPr/>
        </p:nvSpPr>
        <p:spPr bwMode="auto">
          <a:xfrm>
            <a:off x="7364413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21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32922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23" name="직사각형 48"/>
          <p:cNvSpPr>
            <a:spLocks noChangeArrowheads="1"/>
          </p:cNvSpPr>
          <p:nvPr/>
        </p:nvSpPr>
        <p:spPr bwMode="auto">
          <a:xfrm>
            <a:off x="8412163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66"/>
          <p:cNvSpPr>
            <a:spLocks noChangeArrowheads="1"/>
          </p:cNvSpPr>
          <p:nvPr/>
        </p:nvSpPr>
        <p:spPr bwMode="auto">
          <a:xfrm>
            <a:off x="8609013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32925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2926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2927" name="TextBox 65"/>
          <p:cNvSpPr txBox="1">
            <a:spLocks noChangeArrowheads="1"/>
          </p:cNvSpPr>
          <p:nvPr/>
        </p:nvSpPr>
        <p:spPr bwMode="auto">
          <a:xfrm>
            <a:off x="3265488" y="2044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32928" name="직사각형 66"/>
          <p:cNvSpPr>
            <a:spLocks noChangeArrowheads="1"/>
          </p:cNvSpPr>
          <p:nvPr/>
        </p:nvSpPr>
        <p:spPr bwMode="auto">
          <a:xfrm>
            <a:off x="4191000" y="2044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29" name="TextBox 78"/>
          <p:cNvSpPr txBox="1">
            <a:spLocks noChangeArrowheads="1"/>
          </p:cNvSpPr>
          <p:nvPr/>
        </p:nvSpPr>
        <p:spPr bwMode="auto">
          <a:xfrm>
            <a:off x="6477000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32930" name="직사각형 79"/>
          <p:cNvSpPr>
            <a:spLocks noChangeArrowheads="1"/>
          </p:cNvSpPr>
          <p:nvPr/>
        </p:nvSpPr>
        <p:spPr bwMode="auto">
          <a:xfrm>
            <a:off x="7381875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31" name="직사각형 48"/>
          <p:cNvSpPr>
            <a:spLocks noChangeArrowheads="1"/>
          </p:cNvSpPr>
          <p:nvPr/>
        </p:nvSpPr>
        <p:spPr bwMode="auto">
          <a:xfrm>
            <a:off x="8429625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직사각형 81"/>
          <p:cNvSpPr>
            <a:spLocks noChangeArrowheads="1"/>
          </p:cNvSpPr>
          <p:nvPr/>
        </p:nvSpPr>
        <p:spPr bwMode="auto">
          <a:xfrm>
            <a:off x="8626475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32933" name="TextBox 82"/>
          <p:cNvSpPr txBox="1">
            <a:spLocks noChangeArrowheads="1"/>
          </p:cNvSpPr>
          <p:nvPr/>
        </p:nvSpPr>
        <p:spPr bwMode="auto">
          <a:xfrm>
            <a:off x="194618" y="24034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</a:p>
        </p:txBody>
      </p:sp>
      <p:sp>
        <p:nvSpPr>
          <p:cNvPr id="32934" name="직사각형 83"/>
          <p:cNvSpPr>
            <a:spLocks noChangeArrowheads="1"/>
          </p:cNvSpPr>
          <p:nvPr/>
        </p:nvSpPr>
        <p:spPr bwMode="auto">
          <a:xfrm>
            <a:off x="1057275" y="24034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35" name="직사각형 48"/>
          <p:cNvSpPr>
            <a:spLocks noChangeArrowheads="1"/>
          </p:cNvSpPr>
          <p:nvPr/>
        </p:nvSpPr>
        <p:spPr bwMode="auto">
          <a:xfrm>
            <a:off x="2105025" y="24034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36" name="직사각형 85"/>
          <p:cNvSpPr>
            <a:spLocks noChangeArrowheads="1"/>
          </p:cNvSpPr>
          <p:nvPr/>
        </p:nvSpPr>
        <p:spPr bwMode="auto">
          <a:xfrm>
            <a:off x="2295525" y="24034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37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492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32938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895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/>
          <p:cNvSpPr>
            <a:spLocks noChangeArrowheads="1"/>
          </p:cNvSpPr>
          <p:nvPr/>
        </p:nvSpPr>
        <p:spPr bwMode="auto">
          <a:xfrm>
            <a:off x="8429626" y="29972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+mn-ea"/>
                <a:ea typeface="+mn-ea"/>
              </a:rPr>
              <a:t>조회</a:t>
            </a:r>
          </a:p>
        </p:txBody>
      </p:sp>
      <p:sp>
        <p:nvSpPr>
          <p:cNvPr id="57" name="TextBox 65"/>
          <p:cNvSpPr txBox="1">
            <a:spLocks noChangeArrowheads="1"/>
          </p:cNvSpPr>
          <p:nvPr/>
        </p:nvSpPr>
        <p:spPr bwMode="auto">
          <a:xfrm>
            <a:off x="6470650" y="23891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>
              <a:defRPr/>
            </a:pPr>
            <a:r>
              <a:rPr lang="ko-KR" altLang="en-US" sz="900" dirty="0">
                <a:latin typeface="+mn-ea"/>
                <a:ea typeface="+mn-ea"/>
              </a:rPr>
              <a:t>출력종류</a:t>
            </a:r>
          </a:p>
        </p:txBody>
      </p:sp>
      <p:sp>
        <p:nvSpPr>
          <p:cNvPr id="58" name="직사각형 66"/>
          <p:cNvSpPr>
            <a:spLocks noChangeArrowheads="1"/>
          </p:cNvSpPr>
          <p:nvPr/>
        </p:nvSpPr>
        <p:spPr bwMode="auto">
          <a:xfrm>
            <a:off x="7381875" y="23891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>
              <a:defRPr/>
            </a:pPr>
            <a:r>
              <a:rPr lang="ko-KR" altLang="en-US" dirty="0" err="1">
                <a:latin typeface="+mn-ea"/>
                <a:ea typeface="+mn-ea"/>
              </a:rPr>
              <a:t>출고시리얼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9" name="직사각형 33"/>
          <p:cNvSpPr>
            <a:spLocks noChangeArrowheads="1"/>
          </p:cNvSpPr>
          <p:nvPr/>
        </p:nvSpPr>
        <p:spPr bwMode="auto">
          <a:xfrm>
            <a:off x="8239125" y="23860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0" name="TextBox 65"/>
          <p:cNvSpPr txBox="1">
            <a:spLocks noChangeArrowheads="1"/>
          </p:cNvSpPr>
          <p:nvPr/>
        </p:nvSpPr>
        <p:spPr bwMode="auto">
          <a:xfrm>
            <a:off x="2151063" y="6575003"/>
            <a:ext cx="47799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>
              <a:defRPr/>
            </a:pPr>
            <a:r>
              <a:rPr lang="ko-KR" altLang="en-US" sz="900" dirty="0">
                <a:latin typeface="+mn-ea"/>
                <a:ea typeface="+mn-ea"/>
              </a:rPr>
              <a:t>출력종류 </a:t>
            </a:r>
            <a:r>
              <a:rPr lang="en-US" altLang="ko-KR" sz="900" dirty="0">
                <a:latin typeface="+mn-ea"/>
                <a:ea typeface="+mn-ea"/>
              </a:rPr>
              <a:t>: </a:t>
            </a:r>
            <a:r>
              <a:rPr lang="ko-KR" altLang="en-US" sz="900" dirty="0" err="1">
                <a:latin typeface="+mn-ea"/>
                <a:ea typeface="+mn-ea"/>
              </a:rPr>
              <a:t>출고시리얼</a:t>
            </a:r>
            <a:endParaRPr lang="ko-KR" altLang="en-US" sz="9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배송완료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미배송</a:t>
            </a:r>
          </a:p>
        </p:txBody>
      </p:sp>
      <p:sp>
        <p:nvSpPr>
          <p:cNvPr id="2867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867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2867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885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2885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67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2" name="Group 139"/>
          <p:cNvGraphicFramePr>
            <a:graphicFrameLocks noGrp="1"/>
          </p:cNvGraphicFramePr>
          <p:nvPr/>
        </p:nvGraphicFramePr>
        <p:xfrm>
          <a:off x="379413" y="3009900"/>
          <a:ext cx="9110663" cy="563888"/>
        </p:xfrm>
        <a:graphic>
          <a:graphicData uri="http://schemas.openxmlformats.org/drawingml/2006/table">
            <a:tbl>
              <a:tblPr/>
              <a:tblGrid>
                <a:gridCol w="196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1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04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700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31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31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7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78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출고예정일자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출고확정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727" name="직사각형 54"/>
          <p:cNvSpPr>
            <a:spLocks noChangeArrowheads="1"/>
          </p:cNvSpPr>
          <p:nvPr/>
        </p:nvSpPr>
        <p:spPr bwMode="auto">
          <a:xfrm>
            <a:off x="309563" y="2901950"/>
            <a:ext cx="9215437" cy="16541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28" name="TextBox 55"/>
          <p:cNvSpPr txBox="1">
            <a:spLocks noChangeArrowheads="1"/>
          </p:cNvSpPr>
          <p:nvPr/>
        </p:nvSpPr>
        <p:spPr bwMode="auto">
          <a:xfrm>
            <a:off x="381000" y="2774950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배송완료 목록 </a:t>
            </a:r>
          </a:p>
        </p:txBody>
      </p:sp>
      <p:sp>
        <p:nvSpPr>
          <p:cNvPr id="28729" name="직사각형 51"/>
          <p:cNvSpPr>
            <a:spLocks noChangeArrowheads="1"/>
          </p:cNvSpPr>
          <p:nvPr/>
        </p:nvSpPr>
        <p:spPr bwMode="auto">
          <a:xfrm>
            <a:off x="8488363" y="26368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8730" name="직사각형 51"/>
          <p:cNvSpPr>
            <a:spLocks noChangeArrowheads="1"/>
          </p:cNvSpPr>
          <p:nvPr/>
        </p:nvSpPr>
        <p:spPr bwMode="auto">
          <a:xfrm>
            <a:off x="7397750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8731" name="직사각형 51"/>
          <p:cNvSpPr>
            <a:spLocks noChangeArrowheads="1"/>
          </p:cNvSpPr>
          <p:nvPr/>
        </p:nvSpPr>
        <p:spPr bwMode="auto">
          <a:xfrm>
            <a:off x="7943850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8732" name="직사각형 51"/>
          <p:cNvSpPr>
            <a:spLocks noChangeArrowheads="1"/>
          </p:cNvSpPr>
          <p:nvPr/>
        </p:nvSpPr>
        <p:spPr bwMode="auto">
          <a:xfrm>
            <a:off x="9026525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28733" name="직사각형 54"/>
          <p:cNvSpPr>
            <a:spLocks noChangeArrowheads="1"/>
          </p:cNvSpPr>
          <p:nvPr/>
        </p:nvSpPr>
        <p:spPr bwMode="auto">
          <a:xfrm>
            <a:off x="309563" y="4672013"/>
            <a:ext cx="9215437" cy="17097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34" name="TextBox 55"/>
          <p:cNvSpPr txBox="1">
            <a:spLocks noChangeArrowheads="1"/>
          </p:cNvSpPr>
          <p:nvPr/>
        </p:nvSpPr>
        <p:spPr bwMode="auto">
          <a:xfrm>
            <a:off x="381000" y="4565650"/>
            <a:ext cx="1187624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배송완료 상세목록</a:t>
            </a:r>
          </a:p>
        </p:txBody>
      </p:sp>
      <p:graphicFrame>
        <p:nvGraphicFramePr>
          <p:cNvPr id="52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990028"/>
              </p:ext>
            </p:extLst>
          </p:nvPr>
        </p:nvGraphicFramePr>
        <p:xfrm>
          <a:off x="379413" y="4838700"/>
          <a:ext cx="9037637" cy="503270"/>
        </p:xfrm>
        <a:graphic>
          <a:graphicData uri="http://schemas.openxmlformats.org/drawingml/2006/table">
            <a:tbl>
              <a:tblPr/>
              <a:tblGrid>
                <a:gridCol w="19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5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1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1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55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11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0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23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0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11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116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116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41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081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7319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1447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출고완료수량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미배송수량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미배송사유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20*3*4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008654"/>
              </p:ext>
            </p:extLst>
          </p:nvPr>
        </p:nvGraphicFramePr>
        <p:xfrm>
          <a:off x="387350" y="5626100"/>
          <a:ext cx="9036054" cy="466725"/>
        </p:xfrm>
        <a:graphic>
          <a:graphicData uri="http://schemas.openxmlformats.org/drawingml/2006/table">
            <a:tbl>
              <a:tblPr/>
              <a:tblGrid>
                <a:gridCol w="1004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70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출고확정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820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28821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28822" name="TextBox 65"/>
          <p:cNvSpPr txBox="1">
            <a:spLocks noChangeArrowheads="1"/>
          </p:cNvSpPr>
          <p:nvPr/>
        </p:nvSpPr>
        <p:spPr bwMode="auto">
          <a:xfrm>
            <a:off x="326548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28823" name="직사각형 66"/>
          <p:cNvSpPr>
            <a:spLocks noChangeArrowheads="1"/>
          </p:cNvSpPr>
          <p:nvPr/>
        </p:nvSpPr>
        <p:spPr bwMode="auto">
          <a:xfrm>
            <a:off x="419100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24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28825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26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27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28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29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30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28831" name="직사각형 66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출고확정</a:t>
            </a:r>
          </a:p>
        </p:txBody>
      </p:sp>
      <p:sp>
        <p:nvSpPr>
          <p:cNvPr id="28832" name="TextBox 65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28833" name="직사각형 66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34" name="직사각형 67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8836" name="TextBox 65"/>
          <p:cNvSpPr txBox="1">
            <a:spLocks noChangeArrowheads="1"/>
          </p:cNvSpPr>
          <p:nvPr/>
        </p:nvSpPr>
        <p:spPr bwMode="auto">
          <a:xfrm>
            <a:off x="645953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28837" name="직사각형 66"/>
          <p:cNvSpPr>
            <a:spLocks noChangeArrowheads="1"/>
          </p:cNvSpPr>
          <p:nvPr/>
        </p:nvSpPr>
        <p:spPr bwMode="auto">
          <a:xfrm>
            <a:off x="7364413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38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28839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40" name="직사각형 48"/>
          <p:cNvSpPr>
            <a:spLocks noChangeArrowheads="1"/>
          </p:cNvSpPr>
          <p:nvPr/>
        </p:nvSpPr>
        <p:spPr bwMode="auto">
          <a:xfrm>
            <a:off x="8412163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66"/>
          <p:cNvSpPr>
            <a:spLocks noChangeArrowheads="1"/>
          </p:cNvSpPr>
          <p:nvPr/>
        </p:nvSpPr>
        <p:spPr bwMode="auto">
          <a:xfrm>
            <a:off x="8609013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8842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8843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8844" name="TextBox 65"/>
          <p:cNvSpPr txBox="1">
            <a:spLocks noChangeArrowheads="1"/>
          </p:cNvSpPr>
          <p:nvPr/>
        </p:nvSpPr>
        <p:spPr bwMode="auto">
          <a:xfrm>
            <a:off x="3265488" y="2044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28845" name="직사각형 66"/>
          <p:cNvSpPr>
            <a:spLocks noChangeArrowheads="1"/>
          </p:cNvSpPr>
          <p:nvPr/>
        </p:nvSpPr>
        <p:spPr bwMode="auto">
          <a:xfrm>
            <a:off x="4191000" y="2044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46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492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28847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895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48" name="TextBox 81"/>
          <p:cNvSpPr txBox="1">
            <a:spLocks noChangeArrowheads="1"/>
          </p:cNvSpPr>
          <p:nvPr/>
        </p:nvSpPr>
        <p:spPr bwMode="auto">
          <a:xfrm>
            <a:off x="6477000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28849" name="직사각형 82"/>
          <p:cNvSpPr>
            <a:spLocks noChangeArrowheads="1"/>
          </p:cNvSpPr>
          <p:nvPr/>
        </p:nvSpPr>
        <p:spPr bwMode="auto">
          <a:xfrm>
            <a:off x="7381875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50" name="직사각형 48"/>
          <p:cNvSpPr>
            <a:spLocks noChangeArrowheads="1"/>
          </p:cNvSpPr>
          <p:nvPr/>
        </p:nvSpPr>
        <p:spPr bwMode="auto">
          <a:xfrm>
            <a:off x="8429625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직사각형 84"/>
          <p:cNvSpPr>
            <a:spLocks noChangeArrowheads="1"/>
          </p:cNvSpPr>
          <p:nvPr/>
        </p:nvSpPr>
        <p:spPr bwMode="auto">
          <a:xfrm>
            <a:off x="8626475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출고조회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배송처별</a:t>
            </a:r>
          </a:p>
        </p:txBody>
      </p:sp>
      <p:sp>
        <p:nvSpPr>
          <p:cNvPr id="24579" name="직사각형 54"/>
          <p:cNvSpPr>
            <a:spLocks noChangeArrowheads="1"/>
          </p:cNvSpPr>
          <p:nvPr/>
        </p:nvSpPr>
        <p:spPr bwMode="auto">
          <a:xfrm>
            <a:off x="309563" y="2822575"/>
            <a:ext cx="9215437" cy="34861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81" name="직사각형 51"/>
          <p:cNvSpPr>
            <a:spLocks noChangeArrowheads="1"/>
          </p:cNvSpPr>
          <p:nvPr/>
        </p:nvSpPr>
        <p:spPr bwMode="auto">
          <a:xfrm>
            <a:off x="8482013" y="256540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458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458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24584" name="직사각형 51"/>
          <p:cNvSpPr>
            <a:spLocks noChangeArrowheads="1"/>
          </p:cNvSpPr>
          <p:nvPr/>
        </p:nvSpPr>
        <p:spPr bwMode="auto">
          <a:xfrm>
            <a:off x="9026525" y="25654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24585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24586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24587" name="TextBox 65"/>
          <p:cNvSpPr txBox="1">
            <a:spLocks noChangeArrowheads="1"/>
          </p:cNvSpPr>
          <p:nvPr/>
        </p:nvSpPr>
        <p:spPr bwMode="auto">
          <a:xfrm>
            <a:off x="326548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24588" name="직사각형 66"/>
          <p:cNvSpPr>
            <a:spLocks noChangeArrowheads="1"/>
          </p:cNvSpPr>
          <p:nvPr/>
        </p:nvSpPr>
        <p:spPr bwMode="auto">
          <a:xfrm>
            <a:off x="419100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89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24590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91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92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93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94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95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24596" name="직사각형 66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출고확정</a:t>
            </a:r>
          </a:p>
        </p:txBody>
      </p:sp>
      <p:sp>
        <p:nvSpPr>
          <p:cNvPr id="24597" name="TextBox 65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24598" name="직사각형 66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99" name="직사각형 48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4601" name="TextBox 65"/>
          <p:cNvSpPr txBox="1">
            <a:spLocks noChangeArrowheads="1"/>
          </p:cNvSpPr>
          <p:nvPr/>
        </p:nvSpPr>
        <p:spPr bwMode="auto">
          <a:xfrm>
            <a:off x="645953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24602" name="직사각형 66"/>
          <p:cNvSpPr>
            <a:spLocks noChangeArrowheads="1"/>
          </p:cNvSpPr>
          <p:nvPr/>
        </p:nvSpPr>
        <p:spPr bwMode="auto">
          <a:xfrm>
            <a:off x="7364413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03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24604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05" name="직사각형 48"/>
          <p:cNvSpPr>
            <a:spLocks noChangeArrowheads="1"/>
          </p:cNvSpPr>
          <p:nvPr/>
        </p:nvSpPr>
        <p:spPr bwMode="auto">
          <a:xfrm>
            <a:off x="8412163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66"/>
          <p:cNvSpPr>
            <a:spLocks noChangeArrowheads="1"/>
          </p:cNvSpPr>
          <p:nvPr/>
        </p:nvSpPr>
        <p:spPr bwMode="auto">
          <a:xfrm>
            <a:off x="8609013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4607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4608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4609" name="TextBox 65"/>
          <p:cNvSpPr txBox="1">
            <a:spLocks noChangeArrowheads="1"/>
          </p:cNvSpPr>
          <p:nvPr/>
        </p:nvSpPr>
        <p:spPr bwMode="auto">
          <a:xfrm>
            <a:off x="3265488" y="2044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24610" name="직사각형 66"/>
          <p:cNvSpPr>
            <a:spLocks noChangeArrowheads="1"/>
          </p:cNvSpPr>
          <p:nvPr/>
        </p:nvSpPr>
        <p:spPr bwMode="auto">
          <a:xfrm>
            <a:off x="4191000" y="2044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11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492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24612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260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13" name="TextBox 65"/>
          <p:cNvSpPr txBox="1">
            <a:spLocks noChangeArrowheads="1"/>
          </p:cNvSpPr>
          <p:nvPr/>
        </p:nvSpPr>
        <p:spPr bwMode="auto">
          <a:xfrm>
            <a:off x="6477000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24614" name="직사각형 66"/>
          <p:cNvSpPr>
            <a:spLocks noChangeArrowheads="1"/>
          </p:cNvSpPr>
          <p:nvPr/>
        </p:nvSpPr>
        <p:spPr bwMode="auto">
          <a:xfrm>
            <a:off x="7381875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15" name="직사각형 48"/>
          <p:cNvSpPr>
            <a:spLocks noChangeArrowheads="1"/>
          </p:cNvSpPr>
          <p:nvPr/>
        </p:nvSpPr>
        <p:spPr bwMode="auto">
          <a:xfrm>
            <a:off x="8429625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6"/>
          <p:cNvSpPr>
            <a:spLocks noChangeArrowheads="1"/>
          </p:cNvSpPr>
          <p:nvPr/>
        </p:nvSpPr>
        <p:spPr bwMode="auto">
          <a:xfrm>
            <a:off x="8626475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graphicFrame>
        <p:nvGraphicFramePr>
          <p:cNvPr id="65" name="Group 139"/>
          <p:cNvGraphicFramePr>
            <a:graphicFrameLocks noGrp="1"/>
          </p:cNvGraphicFramePr>
          <p:nvPr/>
        </p:nvGraphicFramePr>
        <p:xfrm>
          <a:off x="406400" y="2997200"/>
          <a:ext cx="9110663" cy="563888"/>
        </p:xfrm>
        <a:graphic>
          <a:graphicData uri="http://schemas.openxmlformats.org/drawingml/2006/table">
            <a:tbl>
              <a:tblPr/>
              <a:tblGrid>
                <a:gridCol w="196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4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1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72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923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99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1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960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출고일자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Group 139"/>
          <p:cNvGraphicFramePr>
            <a:graphicFrameLocks noGrp="1"/>
          </p:cNvGraphicFramePr>
          <p:nvPr/>
        </p:nvGraphicFramePr>
        <p:xfrm>
          <a:off x="381000" y="3644900"/>
          <a:ext cx="2263775" cy="503270"/>
        </p:xfrm>
        <a:graphic>
          <a:graphicData uri="http://schemas.openxmlformats.org/drawingml/2006/table">
            <a:tbl>
              <a:tblPr/>
              <a:tblGrid>
                <a:gridCol w="790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6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출고수량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6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468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468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2468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468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출고조회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제품별</a:t>
            </a:r>
          </a:p>
        </p:txBody>
      </p:sp>
      <p:sp>
        <p:nvSpPr>
          <p:cNvPr id="26627" name="직사각형 51"/>
          <p:cNvSpPr>
            <a:spLocks noChangeArrowheads="1"/>
          </p:cNvSpPr>
          <p:nvPr/>
        </p:nvSpPr>
        <p:spPr bwMode="auto">
          <a:xfrm>
            <a:off x="8488363" y="29241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662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662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26630" name="직사각형 51"/>
          <p:cNvSpPr>
            <a:spLocks noChangeArrowheads="1"/>
          </p:cNvSpPr>
          <p:nvPr/>
        </p:nvSpPr>
        <p:spPr bwMode="auto">
          <a:xfrm>
            <a:off x="9026525" y="292417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26631" name="직사각형 54"/>
          <p:cNvSpPr>
            <a:spLocks noChangeArrowheads="1"/>
          </p:cNvSpPr>
          <p:nvPr/>
        </p:nvSpPr>
        <p:spPr bwMode="auto">
          <a:xfrm>
            <a:off x="309563" y="3181350"/>
            <a:ext cx="9215437" cy="32004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082116"/>
              </p:ext>
            </p:extLst>
          </p:nvPr>
        </p:nvGraphicFramePr>
        <p:xfrm>
          <a:off x="379413" y="4005263"/>
          <a:ext cx="5062538" cy="588961"/>
        </p:xfrm>
        <a:graphic>
          <a:graphicData uri="http://schemas.openxmlformats.org/drawingml/2006/table">
            <a:tbl>
              <a:tblPr/>
              <a:tblGrid>
                <a:gridCol w="677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0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0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0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66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354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출고수량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9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662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26663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26664" name="TextBox 65"/>
          <p:cNvSpPr txBox="1">
            <a:spLocks noChangeArrowheads="1"/>
          </p:cNvSpPr>
          <p:nvPr/>
        </p:nvSpPr>
        <p:spPr bwMode="auto">
          <a:xfrm>
            <a:off x="326548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26665" name="직사각형 66"/>
          <p:cNvSpPr>
            <a:spLocks noChangeArrowheads="1"/>
          </p:cNvSpPr>
          <p:nvPr/>
        </p:nvSpPr>
        <p:spPr bwMode="auto">
          <a:xfrm>
            <a:off x="419100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66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26667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68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69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70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71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72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26673" name="직사각형 66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</a:t>
            </a:r>
          </a:p>
        </p:txBody>
      </p:sp>
      <p:sp>
        <p:nvSpPr>
          <p:cNvPr id="26674" name="TextBox 65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26675" name="직사각형 66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76" name="직사각형 51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6678" name="TextBox 65"/>
          <p:cNvSpPr txBox="1">
            <a:spLocks noChangeArrowheads="1"/>
          </p:cNvSpPr>
          <p:nvPr/>
        </p:nvSpPr>
        <p:spPr bwMode="auto">
          <a:xfrm>
            <a:off x="645953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26679" name="직사각형 66"/>
          <p:cNvSpPr>
            <a:spLocks noChangeArrowheads="1"/>
          </p:cNvSpPr>
          <p:nvPr/>
        </p:nvSpPr>
        <p:spPr bwMode="auto">
          <a:xfrm>
            <a:off x="7364413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80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26681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82" name="직사각형 48"/>
          <p:cNvSpPr>
            <a:spLocks noChangeArrowheads="1"/>
          </p:cNvSpPr>
          <p:nvPr/>
        </p:nvSpPr>
        <p:spPr bwMode="auto">
          <a:xfrm>
            <a:off x="8412163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66"/>
          <p:cNvSpPr>
            <a:spLocks noChangeArrowheads="1"/>
          </p:cNvSpPr>
          <p:nvPr/>
        </p:nvSpPr>
        <p:spPr bwMode="auto">
          <a:xfrm>
            <a:off x="8609013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6684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6685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6686" name="TextBox 65"/>
          <p:cNvSpPr txBox="1">
            <a:spLocks noChangeArrowheads="1"/>
          </p:cNvSpPr>
          <p:nvPr/>
        </p:nvSpPr>
        <p:spPr bwMode="auto">
          <a:xfrm>
            <a:off x="3265488" y="2044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26687" name="직사각형 66"/>
          <p:cNvSpPr>
            <a:spLocks noChangeArrowheads="1"/>
          </p:cNvSpPr>
          <p:nvPr/>
        </p:nvSpPr>
        <p:spPr bwMode="auto">
          <a:xfrm>
            <a:off x="4191000" y="2044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88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873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26689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260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90" name="TextBox 65"/>
          <p:cNvSpPr txBox="1">
            <a:spLocks noChangeArrowheads="1"/>
          </p:cNvSpPr>
          <p:nvPr/>
        </p:nvSpPr>
        <p:spPr bwMode="auto">
          <a:xfrm>
            <a:off x="6477000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26691" name="직사각형 66"/>
          <p:cNvSpPr>
            <a:spLocks noChangeArrowheads="1"/>
          </p:cNvSpPr>
          <p:nvPr/>
        </p:nvSpPr>
        <p:spPr bwMode="auto">
          <a:xfrm>
            <a:off x="7381875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92" name="직사각형 48"/>
          <p:cNvSpPr>
            <a:spLocks noChangeArrowheads="1"/>
          </p:cNvSpPr>
          <p:nvPr/>
        </p:nvSpPr>
        <p:spPr bwMode="auto">
          <a:xfrm>
            <a:off x="8429625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>
            <a:spLocks noChangeArrowheads="1"/>
          </p:cNvSpPr>
          <p:nvPr/>
        </p:nvSpPr>
        <p:spPr bwMode="auto">
          <a:xfrm>
            <a:off x="8626475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6694" name="TextBox 65"/>
          <p:cNvSpPr txBox="1">
            <a:spLocks noChangeArrowheads="1"/>
          </p:cNvSpPr>
          <p:nvPr/>
        </p:nvSpPr>
        <p:spPr bwMode="auto">
          <a:xfrm>
            <a:off x="182563" y="23590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</a:p>
        </p:txBody>
      </p:sp>
      <p:sp>
        <p:nvSpPr>
          <p:cNvPr id="26695" name="직사각형 66"/>
          <p:cNvSpPr>
            <a:spLocks noChangeArrowheads="1"/>
          </p:cNvSpPr>
          <p:nvPr/>
        </p:nvSpPr>
        <p:spPr bwMode="auto">
          <a:xfrm>
            <a:off x="1077913" y="23590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96" name="TextBox 65"/>
          <p:cNvSpPr txBox="1">
            <a:spLocks noChangeArrowheads="1"/>
          </p:cNvSpPr>
          <p:nvPr/>
        </p:nvSpPr>
        <p:spPr bwMode="auto">
          <a:xfrm>
            <a:off x="3284538" y="24225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</a:p>
        </p:txBody>
      </p:sp>
      <p:sp>
        <p:nvSpPr>
          <p:cNvPr id="26697" name="직사각형 66"/>
          <p:cNvSpPr>
            <a:spLocks noChangeArrowheads="1"/>
          </p:cNvSpPr>
          <p:nvPr/>
        </p:nvSpPr>
        <p:spPr bwMode="auto">
          <a:xfrm>
            <a:off x="4179888" y="24225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98" name="직사각형 48"/>
          <p:cNvSpPr>
            <a:spLocks noChangeArrowheads="1"/>
          </p:cNvSpPr>
          <p:nvPr/>
        </p:nvSpPr>
        <p:spPr bwMode="auto">
          <a:xfrm>
            <a:off x="5237163" y="24193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66"/>
          <p:cNvSpPr>
            <a:spLocks noChangeArrowheads="1"/>
          </p:cNvSpPr>
          <p:nvPr/>
        </p:nvSpPr>
        <p:spPr bwMode="auto">
          <a:xfrm>
            <a:off x="5434013" y="2419350"/>
            <a:ext cx="1000125" cy="214313"/>
          </a:xfrm>
          <a:prstGeom prst="rect">
            <a:avLst/>
          </a:prstGeom>
          <a:solidFill>
            <a:srgbClr val="CCFF6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6" name="Group 139"/>
          <p:cNvGraphicFramePr>
            <a:graphicFrameLocks noGrp="1"/>
          </p:cNvGraphicFramePr>
          <p:nvPr/>
        </p:nvGraphicFramePr>
        <p:xfrm>
          <a:off x="363538" y="3297238"/>
          <a:ext cx="9110663" cy="563888"/>
        </p:xfrm>
        <a:graphic>
          <a:graphicData uri="http://schemas.openxmlformats.org/drawingml/2006/table">
            <a:tbl>
              <a:tblPr/>
              <a:tblGrid>
                <a:gridCol w="196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1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72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53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20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31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7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78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출고일자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6749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675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2675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6750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출고라벨</a:t>
            </a:r>
          </a:p>
        </p:txBody>
      </p:sp>
      <p:sp>
        <p:nvSpPr>
          <p:cNvPr id="3481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482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34821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 Box 51"/>
          <p:cNvSpPr txBox="1">
            <a:spLocks noChangeArrowheads="1"/>
          </p:cNvSpPr>
          <p:nvPr/>
        </p:nvSpPr>
        <p:spPr bwMode="auto">
          <a:xfrm>
            <a:off x="4503738" y="1844675"/>
            <a:ext cx="806450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 err="1">
                <a:ea typeface="맑은 고딕" panose="020B0503020000020004" pitchFamily="50" charset="-127"/>
              </a:rPr>
              <a:t>출고표</a:t>
            </a:r>
            <a:endParaRPr lang="ko-KR" altLang="en-US" sz="2000" b="1" dirty="0">
              <a:ea typeface="맑은 고딕" panose="020B0503020000020004" pitchFamily="50" charset="-127"/>
            </a:endParaRPr>
          </a:p>
        </p:txBody>
      </p:sp>
      <p:sp>
        <p:nvSpPr>
          <p:cNvPr id="34823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바코드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24" name="TextBox 65"/>
          <p:cNvSpPr txBox="1">
            <a:spLocks noChangeArrowheads="1"/>
          </p:cNvSpPr>
          <p:nvPr/>
        </p:nvSpPr>
        <p:spPr bwMode="auto">
          <a:xfrm>
            <a:off x="738188" y="2413000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</a:p>
        </p:txBody>
      </p:sp>
      <p:sp>
        <p:nvSpPr>
          <p:cNvPr id="34825" name="TextBox 65"/>
          <p:cNvSpPr txBox="1">
            <a:spLocks noChangeArrowheads="1"/>
          </p:cNvSpPr>
          <p:nvPr/>
        </p:nvSpPr>
        <p:spPr bwMode="auto">
          <a:xfrm>
            <a:off x="738188" y="2627313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</a:p>
        </p:txBody>
      </p:sp>
      <p:sp>
        <p:nvSpPr>
          <p:cNvPr id="34826" name="TextBox 65"/>
          <p:cNvSpPr txBox="1">
            <a:spLocks noChangeArrowheads="1"/>
          </p:cNvSpPr>
          <p:nvPr/>
        </p:nvSpPr>
        <p:spPr bwMode="auto">
          <a:xfrm>
            <a:off x="738188" y="2857500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제품유형</a:t>
            </a:r>
          </a:p>
        </p:txBody>
      </p:sp>
      <p:sp>
        <p:nvSpPr>
          <p:cNvPr id="34827" name="TextBox 65"/>
          <p:cNvSpPr txBox="1">
            <a:spLocks noChangeArrowheads="1"/>
          </p:cNvSpPr>
          <p:nvPr/>
        </p:nvSpPr>
        <p:spPr bwMode="auto">
          <a:xfrm>
            <a:off x="738188" y="3071813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재고상태</a:t>
            </a:r>
          </a:p>
        </p:txBody>
      </p:sp>
      <p:sp>
        <p:nvSpPr>
          <p:cNvPr id="34828" name="TextBox 65"/>
          <p:cNvSpPr txBox="1">
            <a:spLocks noChangeArrowheads="1"/>
          </p:cNvSpPr>
          <p:nvPr/>
        </p:nvSpPr>
        <p:spPr bwMode="auto">
          <a:xfrm>
            <a:off x="738188" y="3270250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</a:t>
            </a:r>
          </a:p>
        </p:txBody>
      </p:sp>
      <p:sp>
        <p:nvSpPr>
          <p:cNvPr id="34829" name="TextBox 65"/>
          <p:cNvSpPr txBox="1">
            <a:spLocks noChangeArrowheads="1"/>
          </p:cNvSpPr>
          <p:nvPr/>
        </p:nvSpPr>
        <p:spPr bwMode="auto">
          <a:xfrm>
            <a:off x="738188" y="3484563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유통일자</a:t>
            </a:r>
          </a:p>
        </p:txBody>
      </p:sp>
      <p:sp>
        <p:nvSpPr>
          <p:cNvPr id="34830" name="TextBox 65"/>
          <p:cNvSpPr txBox="1">
            <a:spLocks noChangeArrowheads="1"/>
          </p:cNvSpPr>
          <p:nvPr/>
        </p:nvSpPr>
        <p:spPr bwMode="auto">
          <a:xfrm>
            <a:off x="738188" y="368458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로트번호</a:t>
            </a:r>
          </a:p>
        </p:txBody>
      </p:sp>
      <p:sp>
        <p:nvSpPr>
          <p:cNvPr id="34831" name="TextBox 65"/>
          <p:cNvSpPr txBox="1">
            <a:spLocks noChangeArrowheads="1"/>
          </p:cNvSpPr>
          <p:nvPr/>
        </p:nvSpPr>
        <p:spPr bwMode="auto">
          <a:xfrm>
            <a:off x="738188" y="389890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UOM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32" name="TextBox 65"/>
          <p:cNvSpPr txBox="1">
            <a:spLocks noChangeArrowheads="1"/>
          </p:cNvSpPr>
          <p:nvPr/>
        </p:nvSpPr>
        <p:spPr bwMode="auto">
          <a:xfrm>
            <a:off x="738188" y="41132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입수</a:t>
            </a:r>
          </a:p>
        </p:txBody>
      </p:sp>
      <p:sp>
        <p:nvSpPr>
          <p:cNvPr id="34833" name="TextBox 65"/>
          <p:cNvSpPr txBox="1">
            <a:spLocks noChangeArrowheads="1"/>
          </p:cNvSpPr>
          <p:nvPr/>
        </p:nvSpPr>
        <p:spPr bwMode="auto">
          <a:xfrm>
            <a:off x="738188" y="432752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제품바코드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출고지시서</a:t>
            </a:r>
          </a:p>
        </p:txBody>
      </p:sp>
      <p:sp>
        <p:nvSpPr>
          <p:cNvPr id="3686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686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36869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Group 138"/>
          <p:cNvGraphicFramePr>
            <a:graphicFrameLocks noGrp="1"/>
          </p:cNvGraphicFramePr>
          <p:nvPr/>
        </p:nvGraphicFramePr>
        <p:xfrm>
          <a:off x="415925" y="3429000"/>
          <a:ext cx="9001126" cy="627063"/>
        </p:xfrm>
        <a:graphic>
          <a:graphicData uri="http://schemas.openxmlformats.org/drawingml/2006/table">
            <a:tbl>
              <a:tblPr/>
              <a:tblGrid>
                <a:gridCol w="738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7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97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63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63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747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적치수량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919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출력자</a:t>
            </a:r>
          </a:p>
        </p:txBody>
      </p:sp>
      <p:sp>
        <p:nvSpPr>
          <p:cNvPr id="36920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작업일자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4205288" y="1844675"/>
            <a:ext cx="1319212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>
                <a:ea typeface="맑은 고딕" panose="020B0503020000020004" pitchFamily="50" charset="-127"/>
              </a:rPr>
              <a:t>출고지시서</a:t>
            </a:r>
          </a:p>
        </p:txBody>
      </p:sp>
      <p:sp>
        <p:nvSpPr>
          <p:cNvPr id="36922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출력일시</a:t>
            </a:r>
          </a:p>
        </p:txBody>
      </p:sp>
      <p:sp>
        <p:nvSpPr>
          <p:cNvPr id="36923" name="TextBox 34"/>
          <p:cNvSpPr txBox="1">
            <a:spLocks noChangeArrowheads="1"/>
          </p:cNvSpPr>
          <p:nvPr/>
        </p:nvSpPr>
        <p:spPr bwMode="auto">
          <a:xfrm>
            <a:off x="517525" y="2286000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36924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페이지</a:t>
            </a:r>
          </a:p>
        </p:txBody>
      </p:sp>
      <p:sp>
        <p:nvSpPr>
          <p:cNvPr id="36925" name="TextBox 34"/>
          <p:cNvSpPr txBox="1">
            <a:spLocks noChangeArrowheads="1"/>
          </p:cNvSpPr>
          <p:nvPr/>
        </p:nvSpPr>
        <p:spPr bwMode="auto">
          <a:xfrm>
            <a:off x="517525" y="2000250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</a:t>
            </a:r>
          </a:p>
        </p:txBody>
      </p:sp>
      <p:sp>
        <p:nvSpPr>
          <p:cNvPr id="36926" name="TextBox 65"/>
          <p:cNvSpPr txBox="1">
            <a:spLocks noChangeArrowheads="1"/>
          </p:cNvSpPr>
          <p:nvPr/>
        </p:nvSpPr>
        <p:spPr bwMode="auto">
          <a:xfrm>
            <a:off x="517525" y="2841625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36927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바코드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7" name="Group 138"/>
          <p:cNvGraphicFramePr>
            <a:graphicFrameLocks noGrp="1"/>
          </p:cNvGraphicFramePr>
          <p:nvPr/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출고거래명세서</a:t>
            </a:r>
          </a:p>
        </p:txBody>
      </p:sp>
      <p:sp>
        <p:nvSpPr>
          <p:cNvPr id="3891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891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38917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Group 138"/>
          <p:cNvGraphicFramePr>
            <a:graphicFrameLocks noGrp="1"/>
          </p:cNvGraphicFramePr>
          <p:nvPr/>
        </p:nvGraphicFramePr>
        <p:xfrm>
          <a:off x="415925" y="3429000"/>
          <a:ext cx="9074150" cy="627063"/>
        </p:xfrm>
        <a:graphic>
          <a:graphicData uri="http://schemas.openxmlformats.org/drawingml/2006/table">
            <a:tbl>
              <a:tblPr/>
              <a:tblGrid>
                <a:gridCol w="812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08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14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51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14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54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964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출력자</a:t>
            </a:r>
          </a:p>
        </p:txBody>
      </p:sp>
      <p:sp>
        <p:nvSpPr>
          <p:cNvPr id="38965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작업일자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762375" y="1844675"/>
            <a:ext cx="1831975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>
                <a:ea typeface="맑은 고딕" panose="020B0503020000020004" pitchFamily="50" charset="-127"/>
              </a:rPr>
              <a:t>출고거래명세서</a:t>
            </a:r>
          </a:p>
        </p:txBody>
      </p:sp>
      <p:sp>
        <p:nvSpPr>
          <p:cNvPr id="38967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출력일시</a:t>
            </a:r>
          </a:p>
        </p:txBody>
      </p:sp>
      <p:sp>
        <p:nvSpPr>
          <p:cNvPr id="38968" name="TextBox 34"/>
          <p:cNvSpPr txBox="1">
            <a:spLocks noChangeArrowheads="1"/>
          </p:cNvSpPr>
          <p:nvPr/>
        </p:nvSpPr>
        <p:spPr bwMode="auto">
          <a:xfrm>
            <a:off x="517525" y="2286000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38969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페이지</a:t>
            </a:r>
          </a:p>
        </p:txBody>
      </p:sp>
      <p:sp>
        <p:nvSpPr>
          <p:cNvPr id="38970" name="TextBox 34"/>
          <p:cNvSpPr txBox="1">
            <a:spLocks noChangeArrowheads="1"/>
          </p:cNvSpPr>
          <p:nvPr/>
        </p:nvSpPr>
        <p:spPr bwMode="auto">
          <a:xfrm>
            <a:off x="517525" y="2000250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</a:t>
            </a:r>
          </a:p>
        </p:txBody>
      </p:sp>
      <p:sp>
        <p:nvSpPr>
          <p:cNvPr id="38971" name="TextBox 65"/>
          <p:cNvSpPr txBox="1">
            <a:spLocks noChangeArrowheads="1"/>
          </p:cNvSpPr>
          <p:nvPr/>
        </p:nvSpPr>
        <p:spPr bwMode="auto">
          <a:xfrm>
            <a:off x="517525" y="2841625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38972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바코드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7" name="Group 138"/>
          <p:cNvGraphicFramePr>
            <a:graphicFrameLocks noGrp="1"/>
          </p:cNvGraphicFramePr>
          <p:nvPr/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출고거래명세서</a:t>
            </a:r>
          </a:p>
        </p:txBody>
      </p:sp>
      <p:sp>
        <p:nvSpPr>
          <p:cNvPr id="4096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4096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40965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Group 138"/>
          <p:cNvGraphicFramePr>
            <a:graphicFrameLocks noGrp="1"/>
          </p:cNvGraphicFramePr>
          <p:nvPr/>
        </p:nvGraphicFramePr>
        <p:xfrm>
          <a:off x="415925" y="3429000"/>
          <a:ext cx="9074150" cy="627063"/>
        </p:xfrm>
        <a:graphic>
          <a:graphicData uri="http://schemas.openxmlformats.org/drawingml/2006/table">
            <a:tbl>
              <a:tblPr/>
              <a:tblGrid>
                <a:gridCol w="812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08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14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51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14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54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012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출력자</a:t>
            </a:r>
          </a:p>
        </p:txBody>
      </p:sp>
      <p:sp>
        <p:nvSpPr>
          <p:cNvPr id="41013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작업일자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762375" y="1844675"/>
            <a:ext cx="1319213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 err="1">
                <a:ea typeface="맑은 고딕" panose="020B0503020000020004" pitchFamily="50" charset="-127"/>
              </a:rPr>
              <a:t>피킹지시서</a:t>
            </a:r>
            <a:endParaRPr lang="ko-KR" altLang="en-US" sz="2000" b="1" dirty="0">
              <a:ea typeface="맑은 고딕" panose="020B0503020000020004" pitchFamily="50" charset="-127"/>
            </a:endParaRPr>
          </a:p>
        </p:txBody>
      </p:sp>
      <p:sp>
        <p:nvSpPr>
          <p:cNvPr id="41015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출력일시</a:t>
            </a:r>
          </a:p>
        </p:txBody>
      </p:sp>
      <p:sp>
        <p:nvSpPr>
          <p:cNvPr id="41016" name="TextBox 34"/>
          <p:cNvSpPr txBox="1">
            <a:spLocks noChangeArrowheads="1"/>
          </p:cNvSpPr>
          <p:nvPr/>
        </p:nvSpPr>
        <p:spPr bwMode="auto">
          <a:xfrm>
            <a:off x="517525" y="2286000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41017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페이지</a:t>
            </a:r>
          </a:p>
        </p:txBody>
      </p:sp>
      <p:sp>
        <p:nvSpPr>
          <p:cNvPr id="41018" name="TextBox 34"/>
          <p:cNvSpPr txBox="1">
            <a:spLocks noChangeArrowheads="1"/>
          </p:cNvSpPr>
          <p:nvPr/>
        </p:nvSpPr>
        <p:spPr bwMode="auto">
          <a:xfrm>
            <a:off x="517525" y="2000250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</a:t>
            </a:r>
          </a:p>
        </p:txBody>
      </p:sp>
      <p:sp>
        <p:nvSpPr>
          <p:cNvPr id="41019" name="TextBox 65"/>
          <p:cNvSpPr txBox="1">
            <a:spLocks noChangeArrowheads="1"/>
          </p:cNvSpPr>
          <p:nvPr/>
        </p:nvSpPr>
        <p:spPr bwMode="auto">
          <a:xfrm>
            <a:off x="517525" y="2841625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41020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바코드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7" name="Group 138"/>
          <p:cNvGraphicFramePr>
            <a:graphicFrameLocks noGrp="1"/>
          </p:cNvGraphicFramePr>
          <p:nvPr/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Group 13"/>
          <p:cNvGraphicFramePr>
            <a:graphicFrameLocks noGrp="1"/>
          </p:cNvGraphicFramePr>
          <p:nvPr/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	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018" name="TextBox 16"/>
          <p:cNvSpPr txBox="1">
            <a:spLocks noChangeArrowheads="1"/>
          </p:cNvSpPr>
          <p:nvPr/>
        </p:nvSpPr>
        <p:spPr bwMode="auto">
          <a:xfrm>
            <a:off x="4171950" y="509588"/>
            <a:ext cx="19954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TOTAL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피킹 리스트</a:t>
            </a:r>
          </a:p>
        </p:txBody>
      </p:sp>
      <p:sp>
        <p:nvSpPr>
          <p:cNvPr id="43019" name="TextBox 15"/>
          <p:cNvSpPr txBox="1">
            <a:spLocks noChangeArrowheads="1"/>
          </p:cNvSpPr>
          <p:nvPr/>
        </p:nvSpPr>
        <p:spPr bwMode="auto">
          <a:xfrm>
            <a:off x="4184650" y="754063"/>
            <a:ext cx="19827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LO06010R</a:t>
            </a:r>
          </a:p>
        </p:txBody>
      </p:sp>
      <p:pic>
        <p:nvPicPr>
          <p:cNvPr id="430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1497013"/>
            <a:ext cx="778192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Group 13"/>
          <p:cNvGraphicFramePr>
            <a:graphicFrameLocks noGrp="1"/>
          </p:cNvGraphicFramePr>
          <p:nvPr/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	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066" name="TextBox 16"/>
          <p:cNvSpPr txBox="1">
            <a:spLocks noChangeArrowheads="1"/>
          </p:cNvSpPr>
          <p:nvPr/>
        </p:nvSpPr>
        <p:spPr bwMode="auto">
          <a:xfrm>
            <a:off x="4171950" y="509588"/>
            <a:ext cx="19954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오더별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피킹 리스트</a:t>
            </a:r>
          </a:p>
        </p:txBody>
      </p:sp>
      <p:sp>
        <p:nvSpPr>
          <p:cNvPr id="45067" name="TextBox 15"/>
          <p:cNvSpPr txBox="1">
            <a:spLocks noChangeArrowheads="1"/>
          </p:cNvSpPr>
          <p:nvPr/>
        </p:nvSpPr>
        <p:spPr bwMode="auto">
          <a:xfrm>
            <a:off x="4184650" y="754063"/>
            <a:ext cx="19827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LO06020R</a:t>
            </a:r>
          </a:p>
        </p:txBody>
      </p:sp>
      <p:pic>
        <p:nvPicPr>
          <p:cNvPr id="4506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1500188"/>
            <a:ext cx="7762875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Group 13"/>
          <p:cNvGraphicFramePr>
            <a:graphicFrameLocks noGrp="1"/>
          </p:cNvGraphicFramePr>
          <p:nvPr/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	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114" name="TextBox 16"/>
          <p:cNvSpPr txBox="1">
            <a:spLocks noChangeArrowheads="1"/>
          </p:cNvSpPr>
          <p:nvPr/>
        </p:nvSpPr>
        <p:spPr bwMode="auto">
          <a:xfrm>
            <a:off x="4171950" y="509588"/>
            <a:ext cx="19954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분배리스트</a:t>
            </a:r>
          </a:p>
        </p:txBody>
      </p:sp>
      <p:sp>
        <p:nvSpPr>
          <p:cNvPr id="47115" name="TextBox 15"/>
          <p:cNvSpPr txBox="1">
            <a:spLocks noChangeArrowheads="1"/>
          </p:cNvSpPr>
          <p:nvPr/>
        </p:nvSpPr>
        <p:spPr bwMode="auto">
          <a:xfrm>
            <a:off x="4184650" y="754063"/>
            <a:ext cx="19827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LO06030R</a:t>
            </a:r>
          </a:p>
        </p:txBody>
      </p:sp>
      <p:pic>
        <p:nvPicPr>
          <p:cNvPr id="471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1347788"/>
            <a:ext cx="7886700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출고주문관리 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작업지시서</a:t>
            </a:r>
          </a:p>
        </p:txBody>
      </p:sp>
      <p:sp>
        <p:nvSpPr>
          <p:cNvPr id="49155" name="직사각형 54"/>
          <p:cNvSpPr>
            <a:spLocks noChangeArrowheads="1"/>
          </p:cNvSpPr>
          <p:nvPr/>
        </p:nvSpPr>
        <p:spPr bwMode="auto">
          <a:xfrm>
            <a:off x="344488" y="1700213"/>
            <a:ext cx="9215437" cy="43211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42122" name="Group 138"/>
          <p:cNvGraphicFramePr>
            <a:graphicFrameLocks noGrp="1"/>
          </p:cNvGraphicFramePr>
          <p:nvPr/>
        </p:nvGraphicFramePr>
        <p:xfrm>
          <a:off x="415925" y="3429000"/>
          <a:ext cx="8375650" cy="627063"/>
        </p:xfrm>
        <a:graphic>
          <a:graphicData uri="http://schemas.openxmlformats.org/drawingml/2006/table">
            <a:tbl>
              <a:tblPr/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60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941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로케이션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제품유형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재고상태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통관일자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입항일자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화주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로트번호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피킹수량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TOT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BOX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PLT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211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출력자</a:t>
            </a:r>
          </a:p>
        </p:txBody>
      </p:sp>
      <p:sp>
        <p:nvSpPr>
          <p:cNvPr id="49212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작업일자</a:t>
            </a:r>
          </a:p>
        </p:txBody>
      </p:sp>
      <p:sp>
        <p:nvSpPr>
          <p:cNvPr id="42035" name="Text Box 51"/>
          <p:cNvSpPr txBox="1">
            <a:spLocks noChangeArrowheads="1"/>
          </p:cNvSpPr>
          <p:nvPr/>
        </p:nvSpPr>
        <p:spPr bwMode="auto">
          <a:xfrm>
            <a:off x="3122613" y="1714500"/>
            <a:ext cx="2616200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>
                <a:latin typeface="+mj-lt"/>
              </a:rPr>
              <a:t>차량</a:t>
            </a:r>
            <a:r>
              <a:rPr lang="en-US" altLang="ko-KR" sz="2000" b="1" dirty="0">
                <a:latin typeface="+mj-lt"/>
              </a:rPr>
              <a:t>TOTAL</a:t>
            </a:r>
            <a:r>
              <a:rPr lang="ko-KR" altLang="en-US" sz="2000" b="1" dirty="0" err="1">
                <a:latin typeface="+mj-lt"/>
              </a:rPr>
              <a:t>피킹지시서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49214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출력일시</a:t>
            </a:r>
          </a:p>
        </p:txBody>
      </p:sp>
      <p:sp>
        <p:nvSpPr>
          <p:cNvPr id="49215" name="TextBox 34"/>
          <p:cNvSpPr txBox="1">
            <a:spLocks noChangeArrowheads="1"/>
          </p:cNvSpPr>
          <p:nvPr/>
        </p:nvSpPr>
        <p:spPr bwMode="auto">
          <a:xfrm>
            <a:off x="595313" y="228600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고객사</a:t>
            </a:r>
          </a:p>
        </p:txBody>
      </p:sp>
      <p:sp>
        <p:nvSpPr>
          <p:cNvPr id="49216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페이지</a:t>
            </a:r>
          </a:p>
        </p:txBody>
      </p:sp>
      <p:sp>
        <p:nvSpPr>
          <p:cNvPr id="49217" name="TextBox 34"/>
          <p:cNvSpPr txBox="1">
            <a:spLocks noChangeArrowheads="1"/>
          </p:cNvSpPr>
          <p:nvPr/>
        </p:nvSpPr>
        <p:spPr bwMode="auto">
          <a:xfrm>
            <a:off x="595313" y="200025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물류센터</a:t>
            </a:r>
          </a:p>
        </p:txBody>
      </p:sp>
      <p:sp>
        <p:nvSpPr>
          <p:cNvPr id="49218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바코드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주문번호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9219" name="TextBox 46"/>
          <p:cNvSpPr txBox="1">
            <a:spLocks noChangeArrowheads="1"/>
          </p:cNvSpPr>
          <p:nvPr/>
        </p:nvSpPr>
        <p:spPr bwMode="auto">
          <a:xfrm>
            <a:off x="523875" y="2841625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지시번호</a:t>
            </a:r>
          </a:p>
        </p:txBody>
      </p:sp>
      <p:sp>
        <p:nvSpPr>
          <p:cNvPr id="49220" name="TextBox 46"/>
          <p:cNvSpPr txBox="1">
            <a:spLocks noChangeArrowheads="1"/>
          </p:cNvSpPr>
          <p:nvPr/>
        </p:nvSpPr>
        <p:spPr bwMode="auto">
          <a:xfrm>
            <a:off x="3881438" y="2143125"/>
            <a:ext cx="1285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1800">
                <a:latin typeface="굴림" panose="020B0600000101010101" pitchFamily="50" charset="-127"/>
                <a:ea typeface="굴림" panose="020B0600000101010101" pitchFamily="50" charset="-127"/>
              </a:rPr>
              <a:t>차량번호</a:t>
            </a:r>
          </a:p>
        </p:txBody>
      </p:sp>
      <p:graphicFrame>
        <p:nvGraphicFramePr>
          <p:cNvPr id="15" name="Group 138"/>
          <p:cNvGraphicFramePr>
            <a:graphicFrameLocks noGrp="1"/>
          </p:cNvGraphicFramePr>
          <p:nvPr/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출고주문관리 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작업지시서</a:t>
            </a:r>
          </a:p>
        </p:txBody>
      </p:sp>
      <p:sp>
        <p:nvSpPr>
          <p:cNvPr id="51203" name="직사각형 54"/>
          <p:cNvSpPr>
            <a:spLocks noChangeArrowheads="1"/>
          </p:cNvSpPr>
          <p:nvPr/>
        </p:nvSpPr>
        <p:spPr bwMode="auto">
          <a:xfrm>
            <a:off x="344488" y="1700213"/>
            <a:ext cx="9215437" cy="43211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42122" name="Group 138"/>
          <p:cNvGraphicFramePr>
            <a:graphicFrameLocks noGrp="1"/>
          </p:cNvGraphicFramePr>
          <p:nvPr/>
        </p:nvGraphicFramePr>
        <p:xfrm>
          <a:off x="415925" y="3429000"/>
          <a:ext cx="8375650" cy="627063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41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401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로케이션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주문번호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제품유형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재고상태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통관일자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입항일자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화주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로트번호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피킹수량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TOT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BOX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PLT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262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출력자</a:t>
            </a:r>
          </a:p>
        </p:txBody>
      </p:sp>
      <p:sp>
        <p:nvSpPr>
          <p:cNvPr id="51263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작업일자</a:t>
            </a:r>
          </a:p>
        </p:txBody>
      </p:sp>
      <p:sp>
        <p:nvSpPr>
          <p:cNvPr id="42035" name="Text Box 51"/>
          <p:cNvSpPr txBox="1">
            <a:spLocks noChangeArrowheads="1"/>
          </p:cNvSpPr>
          <p:nvPr/>
        </p:nvSpPr>
        <p:spPr bwMode="auto">
          <a:xfrm>
            <a:off x="3365500" y="1714500"/>
            <a:ext cx="2344738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 err="1">
                <a:latin typeface="+mj-lt"/>
              </a:rPr>
              <a:t>배송처별피킹지시서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51265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출력일시</a:t>
            </a:r>
          </a:p>
        </p:txBody>
      </p:sp>
      <p:sp>
        <p:nvSpPr>
          <p:cNvPr id="51266" name="TextBox 34"/>
          <p:cNvSpPr txBox="1">
            <a:spLocks noChangeArrowheads="1"/>
          </p:cNvSpPr>
          <p:nvPr/>
        </p:nvSpPr>
        <p:spPr bwMode="auto">
          <a:xfrm>
            <a:off x="595313" y="228600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고객사</a:t>
            </a:r>
          </a:p>
        </p:txBody>
      </p:sp>
      <p:sp>
        <p:nvSpPr>
          <p:cNvPr id="51267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페이지</a:t>
            </a:r>
          </a:p>
        </p:txBody>
      </p:sp>
      <p:sp>
        <p:nvSpPr>
          <p:cNvPr id="51268" name="TextBox 34"/>
          <p:cNvSpPr txBox="1">
            <a:spLocks noChangeArrowheads="1"/>
          </p:cNvSpPr>
          <p:nvPr/>
        </p:nvSpPr>
        <p:spPr bwMode="auto">
          <a:xfrm>
            <a:off x="595313" y="200025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물류센터</a:t>
            </a:r>
          </a:p>
        </p:txBody>
      </p:sp>
      <p:sp>
        <p:nvSpPr>
          <p:cNvPr id="51269" name="TextBox 46"/>
          <p:cNvSpPr txBox="1">
            <a:spLocks noChangeArrowheads="1"/>
          </p:cNvSpPr>
          <p:nvPr/>
        </p:nvSpPr>
        <p:spPr bwMode="auto">
          <a:xfrm>
            <a:off x="523875" y="2841625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배송처</a:t>
            </a:r>
          </a:p>
        </p:txBody>
      </p:sp>
      <p:graphicFrame>
        <p:nvGraphicFramePr>
          <p:cNvPr id="13" name="Group 138"/>
          <p:cNvGraphicFramePr>
            <a:graphicFrameLocks noGrp="1"/>
          </p:cNvGraphicFramePr>
          <p:nvPr/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출고주문관리 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작업지시서</a:t>
            </a:r>
          </a:p>
        </p:txBody>
      </p:sp>
      <p:sp>
        <p:nvSpPr>
          <p:cNvPr id="53251" name="직사각형 54"/>
          <p:cNvSpPr>
            <a:spLocks noChangeArrowheads="1"/>
          </p:cNvSpPr>
          <p:nvPr/>
        </p:nvSpPr>
        <p:spPr bwMode="auto">
          <a:xfrm>
            <a:off x="344488" y="1700213"/>
            <a:ext cx="9215437" cy="43211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42122" name="Group 138"/>
          <p:cNvGraphicFramePr>
            <a:graphicFrameLocks noGrp="1"/>
          </p:cNvGraphicFramePr>
          <p:nvPr/>
        </p:nvGraphicFramePr>
        <p:xfrm>
          <a:off x="595313" y="3643313"/>
          <a:ext cx="8501062" cy="627063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7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64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제품유형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재고상태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화주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로트번호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상차수량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비고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TOT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BOX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PLT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298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출력자</a:t>
            </a:r>
          </a:p>
        </p:txBody>
      </p:sp>
      <p:sp>
        <p:nvSpPr>
          <p:cNvPr id="53299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작업일자</a:t>
            </a:r>
          </a:p>
        </p:txBody>
      </p:sp>
      <p:sp>
        <p:nvSpPr>
          <p:cNvPr id="42035" name="Text Box 51"/>
          <p:cNvSpPr txBox="1">
            <a:spLocks noChangeArrowheads="1"/>
          </p:cNvSpPr>
          <p:nvPr/>
        </p:nvSpPr>
        <p:spPr bwMode="auto">
          <a:xfrm>
            <a:off x="4276725" y="1844675"/>
            <a:ext cx="1319213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/>
              <a:t>상차지시서</a:t>
            </a:r>
          </a:p>
        </p:txBody>
      </p:sp>
      <p:sp>
        <p:nvSpPr>
          <p:cNvPr id="53301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출력일시</a:t>
            </a:r>
          </a:p>
        </p:txBody>
      </p:sp>
      <p:sp>
        <p:nvSpPr>
          <p:cNvPr id="53302" name="TextBox 34"/>
          <p:cNvSpPr txBox="1">
            <a:spLocks noChangeArrowheads="1"/>
          </p:cNvSpPr>
          <p:nvPr/>
        </p:nvSpPr>
        <p:spPr bwMode="auto">
          <a:xfrm>
            <a:off x="595313" y="228600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고객사</a:t>
            </a:r>
          </a:p>
        </p:txBody>
      </p:sp>
      <p:sp>
        <p:nvSpPr>
          <p:cNvPr id="53303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페이지</a:t>
            </a:r>
          </a:p>
        </p:txBody>
      </p:sp>
      <p:sp>
        <p:nvSpPr>
          <p:cNvPr id="53304" name="TextBox 34"/>
          <p:cNvSpPr txBox="1">
            <a:spLocks noChangeArrowheads="1"/>
          </p:cNvSpPr>
          <p:nvPr/>
        </p:nvSpPr>
        <p:spPr bwMode="auto">
          <a:xfrm>
            <a:off x="595313" y="200025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물류센터</a:t>
            </a:r>
          </a:p>
        </p:txBody>
      </p:sp>
      <p:sp>
        <p:nvSpPr>
          <p:cNvPr id="53305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바코드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지시번호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3306" name="TextBox 46"/>
          <p:cNvSpPr txBox="1">
            <a:spLocks noChangeArrowheads="1"/>
          </p:cNvSpPr>
          <p:nvPr/>
        </p:nvSpPr>
        <p:spPr bwMode="auto">
          <a:xfrm>
            <a:off x="523875" y="2841625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지시번호</a:t>
            </a:r>
          </a:p>
        </p:txBody>
      </p:sp>
      <p:sp>
        <p:nvSpPr>
          <p:cNvPr id="53307" name="TextBox 46"/>
          <p:cNvSpPr txBox="1">
            <a:spLocks noChangeArrowheads="1"/>
          </p:cNvSpPr>
          <p:nvPr/>
        </p:nvSpPr>
        <p:spPr bwMode="auto">
          <a:xfrm>
            <a:off x="4667250" y="22145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차량번호</a:t>
            </a:r>
          </a:p>
        </p:txBody>
      </p:sp>
      <p:sp>
        <p:nvSpPr>
          <p:cNvPr id="53308" name="TextBox 46"/>
          <p:cNvSpPr txBox="1">
            <a:spLocks noChangeArrowheads="1"/>
          </p:cNvSpPr>
          <p:nvPr/>
        </p:nvSpPr>
        <p:spPr bwMode="auto">
          <a:xfrm>
            <a:off x="595313" y="3413125"/>
            <a:ext cx="8501062" cy="230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배송처명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배송처 주소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실배송 주소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, TEL, 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지시사항 </a:t>
            </a:r>
          </a:p>
        </p:txBody>
      </p:sp>
      <p:graphicFrame>
        <p:nvGraphicFramePr>
          <p:cNvPr id="16" name="Group 138"/>
          <p:cNvGraphicFramePr>
            <a:graphicFrameLocks noGrp="1"/>
          </p:cNvGraphicFramePr>
          <p:nvPr/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미배송</a:t>
            </a:r>
          </a:p>
        </p:txBody>
      </p:sp>
      <p:sp>
        <p:nvSpPr>
          <p:cNvPr id="3072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072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30725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3088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3088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0726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2" name="Group 139"/>
          <p:cNvGraphicFramePr>
            <a:graphicFrameLocks noGrp="1"/>
          </p:cNvGraphicFramePr>
          <p:nvPr/>
        </p:nvGraphicFramePr>
        <p:xfrm>
          <a:off x="379413" y="3009900"/>
          <a:ext cx="9110663" cy="563888"/>
        </p:xfrm>
        <a:graphic>
          <a:graphicData uri="http://schemas.openxmlformats.org/drawingml/2006/table">
            <a:tbl>
              <a:tblPr/>
              <a:tblGrid>
                <a:gridCol w="196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1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72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73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700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31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31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7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78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출고예정일자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출고확정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775" name="직사각형 54"/>
          <p:cNvSpPr>
            <a:spLocks noChangeArrowheads="1"/>
          </p:cNvSpPr>
          <p:nvPr/>
        </p:nvSpPr>
        <p:spPr bwMode="auto">
          <a:xfrm>
            <a:off x="309563" y="2901950"/>
            <a:ext cx="9215437" cy="16541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76" name="TextBox 55"/>
          <p:cNvSpPr txBox="1">
            <a:spLocks noChangeArrowheads="1"/>
          </p:cNvSpPr>
          <p:nvPr/>
        </p:nvSpPr>
        <p:spPr bwMode="auto">
          <a:xfrm>
            <a:off x="381000" y="2774950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미배송</a:t>
            </a:r>
          </a:p>
        </p:txBody>
      </p:sp>
      <p:sp>
        <p:nvSpPr>
          <p:cNvPr id="30777" name="직사각형 51"/>
          <p:cNvSpPr>
            <a:spLocks noChangeArrowheads="1"/>
          </p:cNvSpPr>
          <p:nvPr/>
        </p:nvSpPr>
        <p:spPr bwMode="auto">
          <a:xfrm>
            <a:off x="8488363" y="26368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0778" name="직사각형 51"/>
          <p:cNvSpPr>
            <a:spLocks noChangeArrowheads="1"/>
          </p:cNvSpPr>
          <p:nvPr/>
        </p:nvSpPr>
        <p:spPr bwMode="auto">
          <a:xfrm>
            <a:off x="7397750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0779" name="직사각형 51"/>
          <p:cNvSpPr>
            <a:spLocks noChangeArrowheads="1"/>
          </p:cNvSpPr>
          <p:nvPr/>
        </p:nvSpPr>
        <p:spPr bwMode="auto">
          <a:xfrm>
            <a:off x="7943850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30780" name="직사각형 51"/>
          <p:cNvSpPr>
            <a:spLocks noChangeArrowheads="1"/>
          </p:cNvSpPr>
          <p:nvPr/>
        </p:nvSpPr>
        <p:spPr bwMode="auto">
          <a:xfrm>
            <a:off x="9026525" y="263683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30781" name="직사각형 54"/>
          <p:cNvSpPr>
            <a:spLocks noChangeArrowheads="1"/>
          </p:cNvSpPr>
          <p:nvPr/>
        </p:nvSpPr>
        <p:spPr bwMode="auto">
          <a:xfrm>
            <a:off x="309563" y="4672013"/>
            <a:ext cx="9215437" cy="17097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82" name="TextBox 55"/>
          <p:cNvSpPr txBox="1">
            <a:spLocks noChangeArrowheads="1"/>
          </p:cNvSpPr>
          <p:nvPr/>
        </p:nvSpPr>
        <p:spPr bwMode="auto">
          <a:xfrm>
            <a:off x="381000" y="4565650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미배송상세</a:t>
            </a:r>
          </a:p>
        </p:txBody>
      </p:sp>
      <p:graphicFrame>
        <p:nvGraphicFramePr>
          <p:cNvPr id="51" name="Group 139"/>
          <p:cNvGraphicFramePr>
            <a:graphicFrameLocks noGrp="1"/>
          </p:cNvGraphicFramePr>
          <p:nvPr/>
        </p:nvGraphicFramePr>
        <p:xfrm>
          <a:off x="379413" y="4838700"/>
          <a:ext cx="9037637" cy="503270"/>
        </p:xfrm>
        <a:graphic>
          <a:graphicData uri="http://schemas.openxmlformats.org/drawingml/2006/table">
            <a:tbl>
              <a:tblPr/>
              <a:tblGrid>
                <a:gridCol w="253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8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95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70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20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00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70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7439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7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출고완료수량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20*3*4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" name="표 51"/>
          <p:cNvGraphicFramePr>
            <a:graphicFrameLocks noGrp="1"/>
          </p:cNvGraphicFramePr>
          <p:nvPr/>
        </p:nvGraphicFramePr>
        <p:xfrm>
          <a:off x="387350" y="5445125"/>
          <a:ext cx="9036054" cy="466725"/>
        </p:xfrm>
        <a:graphic>
          <a:graphicData uri="http://schemas.openxmlformats.org/drawingml/2006/table">
            <a:tbl>
              <a:tblPr/>
              <a:tblGrid>
                <a:gridCol w="1004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40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70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출고확정</a:t>
                      </a:r>
                    </a:p>
                  </a:txBody>
                  <a:tcPr marL="7648" marR="7648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54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30855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30856" name="TextBox 65"/>
          <p:cNvSpPr txBox="1">
            <a:spLocks noChangeArrowheads="1"/>
          </p:cNvSpPr>
          <p:nvPr/>
        </p:nvSpPr>
        <p:spPr bwMode="auto">
          <a:xfrm>
            <a:off x="326548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30857" name="직사각형 66"/>
          <p:cNvSpPr>
            <a:spLocks noChangeArrowheads="1"/>
          </p:cNvSpPr>
          <p:nvPr/>
        </p:nvSpPr>
        <p:spPr bwMode="auto">
          <a:xfrm>
            <a:off x="419100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58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30859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60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61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62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63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64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30865" name="직사각형 66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출고확정</a:t>
            </a:r>
          </a:p>
        </p:txBody>
      </p:sp>
      <p:sp>
        <p:nvSpPr>
          <p:cNvPr id="30866" name="TextBox 67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30867" name="직사각형 68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68" name="직사각형 69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30870" name="TextBox 65"/>
          <p:cNvSpPr txBox="1">
            <a:spLocks noChangeArrowheads="1"/>
          </p:cNvSpPr>
          <p:nvPr/>
        </p:nvSpPr>
        <p:spPr bwMode="auto">
          <a:xfrm>
            <a:off x="645953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30871" name="직사각형 66"/>
          <p:cNvSpPr>
            <a:spLocks noChangeArrowheads="1"/>
          </p:cNvSpPr>
          <p:nvPr/>
        </p:nvSpPr>
        <p:spPr bwMode="auto">
          <a:xfrm>
            <a:off x="7364413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72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30873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74" name="직사각형 48"/>
          <p:cNvSpPr>
            <a:spLocks noChangeArrowheads="1"/>
          </p:cNvSpPr>
          <p:nvPr/>
        </p:nvSpPr>
        <p:spPr bwMode="auto">
          <a:xfrm>
            <a:off x="8412163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66"/>
          <p:cNvSpPr>
            <a:spLocks noChangeArrowheads="1"/>
          </p:cNvSpPr>
          <p:nvPr/>
        </p:nvSpPr>
        <p:spPr bwMode="auto">
          <a:xfrm>
            <a:off x="8609013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30876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0877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0878" name="TextBox 65"/>
          <p:cNvSpPr txBox="1">
            <a:spLocks noChangeArrowheads="1"/>
          </p:cNvSpPr>
          <p:nvPr/>
        </p:nvSpPr>
        <p:spPr bwMode="auto">
          <a:xfrm>
            <a:off x="3265488" y="2044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30879" name="직사각형 66"/>
          <p:cNvSpPr>
            <a:spLocks noChangeArrowheads="1"/>
          </p:cNvSpPr>
          <p:nvPr/>
        </p:nvSpPr>
        <p:spPr bwMode="auto">
          <a:xfrm>
            <a:off x="4191000" y="2044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80" name="TextBox 83"/>
          <p:cNvSpPr txBox="1">
            <a:spLocks noChangeArrowheads="1"/>
          </p:cNvSpPr>
          <p:nvPr/>
        </p:nvSpPr>
        <p:spPr bwMode="auto">
          <a:xfrm>
            <a:off x="6477000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30881" name="직사각형 84"/>
          <p:cNvSpPr>
            <a:spLocks noChangeArrowheads="1"/>
          </p:cNvSpPr>
          <p:nvPr/>
        </p:nvSpPr>
        <p:spPr bwMode="auto">
          <a:xfrm>
            <a:off x="7381875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82" name="직사각형 48"/>
          <p:cNvSpPr>
            <a:spLocks noChangeArrowheads="1"/>
          </p:cNvSpPr>
          <p:nvPr/>
        </p:nvSpPr>
        <p:spPr bwMode="auto">
          <a:xfrm>
            <a:off x="8429625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/>
          <p:cNvSpPr>
            <a:spLocks noChangeArrowheads="1"/>
          </p:cNvSpPr>
          <p:nvPr/>
        </p:nvSpPr>
        <p:spPr bwMode="auto">
          <a:xfrm>
            <a:off x="8626475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cxnSp>
        <p:nvCxnSpPr>
          <p:cNvPr id="30884" name="직선 연결선 2"/>
          <p:cNvCxnSpPr>
            <a:cxnSpLocks noChangeShapeType="1"/>
          </p:cNvCxnSpPr>
          <p:nvPr/>
        </p:nvCxnSpPr>
        <p:spPr bwMode="auto">
          <a:xfrm>
            <a:off x="1136650" y="1219200"/>
            <a:ext cx="9072563" cy="54498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885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492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30886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895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900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19953</TotalTime>
  <Words>2156</Words>
  <Application>Microsoft Office PowerPoint</Application>
  <PresentationFormat>A4 용지(210x297mm)</PresentationFormat>
  <Paragraphs>1641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굴림</vt:lpstr>
      <vt:lpstr>굴림체</vt:lpstr>
      <vt:lpstr>맑은 고딕</vt:lpstr>
      <vt:lpstr>Optima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이종건</dc:creator>
  <cp:lastModifiedBy>jklee</cp:lastModifiedBy>
  <cp:revision>1109</cp:revision>
  <cp:lastPrinted>2016-11-18T05:23:04Z</cp:lastPrinted>
  <dcterms:created xsi:type="dcterms:W3CDTF">2002-03-20T01:19:40Z</dcterms:created>
  <dcterms:modified xsi:type="dcterms:W3CDTF">2017-03-13T07:11:28Z</dcterms:modified>
</cp:coreProperties>
</file>