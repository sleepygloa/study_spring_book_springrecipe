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79" r:id="rId2"/>
    <p:sldId id="280" r:id="rId3"/>
    <p:sldId id="281" r:id="rId4"/>
    <p:sldId id="282" r:id="rId5"/>
    <p:sldId id="288" r:id="rId6"/>
    <p:sldId id="287" r:id="rId7"/>
    <p:sldId id="289" r:id="rId8"/>
    <p:sldId id="286" r:id="rId9"/>
    <p:sldId id="290" r:id="rId10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8D3"/>
    <a:srgbClr val="CCFF66"/>
    <a:srgbClr val="538ED5"/>
    <a:srgbClr val="B2B2B2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3" autoAdjust="0"/>
    <p:restoredTop sz="93623" autoAdjust="0"/>
  </p:normalViewPr>
  <p:slideViewPr>
    <p:cSldViewPr>
      <p:cViewPr>
        <p:scale>
          <a:sx n="120" d="100"/>
          <a:sy n="120" d="100"/>
        </p:scale>
        <p:origin x="1260" y="-462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0F9F980-C653-43CB-863C-61AB9D48AA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0877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BBBDDC8-FB09-4437-8318-C8E94155689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5881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EE8A9C6-6364-4FDD-9709-967099D760FF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39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01E88C8-7A5F-4126-A354-8CA429326B5B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3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5F79387-8DD4-43CB-8E5C-AB1FFDDCAA2B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063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8E4183D-5109-430B-A594-9FA90C0F007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동일제품 범위</a:t>
            </a:r>
            <a:r>
              <a:rPr lang="en-US" altLang="ko-KR"/>
              <a:t>(</a:t>
            </a:r>
            <a:r>
              <a:rPr lang="ko-KR" altLang="en-US"/>
              <a:t>제품</a:t>
            </a:r>
            <a:r>
              <a:rPr lang="en-US" altLang="ko-KR"/>
              <a:t>,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745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4FD1DF2-55E1-42FE-8A14-51F139124293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586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2642986-5C74-4D02-AF4B-7BB5EEAAE44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924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E63A9DD-EE7E-4FCB-BF0A-6D8EF4611EAB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247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5B96978-DA03-4C80-82AC-D5553565638F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714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E63A9DD-EE7E-4FCB-BF0A-6D8EF4611EAB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96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87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/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936DE408-4A19-44A3-A148-E4D664C40A1B}" type="slidenum">
              <a:rPr lang="ko-KR" altLang="en-US" sz="900" b="1" smtClean="0">
                <a:solidFill>
                  <a:srgbClr val="7F7F7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운영규칙등록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413716"/>
              </p:ext>
            </p:extLst>
          </p:nvPr>
        </p:nvGraphicFramePr>
        <p:xfrm>
          <a:off x="355600" y="1960563"/>
          <a:ext cx="4813300" cy="1714504"/>
        </p:xfrm>
        <a:graphic>
          <a:graphicData uri="http://schemas.openxmlformats.org/drawingml/2006/table">
            <a:tbl>
              <a:tblPr/>
              <a:tblGrid>
                <a:gridCol w="33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8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운영규칙구분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운영규칙코드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운영규칙명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로케이션추천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로케이션추천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가용재고 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부족시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배분 순위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긴급보충여부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재고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61" name="직사각형 54"/>
          <p:cNvSpPr>
            <a:spLocks noChangeArrowheads="1"/>
          </p:cNvSpPr>
          <p:nvPr/>
        </p:nvSpPr>
        <p:spPr bwMode="auto">
          <a:xfrm>
            <a:off x="309563" y="1852613"/>
            <a:ext cx="9215437" cy="19986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2" name="TextBox 55"/>
          <p:cNvSpPr txBox="1">
            <a:spLocks noChangeArrowheads="1"/>
          </p:cNvSpPr>
          <p:nvPr/>
        </p:nvSpPr>
        <p:spPr bwMode="auto">
          <a:xfrm>
            <a:off x="381000" y="172878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운영규칙등록</a:t>
            </a:r>
          </a:p>
        </p:txBody>
      </p:sp>
      <p:sp>
        <p:nvSpPr>
          <p:cNvPr id="4163" name="TextBox 65"/>
          <p:cNvSpPr txBox="1">
            <a:spLocks noChangeArrowheads="1"/>
          </p:cNvSpPr>
          <p:nvPr/>
        </p:nvSpPr>
        <p:spPr bwMode="auto">
          <a:xfrm>
            <a:off x="349250" y="131286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운영규칙구분</a:t>
            </a:r>
          </a:p>
        </p:txBody>
      </p:sp>
      <p:sp>
        <p:nvSpPr>
          <p:cNvPr id="4164" name="직사각형 66"/>
          <p:cNvSpPr>
            <a:spLocks noChangeArrowheads="1"/>
          </p:cNvSpPr>
          <p:nvPr/>
        </p:nvSpPr>
        <p:spPr bwMode="auto">
          <a:xfrm>
            <a:off x="12525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5" name="직사각형 51"/>
          <p:cNvSpPr>
            <a:spLocks noChangeArrowheads="1"/>
          </p:cNvSpPr>
          <p:nvPr/>
        </p:nvSpPr>
        <p:spPr bwMode="auto">
          <a:xfrm>
            <a:off x="8488363" y="1595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4166" name="직사각형 51"/>
          <p:cNvSpPr>
            <a:spLocks noChangeArrowheads="1"/>
          </p:cNvSpPr>
          <p:nvPr/>
        </p:nvSpPr>
        <p:spPr bwMode="auto">
          <a:xfrm>
            <a:off x="6856413" y="1595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16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416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169" name="직사각형 48"/>
          <p:cNvSpPr>
            <a:spLocks noChangeArrowheads="1"/>
          </p:cNvSpPr>
          <p:nvPr/>
        </p:nvSpPr>
        <p:spPr bwMode="auto">
          <a:xfrm>
            <a:off x="228917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0" name="직사각형 51"/>
          <p:cNvSpPr>
            <a:spLocks noChangeArrowheads="1"/>
          </p:cNvSpPr>
          <p:nvPr/>
        </p:nvSpPr>
        <p:spPr bwMode="auto">
          <a:xfrm>
            <a:off x="7402513" y="1595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171" name="직사각형 51"/>
          <p:cNvSpPr>
            <a:spLocks noChangeArrowheads="1"/>
          </p:cNvSpPr>
          <p:nvPr/>
        </p:nvSpPr>
        <p:spPr bwMode="auto">
          <a:xfrm>
            <a:off x="7948613" y="1595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4172" name="직사각형 51"/>
          <p:cNvSpPr>
            <a:spLocks noChangeArrowheads="1"/>
          </p:cNvSpPr>
          <p:nvPr/>
        </p:nvSpPr>
        <p:spPr bwMode="auto">
          <a:xfrm>
            <a:off x="9026525" y="15954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4173" name="직사각형 54"/>
          <p:cNvSpPr>
            <a:spLocks noChangeArrowheads="1"/>
          </p:cNvSpPr>
          <p:nvPr/>
        </p:nvSpPr>
        <p:spPr bwMode="auto">
          <a:xfrm>
            <a:off x="309563" y="3975100"/>
            <a:ext cx="9215437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174" name="그룹 52"/>
          <p:cNvGrpSpPr>
            <a:grpSpLocks/>
          </p:cNvGrpSpPr>
          <p:nvPr/>
        </p:nvGrpSpPr>
        <p:grpSpPr bwMode="auto">
          <a:xfrm>
            <a:off x="385763" y="4154488"/>
            <a:ext cx="2071687" cy="230187"/>
            <a:chOff x="3238492" y="1428736"/>
            <a:chExt cx="2071698" cy="230832"/>
          </a:xfrm>
          <a:noFill/>
        </p:grpSpPr>
        <p:sp>
          <p:nvSpPr>
            <p:cNvPr id="423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운영규칙구분</a:t>
              </a:r>
            </a:p>
          </p:txBody>
        </p:sp>
        <p:sp>
          <p:nvSpPr>
            <p:cNvPr id="4234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175" name="TextBox 65"/>
          <p:cNvSpPr txBox="1">
            <a:spLocks noChangeArrowheads="1"/>
          </p:cNvSpPr>
          <p:nvPr/>
        </p:nvSpPr>
        <p:spPr bwMode="auto">
          <a:xfrm>
            <a:off x="2720975" y="41417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운영규칙코드</a:t>
            </a:r>
          </a:p>
        </p:txBody>
      </p:sp>
      <p:sp>
        <p:nvSpPr>
          <p:cNvPr id="4176" name="직사각형 66"/>
          <p:cNvSpPr>
            <a:spLocks noChangeArrowheads="1"/>
          </p:cNvSpPr>
          <p:nvPr/>
        </p:nvSpPr>
        <p:spPr bwMode="auto">
          <a:xfrm>
            <a:off x="3802063" y="41417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7" name="TextBox 65"/>
          <p:cNvSpPr txBox="1">
            <a:spLocks noChangeArrowheads="1"/>
          </p:cNvSpPr>
          <p:nvPr/>
        </p:nvSpPr>
        <p:spPr bwMode="auto">
          <a:xfrm>
            <a:off x="5168900" y="4121150"/>
            <a:ext cx="11636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운영규칙명</a:t>
            </a:r>
          </a:p>
        </p:txBody>
      </p:sp>
      <p:sp>
        <p:nvSpPr>
          <p:cNvPr id="4178" name="직사각형 66"/>
          <p:cNvSpPr>
            <a:spLocks noChangeArrowheads="1"/>
          </p:cNvSpPr>
          <p:nvPr/>
        </p:nvSpPr>
        <p:spPr bwMode="auto">
          <a:xfrm>
            <a:off x="6283325" y="411956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9" name="TextBox 65"/>
          <p:cNvSpPr txBox="1">
            <a:spLocks noChangeArrowheads="1"/>
          </p:cNvSpPr>
          <p:nvPr/>
        </p:nvSpPr>
        <p:spPr bwMode="auto">
          <a:xfrm>
            <a:off x="7339013" y="41306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4180" name="직사각형 66"/>
          <p:cNvSpPr>
            <a:spLocks noChangeArrowheads="1"/>
          </p:cNvSpPr>
          <p:nvPr/>
        </p:nvSpPr>
        <p:spPr bwMode="auto">
          <a:xfrm>
            <a:off x="8407400" y="41195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1" name="직사각형 33"/>
          <p:cNvSpPr>
            <a:spLocks noChangeArrowheads="1"/>
          </p:cNvSpPr>
          <p:nvPr/>
        </p:nvSpPr>
        <p:spPr bwMode="auto">
          <a:xfrm>
            <a:off x="2319338" y="41576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036547"/>
              </p:ext>
            </p:extLst>
          </p:nvPr>
        </p:nvGraphicFramePr>
        <p:xfrm>
          <a:off x="358775" y="4945063"/>
          <a:ext cx="4090168" cy="642936"/>
        </p:xfrm>
        <a:graphic>
          <a:graphicData uri="http://schemas.openxmlformats.org/drawingml/2006/table">
            <a:tbl>
              <a:tblPr/>
              <a:tblGrid>
                <a:gridCol w="33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규칙코드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규칙명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기본규칙여부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미생성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생성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09" name="직사각형 33"/>
          <p:cNvSpPr>
            <a:spLocks noChangeArrowheads="1"/>
          </p:cNvSpPr>
          <p:nvPr/>
        </p:nvSpPr>
        <p:spPr bwMode="auto">
          <a:xfrm>
            <a:off x="2106613" y="1298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10" name="직사각형 54"/>
          <p:cNvSpPr>
            <a:spLocks noChangeArrowheads="1"/>
          </p:cNvSpPr>
          <p:nvPr/>
        </p:nvSpPr>
        <p:spPr bwMode="auto">
          <a:xfrm>
            <a:off x="303213" y="5808663"/>
            <a:ext cx="9215437" cy="5730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11" name="그룹 52"/>
          <p:cNvGrpSpPr>
            <a:grpSpLocks/>
          </p:cNvGrpSpPr>
          <p:nvPr/>
        </p:nvGrpSpPr>
        <p:grpSpPr bwMode="auto">
          <a:xfrm>
            <a:off x="379413" y="5988049"/>
            <a:ext cx="2071687" cy="230832"/>
            <a:chOff x="3238492" y="1428736"/>
            <a:chExt cx="2071698" cy="231478"/>
          </a:xfrm>
          <a:noFill/>
        </p:grpSpPr>
        <p:sp>
          <p:nvSpPr>
            <p:cNvPr id="423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147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규칙코드</a:t>
              </a:r>
            </a:p>
          </p:txBody>
        </p:sp>
        <p:sp>
          <p:nvSpPr>
            <p:cNvPr id="4232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12" name="TextBox 65"/>
          <p:cNvSpPr txBox="1">
            <a:spLocks noChangeArrowheads="1"/>
          </p:cNvSpPr>
          <p:nvPr/>
        </p:nvSpPr>
        <p:spPr bwMode="auto">
          <a:xfrm>
            <a:off x="2720975" y="59753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규칙명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3" name="직사각형 66"/>
          <p:cNvSpPr>
            <a:spLocks noChangeArrowheads="1"/>
          </p:cNvSpPr>
          <p:nvPr/>
        </p:nvSpPr>
        <p:spPr bwMode="auto">
          <a:xfrm>
            <a:off x="3802063" y="59753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4" name="TextBox 65"/>
          <p:cNvSpPr txBox="1">
            <a:spLocks noChangeArrowheads="1"/>
          </p:cNvSpPr>
          <p:nvPr/>
        </p:nvSpPr>
        <p:spPr bwMode="auto">
          <a:xfrm>
            <a:off x="5168900" y="5954713"/>
            <a:ext cx="116363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기본여부</a:t>
            </a:r>
          </a:p>
        </p:txBody>
      </p:sp>
      <p:sp>
        <p:nvSpPr>
          <p:cNvPr id="4215" name="직사각형 66"/>
          <p:cNvSpPr>
            <a:spLocks noChangeArrowheads="1"/>
          </p:cNvSpPr>
          <p:nvPr/>
        </p:nvSpPr>
        <p:spPr bwMode="auto">
          <a:xfrm>
            <a:off x="6283325" y="59531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6" name="TextBox 65"/>
          <p:cNvSpPr txBox="1">
            <a:spLocks noChangeArrowheads="1"/>
          </p:cNvSpPr>
          <p:nvPr/>
        </p:nvSpPr>
        <p:spPr bwMode="auto">
          <a:xfrm>
            <a:off x="7370763" y="59563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4217" name="직사각형 66"/>
          <p:cNvSpPr>
            <a:spLocks noChangeArrowheads="1"/>
          </p:cNvSpPr>
          <p:nvPr/>
        </p:nvSpPr>
        <p:spPr bwMode="auto">
          <a:xfrm>
            <a:off x="8439150" y="59451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8" name="직사각형 33"/>
          <p:cNvSpPr>
            <a:spLocks noChangeArrowheads="1"/>
          </p:cNvSpPr>
          <p:nvPr/>
        </p:nvSpPr>
        <p:spPr bwMode="auto">
          <a:xfrm>
            <a:off x="2312988" y="59912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19" name="직사각형 54"/>
          <p:cNvSpPr>
            <a:spLocks noChangeArrowheads="1"/>
          </p:cNvSpPr>
          <p:nvPr/>
        </p:nvSpPr>
        <p:spPr bwMode="auto">
          <a:xfrm>
            <a:off x="301625" y="4841875"/>
            <a:ext cx="9215438" cy="8143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20" name="TextBox 55"/>
          <p:cNvSpPr txBox="1">
            <a:spLocks noChangeArrowheads="1"/>
          </p:cNvSpPr>
          <p:nvPr/>
        </p:nvSpPr>
        <p:spPr bwMode="auto">
          <a:xfrm>
            <a:off x="373063" y="47180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운영규칙상세</a:t>
            </a:r>
          </a:p>
        </p:txBody>
      </p:sp>
      <p:sp>
        <p:nvSpPr>
          <p:cNvPr id="4221" name="직사각형 51"/>
          <p:cNvSpPr>
            <a:spLocks noChangeArrowheads="1"/>
          </p:cNvSpPr>
          <p:nvPr/>
        </p:nvSpPr>
        <p:spPr bwMode="auto">
          <a:xfrm>
            <a:off x="8488363" y="46037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4222" name="직사각형 51"/>
          <p:cNvSpPr>
            <a:spLocks noChangeArrowheads="1"/>
          </p:cNvSpPr>
          <p:nvPr/>
        </p:nvSpPr>
        <p:spPr bwMode="auto">
          <a:xfrm>
            <a:off x="6856413" y="46037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223" name="직사각형 51"/>
          <p:cNvSpPr>
            <a:spLocks noChangeArrowheads="1"/>
          </p:cNvSpPr>
          <p:nvPr/>
        </p:nvSpPr>
        <p:spPr bwMode="auto">
          <a:xfrm>
            <a:off x="7402513" y="46037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224" name="직사각형 51"/>
          <p:cNvSpPr>
            <a:spLocks noChangeArrowheads="1"/>
          </p:cNvSpPr>
          <p:nvPr/>
        </p:nvSpPr>
        <p:spPr bwMode="auto">
          <a:xfrm>
            <a:off x="7948613" y="46037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4225" name="직사각형 51"/>
          <p:cNvSpPr>
            <a:spLocks noChangeArrowheads="1"/>
          </p:cNvSpPr>
          <p:nvPr/>
        </p:nvSpPr>
        <p:spPr bwMode="auto">
          <a:xfrm>
            <a:off x="9026525" y="46037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4226" name="직사각형 33"/>
          <p:cNvSpPr>
            <a:spLocks noChangeArrowheads="1"/>
          </p:cNvSpPr>
          <p:nvPr/>
        </p:nvSpPr>
        <p:spPr bwMode="auto">
          <a:xfrm>
            <a:off x="7150100" y="5953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고객별 운영규칙 설정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8701088" cy="1928808"/>
        </p:xfrm>
        <a:graphic>
          <a:graphicData uri="http://schemas.openxmlformats.org/drawingml/2006/table">
            <a:tbl>
              <a:tblPr/>
              <a:tblGrid>
                <a:gridCol w="44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4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4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30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프로세스 옵션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프로세스 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옵션명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옵션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옵션명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기본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로케이션추천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로케이션추천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가용재고 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부족시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배분 순위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보충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긴급보충여부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미생성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생성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긴급보충시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자동 확정 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유통가공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46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26193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47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13319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고객별 운영규칙 관리</a:t>
            </a:r>
          </a:p>
        </p:txBody>
      </p:sp>
      <p:sp>
        <p:nvSpPr>
          <p:cNvPr id="6248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고객사</a:t>
            </a:r>
          </a:p>
        </p:txBody>
      </p:sp>
      <p:sp>
        <p:nvSpPr>
          <p:cNvPr id="6249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50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6251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625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25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254" name="직사각형 48"/>
          <p:cNvSpPr>
            <a:spLocks noChangeArrowheads="1"/>
          </p:cNvSpPr>
          <p:nvPr/>
        </p:nvSpPr>
        <p:spPr bwMode="auto">
          <a:xfrm>
            <a:off x="20050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55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6256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6257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엑셀</a:t>
            </a:r>
          </a:p>
        </p:txBody>
      </p:sp>
      <p:sp>
        <p:nvSpPr>
          <p:cNvPr id="6258" name="직사각형 54"/>
          <p:cNvSpPr>
            <a:spLocks noChangeArrowheads="1"/>
          </p:cNvSpPr>
          <p:nvPr/>
        </p:nvSpPr>
        <p:spPr bwMode="auto">
          <a:xfrm>
            <a:off x="309563" y="4873625"/>
            <a:ext cx="9215437" cy="1003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6259" name="그룹 52"/>
          <p:cNvGrpSpPr>
            <a:grpSpLocks/>
          </p:cNvGrpSpPr>
          <p:nvPr/>
        </p:nvGrpSpPr>
        <p:grpSpPr bwMode="auto">
          <a:xfrm>
            <a:off x="385763" y="5053013"/>
            <a:ext cx="2071687" cy="230187"/>
            <a:chOff x="3238492" y="1428736"/>
            <a:chExt cx="2071698" cy="230832"/>
          </a:xfrm>
          <a:noFill/>
        </p:grpSpPr>
        <p:sp>
          <p:nvSpPr>
            <p:cNvPr id="627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*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구분</a:t>
              </a:r>
            </a:p>
          </p:txBody>
        </p:sp>
        <p:sp>
          <p:nvSpPr>
            <p:cNvPr id="6276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260" name="TextBox 65"/>
          <p:cNvSpPr txBox="1">
            <a:spLocks noChangeArrowheads="1"/>
          </p:cNvSpPr>
          <p:nvPr/>
        </p:nvSpPr>
        <p:spPr bwMode="auto">
          <a:xfrm>
            <a:off x="3800475" y="50403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프로세스옵션</a:t>
            </a:r>
          </a:p>
        </p:txBody>
      </p:sp>
      <p:sp>
        <p:nvSpPr>
          <p:cNvPr id="6261" name="직사각형 66"/>
          <p:cNvSpPr>
            <a:spLocks noChangeArrowheads="1"/>
          </p:cNvSpPr>
          <p:nvPr/>
        </p:nvSpPr>
        <p:spPr bwMode="auto">
          <a:xfrm>
            <a:off x="4881563" y="5040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62" name="TextBox 65"/>
          <p:cNvSpPr txBox="1">
            <a:spLocks noChangeArrowheads="1"/>
          </p:cNvSpPr>
          <p:nvPr/>
        </p:nvSpPr>
        <p:spPr bwMode="auto">
          <a:xfrm>
            <a:off x="7275513" y="50196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옵션</a:t>
            </a:r>
          </a:p>
        </p:txBody>
      </p:sp>
      <p:sp>
        <p:nvSpPr>
          <p:cNvPr id="6263" name="직사각형 66"/>
          <p:cNvSpPr>
            <a:spLocks noChangeArrowheads="1"/>
          </p:cNvSpPr>
          <p:nvPr/>
        </p:nvSpPr>
        <p:spPr bwMode="auto">
          <a:xfrm>
            <a:off x="8343900" y="50180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64" name="TextBox 65"/>
          <p:cNvSpPr txBox="1">
            <a:spLocks noChangeArrowheads="1"/>
          </p:cNvSpPr>
          <p:nvPr/>
        </p:nvSpPr>
        <p:spPr bwMode="auto">
          <a:xfrm>
            <a:off x="385763" y="545782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옵션명</a:t>
            </a:r>
          </a:p>
        </p:txBody>
      </p:sp>
      <p:sp>
        <p:nvSpPr>
          <p:cNvPr id="6265" name="직사각형 66"/>
          <p:cNvSpPr>
            <a:spLocks noChangeArrowheads="1"/>
          </p:cNvSpPr>
          <p:nvPr/>
        </p:nvSpPr>
        <p:spPr bwMode="auto">
          <a:xfrm>
            <a:off x="1454150" y="54467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66" name="TextBox 65"/>
          <p:cNvSpPr txBox="1">
            <a:spLocks noChangeArrowheads="1"/>
          </p:cNvSpPr>
          <p:nvPr/>
        </p:nvSpPr>
        <p:spPr bwMode="auto">
          <a:xfrm>
            <a:off x="3813175" y="54435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기본</a:t>
            </a:r>
          </a:p>
        </p:txBody>
      </p:sp>
      <p:sp>
        <p:nvSpPr>
          <p:cNvPr id="6267" name="TextBox 65"/>
          <p:cNvSpPr txBox="1">
            <a:spLocks noChangeArrowheads="1"/>
          </p:cNvSpPr>
          <p:nvPr/>
        </p:nvSpPr>
        <p:spPr bwMode="auto">
          <a:xfrm>
            <a:off x="7265988" y="54387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비고</a:t>
            </a:r>
          </a:p>
        </p:txBody>
      </p:sp>
      <p:sp>
        <p:nvSpPr>
          <p:cNvPr id="6268" name="직사각형 66"/>
          <p:cNvSpPr>
            <a:spLocks noChangeArrowheads="1"/>
          </p:cNvSpPr>
          <p:nvPr/>
        </p:nvSpPr>
        <p:spPr bwMode="auto">
          <a:xfrm>
            <a:off x="8334375" y="54371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69" name="직사각형 66"/>
          <p:cNvSpPr>
            <a:spLocks noChangeArrowheads="1"/>
          </p:cNvSpPr>
          <p:nvPr/>
        </p:nvSpPr>
        <p:spPr bwMode="auto">
          <a:xfrm>
            <a:off x="4868863" y="5454650"/>
            <a:ext cx="1000125" cy="212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70" name="직사각형 66"/>
          <p:cNvSpPr>
            <a:spLocks noChangeArrowheads="1"/>
          </p:cNvSpPr>
          <p:nvPr/>
        </p:nvSpPr>
        <p:spPr bwMode="auto">
          <a:xfrm>
            <a:off x="2184400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627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27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물류센터</a:t>
              </a:r>
            </a:p>
          </p:txBody>
        </p:sp>
        <p:sp>
          <p:nvSpPr>
            <p:cNvPr id="627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27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-LOT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속성전략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93700" y="1985963"/>
          <a:ext cx="5495924" cy="428626"/>
        </p:xfrm>
        <a:graphic>
          <a:graphicData uri="http://schemas.openxmlformats.org/drawingml/2006/table">
            <a:tbl>
              <a:tblPr/>
              <a:tblGrid>
                <a:gridCol w="269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7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전략코드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BASIC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표준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번호생성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15" name="직사각형 54"/>
          <p:cNvSpPr>
            <a:spLocks noChangeArrowheads="1"/>
          </p:cNvSpPr>
          <p:nvPr/>
        </p:nvSpPr>
        <p:spPr bwMode="auto">
          <a:xfrm>
            <a:off x="309563" y="1878013"/>
            <a:ext cx="9215437" cy="5969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16" name="TextBox 55"/>
          <p:cNvSpPr txBox="1">
            <a:spLocks noChangeArrowheads="1"/>
          </p:cNvSpPr>
          <p:nvPr/>
        </p:nvSpPr>
        <p:spPr bwMode="auto">
          <a:xfrm>
            <a:off x="381000" y="175418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LOT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생성전략</a:t>
            </a:r>
          </a:p>
        </p:txBody>
      </p:sp>
      <p:sp>
        <p:nvSpPr>
          <p:cNvPr id="8217" name="TextBox 65"/>
          <p:cNvSpPr txBox="1">
            <a:spLocks noChangeArrowheads="1"/>
          </p:cNvSpPr>
          <p:nvPr/>
        </p:nvSpPr>
        <p:spPr bwMode="auto">
          <a:xfrm>
            <a:off x="360363" y="1304925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전략코드</a:t>
            </a:r>
          </a:p>
        </p:txBody>
      </p:sp>
      <p:sp>
        <p:nvSpPr>
          <p:cNvPr id="8218" name="직사각형 66"/>
          <p:cNvSpPr>
            <a:spLocks noChangeArrowheads="1"/>
          </p:cNvSpPr>
          <p:nvPr/>
        </p:nvSpPr>
        <p:spPr bwMode="auto">
          <a:xfrm>
            <a:off x="1120775" y="12874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19" name="직사각형 51"/>
          <p:cNvSpPr>
            <a:spLocks noChangeArrowheads="1"/>
          </p:cNvSpPr>
          <p:nvPr/>
        </p:nvSpPr>
        <p:spPr bwMode="auto">
          <a:xfrm>
            <a:off x="8488363" y="1620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8220" name="직사각형 51"/>
          <p:cNvSpPr>
            <a:spLocks noChangeArrowheads="1"/>
          </p:cNvSpPr>
          <p:nvPr/>
        </p:nvSpPr>
        <p:spPr bwMode="auto">
          <a:xfrm>
            <a:off x="6856413" y="1620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822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822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8223" name="TextBox 65"/>
          <p:cNvSpPr txBox="1">
            <a:spLocks noChangeArrowheads="1"/>
          </p:cNvSpPr>
          <p:nvPr/>
        </p:nvSpPr>
        <p:spPr bwMode="auto">
          <a:xfrm>
            <a:off x="3354388" y="1304925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전략명</a:t>
            </a:r>
          </a:p>
        </p:txBody>
      </p:sp>
      <p:sp>
        <p:nvSpPr>
          <p:cNvPr id="8224" name="직사각형 66"/>
          <p:cNvSpPr>
            <a:spLocks noChangeArrowheads="1"/>
          </p:cNvSpPr>
          <p:nvPr/>
        </p:nvSpPr>
        <p:spPr bwMode="auto">
          <a:xfrm>
            <a:off x="4313238" y="12874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25" name="직사각형 51"/>
          <p:cNvSpPr>
            <a:spLocks noChangeArrowheads="1"/>
          </p:cNvSpPr>
          <p:nvPr/>
        </p:nvSpPr>
        <p:spPr bwMode="auto">
          <a:xfrm>
            <a:off x="7402513" y="1620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8226" name="직사각형 51"/>
          <p:cNvSpPr>
            <a:spLocks noChangeArrowheads="1"/>
          </p:cNvSpPr>
          <p:nvPr/>
        </p:nvSpPr>
        <p:spPr bwMode="auto">
          <a:xfrm>
            <a:off x="7948613" y="1620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8227" name="직사각형 51"/>
          <p:cNvSpPr>
            <a:spLocks noChangeArrowheads="1"/>
          </p:cNvSpPr>
          <p:nvPr/>
        </p:nvSpPr>
        <p:spPr bwMode="auto">
          <a:xfrm>
            <a:off x="9026525" y="1620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엑셀</a:t>
            </a:r>
          </a:p>
        </p:txBody>
      </p:sp>
      <p:sp>
        <p:nvSpPr>
          <p:cNvPr id="8228" name="직사각형 54"/>
          <p:cNvSpPr>
            <a:spLocks noChangeArrowheads="1"/>
          </p:cNvSpPr>
          <p:nvPr/>
        </p:nvSpPr>
        <p:spPr bwMode="auto">
          <a:xfrm>
            <a:off x="309563" y="5956300"/>
            <a:ext cx="9215437" cy="4635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" name="그룹 52"/>
          <p:cNvGrpSpPr>
            <a:grpSpLocks/>
          </p:cNvGrpSpPr>
          <p:nvPr/>
        </p:nvGrpSpPr>
        <p:grpSpPr bwMode="auto">
          <a:xfrm>
            <a:off x="385763" y="6095997"/>
            <a:ext cx="2071687" cy="230187"/>
            <a:chOff x="3238492" y="1428736"/>
            <a:chExt cx="2071698" cy="230832"/>
          </a:xfrm>
          <a:noFill/>
        </p:grpSpPr>
        <p:sp>
          <p:nvSpPr>
            <p:cNvPr id="825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*LOT</a:t>
              </a: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전략코드</a:t>
              </a:r>
            </a:p>
          </p:txBody>
        </p:sp>
        <p:sp>
          <p:nvSpPr>
            <p:cNvPr id="8255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8230" name="TextBox 65"/>
          <p:cNvSpPr txBox="1">
            <a:spLocks noChangeArrowheads="1"/>
          </p:cNvSpPr>
          <p:nvPr/>
        </p:nvSpPr>
        <p:spPr bwMode="auto">
          <a:xfrm>
            <a:off x="3657600" y="6083300"/>
            <a:ext cx="10715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*LOT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전략명</a:t>
            </a:r>
          </a:p>
        </p:txBody>
      </p:sp>
      <p:sp>
        <p:nvSpPr>
          <p:cNvPr id="8231" name="직사각형 66"/>
          <p:cNvSpPr>
            <a:spLocks noChangeArrowheads="1"/>
          </p:cNvSpPr>
          <p:nvPr/>
        </p:nvSpPr>
        <p:spPr bwMode="auto">
          <a:xfrm>
            <a:off x="4738688" y="608330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32" name="TextBox 65"/>
          <p:cNvSpPr txBox="1">
            <a:spLocks noChangeArrowheads="1"/>
          </p:cNvSpPr>
          <p:nvPr/>
        </p:nvSpPr>
        <p:spPr bwMode="auto">
          <a:xfrm>
            <a:off x="7040563" y="6061075"/>
            <a:ext cx="107156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설명</a:t>
            </a:r>
          </a:p>
        </p:txBody>
      </p:sp>
      <p:sp>
        <p:nvSpPr>
          <p:cNvPr id="8233" name="직사각형 66"/>
          <p:cNvSpPr>
            <a:spLocks noChangeArrowheads="1"/>
          </p:cNvSpPr>
          <p:nvPr/>
        </p:nvSpPr>
        <p:spPr bwMode="auto">
          <a:xfrm>
            <a:off x="8108950" y="606107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34" name="직사각형 54"/>
          <p:cNvSpPr>
            <a:spLocks noChangeArrowheads="1"/>
          </p:cNvSpPr>
          <p:nvPr/>
        </p:nvSpPr>
        <p:spPr bwMode="auto">
          <a:xfrm>
            <a:off x="309563" y="2865438"/>
            <a:ext cx="9215437" cy="28273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48" name="Group 139"/>
          <p:cNvGraphicFramePr>
            <a:graphicFrameLocks noGrp="1"/>
          </p:cNvGraphicFramePr>
          <p:nvPr/>
        </p:nvGraphicFramePr>
        <p:xfrm>
          <a:off x="404813" y="2989263"/>
          <a:ext cx="5508625" cy="2576505"/>
        </p:xfrm>
        <a:graphic>
          <a:graphicData uri="http://schemas.openxmlformats.org/drawingml/2006/table">
            <a:tbl>
              <a:tblPr/>
              <a:tblGrid>
                <a:gridCol w="446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물류센터코드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물류센터 코드가 다르면 신규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생성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제품코드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제품상태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제품상태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양품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불량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 다르면 신규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생성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입고번호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제조일자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유통기한</a:t>
                      </a: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1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6" marR="7646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315" name="TextBox 55"/>
          <p:cNvSpPr txBox="1">
            <a:spLocks noChangeArrowheads="1"/>
          </p:cNvSpPr>
          <p:nvPr/>
        </p:nvSpPr>
        <p:spPr bwMode="auto">
          <a:xfrm>
            <a:off x="381000" y="2720975"/>
            <a:ext cx="928688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LOT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생성상세</a:t>
            </a:r>
          </a:p>
        </p:txBody>
      </p:sp>
      <p:sp>
        <p:nvSpPr>
          <p:cNvPr id="8316" name="직사각형 51"/>
          <p:cNvSpPr>
            <a:spLocks noChangeArrowheads="1"/>
          </p:cNvSpPr>
          <p:nvPr/>
        </p:nvSpPr>
        <p:spPr bwMode="auto">
          <a:xfrm>
            <a:off x="8488363" y="2597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8317" name="직사각형 51"/>
          <p:cNvSpPr>
            <a:spLocks noChangeArrowheads="1"/>
          </p:cNvSpPr>
          <p:nvPr/>
        </p:nvSpPr>
        <p:spPr bwMode="auto">
          <a:xfrm>
            <a:off x="9039225" y="25908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2922588" cy="428626"/>
        </p:xfrm>
        <a:graphic>
          <a:graphicData uri="http://schemas.openxmlformats.org/drawingml/2006/table">
            <a:tbl>
              <a:tblPr/>
              <a:tblGrid>
                <a:gridCol w="302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60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619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61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4683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</a:t>
            </a:r>
          </a:p>
        </p:txBody>
      </p:sp>
      <p:sp>
        <p:nvSpPr>
          <p:cNvPr id="10262" name="직사각형 51"/>
          <p:cNvSpPr>
            <a:spLocks noChangeArrowheads="1"/>
          </p:cNvSpPr>
          <p:nvPr/>
        </p:nvSpPr>
        <p:spPr bwMode="auto">
          <a:xfrm>
            <a:off x="8999538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0263" name="직사각형 51"/>
          <p:cNvSpPr>
            <a:spLocks noChangeArrowheads="1"/>
          </p:cNvSpPr>
          <p:nvPr/>
        </p:nvSpPr>
        <p:spPr bwMode="auto">
          <a:xfrm>
            <a:off x="7367588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1026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026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0266" name="직사각형 51"/>
          <p:cNvSpPr>
            <a:spLocks noChangeArrowheads="1"/>
          </p:cNvSpPr>
          <p:nvPr/>
        </p:nvSpPr>
        <p:spPr bwMode="auto">
          <a:xfrm>
            <a:off x="7913688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0267" name="직사각형 51"/>
          <p:cNvSpPr>
            <a:spLocks noChangeArrowheads="1"/>
          </p:cNvSpPr>
          <p:nvPr/>
        </p:nvSpPr>
        <p:spPr bwMode="auto">
          <a:xfrm>
            <a:off x="8459788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graphicFrame>
        <p:nvGraphicFramePr>
          <p:cNvPr id="23" name="Group 139"/>
          <p:cNvGraphicFramePr>
            <a:graphicFrameLocks noGrp="1"/>
          </p:cNvGraphicFramePr>
          <p:nvPr/>
        </p:nvGraphicFramePr>
        <p:xfrm>
          <a:off x="392113" y="3228975"/>
          <a:ext cx="9024934" cy="701675"/>
        </p:xfrm>
        <a:graphic>
          <a:graphicData uri="http://schemas.openxmlformats.org/drawingml/2006/table">
            <a:tbl>
              <a:tblPr/>
              <a:tblGrid>
                <a:gridCol w="238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80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32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598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22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상세설명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우선순위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적치상세전략유형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동일제품 범위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인근로케이션범위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인근로케이션범위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체적체크여부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체적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FROM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체적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중량체크여부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FROM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제품혼적여부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로트혼적여부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동일제품적치셀찾기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동일 </a:t>
                      </a: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 적치셀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제품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21" name="직사각형 54"/>
          <p:cNvSpPr>
            <a:spLocks noChangeArrowheads="1"/>
          </p:cNvSpPr>
          <p:nvPr/>
        </p:nvSpPr>
        <p:spPr bwMode="auto">
          <a:xfrm>
            <a:off x="346075" y="3121025"/>
            <a:ext cx="9170988" cy="16525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22" name="TextBox 55"/>
          <p:cNvSpPr txBox="1">
            <a:spLocks noChangeArrowheads="1"/>
          </p:cNvSpPr>
          <p:nvPr/>
        </p:nvSpPr>
        <p:spPr bwMode="auto">
          <a:xfrm>
            <a:off x="417513" y="299720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</a:t>
            </a:r>
          </a:p>
        </p:txBody>
      </p:sp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96875" y="4054475"/>
          <a:ext cx="6996116" cy="633416"/>
        </p:xfrm>
        <a:graphic>
          <a:graphicData uri="http://schemas.openxmlformats.org/drawingml/2006/table">
            <a:tbl>
              <a:tblPr/>
              <a:tblGrid>
                <a:gridCol w="406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3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존포함사용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존제외사용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로케이션포함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로케이션제외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적치추천순서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 우선순위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적치추천순서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적치추천순서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적치추천순서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로케이션이름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정렬기준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정렬방법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오름차순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오름차순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Group 139"/>
          <p:cNvGraphicFramePr>
            <a:graphicFrameLocks noGrp="1"/>
          </p:cNvGraphicFramePr>
          <p:nvPr/>
        </p:nvGraphicFramePr>
        <p:xfrm>
          <a:off x="414338" y="5492750"/>
          <a:ext cx="3078162" cy="528638"/>
        </p:xfrm>
        <a:graphic>
          <a:graphicData uri="http://schemas.openxmlformats.org/drawingml/2006/table">
            <a:tbl>
              <a:tblPr/>
              <a:tblGrid>
                <a:gridCol w="290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69" name="직사각형 54"/>
          <p:cNvSpPr>
            <a:spLocks noChangeArrowheads="1"/>
          </p:cNvSpPr>
          <p:nvPr/>
        </p:nvSpPr>
        <p:spPr bwMode="auto">
          <a:xfrm>
            <a:off x="344488" y="5159375"/>
            <a:ext cx="9170987" cy="10779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415925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1214438" y="5265738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한쪽 모서리가 둥근 사각형 33"/>
          <p:cNvSpPr/>
          <p:nvPr/>
        </p:nvSpPr>
        <p:spPr bwMode="auto">
          <a:xfrm>
            <a:off x="2012950" y="5265738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한쪽 모서리가 둥근 사각형 34"/>
          <p:cNvSpPr/>
          <p:nvPr/>
        </p:nvSpPr>
        <p:spPr bwMode="auto">
          <a:xfrm>
            <a:off x="3152775" y="5265738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374" name="직사각형 51"/>
          <p:cNvSpPr>
            <a:spLocks noChangeArrowheads="1"/>
          </p:cNvSpPr>
          <p:nvPr/>
        </p:nvSpPr>
        <p:spPr bwMode="auto">
          <a:xfrm>
            <a:off x="9013825" y="282892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0375" name="직사각형 51"/>
          <p:cNvSpPr>
            <a:spLocks noChangeArrowheads="1"/>
          </p:cNvSpPr>
          <p:nvPr/>
        </p:nvSpPr>
        <p:spPr bwMode="auto">
          <a:xfrm>
            <a:off x="8467725" y="282892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0376" name="TextBox 65"/>
          <p:cNvSpPr txBox="1">
            <a:spLocks noChangeArrowheads="1"/>
          </p:cNvSpPr>
          <p:nvPr/>
        </p:nvSpPr>
        <p:spPr bwMode="auto">
          <a:xfrm>
            <a:off x="3603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전략코드</a:t>
            </a:r>
          </a:p>
        </p:txBody>
      </p:sp>
      <p:sp>
        <p:nvSpPr>
          <p:cNvPr id="10377" name="직사각형 66"/>
          <p:cNvSpPr>
            <a:spLocks noChangeArrowheads="1"/>
          </p:cNvSpPr>
          <p:nvPr/>
        </p:nvSpPr>
        <p:spPr bwMode="auto">
          <a:xfrm>
            <a:off x="11207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78" name="TextBox 65"/>
          <p:cNvSpPr txBox="1">
            <a:spLocks noChangeArrowheads="1"/>
          </p:cNvSpPr>
          <p:nvPr/>
        </p:nvSpPr>
        <p:spPr bwMode="auto">
          <a:xfrm>
            <a:off x="335438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전략명</a:t>
            </a:r>
          </a:p>
        </p:txBody>
      </p:sp>
      <p:sp>
        <p:nvSpPr>
          <p:cNvPr id="10379" name="직사각형 66"/>
          <p:cNvSpPr>
            <a:spLocks noChangeArrowheads="1"/>
          </p:cNvSpPr>
          <p:nvPr/>
        </p:nvSpPr>
        <p:spPr bwMode="auto">
          <a:xfrm>
            <a:off x="43132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80" name="직사각형 51"/>
          <p:cNvSpPr>
            <a:spLocks noChangeArrowheads="1"/>
          </p:cNvSpPr>
          <p:nvPr/>
        </p:nvSpPr>
        <p:spPr bwMode="auto">
          <a:xfrm>
            <a:off x="9013825" y="48688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0381" name="직사각형 51"/>
          <p:cNvSpPr>
            <a:spLocks noChangeArrowheads="1"/>
          </p:cNvSpPr>
          <p:nvPr/>
        </p:nvSpPr>
        <p:spPr bwMode="auto">
          <a:xfrm>
            <a:off x="8467725" y="48688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등록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2293" name="직사각형 54"/>
          <p:cNvSpPr>
            <a:spLocks noChangeArrowheads="1"/>
          </p:cNvSpPr>
          <p:nvPr/>
        </p:nvSpPr>
        <p:spPr bwMode="auto">
          <a:xfrm>
            <a:off x="344488" y="1576388"/>
            <a:ext cx="9170987" cy="32639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4" name="TextBox 55"/>
          <p:cNvSpPr txBox="1">
            <a:spLocks noChangeArrowheads="1"/>
          </p:cNvSpPr>
          <p:nvPr/>
        </p:nvSpPr>
        <p:spPr bwMode="auto">
          <a:xfrm>
            <a:off x="415925" y="14525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</a:t>
            </a:r>
          </a:p>
        </p:txBody>
      </p:sp>
      <p:graphicFrame>
        <p:nvGraphicFramePr>
          <p:cNvPr id="27" name="Group 139"/>
          <p:cNvGraphicFramePr>
            <a:graphicFrameLocks noGrp="1"/>
          </p:cNvGraphicFramePr>
          <p:nvPr/>
        </p:nvGraphicFramePr>
        <p:xfrm>
          <a:off x="414338" y="5492750"/>
          <a:ext cx="3079751" cy="528638"/>
        </p:xfrm>
        <a:graphic>
          <a:graphicData uri="http://schemas.openxmlformats.org/drawingml/2006/table">
            <a:tbl>
              <a:tblPr/>
              <a:tblGrid>
                <a:gridCol w="29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09" name="직사각형 54"/>
          <p:cNvSpPr>
            <a:spLocks noChangeArrowheads="1"/>
          </p:cNvSpPr>
          <p:nvPr/>
        </p:nvSpPr>
        <p:spPr bwMode="auto">
          <a:xfrm>
            <a:off x="344488" y="5159375"/>
            <a:ext cx="9170987" cy="10779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415925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1214438" y="5265738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한쪽 모서리가 둥근 사각형 33"/>
          <p:cNvSpPr/>
          <p:nvPr/>
        </p:nvSpPr>
        <p:spPr bwMode="auto">
          <a:xfrm>
            <a:off x="2012950" y="5265738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한쪽 모서리가 둥근 사각형 34"/>
          <p:cNvSpPr/>
          <p:nvPr/>
        </p:nvSpPr>
        <p:spPr bwMode="auto">
          <a:xfrm>
            <a:off x="3152775" y="5265738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314" name="직사각형 51"/>
          <p:cNvSpPr>
            <a:spLocks noChangeArrowheads="1"/>
          </p:cNvSpPr>
          <p:nvPr/>
        </p:nvSpPr>
        <p:spPr bwMode="auto">
          <a:xfrm>
            <a:off x="8428038" y="1341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2315" name="직사각형 51"/>
          <p:cNvSpPr>
            <a:spLocks noChangeArrowheads="1"/>
          </p:cNvSpPr>
          <p:nvPr/>
        </p:nvSpPr>
        <p:spPr bwMode="auto">
          <a:xfrm>
            <a:off x="8985250" y="48879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2316" name="직사각형 51"/>
          <p:cNvSpPr>
            <a:spLocks noChangeArrowheads="1"/>
          </p:cNvSpPr>
          <p:nvPr/>
        </p:nvSpPr>
        <p:spPr bwMode="auto">
          <a:xfrm>
            <a:off x="8423275" y="48879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grpSp>
        <p:nvGrpSpPr>
          <p:cNvPr id="37" name="그룹 52"/>
          <p:cNvGrpSpPr>
            <a:grpSpLocks/>
          </p:cNvGrpSpPr>
          <p:nvPr/>
        </p:nvGrpSpPr>
        <p:grpSpPr bwMode="auto">
          <a:xfrm>
            <a:off x="361217" y="1646958"/>
            <a:ext cx="2071687" cy="230187"/>
            <a:chOff x="3238492" y="1428736"/>
            <a:chExt cx="2071698" cy="230832"/>
          </a:xfrm>
          <a:noFill/>
        </p:grpSpPr>
        <p:sp>
          <p:nvSpPr>
            <p:cNvPr id="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*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상세설명</a:t>
              </a:r>
            </a:p>
          </p:txBody>
        </p:sp>
        <p:sp>
          <p:nvSpPr>
            <p:cNvPr id="4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빈로케이션</a:t>
              </a:r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2318" name="TextBox 65"/>
          <p:cNvSpPr txBox="1">
            <a:spLocks noChangeArrowheads="1"/>
          </p:cNvSpPr>
          <p:nvPr/>
        </p:nvSpPr>
        <p:spPr bwMode="auto">
          <a:xfrm>
            <a:off x="2576513" y="16462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2319" name="직사각형 66"/>
          <p:cNvSpPr>
            <a:spLocks noChangeArrowheads="1"/>
          </p:cNvSpPr>
          <p:nvPr/>
        </p:nvSpPr>
        <p:spPr bwMode="auto">
          <a:xfrm>
            <a:off x="3657600" y="16462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20" name="TextBox 65"/>
          <p:cNvSpPr txBox="1">
            <a:spLocks noChangeArrowheads="1"/>
          </p:cNvSpPr>
          <p:nvPr/>
        </p:nvSpPr>
        <p:spPr bwMode="auto">
          <a:xfrm>
            <a:off x="4833938" y="1646238"/>
            <a:ext cx="12811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적치상세전략유형</a:t>
            </a:r>
          </a:p>
        </p:txBody>
      </p:sp>
      <p:sp>
        <p:nvSpPr>
          <p:cNvPr id="12321" name="직사각형 66"/>
          <p:cNvSpPr>
            <a:spLocks noChangeArrowheads="1"/>
          </p:cNvSpPr>
          <p:nvPr/>
        </p:nvSpPr>
        <p:spPr bwMode="auto">
          <a:xfrm>
            <a:off x="6111875" y="16462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빈로케이션</a:t>
            </a:r>
          </a:p>
        </p:txBody>
      </p:sp>
      <p:sp>
        <p:nvSpPr>
          <p:cNvPr id="12322" name="TextBox 65"/>
          <p:cNvSpPr txBox="1">
            <a:spLocks noChangeArrowheads="1"/>
          </p:cNvSpPr>
          <p:nvPr/>
        </p:nvSpPr>
        <p:spPr bwMode="auto">
          <a:xfrm>
            <a:off x="361950" y="20494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동일품목범위</a:t>
            </a:r>
          </a:p>
        </p:txBody>
      </p:sp>
      <p:sp>
        <p:nvSpPr>
          <p:cNvPr id="12323" name="직사각형 66"/>
          <p:cNvSpPr>
            <a:spLocks noChangeArrowheads="1"/>
          </p:cNvSpPr>
          <p:nvPr/>
        </p:nvSpPr>
        <p:spPr bwMode="auto">
          <a:xfrm>
            <a:off x="1430338" y="20383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제품</a:t>
            </a:r>
          </a:p>
        </p:txBody>
      </p:sp>
      <p:sp>
        <p:nvSpPr>
          <p:cNvPr id="12324" name="TextBox 65"/>
          <p:cNvSpPr txBox="1">
            <a:spLocks noChangeArrowheads="1"/>
          </p:cNvSpPr>
          <p:nvPr/>
        </p:nvSpPr>
        <p:spPr bwMode="auto">
          <a:xfrm>
            <a:off x="2589213" y="20351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인근셀범위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열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25" name="TextBox 65"/>
          <p:cNvSpPr txBox="1">
            <a:spLocks noChangeArrowheads="1"/>
          </p:cNvSpPr>
          <p:nvPr/>
        </p:nvSpPr>
        <p:spPr bwMode="auto">
          <a:xfrm>
            <a:off x="4808538" y="20304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인근셀범위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단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26" name="직사각형 66"/>
          <p:cNvSpPr>
            <a:spLocks noChangeArrowheads="1"/>
          </p:cNvSpPr>
          <p:nvPr/>
        </p:nvSpPr>
        <p:spPr bwMode="auto">
          <a:xfrm>
            <a:off x="6113463" y="20288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27" name="직사각형 66"/>
          <p:cNvSpPr>
            <a:spLocks noChangeArrowheads="1"/>
          </p:cNvSpPr>
          <p:nvPr/>
        </p:nvSpPr>
        <p:spPr bwMode="auto">
          <a:xfrm>
            <a:off x="3644900" y="2046288"/>
            <a:ext cx="1000125" cy="212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28" name="직사각형 33"/>
          <p:cNvSpPr>
            <a:spLocks noChangeArrowheads="1"/>
          </p:cNvSpPr>
          <p:nvPr/>
        </p:nvSpPr>
        <p:spPr bwMode="auto">
          <a:xfrm>
            <a:off x="2287588" y="20367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29" name="직사각형 33"/>
          <p:cNvSpPr>
            <a:spLocks noChangeArrowheads="1"/>
          </p:cNvSpPr>
          <p:nvPr/>
        </p:nvSpPr>
        <p:spPr bwMode="auto">
          <a:xfrm>
            <a:off x="6969125" y="16462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30" name="TextBox 65"/>
          <p:cNvSpPr txBox="1">
            <a:spLocks noChangeArrowheads="1"/>
          </p:cNvSpPr>
          <p:nvPr/>
        </p:nvSpPr>
        <p:spPr bwMode="auto">
          <a:xfrm>
            <a:off x="352425" y="2428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 체크</a:t>
            </a:r>
          </a:p>
        </p:txBody>
      </p:sp>
      <p:sp>
        <p:nvSpPr>
          <p:cNvPr id="12331" name="직사각형 66"/>
          <p:cNvSpPr>
            <a:spLocks noChangeArrowheads="1"/>
          </p:cNvSpPr>
          <p:nvPr/>
        </p:nvSpPr>
        <p:spPr bwMode="auto">
          <a:xfrm>
            <a:off x="1420813" y="2427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2" name="직사각형 51"/>
          <p:cNvSpPr>
            <a:spLocks noChangeArrowheads="1"/>
          </p:cNvSpPr>
          <p:nvPr/>
        </p:nvSpPr>
        <p:spPr bwMode="auto">
          <a:xfrm>
            <a:off x="9001125" y="13287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2333" name="TextBox 65"/>
          <p:cNvSpPr txBox="1">
            <a:spLocks noChangeArrowheads="1"/>
          </p:cNvSpPr>
          <p:nvPr/>
        </p:nvSpPr>
        <p:spPr bwMode="auto">
          <a:xfrm>
            <a:off x="2578100" y="24733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4" name="직사각형 66"/>
          <p:cNvSpPr>
            <a:spLocks noChangeArrowheads="1"/>
          </p:cNvSpPr>
          <p:nvPr/>
        </p:nvSpPr>
        <p:spPr bwMode="auto">
          <a:xfrm>
            <a:off x="3644900" y="2471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5" name="TextBox 65"/>
          <p:cNvSpPr txBox="1">
            <a:spLocks noChangeArrowheads="1"/>
          </p:cNvSpPr>
          <p:nvPr/>
        </p:nvSpPr>
        <p:spPr bwMode="auto">
          <a:xfrm>
            <a:off x="5045075" y="24685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6" name="직사각형 66"/>
          <p:cNvSpPr>
            <a:spLocks noChangeArrowheads="1"/>
          </p:cNvSpPr>
          <p:nvPr/>
        </p:nvSpPr>
        <p:spPr bwMode="auto">
          <a:xfrm>
            <a:off x="6111875" y="24669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7" name="TextBox 65"/>
          <p:cNvSpPr txBox="1">
            <a:spLocks noChangeArrowheads="1"/>
          </p:cNvSpPr>
          <p:nvPr/>
        </p:nvSpPr>
        <p:spPr bwMode="auto">
          <a:xfrm>
            <a:off x="342900" y="27987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 체크</a:t>
            </a:r>
          </a:p>
        </p:txBody>
      </p:sp>
      <p:sp>
        <p:nvSpPr>
          <p:cNvPr id="12338" name="직사각형 66"/>
          <p:cNvSpPr>
            <a:spLocks noChangeArrowheads="1"/>
          </p:cNvSpPr>
          <p:nvPr/>
        </p:nvSpPr>
        <p:spPr bwMode="auto">
          <a:xfrm>
            <a:off x="1411288" y="27971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39" name="TextBox 65"/>
          <p:cNvSpPr txBox="1">
            <a:spLocks noChangeArrowheads="1"/>
          </p:cNvSpPr>
          <p:nvPr/>
        </p:nvSpPr>
        <p:spPr bwMode="auto">
          <a:xfrm>
            <a:off x="2578100" y="27955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0" name="직사각형 66"/>
          <p:cNvSpPr>
            <a:spLocks noChangeArrowheads="1"/>
          </p:cNvSpPr>
          <p:nvPr/>
        </p:nvSpPr>
        <p:spPr bwMode="auto">
          <a:xfrm>
            <a:off x="3644900" y="27940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1" name="TextBox 65"/>
          <p:cNvSpPr txBox="1">
            <a:spLocks noChangeArrowheads="1"/>
          </p:cNvSpPr>
          <p:nvPr/>
        </p:nvSpPr>
        <p:spPr bwMode="auto">
          <a:xfrm>
            <a:off x="5045075" y="27892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2" name="직사각형 66"/>
          <p:cNvSpPr>
            <a:spLocks noChangeArrowheads="1"/>
          </p:cNvSpPr>
          <p:nvPr/>
        </p:nvSpPr>
        <p:spPr bwMode="auto">
          <a:xfrm>
            <a:off x="6111875" y="2787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3" name="TextBox 65"/>
          <p:cNvSpPr txBox="1">
            <a:spLocks noChangeArrowheads="1"/>
          </p:cNvSpPr>
          <p:nvPr/>
        </p:nvSpPr>
        <p:spPr bwMode="auto">
          <a:xfrm>
            <a:off x="361950" y="31353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제품혼적 체크</a:t>
            </a:r>
          </a:p>
        </p:txBody>
      </p:sp>
      <p:sp>
        <p:nvSpPr>
          <p:cNvPr id="12344" name="직사각형 66"/>
          <p:cNvSpPr>
            <a:spLocks noChangeArrowheads="1"/>
          </p:cNvSpPr>
          <p:nvPr/>
        </p:nvSpPr>
        <p:spPr bwMode="auto">
          <a:xfrm>
            <a:off x="1430338" y="31337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5" name="TextBox 65"/>
          <p:cNvSpPr txBox="1">
            <a:spLocks noChangeArrowheads="1"/>
          </p:cNvSpPr>
          <p:nvPr/>
        </p:nvSpPr>
        <p:spPr bwMode="auto">
          <a:xfrm>
            <a:off x="2578100" y="31416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로트혼적 체크</a:t>
            </a:r>
          </a:p>
        </p:txBody>
      </p:sp>
      <p:sp>
        <p:nvSpPr>
          <p:cNvPr id="12346" name="직사각형 66"/>
          <p:cNvSpPr>
            <a:spLocks noChangeArrowheads="1"/>
          </p:cNvSpPr>
          <p:nvPr/>
        </p:nvSpPr>
        <p:spPr bwMode="auto">
          <a:xfrm>
            <a:off x="3644900" y="31400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7" name="TextBox 65"/>
          <p:cNvSpPr txBox="1">
            <a:spLocks noChangeArrowheads="1"/>
          </p:cNvSpPr>
          <p:nvPr/>
        </p:nvSpPr>
        <p:spPr bwMode="auto">
          <a:xfrm>
            <a:off x="371475" y="34925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존포함 사용 체크</a:t>
            </a:r>
          </a:p>
        </p:txBody>
      </p:sp>
      <p:sp>
        <p:nvSpPr>
          <p:cNvPr id="12348" name="직사각형 66"/>
          <p:cNvSpPr>
            <a:spLocks noChangeArrowheads="1"/>
          </p:cNvSpPr>
          <p:nvPr/>
        </p:nvSpPr>
        <p:spPr bwMode="auto">
          <a:xfrm>
            <a:off x="1430338" y="35099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49" name="TextBox 65"/>
          <p:cNvSpPr txBox="1">
            <a:spLocks noChangeArrowheads="1"/>
          </p:cNvSpPr>
          <p:nvPr/>
        </p:nvSpPr>
        <p:spPr bwMode="auto">
          <a:xfrm>
            <a:off x="2587625" y="34988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존포함제외체크</a:t>
            </a:r>
          </a:p>
        </p:txBody>
      </p:sp>
      <p:sp>
        <p:nvSpPr>
          <p:cNvPr id="12350" name="직사각형 66"/>
          <p:cNvSpPr>
            <a:spLocks noChangeArrowheads="1"/>
          </p:cNvSpPr>
          <p:nvPr/>
        </p:nvSpPr>
        <p:spPr bwMode="auto">
          <a:xfrm>
            <a:off x="3654425" y="34972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51" name="TextBox 65"/>
          <p:cNvSpPr txBox="1">
            <a:spLocks noChangeArrowheads="1"/>
          </p:cNvSpPr>
          <p:nvPr/>
        </p:nvSpPr>
        <p:spPr bwMode="auto">
          <a:xfrm>
            <a:off x="4981575" y="350361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로케이션포함체크</a:t>
            </a:r>
          </a:p>
        </p:txBody>
      </p:sp>
      <p:sp>
        <p:nvSpPr>
          <p:cNvPr id="12352" name="직사각형 66"/>
          <p:cNvSpPr>
            <a:spLocks noChangeArrowheads="1"/>
          </p:cNvSpPr>
          <p:nvPr/>
        </p:nvSpPr>
        <p:spPr bwMode="auto">
          <a:xfrm>
            <a:off x="6129338" y="35020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53" name="TextBox 65"/>
          <p:cNvSpPr txBox="1">
            <a:spLocks noChangeArrowheads="1"/>
          </p:cNvSpPr>
          <p:nvPr/>
        </p:nvSpPr>
        <p:spPr bwMode="auto">
          <a:xfrm>
            <a:off x="7197725" y="350996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로케이션제외체크</a:t>
            </a:r>
          </a:p>
        </p:txBody>
      </p:sp>
      <p:sp>
        <p:nvSpPr>
          <p:cNvPr id="12354" name="직사각형 66"/>
          <p:cNvSpPr>
            <a:spLocks noChangeArrowheads="1"/>
          </p:cNvSpPr>
          <p:nvPr/>
        </p:nvSpPr>
        <p:spPr bwMode="auto">
          <a:xfrm>
            <a:off x="8345488" y="35083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55" name="TextBox 65"/>
          <p:cNvSpPr txBox="1">
            <a:spLocks noChangeArrowheads="1"/>
          </p:cNvSpPr>
          <p:nvPr/>
        </p:nvSpPr>
        <p:spPr bwMode="auto">
          <a:xfrm>
            <a:off x="342900" y="38338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2356" name="직사각형 66"/>
          <p:cNvSpPr>
            <a:spLocks noChangeArrowheads="1"/>
          </p:cNvSpPr>
          <p:nvPr/>
        </p:nvSpPr>
        <p:spPr bwMode="auto">
          <a:xfrm>
            <a:off x="1411288" y="38322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단</a:t>
            </a:r>
          </a:p>
        </p:txBody>
      </p:sp>
      <p:sp>
        <p:nvSpPr>
          <p:cNvPr id="12357" name="TextBox 65"/>
          <p:cNvSpPr txBox="1">
            <a:spLocks noChangeArrowheads="1"/>
          </p:cNvSpPr>
          <p:nvPr/>
        </p:nvSpPr>
        <p:spPr bwMode="auto">
          <a:xfrm>
            <a:off x="2593975" y="38227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2358" name="직사각형 66"/>
          <p:cNvSpPr>
            <a:spLocks noChangeArrowheads="1"/>
          </p:cNvSpPr>
          <p:nvPr/>
        </p:nvSpPr>
        <p:spPr bwMode="auto">
          <a:xfrm>
            <a:off x="3660775" y="3821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2359" name="TextBox 65"/>
          <p:cNvSpPr txBox="1">
            <a:spLocks noChangeArrowheads="1"/>
          </p:cNvSpPr>
          <p:nvPr/>
        </p:nvSpPr>
        <p:spPr bwMode="auto">
          <a:xfrm>
            <a:off x="349250" y="41703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2360" name="직사각형 66"/>
          <p:cNvSpPr>
            <a:spLocks noChangeArrowheads="1"/>
          </p:cNvSpPr>
          <p:nvPr/>
        </p:nvSpPr>
        <p:spPr bwMode="auto">
          <a:xfrm>
            <a:off x="1417638" y="41687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열</a:t>
            </a:r>
          </a:p>
        </p:txBody>
      </p:sp>
      <p:sp>
        <p:nvSpPr>
          <p:cNvPr id="12361" name="TextBox 65"/>
          <p:cNvSpPr txBox="1">
            <a:spLocks noChangeArrowheads="1"/>
          </p:cNvSpPr>
          <p:nvPr/>
        </p:nvSpPr>
        <p:spPr bwMode="auto">
          <a:xfrm>
            <a:off x="2600325" y="41608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2362" name="직사각형 66"/>
          <p:cNvSpPr>
            <a:spLocks noChangeArrowheads="1"/>
          </p:cNvSpPr>
          <p:nvPr/>
        </p:nvSpPr>
        <p:spPr bwMode="auto">
          <a:xfrm>
            <a:off x="3667125" y="41592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2363" name="TextBox 65"/>
          <p:cNvSpPr txBox="1">
            <a:spLocks noChangeArrowheads="1"/>
          </p:cNvSpPr>
          <p:nvPr/>
        </p:nvSpPr>
        <p:spPr bwMode="auto">
          <a:xfrm>
            <a:off x="361950" y="44989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2364" name="직사각형 66"/>
          <p:cNvSpPr>
            <a:spLocks noChangeArrowheads="1"/>
          </p:cNvSpPr>
          <p:nvPr/>
        </p:nvSpPr>
        <p:spPr bwMode="auto">
          <a:xfrm>
            <a:off x="1430338" y="44973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2365" name="TextBox 65"/>
          <p:cNvSpPr txBox="1">
            <a:spLocks noChangeArrowheads="1"/>
          </p:cNvSpPr>
          <p:nvPr/>
        </p:nvSpPr>
        <p:spPr bwMode="auto">
          <a:xfrm>
            <a:off x="2611438" y="448945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2366" name="직사각형 66"/>
          <p:cNvSpPr>
            <a:spLocks noChangeArrowheads="1"/>
          </p:cNvSpPr>
          <p:nvPr/>
        </p:nvSpPr>
        <p:spPr bwMode="auto">
          <a:xfrm>
            <a:off x="3665538" y="4487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2367" name="직사각형 33"/>
          <p:cNvSpPr>
            <a:spLocks noChangeArrowheads="1"/>
          </p:cNvSpPr>
          <p:nvPr/>
        </p:nvSpPr>
        <p:spPr bwMode="auto">
          <a:xfrm>
            <a:off x="2278063" y="38369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68" name="직사각형 33"/>
          <p:cNvSpPr>
            <a:spLocks noChangeArrowheads="1"/>
          </p:cNvSpPr>
          <p:nvPr/>
        </p:nvSpPr>
        <p:spPr bwMode="auto">
          <a:xfrm>
            <a:off x="2278063" y="41719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69" name="직사각형 33"/>
          <p:cNvSpPr>
            <a:spLocks noChangeArrowheads="1"/>
          </p:cNvSpPr>
          <p:nvPr/>
        </p:nvSpPr>
        <p:spPr bwMode="auto">
          <a:xfrm>
            <a:off x="2282825" y="44942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70" name="직사각형 33"/>
          <p:cNvSpPr>
            <a:spLocks noChangeArrowheads="1"/>
          </p:cNvSpPr>
          <p:nvPr/>
        </p:nvSpPr>
        <p:spPr bwMode="auto">
          <a:xfrm>
            <a:off x="4518025" y="38258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71" name="직사각형 33"/>
          <p:cNvSpPr>
            <a:spLocks noChangeArrowheads="1"/>
          </p:cNvSpPr>
          <p:nvPr/>
        </p:nvSpPr>
        <p:spPr bwMode="auto">
          <a:xfrm>
            <a:off x="4532313" y="4156075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2372" name="직사각형 33"/>
          <p:cNvSpPr>
            <a:spLocks noChangeArrowheads="1"/>
          </p:cNvSpPr>
          <p:nvPr/>
        </p:nvSpPr>
        <p:spPr bwMode="auto">
          <a:xfrm>
            <a:off x="4532313" y="4492625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보충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2922588" cy="428626"/>
        </p:xfrm>
        <a:graphic>
          <a:graphicData uri="http://schemas.openxmlformats.org/drawingml/2006/table">
            <a:tbl>
              <a:tblPr/>
              <a:tblGrid>
                <a:gridCol w="302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56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6683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357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4683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보충</a:t>
            </a:r>
          </a:p>
        </p:txBody>
      </p:sp>
      <p:sp>
        <p:nvSpPr>
          <p:cNvPr id="14358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4359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1436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436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4362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4363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4364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엑셀</a:t>
            </a:r>
          </a:p>
        </p:txBody>
      </p:sp>
      <p:graphicFrame>
        <p:nvGraphicFramePr>
          <p:cNvPr id="23" name="Group 139"/>
          <p:cNvGraphicFramePr>
            <a:graphicFrameLocks noGrp="1"/>
          </p:cNvGraphicFramePr>
          <p:nvPr/>
        </p:nvGraphicFramePr>
        <p:xfrm>
          <a:off x="392113" y="3300413"/>
          <a:ext cx="9024934" cy="701675"/>
        </p:xfrm>
        <a:graphic>
          <a:graphicData uri="http://schemas.openxmlformats.org/drawingml/2006/table">
            <a:tbl>
              <a:tblPr/>
              <a:tblGrid>
                <a:gridCol w="22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57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5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818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194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상세설명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우선순위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최소보충 패킹레벨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패킹입수참조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 전략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존제외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존포함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로케이션포함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로케이션제외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후입선출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선입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후입선출기준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우선순위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공간사용률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기본보충 전략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LOT/UOM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선입선출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421" name="직사각형 54"/>
          <p:cNvSpPr>
            <a:spLocks noChangeArrowheads="1"/>
          </p:cNvSpPr>
          <p:nvPr/>
        </p:nvSpPr>
        <p:spPr bwMode="auto">
          <a:xfrm>
            <a:off x="346075" y="3192463"/>
            <a:ext cx="9170988" cy="15097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422" name="TextBox 55"/>
          <p:cNvSpPr txBox="1">
            <a:spLocks noChangeArrowheads="1"/>
          </p:cNvSpPr>
          <p:nvPr/>
        </p:nvSpPr>
        <p:spPr bwMode="auto">
          <a:xfrm>
            <a:off x="417513" y="3068638"/>
            <a:ext cx="928687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보충상세</a:t>
            </a:r>
          </a:p>
        </p:txBody>
      </p:sp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96875" y="4125913"/>
          <a:ext cx="1563688" cy="496887"/>
        </p:xfrm>
        <a:graphic>
          <a:graphicData uri="http://schemas.openxmlformats.org/drawingml/2006/table">
            <a:tbl>
              <a:tblPr/>
              <a:tblGrid>
                <a:gridCol w="781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가용수량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51" marR="7651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로케이션이름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51" marR="7651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51" marR="7651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51" marR="7651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Group 139"/>
          <p:cNvGraphicFramePr>
            <a:graphicFrameLocks noGrp="1"/>
          </p:cNvGraphicFramePr>
          <p:nvPr/>
        </p:nvGraphicFramePr>
        <p:xfrm>
          <a:off x="414338" y="5492750"/>
          <a:ext cx="3078162" cy="528638"/>
        </p:xfrm>
        <a:graphic>
          <a:graphicData uri="http://schemas.openxmlformats.org/drawingml/2006/table">
            <a:tbl>
              <a:tblPr/>
              <a:tblGrid>
                <a:gridCol w="290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1" marR="7641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446" name="직사각형 54"/>
          <p:cNvSpPr>
            <a:spLocks noChangeArrowheads="1"/>
          </p:cNvSpPr>
          <p:nvPr/>
        </p:nvSpPr>
        <p:spPr bwMode="auto">
          <a:xfrm>
            <a:off x="344488" y="5159375"/>
            <a:ext cx="9170987" cy="10779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한쪽 모서리가 둥근 사각형 28"/>
          <p:cNvSpPr/>
          <p:nvPr/>
        </p:nvSpPr>
        <p:spPr bwMode="auto">
          <a:xfrm>
            <a:off x="415925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한쪽 모서리가 둥근 사각형 29"/>
          <p:cNvSpPr/>
          <p:nvPr/>
        </p:nvSpPr>
        <p:spPr bwMode="auto">
          <a:xfrm>
            <a:off x="1214438" y="5265738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2012950" y="5265738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3152775" y="5265738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451" name="직사각형 51"/>
          <p:cNvSpPr>
            <a:spLocks noChangeArrowheads="1"/>
          </p:cNvSpPr>
          <p:nvPr/>
        </p:nvSpPr>
        <p:spPr bwMode="auto">
          <a:xfrm>
            <a:off x="903446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4452" name="직사각형 51"/>
          <p:cNvSpPr>
            <a:spLocks noChangeArrowheads="1"/>
          </p:cNvSpPr>
          <p:nvPr/>
        </p:nvSpPr>
        <p:spPr bwMode="auto">
          <a:xfrm>
            <a:off x="794861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4453" name="직사각형 51"/>
          <p:cNvSpPr>
            <a:spLocks noChangeArrowheads="1"/>
          </p:cNvSpPr>
          <p:nvPr/>
        </p:nvSpPr>
        <p:spPr bwMode="auto">
          <a:xfrm>
            <a:off x="849471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4454" name="직사각형 51"/>
          <p:cNvSpPr>
            <a:spLocks noChangeArrowheads="1"/>
          </p:cNvSpPr>
          <p:nvPr/>
        </p:nvSpPr>
        <p:spPr bwMode="auto">
          <a:xfrm>
            <a:off x="9015413" y="28956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4455" name="직사각형 51"/>
          <p:cNvSpPr>
            <a:spLocks noChangeArrowheads="1"/>
          </p:cNvSpPr>
          <p:nvPr/>
        </p:nvSpPr>
        <p:spPr bwMode="auto">
          <a:xfrm>
            <a:off x="7929563" y="28956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4456" name="직사각형 51"/>
          <p:cNvSpPr>
            <a:spLocks noChangeArrowheads="1"/>
          </p:cNvSpPr>
          <p:nvPr/>
        </p:nvSpPr>
        <p:spPr bwMode="auto">
          <a:xfrm>
            <a:off x="8475663" y="28956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4457" name="TextBox 65"/>
          <p:cNvSpPr txBox="1">
            <a:spLocks noChangeArrowheads="1"/>
          </p:cNvSpPr>
          <p:nvPr/>
        </p:nvSpPr>
        <p:spPr bwMode="auto">
          <a:xfrm>
            <a:off x="3603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전략코드</a:t>
            </a:r>
          </a:p>
        </p:txBody>
      </p:sp>
      <p:sp>
        <p:nvSpPr>
          <p:cNvPr id="14458" name="직사각형 66"/>
          <p:cNvSpPr>
            <a:spLocks noChangeArrowheads="1"/>
          </p:cNvSpPr>
          <p:nvPr/>
        </p:nvSpPr>
        <p:spPr bwMode="auto">
          <a:xfrm>
            <a:off x="11207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459" name="TextBox 65"/>
          <p:cNvSpPr txBox="1">
            <a:spLocks noChangeArrowheads="1"/>
          </p:cNvSpPr>
          <p:nvPr/>
        </p:nvSpPr>
        <p:spPr bwMode="auto">
          <a:xfrm>
            <a:off x="335438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전략명</a:t>
            </a:r>
          </a:p>
        </p:txBody>
      </p:sp>
      <p:sp>
        <p:nvSpPr>
          <p:cNvPr id="14460" name="직사각형 66"/>
          <p:cNvSpPr>
            <a:spLocks noChangeArrowheads="1"/>
          </p:cNvSpPr>
          <p:nvPr/>
        </p:nvSpPr>
        <p:spPr bwMode="auto">
          <a:xfrm>
            <a:off x="43132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보충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등록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6389" name="직사각형 54"/>
          <p:cNvSpPr>
            <a:spLocks noChangeArrowheads="1"/>
          </p:cNvSpPr>
          <p:nvPr/>
        </p:nvSpPr>
        <p:spPr bwMode="auto">
          <a:xfrm>
            <a:off x="344488" y="1576388"/>
            <a:ext cx="9170987" cy="32639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0" name="TextBox 55"/>
          <p:cNvSpPr txBox="1">
            <a:spLocks noChangeArrowheads="1"/>
          </p:cNvSpPr>
          <p:nvPr/>
        </p:nvSpPr>
        <p:spPr bwMode="auto">
          <a:xfrm>
            <a:off x="415925" y="14525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</a:t>
            </a:r>
          </a:p>
        </p:txBody>
      </p:sp>
      <p:graphicFrame>
        <p:nvGraphicFramePr>
          <p:cNvPr id="27" name="Group 139"/>
          <p:cNvGraphicFramePr>
            <a:graphicFrameLocks noGrp="1"/>
          </p:cNvGraphicFramePr>
          <p:nvPr/>
        </p:nvGraphicFramePr>
        <p:xfrm>
          <a:off x="414338" y="5492750"/>
          <a:ext cx="3080541" cy="528638"/>
        </p:xfrm>
        <a:graphic>
          <a:graphicData uri="http://schemas.openxmlformats.org/drawingml/2006/table">
            <a:tbl>
              <a:tblPr/>
              <a:tblGrid>
                <a:gridCol w="29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11" name="직사각형 54"/>
          <p:cNvSpPr>
            <a:spLocks noChangeArrowheads="1"/>
          </p:cNvSpPr>
          <p:nvPr/>
        </p:nvSpPr>
        <p:spPr bwMode="auto">
          <a:xfrm>
            <a:off x="344488" y="5159375"/>
            <a:ext cx="9170987" cy="10779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415925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1214438" y="5265738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한쪽 모서리가 둥근 사각형 33"/>
          <p:cNvSpPr/>
          <p:nvPr/>
        </p:nvSpPr>
        <p:spPr bwMode="auto">
          <a:xfrm>
            <a:off x="2012950" y="5265738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한쪽 모서리가 둥근 사각형 34"/>
          <p:cNvSpPr/>
          <p:nvPr/>
        </p:nvSpPr>
        <p:spPr bwMode="auto">
          <a:xfrm>
            <a:off x="3152775" y="5265738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416" name="직사각형 51"/>
          <p:cNvSpPr>
            <a:spLocks noChangeArrowheads="1"/>
          </p:cNvSpPr>
          <p:nvPr/>
        </p:nvSpPr>
        <p:spPr bwMode="auto">
          <a:xfrm>
            <a:off x="8428038" y="1341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6417" name="직사각형 51"/>
          <p:cNvSpPr>
            <a:spLocks noChangeArrowheads="1"/>
          </p:cNvSpPr>
          <p:nvPr/>
        </p:nvSpPr>
        <p:spPr bwMode="auto">
          <a:xfrm>
            <a:off x="8985250" y="48879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6418" name="직사각형 51"/>
          <p:cNvSpPr>
            <a:spLocks noChangeArrowheads="1"/>
          </p:cNvSpPr>
          <p:nvPr/>
        </p:nvSpPr>
        <p:spPr bwMode="auto">
          <a:xfrm>
            <a:off x="8423275" y="48879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grpSp>
        <p:nvGrpSpPr>
          <p:cNvPr id="37" name="그룹 52"/>
          <p:cNvGrpSpPr>
            <a:grpSpLocks/>
          </p:cNvGrpSpPr>
          <p:nvPr/>
        </p:nvGrpSpPr>
        <p:grpSpPr bwMode="auto">
          <a:xfrm>
            <a:off x="361217" y="1646958"/>
            <a:ext cx="2071687" cy="230187"/>
            <a:chOff x="3238492" y="1428736"/>
            <a:chExt cx="2071698" cy="230832"/>
          </a:xfrm>
          <a:noFill/>
        </p:grpSpPr>
        <p:sp>
          <p:nvSpPr>
            <p:cNvPr id="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*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상세설명</a:t>
              </a:r>
            </a:p>
          </p:txBody>
        </p:sp>
        <p:sp>
          <p:nvSpPr>
            <p:cNvPr id="4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빈로케이션</a:t>
              </a:r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420" name="TextBox 65"/>
          <p:cNvSpPr txBox="1">
            <a:spLocks noChangeArrowheads="1"/>
          </p:cNvSpPr>
          <p:nvPr/>
        </p:nvSpPr>
        <p:spPr bwMode="auto">
          <a:xfrm>
            <a:off x="2576513" y="16462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6421" name="직사각형 66"/>
          <p:cNvSpPr>
            <a:spLocks noChangeArrowheads="1"/>
          </p:cNvSpPr>
          <p:nvPr/>
        </p:nvSpPr>
        <p:spPr bwMode="auto">
          <a:xfrm>
            <a:off x="3657600" y="16462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22" name="TextBox 65"/>
          <p:cNvSpPr txBox="1">
            <a:spLocks noChangeArrowheads="1"/>
          </p:cNvSpPr>
          <p:nvPr/>
        </p:nvSpPr>
        <p:spPr bwMode="auto">
          <a:xfrm>
            <a:off x="4833938" y="1646238"/>
            <a:ext cx="12811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적치상세전략유형</a:t>
            </a:r>
          </a:p>
        </p:txBody>
      </p:sp>
      <p:sp>
        <p:nvSpPr>
          <p:cNvPr id="16423" name="직사각형 66"/>
          <p:cNvSpPr>
            <a:spLocks noChangeArrowheads="1"/>
          </p:cNvSpPr>
          <p:nvPr/>
        </p:nvSpPr>
        <p:spPr bwMode="auto">
          <a:xfrm>
            <a:off x="6111875" y="16462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빈로케이션</a:t>
            </a:r>
          </a:p>
        </p:txBody>
      </p:sp>
      <p:sp>
        <p:nvSpPr>
          <p:cNvPr id="16424" name="TextBox 65"/>
          <p:cNvSpPr txBox="1">
            <a:spLocks noChangeArrowheads="1"/>
          </p:cNvSpPr>
          <p:nvPr/>
        </p:nvSpPr>
        <p:spPr bwMode="auto">
          <a:xfrm>
            <a:off x="361950" y="20494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동일품목범위</a:t>
            </a:r>
          </a:p>
        </p:txBody>
      </p:sp>
      <p:sp>
        <p:nvSpPr>
          <p:cNvPr id="16425" name="직사각형 66"/>
          <p:cNvSpPr>
            <a:spLocks noChangeArrowheads="1"/>
          </p:cNvSpPr>
          <p:nvPr/>
        </p:nvSpPr>
        <p:spPr bwMode="auto">
          <a:xfrm>
            <a:off x="1430338" y="20383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제품</a:t>
            </a:r>
          </a:p>
        </p:txBody>
      </p:sp>
      <p:sp>
        <p:nvSpPr>
          <p:cNvPr id="16426" name="TextBox 65"/>
          <p:cNvSpPr txBox="1">
            <a:spLocks noChangeArrowheads="1"/>
          </p:cNvSpPr>
          <p:nvPr/>
        </p:nvSpPr>
        <p:spPr bwMode="auto">
          <a:xfrm>
            <a:off x="2589213" y="20351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인근셀범위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열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27" name="TextBox 65"/>
          <p:cNvSpPr txBox="1">
            <a:spLocks noChangeArrowheads="1"/>
          </p:cNvSpPr>
          <p:nvPr/>
        </p:nvSpPr>
        <p:spPr bwMode="auto">
          <a:xfrm>
            <a:off x="4808538" y="20304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인근셀범위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단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28" name="직사각형 66"/>
          <p:cNvSpPr>
            <a:spLocks noChangeArrowheads="1"/>
          </p:cNvSpPr>
          <p:nvPr/>
        </p:nvSpPr>
        <p:spPr bwMode="auto">
          <a:xfrm>
            <a:off x="6113463" y="20288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29" name="직사각형 66"/>
          <p:cNvSpPr>
            <a:spLocks noChangeArrowheads="1"/>
          </p:cNvSpPr>
          <p:nvPr/>
        </p:nvSpPr>
        <p:spPr bwMode="auto">
          <a:xfrm>
            <a:off x="3644900" y="2046288"/>
            <a:ext cx="1000125" cy="212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0" name="직사각형 33"/>
          <p:cNvSpPr>
            <a:spLocks noChangeArrowheads="1"/>
          </p:cNvSpPr>
          <p:nvPr/>
        </p:nvSpPr>
        <p:spPr bwMode="auto">
          <a:xfrm>
            <a:off x="2287588" y="20367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31" name="직사각형 33"/>
          <p:cNvSpPr>
            <a:spLocks noChangeArrowheads="1"/>
          </p:cNvSpPr>
          <p:nvPr/>
        </p:nvSpPr>
        <p:spPr bwMode="auto">
          <a:xfrm>
            <a:off x="6969125" y="16462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32" name="TextBox 65"/>
          <p:cNvSpPr txBox="1">
            <a:spLocks noChangeArrowheads="1"/>
          </p:cNvSpPr>
          <p:nvPr/>
        </p:nvSpPr>
        <p:spPr bwMode="auto">
          <a:xfrm>
            <a:off x="352425" y="2428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 체크</a:t>
            </a:r>
          </a:p>
        </p:txBody>
      </p:sp>
      <p:sp>
        <p:nvSpPr>
          <p:cNvPr id="16433" name="직사각형 66"/>
          <p:cNvSpPr>
            <a:spLocks noChangeArrowheads="1"/>
          </p:cNvSpPr>
          <p:nvPr/>
        </p:nvSpPr>
        <p:spPr bwMode="auto">
          <a:xfrm>
            <a:off x="1420813" y="2427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4" name="직사각형 51"/>
          <p:cNvSpPr>
            <a:spLocks noChangeArrowheads="1"/>
          </p:cNvSpPr>
          <p:nvPr/>
        </p:nvSpPr>
        <p:spPr bwMode="auto">
          <a:xfrm>
            <a:off x="9001125" y="13287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6435" name="TextBox 65"/>
          <p:cNvSpPr txBox="1">
            <a:spLocks noChangeArrowheads="1"/>
          </p:cNvSpPr>
          <p:nvPr/>
        </p:nvSpPr>
        <p:spPr bwMode="auto">
          <a:xfrm>
            <a:off x="2578100" y="24733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6" name="직사각형 66"/>
          <p:cNvSpPr>
            <a:spLocks noChangeArrowheads="1"/>
          </p:cNvSpPr>
          <p:nvPr/>
        </p:nvSpPr>
        <p:spPr bwMode="auto">
          <a:xfrm>
            <a:off x="3644900" y="2471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7" name="TextBox 65"/>
          <p:cNvSpPr txBox="1">
            <a:spLocks noChangeArrowheads="1"/>
          </p:cNvSpPr>
          <p:nvPr/>
        </p:nvSpPr>
        <p:spPr bwMode="auto">
          <a:xfrm>
            <a:off x="5045075" y="24685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체적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8" name="직사각형 66"/>
          <p:cNvSpPr>
            <a:spLocks noChangeArrowheads="1"/>
          </p:cNvSpPr>
          <p:nvPr/>
        </p:nvSpPr>
        <p:spPr bwMode="auto">
          <a:xfrm>
            <a:off x="6111875" y="24669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9" name="TextBox 65"/>
          <p:cNvSpPr txBox="1">
            <a:spLocks noChangeArrowheads="1"/>
          </p:cNvSpPr>
          <p:nvPr/>
        </p:nvSpPr>
        <p:spPr bwMode="auto">
          <a:xfrm>
            <a:off x="342900" y="27987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 체크</a:t>
            </a:r>
          </a:p>
        </p:txBody>
      </p:sp>
      <p:sp>
        <p:nvSpPr>
          <p:cNvPr id="16440" name="직사각형 66"/>
          <p:cNvSpPr>
            <a:spLocks noChangeArrowheads="1"/>
          </p:cNvSpPr>
          <p:nvPr/>
        </p:nvSpPr>
        <p:spPr bwMode="auto">
          <a:xfrm>
            <a:off x="1411288" y="27971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1" name="TextBox 65"/>
          <p:cNvSpPr txBox="1">
            <a:spLocks noChangeArrowheads="1"/>
          </p:cNvSpPr>
          <p:nvPr/>
        </p:nvSpPr>
        <p:spPr bwMode="auto">
          <a:xfrm>
            <a:off x="2578100" y="27955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2" name="직사각형 66"/>
          <p:cNvSpPr>
            <a:spLocks noChangeArrowheads="1"/>
          </p:cNvSpPr>
          <p:nvPr/>
        </p:nvSpPr>
        <p:spPr bwMode="auto">
          <a:xfrm>
            <a:off x="3644900" y="27940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3" name="TextBox 65"/>
          <p:cNvSpPr txBox="1">
            <a:spLocks noChangeArrowheads="1"/>
          </p:cNvSpPr>
          <p:nvPr/>
        </p:nvSpPr>
        <p:spPr bwMode="auto">
          <a:xfrm>
            <a:off x="5045075" y="27892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중량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4" name="직사각형 66"/>
          <p:cNvSpPr>
            <a:spLocks noChangeArrowheads="1"/>
          </p:cNvSpPr>
          <p:nvPr/>
        </p:nvSpPr>
        <p:spPr bwMode="auto">
          <a:xfrm>
            <a:off x="6111875" y="2787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5" name="TextBox 65"/>
          <p:cNvSpPr txBox="1">
            <a:spLocks noChangeArrowheads="1"/>
          </p:cNvSpPr>
          <p:nvPr/>
        </p:nvSpPr>
        <p:spPr bwMode="auto">
          <a:xfrm>
            <a:off x="361950" y="31353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제품혼적 체크</a:t>
            </a:r>
          </a:p>
        </p:txBody>
      </p:sp>
      <p:sp>
        <p:nvSpPr>
          <p:cNvPr id="16446" name="직사각형 66"/>
          <p:cNvSpPr>
            <a:spLocks noChangeArrowheads="1"/>
          </p:cNvSpPr>
          <p:nvPr/>
        </p:nvSpPr>
        <p:spPr bwMode="auto">
          <a:xfrm>
            <a:off x="1430338" y="31337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7" name="TextBox 65"/>
          <p:cNvSpPr txBox="1">
            <a:spLocks noChangeArrowheads="1"/>
          </p:cNvSpPr>
          <p:nvPr/>
        </p:nvSpPr>
        <p:spPr bwMode="auto">
          <a:xfrm>
            <a:off x="2578100" y="31416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로트혼적 체크</a:t>
            </a:r>
          </a:p>
        </p:txBody>
      </p:sp>
      <p:sp>
        <p:nvSpPr>
          <p:cNvPr id="16448" name="직사각형 66"/>
          <p:cNvSpPr>
            <a:spLocks noChangeArrowheads="1"/>
          </p:cNvSpPr>
          <p:nvPr/>
        </p:nvSpPr>
        <p:spPr bwMode="auto">
          <a:xfrm>
            <a:off x="3644900" y="31400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9" name="TextBox 65"/>
          <p:cNvSpPr txBox="1">
            <a:spLocks noChangeArrowheads="1"/>
          </p:cNvSpPr>
          <p:nvPr/>
        </p:nvSpPr>
        <p:spPr bwMode="auto">
          <a:xfrm>
            <a:off x="371475" y="34925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존포함 사용 체크</a:t>
            </a:r>
          </a:p>
        </p:txBody>
      </p:sp>
      <p:sp>
        <p:nvSpPr>
          <p:cNvPr id="16450" name="직사각형 66"/>
          <p:cNvSpPr>
            <a:spLocks noChangeArrowheads="1"/>
          </p:cNvSpPr>
          <p:nvPr/>
        </p:nvSpPr>
        <p:spPr bwMode="auto">
          <a:xfrm>
            <a:off x="1430338" y="35099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1" name="TextBox 65"/>
          <p:cNvSpPr txBox="1">
            <a:spLocks noChangeArrowheads="1"/>
          </p:cNvSpPr>
          <p:nvPr/>
        </p:nvSpPr>
        <p:spPr bwMode="auto">
          <a:xfrm>
            <a:off x="2587625" y="34988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존포함제외체크</a:t>
            </a:r>
          </a:p>
        </p:txBody>
      </p:sp>
      <p:sp>
        <p:nvSpPr>
          <p:cNvPr id="16452" name="직사각형 66"/>
          <p:cNvSpPr>
            <a:spLocks noChangeArrowheads="1"/>
          </p:cNvSpPr>
          <p:nvPr/>
        </p:nvSpPr>
        <p:spPr bwMode="auto">
          <a:xfrm>
            <a:off x="3654425" y="34972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3" name="TextBox 65"/>
          <p:cNvSpPr txBox="1">
            <a:spLocks noChangeArrowheads="1"/>
          </p:cNvSpPr>
          <p:nvPr/>
        </p:nvSpPr>
        <p:spPr bwMode="auto">
          <a:xfrm>
            <a:off x="4981575" y="350361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로케이션포함체크</a:t>
            </a:r>
          </a:p>
        </p:txBody>
      </p:sp>
      <p:sp>
        <p:nvSpPr>
          <p:cNvPr id="16454" name="직사각형 66"/>
          <p:cNvSpPr>
            <a:spLocks noChangeArrowheads="1"/>
          </p:cNvSpPr>
          <p:nvPr/>
        </p:nvSpPr>
        <p:spPr bwMode="auto">
          <a:xfrm>
            <a:off x="6129338" y="35020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5" name="TextBox 65"/>
          <p:cNvSpPr txBox="1">
            <a:spLocks noChangeArrowheads="1"/>
          </p:cNvSpPr>
          <p:nvPr/>
        </p:nvSpPr>
        <p:spPr bwMode="auto">
          <a:xfrm>
            <a:off x="7197725" y="350996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로케이션제외체크</a:t>
            </a:r>
          </a:p>
        </p:txBody>
      </p:sp>
      <p:sp>
        <p:nvSpPr>
          <p:cNvPr id="16456" name="직사각형 66"/>
          <p:cNvSpPr>
            <a:spLocks noChangeArrowheads="1"/>
          </p:cNvSpPr>
          <p:nvPr/>
        </p:nvSpPr>
        <p:spPr bwMode="auto">
          <a:xfrm>
            <a:off x="8345488" y="35083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7" name="TextBox 65"/>
          <p:cNvSpPr txBox="1">
            <a:spLocks noChangeArrowheads="1"/>
          </p:cNvSpPr>
          <p:nvPr/>
        </p:nvSpPr>
        <p:spPr bwMode="auto">
          <a:xfrm>
            <a:off x="342900" y="38338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58" name="직사각형 66"/>
          <p:cNvSpPr>
            <a:spLocks noChangeArrowheads="1"/>
          </p:cNvSpPr>
          <p:nvPr/>
        </p:nvSpPr>
        <p:spPr bwMode="auto">
          <a:xfrm>
            <a:off x="1411288" y="38322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단</a:t>
            </a:r>
          </a:p>
        </p:txBody>
      </p:sp>
      <p:sp>
        <p:nvSpPr>
          <p:cNvPr id="16459" name="TextBox 65"/>
          <p:cNvSpPr txBox="1">
            <a:spLocks noChangeArrowheads="1"/>
          </p:cNvSpPr>
          <p:nvPr/>
        </p:nvSpPr>
        <p:spPr bwMode="auto">
          <a:xfrm>
            <a:off x="2593975" y="38227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0" name="직사각형 66"/>
          <p:cNvSpPr>
            <a:spLocks noChangeArrowheads="1"/>
          </p:cNvSpPr>
          <p:nvPr/>
        </p:nvSpPr>
        <p:spPr bwMode="auto">
          <a:xfrm>
            <a:off x="3660775" y="3821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1" name="TextBox 65"/>
          <p:cNvSpPr txBox="1">
            <a:spLocks noChangeArrowheads="1"/>
          </p:cNvSpPr>
          <p:nvPr/>
        </p:nvSpPr>
        <p:spPr bwMode="auto">
          <a:xfrm>
            <a:off x="349250" y="41703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62" name="직사각형 66"/>
          <p:cNvSpPr>
            <a:spLocks noChangeArrowheads="1"/>
          </p:cNvSpPr>
          <p:nvPr/>
        </p:nvSpPr>
        <p:spPr bwMode="auto">
          <a:xfrm>
            <a:off x="1417638" y="41687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열</a:t>
            </a:r>
          </a:p>
        </p:txBody>
      </p:sp>
      <p:sp>
        <p:nvSpPr>
          <p:cNvPr id="16463" name="TextBox 65"/>
          <p:cNvSpPr txBox="1">
            <a:spLocks noChangeArrowheads="1"/>
          </p:cNvSpPr>
          <p:nvPr/>
        </p:nvSpPr>
        <p:spPr bwMode="auto">
          <a:xfrm>
            <a:off x="2600325" y="41608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4" name="직사각형 66"/>
          <p:cNvSpPr>
            <a:spLocks noChangeArrowheads="1"/>
          </p:cNvSpPr>
          <p:nvPr/>
        </p:nvSpPr>
        <p:spPr bwMode="auto">
          <a:xfrm>
            <a:off x="3667125" y="41592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5" name="TextBox 65"/>
          <p:cNvSpPr txBox="1">
            <a:spLocks noChangeArrowheads="1"/>
          </p:cNvSpPr>
          <p:nvPr/>
        </p:nvSpPr>
        <p:spPr bwMode="auto">
          <a:xfrm>
            <a:off x="361950" y="44989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66" name="직사각형 66"/>
          <p:cNvSpPr>
            <a:spLocks noChangeArrowheads="1"/>
          </p:cNvSpPr>
          <p:nvPr/>
        </p:nvSpPr>
        <p:spPr bwMode="auto">
          <a:xfrm>
            <a:off x="1430338" y="44973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6467" name="TextBox 65"/>
          <p:cNvSpPr txBox="1">
            <a:spLocks noChangeArrowheads="1"/>
          </p:cNvSpPr>
          <p:nvPr/>
        </p:nvSpPr>
        <p:spPr bwMode="auto">
          <a:xfrm>
            <a:off x="2611438" y="448945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8" name="직사각형 66"/>
          <p:cNvSpPr>
            <a:spLocks noChangeArrowheads="1"/>
          </p:cNvSpPr>
          <p:nvPr/>
        </p:nvSpPr>
        <p:spPr bwMode="auto">
          <a:xfrm>
            <a:off x="3665538" y="4487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9" name="직사각형 33"/>
          <p:cNvSpPr>
            <a:spLocks noChangeArrowheads="1"/>
          </p:cNvSpPr>
          <p:nvPr/>
        </p:nvSpPr>
        <p:spPr bwMode="auto">
          <a:xfrm>
            <a:off x="2278063" y="38369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0" name="직사각형 33"/>
          <p:cNvSpPr>
            <a:spLocks noChangeArrowheads="1"/>
          </p:cNvSpPr>
          <p:nvPr/>
        </p:nvSpPr>
        <p:spPr bwMode="auto">
          <a:xfrm>
            <a:off x="2278063" y="41719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1" name="직사각형 33"/>
          <p:cNvSpPr>
            <a:spLocks noChangeArrowheads="1"/>
          </p:cNvSpPr>
          <p:nvPr/>
        </p:nvSpPr>
        <p:spPr bwMode="auto">
          <a:xfrm>
            <a:off x="2282825" y="44942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2" name="직사각형 33"/>
          <p:cNvSpPr>
            <a:spLocks noChangeArrowheads="1"/>
          </p:cNvSpPr>
          <p:nvPr/>
        </p:nvSpPr>
        <p:spPr bwMode="auto">
          <a:xfrm>
            <a:off x="4518025" y="38258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3" name="직사각형 33"/>
          <p:cNvSpPr>
            <a:spLocks noChangeArrowheads="1"/>
          </p:cNvSpPr>
          <p:nvPr/>
        </p:nvSpPr>
        <p:spPr bwMode="auto">
          <a:xfrm>
            <a:off x="4532313" y="4156075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4" name="직사각형 33"/>
          <p:cNvSpPr>
            <a:spLocks noChangeArrowheads="1"/>
          </p:cNvSpPr>
          <p:nvPr/>
        </p:nvSpPr>
        <p:spPr bwMode="auto">
          <a:xfrm>
            <a:off x="4532313" y="4492625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할당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2922588" cy="428626"/>
        </p:xfrm>
        <a:graphic>
          <a:graphicData uri="http://schemas.openxmlformats.org/drawingml/2006/table">
            <a:tbl>
              <a:tblPr/>
              <a:tblGrid>
                <a:gridCol w="302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전략명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52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6683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53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4683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할당</a:t>
            </a:r>
          </a:p>
        </p:txBody>
      </p:sp>
      <p:sp>
        <p:nvSpPr>
          <p:cNvPr id="18454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8455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</a:p>
        </p:txBody>
      </p:sp>
      <p:sp>
        <p:nvSpPr>
          <p:cNvPr id="18456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8457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8458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8459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8460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엑셀</a:t>
            </a:r>
          </a:p>
        </p:txBody>
      </p:sp>
      <p:graphicFrame>
        <p:nvGraphicFramePr>
          <p:cNvPr id="23" name="Group 139"/>
          <p:cNvGraphicFramePr>
            <a:graphicFrameLocks noGrp="1"/>
          </p:cNvGraphicFramePr>
          <p:nvPr/>
        </p:nvGraphicFramePr>
        <p:xfrm>
          <a:off x="392113" y="3300413"/>
          <a:ext cx="8497815" cy="563880"/>
        </p:xfrm>
        <a:graphic>
          <a:graphicData uri="http://schemas.openxmlformats.org/drawingml/2006/table">
            <a:tbl>
              <a:tblPr/>
              <a:tblGrid>
                <a:gridCol w="224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80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상세설명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우선순위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사용여부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규격단위수량할당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최소할당 패킹레벨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패킹입수참조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제조일자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유통일자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FROM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제조일자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FROM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제조일자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유통일자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FROM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유통일자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기본할당 전략</a:t>
                      </a: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LOT/UOM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2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17" name="직사각형 54"/>
          <p:cNvSpPr>
            <a:spLocks noChangeArrowheads="1"/>
          </p:cNvSpPr>
          <p:nvPr/>
        </p:nvSpPr>
        <p:spPr bwMode="auto">
          <a:xfrm>
            <a:off x="346075" y="3192463"/>
            <a:ext cx="9170988" cy="15097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518" name="TextBox 55"/>
          <p:cNvSpPr txBox="1">
            <a:spLocks noChangeArrowheads="1"/>
          </p:cNvSpPr>
          <p:nvPr/>
        </p:nvSpPr>
        <p:spPr bwMode="auto">
          <a:xfrm>
            <a:off x="417513" y="3068638"/>
            <a:ext cx="928687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할당상세</a:t>
            </a:r>
          </a:p>
        </p:txBody>
      </p:sp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96875" y="4125913"/>
          <a:ext cx="9020174" cy="496887"/>
        </p:xfrm>
        <a:graphic>
          <a:graphicData uri="http://schemas.openxmlformats.org/drawingml/2006/table">
            <a:tbl>
              <a:tblPr/>
              <a:tblGrid>
                <a:gridCol w="530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고정로케이션할당</a:t>
                      </a: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존제외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존포함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로케이션포함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로케이션제외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후입선출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선입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후입선출기준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우선순위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공간사용률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가용수량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할당추천순서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로케이션이름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선입선출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Group 139"/>
          <p:cNvGraphicFramePr>
            <a:graphicFrameLocks noGrp="1"/>
          </p:cNvGraphicFramePr>
          <p:nvPr/>
        </p:nvGraphicFramePr>
        <p:xfrm>
          <a:off x="414338" y="5492750"/>
          <a:ext cx="3078482" cy="528638"/>
        </p:xfrm>
        <a:graphic>
          <a:graphicData uri="http://schemas.openxmlformats.org/drawingml/2006/table">
            <a:tbl>
              <a:tblPr/>
              <a:tblGrid>
                <a:gridCol w="29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80" name="직사각형 54"/>
          <p:cNvSpPr>
            <a:spLocks noChangeArrowheads="1"/>
          </p:cNvSpPr>
          <p:nvPr/>
        </p:nvSpPr>
        <p:spPr bwMode="auto">
          <a:xfrm>
            <a:off x="344488" y="5159375"/>
            <a:ext cx="9170987" cy="10779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한쪽 모서리가 둥근 사각형 28"/>
          <p:cNvSpPr/>
          <p:nvPr/>
        </p:nvSpPr>
        <p:spPr bwMode="auto">
          <a:xfrm>
            <a:off x="415925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한쪽 모서리가 둥근 사각형 29"/>
          <p:cNvSpPr/>
          <p:nvPr/>
        </p:nvSpPr>
        <p:spPr bwMode="auto">
          <a:xfrm>
            <a:off x="1214438" y="5265738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2012950" y="5265738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3152775" y="5265738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한쪽 모서리가 둥근 사각형 33"/>
          <p:cNvSpPr/>
          <p:nvPr/>
        </p:nvSpPr>
        <p:spPr bwMode="auto">
          <a:xfrm>
            <a:off x="4305300" y="5265738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586" name="직사각형 51"/>
          <p:cNvSpPr>
            <a:spLocks noChangeArrowheads="1"/>
          </p:cNvSpPr>
          <p:nvPr/>
        </p:nvSpPr>
        <p:spPr bwMode="auto">
          <a:xfrm>
            <a:off x="903446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8587" name="직사각형 51"/>
          <p:cNvSpPr>
            <a:spLocks noChangeArrowheads="1"/>
          </p:cNvSpPr>
          <p:nvPr/>
        </p:nvSpPr>
        <p:spPr bwMode="auto">
          <a:xfrm>
            <a:off x="794861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8588" name="직사각형 51"/>
          <p:cNvSpPr>
            <a:spLocks noChangeArrowheads="1"/>
          </p:cNvSpPr>
          <p:nvPr/>
        </p:nvSpPr>
        <p:spPr bwMode="auto">
          <a:xfrm>
            <a:off x="8494713" y="48609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8589" name="직사각형 51"/>
          <p:cNvSpPr>
            <a:spLocks noChangeArrowheads="1"/>
          </p:cNvSpPr>
          <p:nvPr/>
        </p:nvSpPr>
        <p:spPr bwMode="auto">
          <a:xfrm>
            <a:off x="9021763" y="28606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8590" name="직사각형 51"/>
          <p:cNvSpPr>
            <a:spLocks noChangeArrowheads="1"/>
          </p:cNvSpPr>
          <p:nvPr/>
        </p:nvSpPr>
        <p:spPr bwMode="auto">
          <a:xfrm>
            <a:off x="7935913" y="28606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sp>
        <p:nvSpPr>
          <p:cNvPr id="18591" name="직사각형 51"/>
          <p:cNvSpPr>
            <a:spLocks noChangeArrowheads="1"/>
          </p:cNvSpPr>
          <p:nvPr/>
        </p:nvSpPr>
        <p:spPr bwMode="auto">
          <a:xfrm>
            <a:off x="8482013" y="28606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8592" name="TextBox 65"/>
          <p:cNvSpPr txBox="1">
            <a:spLocks noChangeArrowheads="1"/>
          </p:cNvSpPr>
          <p:nvPr/>
        </p:nvSpPr>
        <p:spPr bwMode="auto">
          <a:xfrm>
            <a:off x="3603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전략코드</a:t>
            </a:r>
          </a:p>
        </p:txBody>
      </p:sp>
      <p:sp>
        <p:nvSpPr>
          <p:cNvPr id="18593" name="직사각형 66"/>
          <p:cNvSpPr>
            <a:spLocks noChangeArrowheads="1"/>
          </p:cNvSpPr>
          <p:nvPr/>
        </p:nvSpPr>
        <p:spPr bwMode="auto">
          <a:xfrm>
            <a:off x="11207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594" name="TextBox 65"/>
          <p:cNvSpPr txBox="1">
            <a:spLocks noChangeArrowheads="1"/>
          </p:cNvSpPr>
          <p:nvPr/>
        </p:nvSpPr>
        <p:spPr bwMode="auto">
          <a:xfrm>
            <a:off x="335438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전략명</a:t>
            </a:r>
          </a:p>
        </p:txBody>
      </p:sp>
      <p:sp>
        <p:nvSpPr>
          <p:cNvPr id="18595" name="직사각형 66"/>
          <p:cNvSpPr>
            <a:spLocks noChangeArrowheads="1"/>
          </p:cNvSpPr>
          <p:nvPr/>
        </p:nvSpPr>
        <p:spPr bwMode="auto">
          <a:xfrm>
            <a:off x="43132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전략설정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할당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등록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26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6389" name="직사각형 54"/>
          <p:cNvSpPr>
            <a:spLocks noChangeArrowheads="1"/>
          </p:cNvSpPr>
          <p:nvPr/>
        </p:nvSpPr>
        <p:spPr bwMode="auto">
          <a:xfrm>
            <a:off x="344488" y="1576387"/>
            <a:ext cx="9170987" cy="351430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0" name="TextBox 55"/>
          <p:cNvSpPr txBox="1">
            <a:spLocks noChangeArrowheads="1"/>
          </p:cNvSpPr>
          <p:nvPr/>
        </p:nvSpPr>
        <p:spPr bwMode="auto">
          <a:xfrm>
            <a:off x="415925" y="14525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적치상세</a:t>
            </a:r>
          </a:p>
        </p:txBody>
      </p:sp>
      <p:graphicFrame>
        <p:nvGraphicFramePr>
          <p:cNvPr id="2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41452"/>
              </p:ext>
            </p:extLst>
          </p:nvPr>
        </p:nvGraphicFramePr>
        <p:xfrm>
          <a:off x="414338" y="5774902"/>
          <a:ext cx="3080541" cy="528638"/>
        </p:xfrm>
        <a:graphic>
          <a:graphicData uri="http://schemas.openxmlformats.org/drawingml/2006/table">
            <a:tbl>
              <a:tblPr/>
              <a:tblGrid>
                <a:gridCol w="29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선택</a:t>
                      </a: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설정값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√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11" name="직사각형 54"/>
          <p:cNvSpPr>
            <a:spLocks noChangeArrowheads="1"/>
          </p:cNvSpPr>
          <p:nvPr/>
        </p:nvSpPr>
        <p:spPr bwMode="auto">
          <a:xfrm>
            <a:off x="344488" y="5441528"/>
            <a:ext cx="9170987" cy="939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한쪽 모서리가 둥근 사각형 31"/>
          <p:cNvSpPr/>
          <p:nvPr/>
        </p:nvSpPr>
        <p:spPr bwMode="auto">
          <a:xfrm>
            <a:off x="415925" y="5547890"/>
            <a:ext cx="792163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한쪽 모서리가 둥근 사각형 32"/>
          <p:cNvSpPr/>
          <p:nvPr/>
        </p:nvSpPr>
        <p:spPr bwMode="auto">
          <a:xfrm>
            <a:off x="1214438" y="5547890"/>
            <a:ext cx="792162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 err="1">
                <a:solidFill>
                  <a:schemeClr val="bg1"/>
                </a:solidFill>
                <a:latin typeface="+mj-lt"/>
              </a:rPr>
              <a:t>특정존제외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한쪽 모서리가 둥근 사각형 33"/>
          <p:cNvSpPr/>
          <p:nvPr/>
        </p:nvSpPr>
        <p:spPr bwMode="auto">
          <a:xfrm>
            <a:off x="2012950" y="5547890"/>
            <a:ext cx="11334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한쪽 모서리가 둥근 사각형 34"/>
          <p:cNvSpPr/>
          <p:nvPr/>
        </p:nvSpPr>
        <p:spPr bwMode="auto">
          <a:xfrm>
            <a:off x="3152775" y="5547890"/>
            <a:ext cx="113982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</a:rPr>
              <a:t>특정로케이션포함</a:t>
            </a:r>
            <a:r>
              <a:rPr lang="en-US" altLang="ko-KR" sz="900" b="1" dirty="0">
                <a:solidFill>
                  <a:schemeClr val="bg1"/>
                </a:solidFill>
                <a:latin typeface="+mj-lt"/>
              </a:rPr>
              <a:t>(0)</a:t>
            </a:r>
            <a:endParaRPr lang="ko-KR" alt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416" name="직사각형 51"/>
          <p:cNvSpPr>
            <a:spLocks noChangeArrowheads="1"/>
          </p:cNvSpPr>
          <p:nvPr/>
        </p:nvSpPr>
        <p:spPr bwMode="auto">
          <a:xfrm>
            <a:off x="8428038" y="13414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저장</a:t>
            </a:r>
          </a:p>
        </p:txBody>
      </p:sp>
      <p:sp>
        <p:nvSpPr>
          <p:cNvPr id="16417" name="직사각형 51"/>
          <p:cNvSpPr>
            <a:spLocks noChangeArrowheads="1"/>
          </p:cNvSpPr>
          <p:nvPr/>
        </p:nvSpPr>
        <p:spPr bwMode="auto">
          <a:xfrm>
            <a:off x="8985250" y="517006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6418" name="직사각형 51"/>
          <p:cNvSpPr>
            <a:spLocks noChangeArrowheads="1"/>
          </p:cNvSpPr>
          <p:nvPr/>
        </p:nvSpPr>
        <p:spPr bwMode="auto">
          <a:xfrm>
            <a:off x="8423275" y="517006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</a:p>
        </p:txBody>
      </p:sp>
      <p:grpSp>
        <p:nvGrpSpPr>
          <p:cNvPr id="37" name="그룹 52"/>
          <p:cNvGrpSpPr>
            <a:grpSpLocks/>
          </p:cNvGrpSpPr>
          <p:nvPr/>
        </p:nvGrpSpPr>
        <p:grpSpPr bwMode="auto">
          <a:xfrm>
            <a:off x="361217" y="1646958"/>
            <a:ext cx="2071687" cy="230187"/>
            <a:chOff x="3238492" y="1428736"/>
            <a:chExt cx="2071698" cy="230832"/>
          </a:xfrm>
          <a:noFill/>
        </p:grpSpPr>
        <p:sp>
          <p:nvSpPr>
            <p:cNvPr id="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*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상세설명</a:t>
              </a:r>
            </a:p>
          </p:txBody>
        </p:sp>
        <p:sp>
          <p:nvSpPr>
            <p:cNvPr id="4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빈로케이션</a:t>
              </a:r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420" name="TextBox 65"/>
          <p:cNvSpPr txBox="1">
            <a:spLocks noChangeArrowheads="1"/>
          </p:cNvSpPr>
          <p:nvPr/>
        </p:nvSpPr>
        <p:spPr bwMode="auto">
          <a:xfrm>
            <a:off x="2576513" y="16462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6421" name="직사각형 66"/>
          <p:cNvSpPr>
            <a:spLocks noChangeArrowheads="1"/>
          </p:cNvSpPr>
          <p:nvPr/>
        </p:nvSpPr>
        <p:spPr bwMode="auto">
          <a:xfrm>
            <a:off x="3657600" y="16462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22" name="TextBox 65"/>
          <p:cNvSpPr txBox="1">
            <a:spLocks noChangeArrowheads="1"/>
          </p:cNvSpPr>
          <p:nvPr/>
        </p:nvSpPr>
        <p:spPr bwMode="auto">
          <a:xfrm>
            <a:off x="4833938" y="1646238"/>
            <a:ext cx="12811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규격단위수량할당</a:t>
            </a:r>
          </a:p>
        </p:txBody>
      </p:sp>
      <p:sp>
        <p:nvSpPr>
          <p:cNvPr id="16423" name="직사각형 66"/>
          <p:cNvSpPr>
            <a:spLocks noChangeArrowheads="1"/>
          </p:cNvSpPr>
          <p:nvPr/>
        </p:nvSpPr>
        <p:spPr bwMode="auto">
          <a:xfrm>
            <a:off x="6111876" y="1646238"/>
            <a:ext cx="281286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2" name="TextBox 65"/>
          <p:cNvSpPr txBox="1">
            <a:spLocks noChangeArrowheads="1"/>
          </p:cNvSpPr>
          <p:nvPr/>
        </p:nvSpPr>
        <p:spPr bwMode="auto">
          <a:xfrm>
            <a:off x="352425" y="2428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입고일자 체크</a:t>
            </a:r>
          </a:p>
        </p:txBody>
      </p:sp>
      <p:sp>
        <p:nvSpPr>
          <p:cNvPr id="16433" name="직사각형 66"/>
          <p:cNvSpPr>
            <a:spLocks noChangeArrowheads="1"/>
          </p:cNvSpPr>
          <p:nvPr/>
        </p:nvSpPr>
        <p:spPr bwMode="auto">
          <a:xfrm>
            <a:off x="1420813" y="2427288"/>
            <a:ext cx="291827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4" name="직사각형 51"/>
          <p:cNvSpPr>
            <a:spLocks noChangeArrowheads="1"/>
          </p:cNvSpPr>
          <p:nvPr/>
        </p:nvSpPr>
        <p:spPr bwMode="auto">
          <a:xfrm>
            <a:off x="9001125" y="13287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</a:p>
        </p:txBody>
      </p:sp>
      <p:sp>
        <p:nvSpPr>
          <p:cNvPr id="16435" name="TextBox 65"/>
          <p:cNvSpPr txBox="1">
            <a:spLocks noChangeArrowheads="1"/>
          </p:cNvSpPr>
          <p:nvPr/>
        </p:nvSpPr>
        <p:spPr bwMode="auto">
          <a:xfrm>
            <a:off x="2578100" y="24733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입고일자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6" name="직사각형 66"/>
          <p:cNvSpPr>
            <a:spLocks noChangeArrowheads="1"/>
          </p:cNvSpPr>
          <p:nvPr/>
        </p:nvSpPr>
        <p:spPr bwMode="auto">
          <a:xfrm>
            <a:off x="3644900" y="2471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39" name="TextBox 65"/>
          <p:cNvSpPr txBox="1">
            <a:spLocks noChangeArrowheads="1"/>
          </p:cNvSpPr>
          <p:nvPr/>
        </p:nvSpPr>
        <p:spPr bwMode="auto">
          <a:xfrm>
            <a:off x="342900" y="27987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제조일자 체크</a:t>
            </a:r>
          </a:p>
        </p:txBody>
      </p:sp>
      <p:sp>
        <p:nvSpPr>
          <p:cNvPr id="16440" name="직사각형 66"/>
          <p:cNvSpPr>
            <a:spLocks noChangeArrowheads="1"/>
          </p:cNvSpPr>
          <p:nvPr/>
        </p:nvSpPr>
        <p:spPr bwMode="auto">
          <a:xfrm>
            <a:off x="1411289" y="2797175"/>
            <a:ext cx="301352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1" name="TextBox 65"/>
          <p:cNvSpPr txBox="1">
            <a:spLocks noChangeArrowheads="1"/>
          </p:cNvSpPr>
          <p:nvPr/>
        </p:nvSpPr>
        <p:spPr bwMode="auto">
          <a:xfrm>
            <a:off x="2578100" y="27955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제조일자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2" name="직사각형 66"/>
          <p:cNvSpPr>
            <a:spLocks noChangeArrowheads="1"/>
          </p:cNvSpPr>
          <p:nvPr/>
        </p:nvSpPr>
        <p:spPr bwMode="auto">
          <a:xfrm>
            <a:off x="3644900" y="27940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5" name="TextBox 65"/>
          <p:cNvSpPr txBox="1">
            <a:spLocks noChangeArrowheads="1"/>
          </p:cNvSpPr>
          <p:nvPr/>
        </p:nvSpPr>
        <p:spPr bwMode="auto">
          <a:xfrm>
            <a:off x="361950" y="31353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유통일자 체크</a:t>
            </a:r>
          </a:p>
        </p:txBody>
      </p:sp>
      <p:sp>
        <p:nvSpPr>
          <p:cNvPr id="16446" name="직사각형 66"/>
          <p:cNvSpPr>
            <a:spLocks noChangeArrowheads="1"/>
          </p:cNvSpPr>
          <p:nvPr/>
        </p:nvSpPr>
        <p:spPr bwMode="auto">
          <a:xfrm>
            <a:off x="1430339" y="3133725"/>
            <a:ext cx="282302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7" name="TextBox 65"/>
          <p:cNvSpPr txBox="1">
            <a:spLocks noChangeArrowheads="1"/>
          </p:cNvSpPr>
          <p:nvPr/>
        </p:nvSpPr>
        <p:spPr bwMode="auto">
          <a:xfrm>
            <a:off x="2578100" y="31416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유통일자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From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8" name="직사각형 66"/>
          <p:cNvSpPr>
            <a:spLocks noChangeArrowheads="1"/>
          </p:cNvSpPr>
          <p:nvPr/>
        </p:nvSpPr>
        <p:spPr bwMode="auto">
          <a:xfrm>
            <a:off x="3644900" y="31400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 b="1" dirty="0">
                <a:latin typeface="굴림체" panose="020B0609000101010101" pitchFamily="49" charset="-127"/>
              </a:rPr>
              <a:t>0</a:t>
            </a:r>
            <a:endParaRPr kumimoji="0"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49" name="TextBox 65"/>
          <p:cNvSpPr txBox="1">
            <a:spLocks noChangeArrowheads="1"/>
          </p:cNvSpPr>
          <p:nvPr/>
        </p:nvSpPr>
        <p:spPr bwMode="auto">
          <a:xfrm>
            <a:off x="371475" y="34925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굴림" panose="020B0600000101010101" pitchFamily="50" charset="-127"/>
                <a:ea typeface="굴림" panose="020B0600000101010101" pitchFamily="50" charset="-127"/>
              </a:rPr>
              <a:t>존포함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 사용 체크</a:t>
            </a:r>
          </a:p>
        </p:txBody>
      </p:sp>
      <p:sp>
        <p:nvSpPr>
          <p:cNvPr id="16450" name="직사각형 66"/>
          <p:cNvSpPr>
            <a:spLocks noChangeArrowheads="1"/>
          </p:cNvSpPr>
          <p:nvPr/>
        </p:nvSpPr>
        <p:spPr bwMode="auto">
          <a:xfrm>
            <a:off x="1422654" y="3509963"/>
            <a:ext cx="217979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 dirty="0">
                <a:latin typeface="굴림체" panose="020B0609000101010101" pitchFamily="49" charset="-127"/>
              </a:rPr>
              <a:t>√</a:t>
            </a:r>
            <a:endParaRPr kumimoji="0"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1" name="TextBox 65"/>
          <p:cNvSpPr txBox="1">
            <a:spLocks noChangeArrowheads="1"/>
          </p:cNvSpPr>
          <p:nvPr/>
        </p:nvSpPr>
        <p:spPr bwMode="auto">
          <a:xfrm>
            <a:off x="2587625" y="34988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존포함제외체크</a:t>
            </a:r>
          </a:p>
        </p:txBody>
      </p:sp>
      <p:sp>
        <p:nvSpPr>
          <p:cNvPr id="16452" name="직사각형 66"/>
          <p:cNvSpPr>
            <a:spLocks noChangeArrowheads="1"/>
          </p:cNvSpPr>
          <p:nvPr/>
        </p:nvSpPr>
        <p:spPr bwMode="auto">
          <a:xfrm>
            <a:off x="3654425" y="3497263"/>
            <a:ext cx="258763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3" name="TextBox 65"/>
          <p:cNvSpPr txBox="1">
            <a:spLocks noChangeArrowheads="1"/>
          </p:cNvSpPr>
          <p:nvPr/>
        </p:nvSpPr>
        <p:spPr bwMode="auto">
          <a:xfrm>
            <a:off x="4981575" y="350361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로케이션포함체크</a:t>
            </a:r>
          </a:p>
        </p:txBody>
      </p:sp>
      <p:sp>
        <p:nvSpPr>
          <p:cNvPr id="16454" name="직사각형 66"/>
          <p:cNvSpPr>
            <a:spLocks noChangeArrowheads="1"/>
          </p:cNvSpPr>
          <p:nvPr/>
        </p:nvSpPr>
        <p:spPr bwMode="auto">
          <a:xfrm>
            <a:off x="6129339" y="3502025"/>
            <a:ext cx="263822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 dirty="0">
                <a:latin typeface="굴림체" panose="020B0609000101010101" pitchFamily="49" charset="-127"/>
              </a:rPr>
              <a:t>√</a:t>
            </a:r>
            <a:endParaRPr kumimoji="0"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5" name="TextBox 65"/>
          <p:cNvSpPr txBox="1">
            <a:spLocks noChangeArrowheads="1"/>
          </p:cNvSpPr>
          <p:nvPr/>
        </p:nvSpPr>
        <p:spPr bwMode="auto">
          <a:xfrm>
            <a:off x="7197725" y="3509963"/>
            <a:ext cx="1152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로케이션제외체크</a:t>
            </a:r>
          </a:p>
        </p:txBody>
      </p:sp>
      <p:sp>
        <p:nvSpPr>
          <p:cNvPr id="16456" name="직사각형 66"/>
          <p:cNvSpPr>
            <a:spLocks noChangeArrowheads="1"/>
          </p:cNvSpPr>
          <p:nvPr/>
        </p:nvSpPr>
        <p:spPr bwMode="auto">
          <a:xfrm>
            <a:off x="8345489" y="3508375"/>
            <a:ext cx="263824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57" name="TextBox 65"/>
          <p:cNvSpPr txBox="1">
            <a:spLocks noChangeArrowheads="1"/>
          </p:cNvSpPr>
          <p:nvPr/>
        </p:nvSpPr>
        <p:spPr bwMode="auto">
          <a:xfrm>
            <a:off x="342900" y="4117826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58" name="직사각형 66"/>
          <p:cNvSpPr>
            <a:spLocks noChangeArrowheads="1"/>
          </p:cNvSpPr>
          <p:nvPr/>
        </p:nvSpPr>
        <p:spPr bwMode="auto">
          <a:xfrm>
            <a:off x="1411288" y="411623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단</a:t>
            </a:r>
          </a:p>
        </p:txBody>
      </p:sp>
      <p:sp>
        <p:nvSpPr>
          <p:cNvPr id="16459" name="TextBox 65"/>
          <p:cNvSpPr txBox="1">
            <a:spLocks noChangeArrowheads="1"/>
          </p:cNvSpPr>
          <p:nvPr/>
        </p:nvSpPr>
        <p:spPr bwMode="auto">
          <a:xfrm>
            <a:off x="2593975" y="4106713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0" name="직사각형 66"/>
          <p:cNvSpPr>
            <a:spLocks noChangeArrowheads="1"/>
          </p:cNvSpPr>
          <p:nvPr/>
        </p:nvSpPr>
        <p:spPr bwMode="auto">
          <a:xfrm>
            <a:off x="3660775" y="4105126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1" name="TextBox 65"/>
          <p:cNvSpPr txBox="1">
            <a:spLocks noChangeArrowheads="1"/>
          </p:cNvSpPr>
          <p:nvPr/>
        </p:nvSpPr>
        <p:spPr bwMode="auto">
          <a:xfrm>
            <a:off x="349250" y="4454376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62" name="직사각형 66"/>
          <p:cNvSpPr>
            <a:spLocks noChangeArrowheads="1"/>
          </p:cNvSpPr>
          <p:nvPr/>
        </p:nvSpPr>
        <p:spPr bwMode="auto">
          <a:xfrm>
            <a:off x="1417638" y="445278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열</a:t>
            </a:r>
          </a:p>
        </p:txBody>
      </p:sp>
      <p:sp>
        <p:nvSpPr>
          <p:cNvPr id="16463" name="TextBox 65"/>
          <p:cNvSpPr txBox="1">
            <a:spLocks noChangeArrowheads="1"/>
          </p:cNvSpPr>
          <p:nvPr/>
        </p:nvSpPr>
        <p:spPr bwMode="auto">
          <a:xfrm>
            <a:off x="2600325" y="4444851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4" name="직사각형 66"/>
          <p:cNvSpPr>
            <a:spLocks noChangeArrowheads="1"/>
          </p:cNvSpPr>
          <p:nvPr/>
        </p:nvSpPr>
        <p:spPr bwMode="auto">
          <a:xfrm>
            <a:off x="3667125" y="444326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5" name="TextBox 65"/>
          <p:cNvSpPr txBox="1">
            <a:spLocks noChangeArrowheads="1"/>
          </p:cNvSpPr>
          <p:nvPr/>
        </p:nvSpPr>
        <p:spPr bwMode="auto">
          <a:xfrm>
            <a:off x="361950" y="4782988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정렬기준</a:t>
            </a:r>
          </a:p>
        </p:txBody>
      </p:sp>
      <p:sp>
        <p:nvSpPr>
          <p:cNvPr id="16466" name="직사각형 66"/>
          <p:cNvSpPr>
            <a:spLocks noChangeArrowheads="1"/>
          </p:cNvSpPr>
          <p:nvPr/>
        </p:nvSpPr>
        <p:spPr bwMode="auto">
          <a:xfrm>
            <a:off x="1430338" y="4781401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우선순위</a:t>
            </a:r>
          </a:p>
        </p:txBody>
      </p:sp>
      <p:sp>
        <p:nvSpPr>
          <p:cNvPr id="16467" name="TextBox 65"/>
          <p:cNvSpPr txBox="1">
            <a:spLocks noChangeArrowheads="1"/>
          </p:cNvSpPr>
          <p:nvPr/>
        </p:nvSpPr>
        <p:spPr bwMode="auto">
          <a:xfrm>
            <a:off x="2611438" y="4773463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정렬방법</a:t>
            </a:r>
          </a:p>
        </p:txBody>
      </p:sp>
      <p:sp>
        <p:nvSpPr>
          <p:cNvPr id="16468" name="직사각형 66"/>
          <p:cNvSpPr>
            <a:spLocks noChangeArrowheads="1"/>
          </p:cNvSpPr>
          <p:nvPr/>
        </p:nvSpPr>
        <p:spPr bwMode="auto">
          <a:xfrm>
            <a:off x="3665538" y="4771876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오름차순</a:t>
            </a:r>
          </a:p>
        </p:txBody>
      </p:sp>
      <p:sp>
        <p:nvSpPr>
          <p:cNvPr id="16469" name="직사각형 33"/>
          <p:cNvSpPr>
            <a:spLocks noChangeArrowheads="1"/>
          </p:cNvSpPr>
          <p:nvPr/>
        </p:nvSpPr>
        <p:spPr bwMode="auto">
          <a:xfrm>
            <a:off x="2278063" y="4121001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0" name="직사각형 33"/>
          <p:cNvSpPr>
            <a:spLocks noChangeArrowheads="1"/>
          </p:cNvSpPr>
          <p:nvPr/>
        </p:nvSpPr>
        <p:spPr bwMode="auto">
          <a:xfrm>
            <a:off x="2278063" y="445596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1" name="직사각형 33"/>
          <p:cNvSpPr>
            <a:spLocks noChangeArrowheads="1"/>
          </p:cNvSpPr>
          <p:nvPr/>
        </p:nvSpPr>
        <p:spPr bwMode="auto">
          <a:xfrm>
            <a:off x="2282825" y="477822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2" name="직사각형 33"/>
          <p:cNvSpPr>
            <a:spLocks noChangeArrowheads="1"/>
          </p:cNvSpPr>
          <p:nvPr/>
        </p:nvSpPr>
        <p:spPr bwMode="auto">
          <a:xfrm>
            <a:off x="4518025" y="410988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3" name="직사각형 33"/>
          <p:cNvSpPr>
            <a:spLocks noChangeArrowheads="1"/>
          </p:cNvSpPr>
          <p:nvPr/>
        </p:nvSpPr>
        <p:spPr bwMode="auto">
          <a:xfrm>
            <a:off x="4532313" y="4440088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16474" name="직사각형 33"/>
          <p:cNvSpPr>
            <a:spLocks noChangeArrowheads="1"/>
          </p:cNvSpPr>
          <p:nvPr/>
        </p:nvSpPr>
        <p:spPr bwMode="auto">
          <a:xfrm>
            <a:off x="4532313" y="4776638"/>
            <a:ext cx="139700" cy="211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74" name="TextBox 65"/>
          <p:cNvSpPr txBox="1">
            <a:spLocks noChangeArrowheads="1"/>
          </p:cNvSpPr>
          <p:nvPr/>
        </p:nvSpPr>
        <p:spPr bwMode="auto">
          <a:xfrm>
            <a:off x="352425" y="37834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선입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900" dirty="0" err="1">
                <a:latin typeface="굴림" panose="020B0600000101010101" pitchFamily="50" charset="-127"/>
                <a:ea typeface="굴림" panose="020B0600000101010101" pitchFamily="50" charset="-127"/>
              </a:rPr>
              <a:t>후입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 선출</a:t>
            </a:r>
          </a:p>
        </p:txBody>
      </p:sp>
      <p:sp>
        <p:nvSpPr>
          <p:cNvPr id="75" name="직사각형 66"/>
          <p:cNvSpPr>
            <a:spLocks noChangeArrowheads="1"/>
          </p:cNvSpPr>
          <p:nvPr/>
        </p:nvSpPr>
        <p:spPr bwMode="auto">
          <a:xfrm>
            <a:off x="1411289" y="3800938"/>
            <a:ext cx="229344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>
                <a:latin typeface="굴림체" panose="020B0609000101010101" pitchFamily="49" charset="-127"/>
              </a:rPr>
              <a:t>√</a:t>
            </a:r>
            <a:endParaRPr kumimoji="0" lang="ko-KR" altLang="en-US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6" name="TextBox 65"/>
          <p:cNvSpPr txBox="1">
            <a:spLocks noChangeArrowheads="1"/>
          </p:cNvSpPr>
          <p:nvPr/>
        </p:nvSpPr>
        <p:spPr bwMode="auto">
          <a:xfrm>
            <a:off x="2583329" y="3774926"/>
            <a:ext cx="14335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선입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900" dirty="0" err="1">
                <a:latin typeface="굴림" panose="020B0600000101010101" pitchFamily="50" charset="-127"/>
                <a:ea typeface="굴림" panose="020B0600000101010101" pitchFamily="50" charset="-127"/>
              </a:rPr>
              <a:t>후입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 선출 기준</a:t>
            </a:r>
          </a:p>
        </p:txBody>
      </p:sp>
      <p:sp>
        <p:nvSpPr>
          <p:cNvPr id="77" name="직사각형 66"/>
          <p:cNvSpPr>
            <a:spLocks noChangeArrowheads="1"/>
          </p:cNvSpPr>
          <p:nvPr/>
        </p:nvSpPr>
        <p:spPr bwMode="auto">
          <a:xfrm>
            <a:off x="3736851" y="3792389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유통일자</a:t>
            </a:r>
          </a:p>
        </p:txBody>
      </p:sp>
      <p:sp>
        <p:nvSpPr>
          <p:cNvPr id="78" name="직사각형 33"/>
          <p:cNvSpPr>
            <a:spLocks noChangeArrowheads="1"/>
          </p:cNvSpPr>
          <p:nvPr/>
        </p:nvSpPr>
        <p:spPr bwMode="auto">
          <a:xfrm>
            <a:off x="4602163" y="379306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79" name="TextBox 65"/>
          <p:cNvSpPr txBox="1">
            <a:spLocks noChangeArrowheads="1"/>
          </p:cNvSpPr>
          <p:nvPr/>
        </p:nvSpPr>
        <p:spPr bwMode="auto">
          <a:xfrm>
            <a:off x="6677421" y="1638301"/>
            <a:ext cx="121676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최소할당 패킹레벨</a:t>
            </a:r>
          </a:p>
        </p:txBody>
      </p:sp>
      <p:sp>
        <p:nvSpPr>
          <p:cNvPr id="80" name="직사각형 66"/>
          <p:cNvSpPr>
            <a:spLocks noChangeArrowheads="1"/>
          </p:cNvSpPr>
          <p:nvPr/>
        </p:nvSpPr>
        <p:spPr bwMode="auto">
          <a:xfrm>
            <a:off x="7982347" y="163671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" name="직사각형 33"/>
          <p:cNvSpPr>
            <a:spLocks noChangeArrowheads="1"/>
          </p:cNvSpPr>
          <p:nvPr/>
        </p:nvSpPr>
        <p:spPr bwMode="auto">
          <a:xfrm>
            <a:off x="8821281" y="163828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▼</a:t>
            </a:r>
          </a:p>
        </p:txBody>
      </p:sp>
      <p:sp>
        <p:nvSpPr>
          <p:cNvPr id="82" name="TextBox 65"/>
          <p:cNvSpPr txBox="1">
            <a:spLocks noChangeArrowheads="1"/>
          </p:cNvSpPr>
          <p:nvPr/>
        </p:nvSpPr>
        <p:spPr bwMode="auto">
          <a:xfrm>
            <a:off x="5062539" y="2446338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입고일자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3" name="직사각형 66"/>
          <p:cNvSpPr>
            <a:spLocks noChangeArrowheads="1"/>
          </p:cNvSpPr>
          <p:nvPr/>
        </p:nvSpPr>
        <p:spPr bwMode="auto">
          <a:xfrm>
            <a:off x="6129339" y="2444751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4" name="TextBox 65"/>
          <p:cNvSpPr txBox="1">
            <a:spLocks noChangeArrowheads="1"/>
          </p:cNvSpPr>
          <p:nvPr/>
        </p:nvSpPr>
        <p:spPr bwMode="auto">
          <a:xfrm>
            <a:off x="5062539" y="2768601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제조일자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5" name="직사각형 66"/>
          <p:cNvSpPr>
            <a:spLocks noChangeArrowheads="1"/>
          </p:cNvSpPr>
          <p:nvPr/>
        </p:nvSpPr>
        <p:spPr bwMode="auto">
          <a:xfrm>
            <a:off x="6129339" y="276701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6" name="TextBox 65"/>
          <p:cNvSpPr txBox="1">
            <a:spLocks noChangeArrowheads="1"/>
          </p:cNvSpPr>
          <p:nvPr/>
        </p:nvSpPr>
        <p:spPr bwMode="auto">
          <a:xfrm>
            <a:off x="5062539" y="3114676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유통일자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To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7" name="직사각형 66"/>
          <p:cNvSpPr>
            <a:spLocks noChangeArrowheads="1"/>
          </p:cNvSpPr>
          <p:nvPr/>
        </p:nvSpPr>
        <p:spPr bwMode="auto">
          <a:xfrm>
            <a:off x="6129339" y="311308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 b="1" dirty="0">
                <a:latin typeface="굴림체" panose="020B0609000101010101" pitchFamily="49" charset="-127"/>
              </a:rPr>
              <a:t>0</a:t>
            </a:r>
            <a:endParaRPr kumimoji="0"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8" name="TextBox 65"/>
          <p:cNvSpPr txBox="1">
            <a:spLocks noChangeArrowheads="1"/>
          </p:cNvSpPr>
          <p:nvPr/>
        </p:nvSpPr>
        <p:spPr bwMode="auto">
          <a:xfrm>
            <a:off x="321127" y="2035437"/>
            <a:ext cx="121676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패킹입수수량</a:t>
            </a:r>
          </a:p>
        </p:txBody>
      </p:sp>
      <p:sp>
        <p:nvSpPr>
          <p:cNvPr id="89" name="직사각형 66"/>
          <p:cNvSpPr>
            <a:spLocks noChangeArrowheads="1"/>
          </p:cNvSpPr>
          <p:nvPr/>
        </p:nvSpPr>
        <p:spPr bwMode="auto">
          <a:xfrm>
            <a:off x="1382255" y="203384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69973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17162</TotalTime>
  <Words>1004</Words>
  <Application>Microsoft Office PowerPoint</Application>
  <PresentationFormat>A4 용지(210x297mm)</PresentationFormat>
  <Paragraphs>652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굴림</vt:lpstr>
      <vt:lpstr>굴림체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864</cp:revision>
  <dcterms:created xsi:type="dcterms:W3CDTF">2002-03-20T01:19:40Z</dcterms:created>
  <dcterms:modified xsi:type="dcterms:W3CDTF">2016-11-29T01:53:31Z</dcterms:modified>
</cp:coreProperties>
</file>