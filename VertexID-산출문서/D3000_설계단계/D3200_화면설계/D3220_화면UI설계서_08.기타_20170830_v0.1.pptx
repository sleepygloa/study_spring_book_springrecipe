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906000" cy="6858000" type="A4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Optima" pitchFamily="2" charset="2"/>
        <a:ea typeface="굴림체" panose="020B0609000101010101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6144">
          <p15:clr>
            <a:srgbClr val="A4A3A4"/>
          </p15:clr>
        </p15:guide>
        <p15:guide id="3" pos="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  <a:srgbClr val="B2B2B2"/>
    <a:srgbClr val="E1D8D3"/>
    <a:srgbClr val="538ED5"/>
    <a:srgbClr val="D7DACC"/>
    <a:srgbClr val="EAEAEA"/>
    <a:srgbClr val="5E7586"/>
    <a:srgbClr val="CCE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3" autoAdjust="0"/>
    <p:restoredTop sz="90891" autoAdjust="0"/>
  </p:normalViewPr>
  <p:slideViewPr>
    <p:cSldViewPr>
      <p:cViewPr varScale="1">
        <p:scale>
          <a:sx n="106" d="100"/>
          <a:sy n="106" d="100"/>
        </p:scale>
        <p:origin x="1794" y="96"/>
      </p:cViewPr>
      <p:guideLst>
        <p:guide orient="horz" pos="4247"/>
        <p:guide pos="6144"/>
        <p:guide pos="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4" d="100"/>
          <a:sy n="134" d="100"/>
        </p:scale>
        <p:origin x="1512" y="102"/>
      </p:cViewPr>
      <p:guideLst>
        <p:guide orient="horz" pos="3125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5442" cy="496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67" tIns="45734" rIns="91467" bIns="45734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147" y="1"/>
            <a:ext cx="2945442" cy="496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67" tIns="45734" rIns="91467" bIns="45734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7870"/>
            <a:ext cx="2945442" cy="496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67" tIns="45734" rIns="91467" bIns="45734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147" y="9427870"/>
            <a:ext cx="2945442" cy="496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67" tIns="45734" rIns="91467" bIns="45734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C200B7-AF2C-4CB9-B550-9C7EB9EAF19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1933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5442" cy="496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67" tIns="45734" rIns="91467" bIns="45734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147" y="1"/>
            <a:ext cx="2945442" cy="496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67" tIns="45734" rIns="91467" bIns="45734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4538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552" y="4713935"/>
            <a:ext cx="5438575" cy="446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67" tIns="45734" rIns="91467" bIns="457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altLang="ko-KR" noProof="0" dirty="0"/>
          </a:p>
          <a:p>
            <a:pPr lvl="4"/>
            <a:endParaRPr lang="ko-KR" altLang="en-US" noProof="0" dirty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7870"/>
            <a:ext cx="2945442" cy="496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67" tIns="45734" rIns="91467" bIns="45734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5"/>
          </p:nvPr>
        </p:nvSpPr>
        <p:spPr>
          <a:xfrm>
            <a:off x="3850060" y="9427870"/>
            <a:ext cx="2946529" cy="496447"/>
          </a:xfrm>
          <a:prstGeom prst="rect">
            <a:avLst/>
          </a:prstGeom>
        </p:spPr>
        <p:txBody>
          <a:bodyPr vert="horz" wrap="square" lIns="91467" tIns="45734" rIns="91467" bIns="45734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05C7832-D80B-4AF9-A40D-AD43E129F7E5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37334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BDBDA33-A9CB-4589-A3DC-97E2043BD6D8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926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B9E8134-EF38-4899-AB01-D7F29EA40145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278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C00A407-FF6B-4D8B-AEEF-A84C300D94AB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577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147" y="9427870"/>
            <a:ext cx="2945442" cy="49644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3173" indent="-285836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343" indent="-228669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680" indent="-228669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8017" indent="-228669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5354" indent="-22866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2692" indent="-22866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30029" indent="-22866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7366" indent="-22866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5BB26C4-688A-4D75-A7D0-EE0E85B0B7E9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4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8464" y="4713935"/>
            <a:ext cx="5440749" cy="446803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 dirty="0" err="1" smtClean="0"/>
              <a:t>배송처별</a:t>
            </a:r>
            <a:r>
              <a:rPr lang="ko-KR" altLang="en-US" dirty="0" smtClean="0"/>
              <a:t> 그룹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COMPANY_CD, DC_CD, CLIENT_CD</a:t>
            </a:r>
            <a:r>
              <a:rPr lang="en-US" altLang="ko-KR" baseline="0" smtClean="0"/>
              <a:t>, STORE_CD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3936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147" y="9427870"/>
            <a:ext cx="2945442" cy="49644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3173" indent="-285836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343" indent="-228669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680" indent="-228669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8017" indent="-228669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5354" indent="-22866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2692" indent="-22866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30029" indent="-22866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7366" indent="-22866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6D92C7C-1FE8-4286-8C8F-3DCA562D311B}" type="slidenum">
              <a:rPr lang="en-US" altLang="ko-KR" smtClean="0">
                <a:latin typeface="Optima" pitchFamily="2" charset="2"/>
              </a:rPr>
              <a:pPr>
                <a:spcBef>
                  <a:spcPct val="0"/>
                </a:spcBef>
              </a:pPr>
              <a:t>5</a:t>
            </a:fld>
            <a:endParaRPr lang="en-US" altLang="ko-KR">
              <a:latin typeface="Optima" pitchFamily="2" charset="2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8464" y="4713935"/>
            <a:ext cx="5440749" cy="446803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 dirty="0" smtClean="0"/>
              <a:t>제품별 그룹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COMPANY_CD, DC_CD, CLIENT_CD, ITEM_CD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2855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C00A407-FF6B-4D8B-AEEF-A84C300D94AB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6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019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3B43B2B-4A25-4F2C-87F3-58688DB1791C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7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254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FDE2951-E501-4961-A9E5-90791890BFB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8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76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432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9"/>
          <p:cNvSpPr>
            <a:spLocks noChangeShapeType="1"/>
          </p:cNvSpPr>
          <p:nvPr userDrawn="1"/>
        </p:nvSpPr>
        <p:spPr bwMode="auto">
          <a:xfrm>
            <a:off x="220663" y="6524625"/>
            <a:ext cx="9432925" cy="0"/>
          </a:xfrm>
          <a:prstGeom prst="line">
            <a:avLst/>
          </a:prstGeom>
          <a:noFill/>
          <a:ln w="22225">
            <a:solidFill>
              <a:srgbClr val="7A6F5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529" name="Group 193"/>
          <p:cNvGraphicFramePr>
            <a:graphicFrameLocks noGrp="1"/>
          </p:cNvGraphicFramePr>
          <p:nvPr/>
        </p:nvGraphicFramePr>
        <p:xfrm>
          <a:off x="203200" y="260350"/>
          <a:ext cx="9474200" cy="692154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5108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2565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50971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창고관리시스템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(WMS)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구축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 공정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문서명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페이지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9" name="Text Box 162"/>
          <p:cNvSpPr txBox="1">
            <a:spLocks noChangeArrowheads="1"/>
          </p:cNvSpPr>
          <p:nvPr userDrawn="1"/>
        </p:nvSpPr>
        <p:spPr bwMode="auto">
          <a:xfrm>
            <a:off x="6865938" y="261938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ko-KR" altLang="ko-KR" sz="900" b="1">
              <a:solidFill>
                <a:srgbClr val="777777"/>
              </a:solidFill>
              <a:latin typeface="+mn-ea"/>
              <a:ea typeface="+mn-ea"/>
            </a:endParaRPr>
          </a:p>
        </p:txBody>
      </p:sp>
      <p:sp>
        <p:nvSpPr>
          <p:cNvPr id="1061" name="Text Box 165"/>
          <p:cNvSpPr txBox="1">
            <a:spLocks noChangeArrowheads="1"/>
          </p:cNvSpPr>
          <p:nvPr userDrawn="1"/>
        </p:nvSpPr>
        <p:spPr bwMode="auto">
          <a:xfrm>
            <a:off x="1219200" y="476250"/>
            <a:ext cx="4957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D3000_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설계단계</a:t>
            </a:r>
          </a:p>
        </p:txBody>
      </p:sp>
      <p:sp>
        <p:nvSpPr>
          <p:cNvPr id="1062" name="Text Box 166"/>
          <p:cNvSpPr txBox="1">
            <a:spLocks noChangeArrowheads="1"/>
          </p:cNvSpPr>
          <p:nvPr userDrawn="1"/>
        </p:nvSpPr>
        <p:spPr bwMode="auto">
          <a:xfrm>
            <a:off x="1219200" y="711200"/>
            <a:ext cx="49482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D3220_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화면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UI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설계서</a:t>
            </a:r>
          </a:p>
        </p:txBody>
      </p:sp>
      <p:graphicFrame>
        <p:nvGraphicFramePr>
          <p:cNvPr id="10" name="Group 13"/>
          <p:cNvGraphicFramePr>
            <a:graphicFrameLocks noGrp="1"/>
          </p:cNvGraphicFramePr>
          <p:nvPr/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 userDrawn="1"/>
        </p:nvSpPr>
        <p:spPr>
          <a:xfrm>
            <a:off x="7024688" y="723900"/>
            <a:ext cx="1143000" cy="2301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fld id="{76BDACEE-C42F-495C-85B3-9F4C9E9CD526}" type="slidenum">
              <a:rPr lang="ko-KR" altLang="en-US" sz="900" b="1" smtClean="0">
                <a:solidFill>
                  <a:srgbClr val="7F7F7F"/>
                </a:solidFill>
                <a:latin typeface="+mn-ea"/>
                <a:ea typeface="+mn-ea"/>
              </a:rPr>
              <a:pPr algn="ctr" eaLnBrk="1" latinLnBrk="1" hangingPunct="1">
                <a:defRPr/>
              </a:pPr>
              <a:t>‹#›</a:t>
            </a:fld>
            <a:endParaRPr lang="ko-KR" altLang="en-US" sz="900" b="1">
              <a:solidFill>
                <a:srgbClr val="7F7F7F"/>
              </a:solidFill>
              <a:latin typeface="+mn-ea"/>
              <a:ea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694" y="6578811"/>
            <a:ext cx="816894" cy="196532"/>
          </a:xfrm>
          <a:prstGeom prst="rect">
            <a:avLst/>
          </a:prstGeom>
        </p:spPr>
      </p:pic>
      <p:pic>
        <p:nvPicPr>
          <p:cNvPr id="1072" name="그림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0" y="439738"/>
            <a:ext cx="13271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공급처별 입고내역</a:t>
            </a:r>
          </a:p>
        </p:txBody>
      </p:sp>
      <p:sp>
        <p:nvSpPr>
          <p:cNvPr id="16388" name="직사각형 51"/>
          <p:cNvSpPr>
            <a:spLocks noChangeArrowheads="1"/>
          </p:cNvSpPr>
          <p:nvPr/>
        </p:nvSpPr>
        <p:spPr bwMode="auto">
          <a:xfrm>
            <a:off x="8494911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+mn-ea"/>
                <a:ea typeface="+mn-ea"/>
              </a:rPr>
              <a:t>검색</a:t>
            </a:r>
          </a:p>
        </p:txBody>
      </p:sp>
      <p:sp>
        <p:nvSpPr>
          <p:cNvPr id="1638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639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16393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grpSp>
        <p:nvGrpSpPr>
          <p:cNvPr id="16394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648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648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6395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6397" name="TextBox 65"/>
          <p:cNvSpPr txBox="1">
            <a:spLocks noChangeArrowheads="1"/>
          </p:cNvSpPr>
          <p:nvPr/>
        </p:nvSpPr>
        <p:spPr bwMode="auto">
          <a:xfrm>
            <a:off x="257175" y="13842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+mn-ea"/>
                <a:ea typeface="+mn-ea"/>
              </a:rPr>
              <a:t>고객사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6398" name="직사각형 66"/>
          <p:cNvSpPr>
            <a:spLocks noChangeArrowheads="1"/>
          </p:cNvSpPr>
          <p:nvPr/>
        </p:nvSpPr>
        <p:spPr bwMode="auto">
          <a:xfrm>
            <a:off x="1200150" y="13937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399" name="TextBox 65"/>
          <p:cNvSpPr txBox="1">
            <a:spLocks noChangeArrowheads="1"/>
          </p:cNvSpPr>
          <p:nvPr/>
        </p:nvSpPr>
        <p:spPr bwMode="auto">
          <a:xfrm>
            <a:off x="3484503" y="13843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입고일자</a:t>
            </a:r>
          </a:p>
        </p:txBody>
      </p:sp>
      <p:sp>
        <p:nvSpPr>
          <p:cNvPr id="16400" name="직사각형 66"/>
          <p:cNvSpPr>
            <a:spLocks noChangeArrowheads="1"/>
          </p:cNvSpPr>
          <p:nvPr/>
        </p:nvSpPr>
        <p:spPr bwMode="auto">
          <a:xfrm>
            <a:off x="4425891" y="13716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01" name="직사각형 66"/>
          <p:cNvSpPr>
            <a:spLocks noChangeArrowheads="1"/>
          </p:cNvSpPr>
          <p:nvPr/>
        </p:nvSpPr>
        <p:spPr bwMode="auto">
          <a:xfrm>
            <a:off x="5643503" y="13716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02" name="직사각형 48"/>
          <p:cNvSpPr>
            <a:spLocks noChangeArrowheads="1"/>
          </p:cNvSpPr>
          <p:nvPr/>
        </p:nvSpPr>
        <p:spPr bwMode="auto">
          <a:xfrm>
            <a:off x="5283141" y="13716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403" name="직사각형 48"/>
          <p:cNvSpPr>
            <a:spLocks noChangeArrowheads="1"/>
          </p:cNvSpPr>
          <p:nvPr/>
        </p:nvSpPr>
        <p:spPr bwMode="auto">
          <a:xfrm>
            <a:off x="6500753" y="13716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404" name="TextBox 65"/>
          <p:cNvSpPr txBox="1">
            <a:spLocks noChangeArrowheads="1"/>
          </p:cNvSpPr>
          <p:nvPr/>
        </p:nvSpPr>
        <p:spPr bwMode="auto">
          <a:xfrm>
            <a:off x="5414903" y="135418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16405" name="TextBox 65"/>
          <p:cNvSpPr txBox="1">
            <a:spLocks noChangeArrowheads="1"/>
          </p:cNvSpPr>
          <p:nvPr/>
        </p:nvSpPr>
        <p:spPr bwMode="auto">
          <a:xfrm>
            <a:off x="6902449" y="1377106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입고진행상태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6406" name="TextBox 65"/>
          <p:cNvSpPr txBox="1">
            <a:spLocks noChangeArrowheads="1"/>
          </p:cNvSpPr>
          <p:nvPr/>
        </p:nvSpPr>
        <p:spPr bwMode="auto">
          <a:xfrm>
            <a:off x="272480" y="17716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공급처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6407" name="직사각형 66"/>
          <p:cNvSpPr>
            <a:spLocks noChangeArrowheads="1"/>
          </p:cNvSpPr>
          <p:nvPr/>
        </p:nvSpPr>
        <p:spPr bwMode="auto">
          <a:xfrm>
            <a:off x="1178943" y="17795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08" name="직사각형 66"/>
          <p:cNvSpPr>
            <a:spLocks noChangeArrowheads="1"/>
          </p:cNvSpPr>
          <p:nvPr/>
        </p:nvSpPr>
        <p:spPr bwMode="auto">
          <a:xfrm>
            <a:off x="7805737" y="1377106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11" name="직사각형 33"/>
          <p:cNvSpPr>
            <a:spLocks noChangeArrowheads="1"/>
          </p:cNvSpPr>
          <p:nvPr/>
        </p:nvSpPr>
        <p:spPr bwMode="auto">
          <a:xfrm>
            <a:off x="8669337" y="1378694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6412" name="직사각형 54"/>
          <p:cNvSpPr>
            <a:spLocks noChangeArrowheads="1"/>
          </p:cNvSpPr>
          <p:nvPr/>
        </p:nvSpPr>
        <p:spPr bwMode="auto">
          <a:xfrm>
            <a:off x="309563" y="2652713"/>
            <a:ext cx="9215437" cy="35131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83" name="TextBox 65"/>
          <p:cNvSpPr txBox="1">
            <a:spLocks noChangeArrowheads="1"/>
          </p:cNvSpPr>
          <p:nvPr/>
        </p:nvSpPr>
        <p:spPr bwMode="auto">
          <a:xfrm>
            <a:off x="6874558" y="1772414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입고번호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6484" name="직사각형 66"/>
          <p:cNvSpPr>
            <a:spLocks noChangeArrowheads="1"/>
          </p:cNvSpPr>
          <p:nvPr/>
        </p:nvSpPr>
        <p:spPr bwMode="auto">
          <a:xfrm>
            <a:off x="7819120" y="1781939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85" name="직사각형 48"/>
          <p:cNvSpPr>
            <a:spLocks noChangeArrowheads="1"/>
          </p:cNvSpPr>
          <p:nvPr/>
        </p:nvSpPr>
        <p:spPr bwMode="auto">
          <a:xfrm>
            <a:off x="2259012" y="13906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6486" name="직사각형 66"/>
          <p:cNvSpPr>
            <a:spLocks noChangeArrowheads="1"/>
          </p:cNvSpPr>
          <p:nvPr/>
        </p:nvSpPr>
        <p:spPr bwMode="auto">
          <a:xfrm>
            <a:off x="2459037" y="1398538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err="1">
                <a:latin typeface="+mn-ea"/>
                <a:ea typeface="+mn-ea"/>
              </a:rPr>
              <a:t>버텍스아이디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7" name="TextBox 65"/>
          <p:cNvSpPr txBox="1">
            <a:spLocks noChangeArrowheads="1"/>
          </p:cNvSpPr>
          <p:nvPr/>
        </p:nvSpPr>
        <p:spPr bwMode="auto">
          <a:xfrm>
            <a:off x="3508315" y="181262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입고구분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8" name="직사각형 66"/>
          <p:cNvSpPr>
            <a:spLocks noChangeArrowheads="1"/>
          </p:cNvSpPr>
          <p:nvPr/>
        </p:nvSpPr>
        <p:spPr bwMode="auto">
          <a:xfrm>
            <a:off x="4414778" y="182055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39" name="직사각형 48"/>
          <p:cNvSpPr>
            <a:spLocks noChangeArrowheads="1"/>
          </p:cNvSpPr>
          <p:nvPr/>
        </p:nvSpPr>
        <p:spPr bwMode="auto">
          <a:xfrm>
            <a:off x="2272802" y="1774541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0" name="직사각형 66"/>
          <p:cNvSpPr>
            <a:spLocks noChangeArrowheads="1"/>
          </p:cNvSpPr>
          <p:nvPr/>
        </p:nvSpPr>
        <p:spPr bwMode="auto">
          <a:xfrm>
            <a:off x="2472827" y="1782479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4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724418"/>
              </p:ext>
            </p:extLst>
          </p:nvPr>
        </p:nvGraphicFramePr>
        <p:xfrm>
          <a:off x="460718" y="2781176"/>
          <a:ext cx="2818407" cy="575816"/>
        </p:xfrm>
        <a:graphic>
          <a:graphicData uri="http://schemas.openxmlformats.org/drawingml/2006/table">
            <a:tbl>
              <a:tblPr/>
              <a:tblGrid>
                <a:gridCol w="2875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92371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1638493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28799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공급처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공급처명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78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190645"/>
              </p:ext>
            </p:extLst>
          </p:nvPr>
        </p:nvGraphicFramePr>
        <p:xfrm>
          <a:off x="3291068" y="2780928"/>
          <a:ext cx="6054420" cy="578099"/>
        </p:xfrm>
        <a:graphic>
          <a:graphicData uri="http://schemas.openxmlformats.org/drawingml/2006/table">
            <a:tbl>
              <a:tblPr/>
              <a:tblGrid>
                <a:gridCol w="889489"/>
                <a:gridCol w="889489"/>
                <a:gridCol w="889489"/>
                <a:gridCol w="8894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1644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4001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40011"/>
              </a:tblGrid>
              <a:tr h="14810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입고예정수량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입고확정수량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810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695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제품별 입고내역</a:t>
            </a:r>
          </a:p>
        </p:txBody>
      </p:sp>
      <p:sp>
        <p:nvSpPr>
          <p:cNvPr id="18436" name="직사각형 51"/>
          <p:cNvSpPr>
            <a:spLocks noChangeArrowheads="1"/>
          </p:cNvSpPr>
          <p:nvPr/>
        </p:nvSpPr>
        <p:spPr bwMode="auto">
          <a:xfrm>
            <a:off x="8481392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+mn-ea"/>
                <a:ea typeface="+mn-ea"/>
              </a:rPr>
              <a:t>검색</a:t>
            </a:r>
          </a:p>
        </p:txBody>
      </p:sp>
      <p:sp>
        <p:nvSpPr>
          <p:cNvPr id="1843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843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18441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18442" name="직사각형 54"/>
          <p:cNvSpPr>
            <a:spLocks noChangeArrowheads="1"/>
          </p:cNvSpPr>
          <p:nvPr/>
        </p:nvSpPr>
        <p:spPr bwMode="auto">
          <a:xfrm>
            <a:off x="309563" y="2652713"/>
            <a:ext cx="9215437" cy="35131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pSp>
        <p:nvGrpSpPr>
          <p:cNvPr id="1850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852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852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850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37" name="TextBox 65"/>
          <p:cNvSpPr txBox="1">
            <a:spLocks noChangeArrowheads="1"/>
          </p:cNvSpPr>
          <p:nvPr/>
        </p:nvSpPr>
        <p:spPr bwMode="auto">
          <a:xfrm>
            <a:off x="257175" y="13842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38" name="직사각형 66"/>
          <p:cNvSpPr>
            <a:spLocks noChangeArrowheads="1"/>
          </p:cNvSpPr>
          <p:nvPr/>
        </p:nvSpPr>
        <p:spPr bwMode="auto">
          <a:xfrm>
            <a:off x="1200150" y="13937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39" name="TextBox 65"/>
          <p:cNvSpPr txBox="1">
            <a:spLocks noChangeArrowheads="1"/>
          </p:cNvSpPr>
          <p:nvPr/>
        </p:nvSpPr>
        <p:spPr bwMode="auto">
          <a:xfrm>
            <a:off x="3484503" y="13843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입고일자</a:t>
            </a:r>
          </a:p>
        </p:txBody>
      </p:sp>
      <p:sp>
        <p:nvSpPr>
          <p:cNvPr id="40" name="직사각형 66"/>
          <p:cNvSpPr>
            <a:spLocks noChangeArrowheads="1"/>
          </p:cNvSpPr>
          <p:nvPr/>
        </p:nvSpPr>
        <p:spPr bwMode="auto">
          <a:xfrm>
            <a:off x="4425891" y="13716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41" name="직사각형 66"/>
          <p:cNvSpPr>
            <a:spLocks noChangeArrowheads="1"/>
          </p:cNvSpPr>
          <p:nvPr/>
        </p:nvSpPr>
        <p:spPr bwMode="auto">
          <a:xfrm>
            <a:off x="5643503" y="13716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42" name="직사각형 48"/>
          <p:cNvSpPr>
            <a:spLocks noChangeArrowheads="1"/>
          </p:cNvSpPr>
          <p:nvPr/>
        </p:nvSpPr>
        <p:spPr bwMode="auto">
          <a:xfrm>
            <a:off x="5283141" y="13716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3" name="직사각형 48"/>
          <p:cNvSpPr>
            <a:spLocks noChangeArrowheads="1"/>
          </p:cNvSpPr>
          <p:nvPr/>
        </p:nvSpPr>
        <p:spPr bwMode="auto">
          <a:xfrm>
            <a:off x="6500753" y="13716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4" name="TextBox 65"/>
          <p:cNvSpPr txBox="1">
            <a:spLocks noChangeArrowheads="1"/>
          </p:cNvSpPr>
          <p:nvPr/>
        </p:nvSpPr>
        <p:spPr bwMode="auto">
          <a:xfrm>
            <a:off x="5414903" y="135418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45" name="TextBox 65"/>
          <p:cNvSpPr txBox="1">
            <a:spLocks noChangeArrowheads="1"/>
          </p:cNvSpPr>
          <p:nvPr/>
        </p:nvSpPr>
        <p:spPr bwMode="auto">
          <a:xfrm>
            <a:off x="6902449" y="1377106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입고진행상태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46" name="TextBox 65"/>
          <p:cNvSpPr txBox="1">
            <a:spLocks noChangeArrowheads="1"/>
          </p:cNvSpPr>
          <p:nvPr/>
        </p:nvSpPr>
        <p:spPr bwMode="auto">
          <a:xfrm>
            <a:off x="330200" y="17716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공급처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47" name="직사각형 66"/>
          <p:cNvSpPr>
            <a:spLocks noChangeArrowheads="1"/>
          </p:cNvSpPr>
          <p:nvPr/>
        </p:nvSpPr>
        <p:spPr bwMode="auto">
          <a:xfrm>
            <a:off x="1236663" y="17795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48" name="직사각형 66"/>
          <p:cNvSpPr>
            <a:spLocks noChangeArrowheads="1"/>
          </p:cNvSpPr>
          <p:nvPr/>
        </p:nvSpPr>
        <p:spPr bwMode="auto">
          <a:xfrm>
            <a:off x="7805737" y="1377106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49" name="직사각형 33"/>
          <p:cNvSpPr>
            <a:spLocks noChangeArrowheads="1"/>
          </p:cNvSpPr>
          <p:nvPr/>
        </p:nvSpPr>
        <p:spPr bwMode="auto">
          <a:xfrm>
            <a:off x="8669337" y="1378694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50" name="TextBox 65"/>
          <p:cNvSpPr txBox="1">
            <a:spLocks noChangeArrowheads="1"/>
          </p:cNvSpPr>
          <p:nvPr/>
        </p:nvSpPr>
        <p:spPr bwMode="auto">
          <a:xfrm>
            <a:off x="6874558" y="1772414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입고번호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52" name="직사각형 66"/>
          <p:cNvSpPr>
            <a:spLocks noChangeArrowheads="1"/>
          </p:cNvSpPr>
          <p:nvPr/>
        </p:nvSpPr>
        <p:spPr bwMode="auto">
          <a:xfrm>
            <a:off x="7819120" y="1781939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53" name="직사각형 48"/>
          <p:cNvSpPr>
            <a:spLocks noChangeArrowheads="1"/>
          </p:cNvSpPr>
          <p:nvPr/>
        </p:nvSpPr>
        <p:spPr bwMode="auto">
          <a:xfrm>
            <a:off x="2259012" y="13906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4" name="직사각형 66"/>
          <p:cNvSpPr>
            <a:spLocks noChangeArrowheads="1"/>
          </p:cNvSpPr>
          <p:nvPr/>
        </p:nvSpPr>
        <p:spPr bwMode="auto">
          <a:xfrm>
            <a:off x="2459037" y="1398538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err="1">
                <a:latin typeface="+mn-ea"/>
                <a:ea typeface="+mn-ea"/>
              </a:rPr>
              <a:t>버텍스아이디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5" name="TextBox 65"/>
          <p:cNvSpPr txBox="1">
            <a:spLocks noChangeArrowheads="1"/>
          </p:cNvSpPr>
          <p:nvPr/>
        </p:nvSpPr>
        <p:spPr bwMode="auto">
          <a:xfrm>
            <a:off x="3508315" y="181262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입고구분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56" name="직사각형 66"/>
          <p:cNvSpPr>
            <a:spLocks noChangeArrowheads="1"/>
          </p:cNvSpPr>
          <p:nvPr/>
        </p:nvSpPr>
        <p:spPr bwMode="auto">
          <a:xfrm>
            <a:off x="4414778" y="182055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57" name="직사각형 48"/>
          <p:cNvSpPr>
            <a:spLocks noChangeArrowheads="1"/>
          </p:cNvSpPr>
          <p:nvPr/>
        </p:nvSpPr>
        <p:spPr bwMode="auto">
          <a:xfrm>
            <a:off x="2272802" y="1774541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8" name="직사각형 66"/>
          <p:cNvSpPr>
            <a:spLocks noChangeArrowheads="1"/>
          </p:cNvSpPr>
          <p:nvPr/>
        </p:nvSpPr>
        <p:spPr bwMode="auto">
          <a:xfrm>
            <a:off x="2472827" y="1782479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9" name="TextBox 65"/>
          <p:cNvSpPr txBox="1">
            <a:spLocks noChangeArrowheads="1"/>
          </p:cNvSpPr>
          <p:nvPr/>
        </p:nvSpPr>
        <p:spPr bwMode="auto">
          <a:xfrm>
            <a:off x="324912" y="2239689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제품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0" name="직사각형 66"/>
          <p:cNvSpPr>
            <a:spLocks noChangeArrowheads="1"/>
          </p:cNvSpPr>
          <p:nvPr/>
        </p:nvSpPr>
        <p:spPr bwMode="auto">
          <a:xfrm>
            <a:off x="1231375" y="2247627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61" name="직사각형 48"/>
          <p:cNvSpPr>
            <a:spLocks noChangeArrowheads="1"/>
          </p:cNvSpPr>
          <p:nvPr/>
        </p:nvSpPr>
        <p:spPr bwMode="auto">
          <a:xfrm>
            <a:off x="2267514" y="224263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62" name="직사각형 66"/>
          <p:cNvSpPr>
            <a:spLocks noChangeArrowheads="1"/>
          </p:cNvSpPr>
          <p:nvPr/>
        </p:nvSpPr>
        <p:spPr bwMode="auto">
          <a:xfrm>
            <a:off x="2467539" y="2250568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635699"/>
              </p:ext>
            </p:extLst>
          </p:nvPr>
        </p:nvGraphicFramePr>
        <p:xfrm>
          <a:off x="379410" y="2780928"/>
          <a:ext cx="9038085" cy="588961"/>
        </p:xfrm>
        <a:graphic>
          <a:graphicData uri="http://schemas.openxmlformats.org/drawingml/2006/table">
            <a:tbl>
              <a:tblPr/>
              <a:tblGrid>
                <a:gridCol w="8921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0665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9299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066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2426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7676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79499"/>
                <a:gridCol w="479499"/>
                <a:gridCol w="479499"/>
                <a:gridCol w="47949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7949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79499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930837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930837"/>
              </a:tblGrid>
              <a:tr h="21354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입고예정수량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입고확정수량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9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8496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입고진행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/>
          </p:nvPr>
        </p:nvGraphicFramePr>
        <p:xfrm>
          <a:off x="355600" y="2640013"/>
          <a:ext cx="6244456" cy="428626"/>
        </p:xfrm>
        <a:graphic>
          <a:graphicData uri="http://schemas.openxmlformats.org/drawingml/2006/table">
            <a:tbl>
              <a:tblPr/>
              <a:tblGrid>
                <a:gridCol w="2526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0121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244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3958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0121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7794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7794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77949">
                  <a:extLst>
                    <a:ext uri="{9D8B030D-6E8A-4147-A177-3AD203B41FA5}">
                      <a16:colId xmlns:a16="http://schemas.microsoft.com/office/drawing/2014/main" xmlns="" val="2771086927"/>
                    </a:ext>
                  </a:extLst>
                </a:gridCol>
                <a:gridCol w="691474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정상입고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0516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689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17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입고 목록</a:t>
            </a:r>
          </a:p>
        </p:txBody>
      </p:sp>
      <p:sp>
        <p:nvSpPr>
          <p:cNvPr id="20518" name="직사각형 51"/>
          <p:cNvSpPr>
            <a:spLocks noChangeArrowheads="1"/>
          </p:cNvSpPr>
          <p:nvPr/>
        </p:nvSpPr>
        <p:spPr bwMode="auto">
          <a:xfrm>
            <a:off x="84947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+mn-ea"/>
                <a:ea typeface="+mn-ea"/>
              </a:rPr>
              <a:t>검색</a:t>
            </a:r>
          </a:p>
        </p:txBody>
      </p:sp>
      <p:sp>
        <p:nvSpPr>
          <p:cNvPr id="2051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2052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20521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20522" name="직사각형 54"/>
          <p:cNvSpPr>
            <a:spLocks noChangeArrowheads="1"/>
          </p:cNvSpPr>
          <p:nvPr/>
        </p:nvSpPr>
        <p:spPr bwMode="auto">
          <a:xfrm>
            <a:off x="309563" y="4395788"/>
            <a:ext cx="9215437" cy="17700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23" name="TextBox 55"/>
          <p:cNvSpPr txBox="1">
            <a:spLocks noChangeArrowheads="1"/>
          </p:cNvSpPr>
          <p:nvPr/>
        </p:nvSpPr>
        <p:spPr bwMode="auto">
          <a:xfrm>
            <a:off x="381000" y="427196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입고 상세목록</a:t>
            </a:r>
          </a:p>
        </p:txBody>
      </p:sp>
      <p:graphicFrame>
        <p:nvGraphicFramePr>
          <p:cNvPr id="51" name="Group 139"/>
          <p:cNvGraphicFramePr>
            <a:graphicFrameLocks noGrp="1"/>
          </p:cNvGraphicFramePr>
          <p:nvPr>
            <p:extLst/>
          </p:nvPr>
        </p:nvGraphicFramePr>
        <p:xfrm>
          <a:off x="349250" y="4502150"/>
          <a:ext cx="7771010" cy="428626"/>
        </p:xfrm>
        <a:graphic>
          <a:graphicData uri="http://schemas.openxmlformats.org/drawingml/2006/table">
            <a:tbl>
              <a:tblPr/>
              <a:tblGrid>
                <a:gridCol w="2770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0661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827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296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296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2162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2937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5132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751327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97664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48395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20*4*13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20/4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20/4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20566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058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2058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2056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0568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20569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20570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71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20572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73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74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0575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0576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20577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20578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20579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80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입고지시</a:t>
            </a:r>
          </a:p>
        </p:txBody>
      </p:sp>
      <p:sp>
        <p:nvSpPr>
          <p:cNvPr id="20581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20582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0583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0584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0585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</p:spTree>
    <p:extLst>
      <p:ext uri="{BB962C8B-B14F-4D97-AF65-F5344CB8AC3E}">
        <p14:creationId xmlns:p14="http://schemas.microsoft.com/office/powerpoint/2010/main" val="2250886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출고조회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배송처별</a:t>
            </a:r>
          </a:p>
        </p:txBody>
      </p:sp>
      <p:sp>
        <p:nvSpPr>
          <p:cNvPr id="24579" name="직사각형 54"/>
          <p:cNvSpPr>
            <a:spLocks noChangeArrowheads="1"/>
          </p:cNvSpPr>
          <p:nvPr/>
        </p:nvSpPr>
        <p:spPr bwMode="auto">
          <a:xfrm>
            <a:off x="309563" y="2822575"/>
            <a:ext cx="9215437" cy="34861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81" name="직사각형 51"/>
          <p:cNvSpPr>
            <a:spLocks noChangeArrowheads="1"/>
          </p:cNvSpPr>
          <p:nvPr/>
        </p:nvSpPr>
        <p:spPr bwMode="auto">
          <a:xfrm>
            <a:off x="8482013" y="256540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458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458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24584" name="직사각형 51"/>
          <p:cNvSpPr>
            <a:spLocks noChangeArrowheads="1"/>
          </p:cNvSpPr>
          <p:nvPr/>
        </p:nvSpPr>
        <p:spPr bwMode="auto">
          <a:xfrm>
            <a:off x="9026525" y="256540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24585" name="TextBox 65"/>
          <p:cNvSpPr txBox="1">
            <a:spLocks noChangeArrowheads="1"/>
          </p:cNvSpPr>
          <p:nvPr/>
        </p:nvSpPr>
        <p:spPr bwMode="auto">
          <a:xfrm>
            <a:off x="203200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24586" name="직사각형 66"/>
          <p:cNvSpPr>
            <a:spLocks noChangeArrowheads="1"/>
          </p:cNvSpPr>
          <p:nvPr/>
        </p:nvSpPr>
        <p:spPr bwMode="auto">
          <a:xfrm>
            <a:off x="107315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24587" name="TextBox 65"/>
          <p:cNvSpPr txBox="1">
            <a:spLocks noChangeArrowheads="1"/>
          </p:cNvSpPr>
          <p:nvPr/>
        </p:nvSpPr>
        <p:spPr bwMode="auto">
          <a:xfrm>
            <a:off x="326548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24588" name="직사각형 66"/>
          <p:cNvSpPr>
            <a:spLocks noChangeArrowheads="1"/>
          </p:cNvSpPr>
          <p:nvPr/>
        </p:nvSpPr>
        <p:spPr bwMode="auto">
          <a:xfrm>
            <a:off x="419100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89" name="TextBox 65"/>
          <p:cNvSpPr txBox="1">
            <a:spLocks noChangeArrowheads="1"/>
          </p:cNvSpPr>
          <p:nvPr/>
        </p:nvSpPr>
        <p:spPr bwMode="auto">
          <a:xfrm>
            <a:off x="3265488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</a:p>
        </p:txBody>
      </p:sp>
      <p:sp>
        <p:nvSpPr>
          <p:cNvPr id="24590" name="직사각형 66"/>
          <p:cNvSpPr>
            <a:spLocks noChangeArrowheads="1"/>
          </p:cNvSpPr>
          <p:nvPr/>
        </p:nvSpPr>
        <p:spPr bwMode="auto">
          <a:xfrm>
            <a:off x="4181475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91" name="직사각형 66"/>
          <p:cNvSpPr>
            <a:spLocks noChangeArrowheads="1"/>
          </p:cNvSpPr>
          <p:nvPr/>
        </p:nvSpPr>
        <p:spPr bwMode="auto">
          <a:xfrm>
            <a:off x="540861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92" name="직사각형 48"/>
          <p:cNvSpPr>
            <a:spLocks noChangeArrowheads="1"/>
          </p:cNvSpPr>
          <p:nvPr/>
        </p:nvSpPr>
        <p:spPr bwMode="auto">
          <a:xfrm>
            <a:off x="5048250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93" name="직사각형 48"/>
          <p:cNvSpPr>
            <a:spLocks noChangeArrowheads="1"/>
          </p:cNvSpPr>
          <p:nvPr/>
        </p:nvSpPr>
        <p:spPr bwMode="auto">
          <a:xfrm>
            <a:off x="6265863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94" name="TextBox 65"/>
          <p:cNvSpPr txBox="1">
            <a:spLocks noChangeArrowheads="1"/>
          </p:cNvSpPr>
          <p:nvPr/>
        </p:nvSpPr>
        <p:spPr bwMode="auto">
          <a:xfrm>
            <a:off x="5180013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95" name="TextBox 65"/>
          <p:cNvSpPr txBox="1">
            <a:spLocks noChangeArrowheads="1"/>
          </p:cNvSpPr>
          <p:nvPr/>
        </p:nvSpPr>
        <p:spPr bwMode="auto">
          <a:xfrm>
            <a:off x="203200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24596" name="직사각형 66"/>
          <p:cNvSpPr>
            <a:spLocks noChangeArrowheads="1"/>
          </p:cNvSpPr>
          <p:nvPr/>
        </p:nvSpPr>
        <p:spPr bwMode="auto">
          <a:xfrm>
            <a:off x="1057275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출고확정</a:t>
            </a:r>
          </a:p>
        </p:txBody>
      </p:sp>
      <p:sp>
        <p:nvSpPr>
          <p:cNvPr id="24597" name="TextBox 65"/>
          <p:cNvSpPr txBox="1">
            <a:spLocks noChangeArrowheads="1"/>
          </p:cNvSpPr>
          <p:nvPr/>
        </p:nvSpPr>
        <p:spPr bwMode="auto">
          <a:xfrm>
            <a:off x="203200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24598" name="직사각형 66"/>
          <p:cNvSpPr>
            <a:spLocks noChangeArrowheads="1"/>
          </p:cNvSpPr>
          <p:nvPr/>
        </p:nvSpPr>
        <p:spPr bwMode="auto">
          <a:xfrm>
            <a:off x="10731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99" name="직사각형 48"/>
          <p:cNvSpPr>
            <a:spLocks noChangeArrowheads="1"/>
          </p:cNvSpPr>
          <p:nvPr/>
        </p:nvSpPr>
        <p:spPr bwMode="auto">
          <a:xfrm>
            <a:off x="195738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66"/>
          <p:cNvSpPr>
            <a:spLocks noChangeArrowheads="1"/>
          </p:cNvSpPr>
          <p:nvPr/>
        </p:nvSpPr>
        <p:spPr bwMode="auto">
          <a:xfrm>
            <a:off x="2178050" y="13335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4601" name="TextBox 65"/>
          <p:cNvSpPr txBox="1">
            <a:spLocks noChangeArrowheads="1"/>
          </p:cNvSpPr>
          <p:nvPr/>
        </p:nvSpPr>
        <p:spPr bwMode="auto">
          <a:xfrm>
            <a:off x="645953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24602" name="직사각형 66"/>
          <p:cNvSpPr>
            <a:spLocks noChangeArrowheads="1"/>
          </p:cNvSpPr>
          <p:nvPr/>
        </p:nvSpPr>
        <p:spPr bwMode="auto">
          <a:xfrm>
            <a:off x="7364413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03" name="TextBox 65"/>
          <p:cNvSpPr txBox="1">
            <a:spLocks noChangeArrowheads="1"/>
          </p:cNvSpPr>
          <p:nvPr/>
        </p:nvSpPr>
        <p:spPr bwMode="auto">
          <a:xfrm>
            <a:off x="6459538" y="1333500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24604" name="직사각형 66"/>
          <p:cNvSpPr>
            <a:spLocks noChangeArrowheads="1"/>
          </p:cNvSpPr>
          <p:nvPr/>
        </p:nvSpPr>
        <p:spPr bwMode="auto">
          <a:xfrm>
            <a:off x="73469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1000001001</a:t>
            </a: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05" name="직사각형 48"/>
          <p:cNvSpPr>
            <a:spLocks noChangeArrowheads="1"/>
          </p:cNvSpPr>
          <p:nvPr/>
        </p:nvSpPr>
        <p:spPr bwMode="auto">
          <a:xfrm>
            <a:off x="8412163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66"/>
          <p:cNvSpPr>
            <a:spLocks noChangeArrowheads="1"/>
          </p:cNvSpPr>
          <p:nvPr/>
        </p:nvSpPr>
        <p:spPr bwMode="auto">
          <a:xfrm>
            <a:off x="8609013" y="1692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4607" name="직사각형 33"/>
          <p:cNvSpPr>
            <a:spLocks noChangeArrowheads="1"/>
          </p:cNvSpPr>
          <p:nvPr/>
        </p:nvSpPr>
        <p:spPr bwMode="auto">
          <a:xfrm>
            <a:off x="1931988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4608" name="직사각형 33"/>
          <p:cNvSpPr>
            <a:spLocks noChangeArrowheads="1"/>
          </p:cNvSpPr>
          <p:nvPr/>
        </p:nvSpPr>
        <p:spPr bwMode="auto">
          <a:xfrm>
            <a:off x="1917700" y="20462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4609" name="TextBox 65"/>
          <p:cNvSpPr txBox="1">
            <a:spLocks noChangeArrowheads="1"/>
          </p:cNvSpPr>
          <p:nvPr/>
        </p:nvSpPr>
        <p:spPr bwMode="auto">
          <a:xfrm>
            <a:off x="3265488" y="20447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24610" name="직사각형 66"/>
          <p:cNvSpPr>
            <a:spLocks noChangeArrowheads="1"/>
          </p:cNvSpPr>
          <p:nvPr/>
        </p:nvSpPr>
        <p:spPr bwMode="auto">
          <a:xfrm>
            <a:off x="4191000" y="20447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11" name="TextBox 65"/>
          <p:cNvSpPr txBox="1">
            <a:spLocks noChangeArrowheads="1"/>
          </p:cNvSpPr>
          <p:nvPr/>
        </p:nvSpPr>
        <p:spPr bwMode="auto">
          <a:xfrm>
            <a:off x="5273675" y="1685925"/>
            <a:ext cx="6492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24612" name="직사각형 66"/>
          <p:cNvSpPr>
            <a:spLocks noChangeArrowheads="1"/>
          </p:cNvSpPr>
          <p:nvPr/>
        </p:nvSpPr>
        <p:spPr bwMode="auto">
          <a:xfrm>
            <a:off x="5922963" y="1693863"/>
            <a:ext cx="48260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13" name="TextBox 65"/>
          <p:cNvSpPr txBox="1">
            <a:spLocks noChangeArrowheads="1"/>
          </p:cNvSpPr>
          <p:nvPr/>
        </p:nvSpPr>
        <p:spPr bwMode="auto">
          <a:xfrm>
            <a:off x="6477000" y="204311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24614" name="직사각형 66"/>
          <p:cNvSpPr>
            <a:spLocks noChangeArrowheads="1"/>
          </p:cNvSpPr>
          <p:nvPr/>
        </p:nvSpPr>
        <p:spPr bwMode="auto">
          <a:xfrm>
            <a:off x="7381875" y="2043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15" name="직사각형 48"/>
          <p:cNvSpPr>
            <a:spLocks noChangeArrowheads="1"/>
          </p:cNvSpPr>
          <p:nvPr/>
        </p:nvSpPr>
        <p:spPr bwMode="auto">
          <a:xfrm>
            <a:off x="8429625" y="20431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6"/>
          <p:cNvSpPr>
            <a:spLocks noChangeArrowheads="1"/>
          </p:cNvSpPr>
          <p:nvPr/>
        </p:nvSpPr>
        <p:spPr bwMode="auto">
          <a:xfrm>
            <a:off x="8626475" y="20431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graphicFrame>
        <p:nvGraphicFramePr>
          <p:cNvPr id="65" name="Group 139"/>
          <p:cNvGraphicFramePr>
            <a:graphicFrameLocks noGrp="1"/>
          </p:cNvGraphicFramePr>
          <p:nvPr>
            <p:extLst/>
          </p:nvPr>
        </p:nvGraphicFramePr>
        <p:xfrm>
          <a:off x="406400" y="2997200"/>
          <a:ext cx="3696701" cy="575816"/>
        </p:xfrm>
        <a:graphic>
          <a:graphicData uri="http://schemas.openxmlformats.org/drawingml/2006/table">
            <a:tbl>
              <a:tblPr/>
              <a:tblGrid>
                <a:gridCol w="19650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50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37246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1292364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709977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</a:tblGrid>
              <a:tr h="28799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78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Group 139"/>
          <p:cNvGraphicFramePr>
            <a:graphicFrameLocks noGrp="1"/>
          </p:cNvGraphicFramePr>
          <p:nvPr>
            <p:extLst/>
          </p:nvPr>
        </p:nvGraphicFramePr>
        <p:xfrm>
          <a:off x="4101678" y="2996952"/>
          <a:ext cx="5243811" cy="578099"/>
        </p:xfrm>
        <a:graphic>
          <a:graphicData uri="http://schemas.openxmlformats.org/drawingml/2006/table">
            <a:tbl>
              <a:tblPr/>
              <a:tblGrid>
                <a:gridCol w="770398"/>
                <a:gridCol w="770398"/>
                <a:gridCol w="770398"/>
                <a:gridCol w="77039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0713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754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27544"/>
              </a:tblGrid>
              <a:tr h="14810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출고확정수량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810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468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468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2468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468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407066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출고조회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제품별</a:t>
            </a:r>
          </a:p>
        </p:txBody>
      </p:sp>
      <p:sp>
        <p:nvSpPr>
          <p:cNvPr id="26627" name="직사각형 51"/>
          <p:cNvSpPr>
            <a:spLocks noChangeArrowheads="1"/>
          </p:cNvSpPr>
          <p:nvPr/>
        </p:nvSpPr>
        <p:spPr bwMode="auto">
          <a:xfrm>
            <a:off x="8488363" y="29241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662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662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26630" name="직사각형 51"/>
          <p:cNvSpPr>
            <a:spLocks noChangeArrowheads="1"/>
          </p:cNvSpPr>
          <p:nvPr/>
        </p:nvSpPr>
        <p:spPr bwMode="auto">
          <a:xfrm>
            <a:off x="9026525" y="2924175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26631" name="직사각형 54"/>
          <p:cNvSpPr>
            <a:spLocks noChangeArrowheads="1"/>
          </p:cNvSpPr>
          <p:nvPr/>
        </p:nvSpPr>
        <p:spPr bwMode="auto">
          <a:xfrm>
            <a:off x="309563" y="3181350"/>
            <a:ext cx="9215437" cy="32004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9" name="표 38"/>
          <p:cNvGraphicFramePr>
            <a:graphicFrameLocks noGrp="1"/>
          </p:cNvGraphicFramePr>
          <p:nvPr>
            <p:extLst/>
          </p:nvPr>
        </p:nvGraphicFramePr>
        <p:xfrm>
          <a:off x="379413" y="3284984"/>
          <a:ext cx="7669932" cy="588961"/>
        </p:xfrm>
        <a:graphic>
          <a:graphicData uri="http://schemas.openxmlformats.org/drawingml/2006/table">
            <a:tbl>
              <a:tblPr/>
              <a:tblGrid>
                <a:gridCol w="7570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3913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83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148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5917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06914"/>
                <a:gridCol w="406914"/>
                <a:gridCol w="406914"/>
                <a:gridCol w="40691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06914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06914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78993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789930"/>
              </a:tblGrid>
              <a:tr h="21354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출고확정수량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6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9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8" marR="7648" marT="766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662" name="TextBox 65"/>
          <p:cNvSpPr txBox="1">
            <a:spLocks noChangeArrowheads="1"/>
          </p:cNvSpPr>
          <p:nvPr/>
        </p:nvSpPr>
        <p:spPr bwMode="auto">
          <a:xfrm>
            <a:off x="203200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26663" name="직사각형 66"/>
          <p:cNvSpPr>
            <a:spLocks noChangeArrowheads="1"/>
          </p:cNvSpPr>
          <p:nvPr/>
        </p:nvSpPr>
        <p:spPr bwMode="auto">
          <a:xfrm>
            <a:off x="107315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26664" name="TextBox 65"/>
          <p:cNvSpPr txBox="1">
            <a:spLocks noChangeArrowheads="1"/>
          </p:cNvSpPr>
          <p:nvPr/>
        </p:nvSpPr>
        <p:spPr bwMode="auto">
          <a:xfrm>
            <a:off x="326548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차량번호</a:t>
            </a:r>
          </a:p>
        </p:txBody>
      </p:sp>
      <p:sp>
        <p:nvSpPr>
          <p:cNvPr id="26665" name="직사각형 66"/>
          <p:cNvSpPr>
            <a:spLocks noChangeArrowheads="1"/>
          </p:cNvSpPr>
          <p:nvPr/>
        </p:nvSpPr>
        <p:spPr bwMode="auto">
          <a:xfrm>
            <a:off x="419100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66" name="TextBox 65"/>
          <p:cNvSpPr txBox="1">
            <a:spLocks noChangeArrowheads="1"/>
          </p:cNvSpPr>
          <p:nvPr/>
        </p:nvSpPr>
        <p:spPr bwMode="auto">
          <a:xfrm>
            <a:off x="3265488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</a:p>
        </p:txBody>
      </p:sp>
      <p:sp>
        <p:nvSpPr>
          <p:cNvPr id="26667" name="직사각형 66"/>
          <p:cNvSpPr>
            <a:spLocks noChangeArrowheads="1"/>
          </p:cNvSpPr>
          <p:nvPr/>
        </p:nvSpPr>
        <p:spPr bwMode="auto">
          <a:xfrm>
            <a:off x="4181475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68" name="직사각형 66"/>
          <p:cNvSpPr>
            <a:spLocks noChangeArrowheads="1"/>
          </p:cNvSpPr>
          <p:nvPr/>
        </p:nvSpPr>
        <p:spPr bwMode="auto">
          <a:xfrm>
            <a:off x="540861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69" name="직사각형 48"/>
          <p:cNvSpPr>
            <a:spLocks noChangeArrowheads="1"/>
          </p:cNvSpPr>
          <p:nvPr/>
        </p:nvSpPr>
        <p:spPr bwMode="auto">
          <a:xfrm>
            <a:off x="5048250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70" name="직사각형 48"/>
          <p:cNvSpPr>
            <a:spLocks noChangeArrowheads="1"/>
          </p:cNvSpPr>
          <p:nvPr/>
        </p:nvSpPr>
        <p:spPr bwMode="auto">
          <a:xfrm>
            <a:off x="6265863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71" name="TextBox 65"/>
          <p:cNvSpPr txBox="1">
            <a:spLocks noChangeArrowheads="1"/>
          </p:cNvSpPr>
          <p:nvPr/>
        </p:nvSpPr>
        <p:spPr bwMode="auto">
          <a:xfrm>
            <a:off x="5180013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72" name="TextBox 65"/>
          <p:cNvSpPr txBox="1">
            <a:spLocks noChangeArrowheads="1"/>
          </p:cNvSpPr>
          <p:nvPr/>
        </p:nvSpPr>
        <p:spPr bwMode="auto">
          <a:xfrm>
            <a:off x="203200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26673" name="직사각형 66"/>
          <p:cNvSpPr>
            <a:spLocks noChangeArrowheads="1"/>
          </p:cNvSpPr>
          <p:nvPr/>
        </p:nvSpPr>
        <p:spPr bwMode="auto">
          <a:xfrm>
            <a:off x="1057275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</a:t>
            </a:r>
          </a:p>
        </p:txBody>
      </p:sp>
      <p:sp>
        <p:nvSpPr>
          <p:cNvPr id="26674" name="TextBox 65"/>
          <p:cNvSpPr txBox="1">
            <a:spLocks noChangeArrowheads="1"/>
          </p:cNvSpPr>
          <p:nvPr/>
        </p:nvSpPr>
        <p:spPr bwMode="auto">
          <a:xfrm>
            <a:off x="203200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26675" name="직사각형 66"/>
          <p:cNvSpPr>
            <a:spLocks noChangeArrowheads="1"/>
          </p:cNvSpPr>
          <p:nvPr/>
        </p:nvSpPr>
        <p:spPr bwMode="auto">
          <a:xfrm>
            <a:off x="10731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76" name="직사각형 51"/>
          <p:cNvSpPr>
            <a:spLocks noChangeArrowheads="1"/>
          </p:cNvSpPr>
          <p:nvPr/>
        </p:nvSpPr>
        <p:spPr bwMode="auto">
          <a:xfrm>
            <a:off x="195738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66"/>
          <p:cNvSpPr>
            <a:spLocks noChangeArrowheads="1"/>
          </p:cNvSpPr>
          <p:nvPr/>
        </p:nvSpPr>
        <p:spPr bwMode="auto">
          <a:xfrm>
            <a:off x="2178050" y="13335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6678" name="TextBox 65"/>
          <p:cNvSpPr txBox="1">
            <a:spLocks noChangeArrowheads="1"/>
          </p:cNvSpPr>
          <p:nvPr/>
        </p:nvSpPr>
        <p:spPr bwMode="auto">
          <a:xfrm>
            <a:off x="6459538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26679" name="직사각형 66"/>
          <p:cNvSpPr>
            <a:spLocks noChangeArrowheads="1"/>
          </p:cNvSpPr>
          <p:nvPr/>
        </p:nvSpPr>
        <p:spPr bwMode="auto">
          <a:xfrm>
            <a:off x="7364413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80" name="TextBox 65"/>
          <p:cNvSpPr txBox="1">
            <a:spLocks noChangeArrowheads="1"/>
          </p:cNvSpPr>
          <p:nvPr/>
        </p:nvSpPr>
        <p:spPr bwMode="auto">
          <a:xfrm>
            <a:off x="6459538" y="1333500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26681" name="직사각형 66"/>
          <p:cNvSpPr>
            <a:spLocks noChangeArrowheads="1"/>
          </p:cNvSpPr>
          <p:nvPr/>
        </p:nvSpPr>
        <p:spPr bwMode="auto">
          <a:xfrm>
            <a:off x="73469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1000001001</a:t>
            </a: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82" name="직사각형 48"/>
          <p:cNvSpPr>
            <a:spLocks noChangeArrowheads="1"/>
          </p:cNvSpPr>
          <p:nvPr/>
        </p:nvSpPr>
        <p:spPr bwMode="auto">
          <a:xfrm>
            <a:off x="8412163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66"/>
          <p:cNvSpPr>
            <a:spLocks noChangeArrowheads="1"/>
          </p:cNvSpPr>
          <p:nvPr/>
        </p:nvSpPr>
        <p:spPr bwMode="auto">
          <a:xfrm>
            <a:off x="8609013" y="1692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6684" name="직사각형 33"/>
          <p:cNvSpPr>
            <a:spLocks noChangeArrowheads="1"/>
          </p:cNvSpPr>
          <p:nvPr/>
        </p:nvSpPr>
        <p:spPr bwMode="auto">
          <a:xfrm>
            <a:off x="1931988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6685" name="직사각형 33"/>
          <p:cNvSpPr>
            <a:spLocks noChangeArrowheads="1"/>
          </p:cNvSpPr>
          <p:nvPr/>
        </p:nvSpPr>
        <p:spPr bwMode="auto">
          <a:xfrm>
            <a:off x="1917700" y="20462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6686" name="TextBox 65"/>
          <p:cNvSpPr txBox="1">
            <a:spLocks noChangeArrowheads="1"/>
          </p:cNvSpPr>
          <p:nvPr/>
        </p:nvSpPr>
        <p:spPr bwMode="auto">
          <a:xfrm>
            <a:off x="3265488" y="20447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주문번호</a:t>
            </a:r>
          </a:p>
        </p:txBody>
      </p:sp>
      <p:sp>
        <p:nvSpPr>
          <p:cNvPr id="26687" name="직사각형 66"/>
          <p:cNvSpPr>
            <a:spLocks noChangeArrowheads="1"/>
          </p:cNvSpPr>
          <p:nvPr/>
        </p:nvSpPr>
        <p:spPr bwMode="auto">
          <a:xfrm>
            <a:off x="4191000" y="20447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88" name="TextBox 65"/>
          <p:cNvSpPr txBox="1">
            <a:spLocks noChangeArrowheads="1"/>
          </p:cNvSpPr>
          <p:nvPr/>
        </p:nvSpPr>
        <p:spPr bwMode="auto">
          <a:xfrm>
            <a:off x="5273675" y="1685925"/>
            <a:ext cx="6873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</a:p>
        </p:txBody>
      </p:sp>
      <p:sp>
        <p:nvSpPr>
          <p:cNvPr id="26689" name="직사각형 66"/>
          <p:cNvSpPr>
            <a:spLocks noChangeArrowheads="1"/>
          </p:cNvSpPr>
          <p:nvPr/>
        </p:nvSpPr>
        <p:spPr bwMode="auto">
          <a:xfrm>
            <a:off x="5922963" y="1693863"/>
            <a:ext cx="482600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90" name="TextBox 65"/>
          <p:cNvSpPr txBox="1">
            <a:spLocks noChangeArrowheads="1"/>
          </p:cNvSpPr>
          <p:nvPr/>
        </p:nvSpPr>
        <p:spPr bwMode="auto">
          <a:xfrm>
            <a:off x="6477000" y="204311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26691" name="직사각형 66"/>
          <p:cNvSpPr>
            <a:spLocks noChangeArrowheads="1"/>
          </p:cNvSpPr>
          <p:nvPr/>
        </p:nvSpPr>
        <p:spPr bwMode="auto">
          <a:xfrm>
            <a:off x="7381875" y="2043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92" name="직사각형 48"/>
          <p:cNvSpPr>
            <a:spLocks noChangeArrowheads="1"/>
          </p:cNvSpPr>
          <p:nvPr/>
        </p:nvSpPr>
        <p:spPr bwMode="auto">
          <a:xfrm>
            <a:off x="8429625" y="20431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/>
          <p:cNvSpPr>
            <a:spLocks noChangeArrowheads="1"/>
          </p:cNvSpPr>
          <p:nvPr/>
        </p:nvSpPr>
        <p:spPr bwMode="auto">
          <a:xfrm>
            <a:off x="8626475" y="20431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26696" name="TextBox 65"/>
          <p:cNvSpPr txBox="1">
            <a:spLocks noChangeArrowheads="1"/>
          </p:cNvSpPr>
          <p:nvPr/>
        </p:nvSpPr>
        <p:spPr bwMode="auto">
          <a:xfrm>
            <a:off x="228526" y="24225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</a:p>
        </p:txBody>
      </p:sp>
      <p:sp>
        <p:nvSpPr>
          <p:cNvPr id="26697" name="직사각형 66"/>
          <p:cNvSpPr>
            <a:spLocks noChangeArrowheads="1"/>
          </p:cNvSpPr>
          <p:nvPr/>
        </p:nvSpPr>
        <p:spPr bwMode="auto">
          <a:xfrm>
            <a:off x="1023814" y="24225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98" name="직사각형 48"/>
          <p:cNvSpPr>
            <a:spLocks noChangeArrowheads="1"/>
          </p:cNvSpPr>
          <p:nvPr/>
        </p:nvSpPr>
        <p:spPr bwMode="auto">
          <a:xfrm>
            <a:off x="2081089" y="24193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66"/>
          <p:cNvSpPr>
            <a:spLocks noChangeArrowheads="1"/>
          </p:cNvSpPr>
          <p:nvPr/>
        </p:nvSpPr>
        <p:spPr bwMode="auto">
          <a:xfrm>
            <a:off x="2277939" y="2419350"/>
            <a:ext cx="1000125" cy="214313"/>
          </a:xfrm>
          <a:prstGeom prst="rect">
            <a:avLst/>
          </a:prstGeom>
          <a:solidFill>
            <a:srgbClr val="CCFF6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6749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675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2675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6750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1135221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출고진행</a:t>
            </a:r>
            <a:endParaRPr lang="ko-KR" altLang="en-US" sz="900" dirty="0">
              <a:latin typeface="+mn-ea"/>
              <a:ea typeface="+mn-ea"/>
            </a:endParaRP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033351"/>
              </p:ext>
            </p:extLst>
          </p:nvPr>
        </p:nvGraphicFramePr>
        <p:xfrm>
          <a:off x="355600" y="3071167"/>
          <a:ext cx="9061896" cy="428626"/>
        </p:xfrm>
        <a:graphic>
          <a:graphicData uri="http://schemas.openxmlformats.org/drawingml/2006/table">
            <a:tbl>
              <a:tblPr/>
              <a:tblGrid>
                <a:gridCol w="3006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5359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0029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8023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359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0688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0688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806882"/>
                <a:gridCol w="806882">
                  <a:extLst>
                    <a:ext uri="{9D8B030D-6E8A-4147-A177-3AD203B41FA5}">
                      <a16:colId xmlns:a16="http://schemas.microsoft.com/office/drawing/2014/main" xmlns="" val="2771086927"/>
                    </a:ext>
                  </a:extLst>
                </a:gridCol>
                <a:gridCol w="82297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822979"/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고일자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출고구분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배송처코드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실배송처코드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실배송처명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출고차수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정상입고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0516" name="직사각형 54"/>
          <p:cNvSpPr>
            <a:spLocks noChangeArrowheads="1"/>
          </p:cNvSpPr>
          <p:nvPr/>
        </p:nvSpPr>
        <p:spPr bwMode="auto">
          <a:xfrm>
            <a:off x="309563" y="2963217"/>
            <a:ext cx="9215437" cy="11858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18" name="직사각형 51"/>
          <p:cNvSpPr>
            <a:spLocks noChangeArrowheads="1"/>
          </p:cNvSpPr>
          <p:nvPr/>
        </p:nvSpPr>
        <p:spPr bwMode="auto">
          <a:xfrm>
            <a:off x="8494713" y="258407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+mn-ea"/>
                <a:ea typeface="+mn-ea"/>
              </a:rPr>
              <a:t>검색</a:t>
            </a:r>
          </a:p>
        </p:txBody>
      </p:sp>
      <p:sp>
        <p:nvSpPr>
          <p:cNvPr id="2051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2052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20521" name="직사각형 51"/>
          <p:cNvSpPr>
            <a:spLocks noChangeArrowheads="1"/>
          </p:cNvSpPr>
          <p:nvPr/>
        </p:nvSpPr>
        <p:spPr bwMode="auto">
          <a:xfrm>
            <a:off x="9026525" y="258407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20522" name="직사각형 54"/>
          <p:cNvSpPr>
            <a:spLocks noChangeArrowheads="1"/>
          </p:cNvSpPr>
          <p:nvPr/>
        </p:nvSpPr>
        <p:spPr bwMode="auto">
          <a:xfrm>
            <a:off x="309563" y="4395788"/>
            <a:ext cx="9215437" cy="17700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23" name="TextBox 55"/>
          <p:cNvSpPr txBox="1">
            <a:spLocks noChangeArrowheads="1"/>
          </p:cNvSpPr>
          <p:nvPr/>
        </p:nvSpPr>
        <p:spPr bwMode="auto">
          <a:xfrm>
            <a:off x="381000" y="427196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입고 상세목록</a:t>
            </a:r>
          </a:p>
        </p:txBody>
      </p:sp>
      <p:graphicFrame>
        <p:nvGraphicFramePr>
          <p:cNvPr id="5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452773"/>
              </p:ext>
            </p:extLst>
          </p:nvPr>
        </p:nvGraphicFramePr>
        <p:xfrm>
          <a:off x="349250" y="4502150"/>
          <a:ext cx="8996238" cy="428626"/>
        </p:xfrm>
        <a:graphic>
          <a:graphicData uri="http://schemas.openxmlformats.org/drawingml/2006/table">
            <a:tbl>
              <a:tblPr/>
              <a:tblGrid>
                <a:gridCol w="3207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379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611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326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8326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1963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2860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6978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978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13062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750625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배송수량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20*4*13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20/4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20/4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20566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058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2058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2056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35" name="TextBox 65"/>
          <p:cNvSpPr txBox="1">
            <a:spLocks noChangeArrowheads="1"/>
          </p:cNvSpPr>
          <p:nvPr/>
        </p:nvSpPr>
        <p:spPr bwMode="auto">
          <a:xfrm>
            <a:off x="203200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출고구분</a:t>
            </a:r>
          </a:p>
        </p:txBody>
      </p:sp>
      <p:sp>
        <p:nvSpPr>
          <p:cNvPr id="36" name="직사각형 66"/>
          <p:cNvSpPr>
            <a:spLocks noChangeArrowheads="1"/>
          </p:cNvSpPr>
          <p:nvPr/>
        </p:nvSpPr>
        <p:spPr bwMode="auto">
          <a:xfrm>
            <a:off x="1073150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정상출고</a:t>
            </a:r>
          </a:p>
        </p:txBody>
      </p:sp>
      <p:sp>
        <p:nvSpPr>
          <p:cNvPr id="39" name="TextBox 65"/>
          <p:cNvSpPr txBox="1">
            <a:spLocks noChangeArrowheads="1"/>
          </p:cNvSpPr>
          <p:nvPr/>
        </p:nvSpPr>
        <p:spPr bwMode="auto">
          <a:xfrm>
            <a:off x="3265488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출고일자</a:t>
            </a:r>
          </a:p>
        </p:txBody>
      </p:sp>
      <p:sp>
        <p:nvSpPr>
          <p:cNvPr id="40" name="직사각형 66"/>
          <p:cNvSpPr>
            <a:spLocks noChangeArrowheads="1"/>
          </p:cNvSpPr>
          <p:nvPr/>
        </p:nvSpPr>
        <p:spPr bwMode="auto">
          <a:xfrm>
            <a:off x="4181475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66"/>
          <p:cNvSpPr>
            <a:spLocks noChangeArrowheads="1"/>
          </p:cNvSpPr>
          <p:nvPr/>
        </p:nvSpPr>
        <p:spPr bwMode="auto">
          <a:xfrm>
            <a:off x="5408613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2016-10-31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8"/>
          <p:cNvSpPr>
            <a:spLocks noChangeArrowheads="1"/>
          </p:cNvSpPr>
          <p:nvPr/>
        </p:nvSpPr>
        <p:spPr bwMode="auto">
          <a:xfrm>
            <a:off x="5048250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8"/>
          <p:cNvSpPr>
            <a:spLocks noChangeArrowheads="1"/>
          </p:cNvSpPr>
          <p:nvPr/>
        </p:nvSpPr>
        <p:spPr bwMode="auto">
          <a:xfrm>
            <a:off x="6265863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65"/>
          <p:cNvSpPr txBox="1">
            <a:spLocks noChangeArrowheads="1"/>
          </p:cNvSpPr>
          <p:nvPr/>
        </p:nvSpPr>
        <p:spPr bwMode="auto">
          <a:xfrm>
            <a:off x="5180013" y="133350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65"/>
          <p:cNvSpPr txBox="1">
            <a:spLocks noChangeArrowheads="1"/>
          </p:cNvSpPr>
          <p:nvPr/>
        </p:nvSpPr>
        <p:spPr bwMode="auto">
          <a:xfrm>
            <a:off x="203200" y="2046288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46" name="직사각형 66"/>
          <p:cNvSpPr>
            <a:spLocks noChangeArrowheads="1"/>
          </p:cNvSpPr>
          <p:nvPr/>
        </p:nvSpPr>
        <p:spPr bwMode="auto">
          <a:xfrm>
            <a:off x="1057275" y="204628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</a:t>
            </a:r>
          </a:p>
        </p:txBody>
      </p:sp>
      <p:sp>
        <p:nvSpPr>
          <p:cNvPr id="47" name="TextBox 65"/>
          <p:cNvSpPr txBox="1">
            <a:spLocks noChangeArrowheads="1"/>
          </p:cNvSpPr>
          <p:nvPr/>
        </p:nvSpPr>
        <p:spPr bwMode="auto">
          <a:xfrm>
            <a:off x="203200" y="13335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48" name="직사각형 66"/>
          <p:cNvSpPr>
            <a:spLocks noChangeArrowheads="1"/>
          </p:cNvSpPr>
          <p:nvPr/>
        </p:nvSpPr>
        <p:spPr bwMode="auto">
          <a:xfrm>
            <a:off x="10731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51"/>
          <p:cNvSpPr>
            <a:spLocks noChangeArrowheads="1"/>
          </p:cNvSpPr>
          <p:nvPr/>
        </p:nvSpPr>
        <p:spPr bwMode="auto">
          <a:xfrm>
            <a:off x="1957388" y="1333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66"/>
          <p:cNvSpPr>
            <a:spLocks noChangeArrowheads="1"/>
          </p:cNvSpPr>
          <p:nvPr/>
        </p:nvSpPr>
        <p:spPr bwMode="auto">
          <a:xfrm>
            <a:off x="2178050" y="133350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52" name="TextBox 65"/>
          <p:cNvSpPr txBox="1">
            <a:spLocks noChangeArrowheads="1"/>
          </p:cNvSpPr>
          <p:nvPr/>
        </p:nvSpPr>
        <p:spPr bwMode="auto">
          <a:xfrm>
            <a:off x="3282204" y="16922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배송처</a:t>
            </a:r>
          </a:p>
        </p:txBody>
      </p:sp>
      <p:sp>
        <p:nvSpPr>
          <p:cNvPr id="53" name="직사각형 66"/>
          <p:cNvSpPr>
            <a:spLocks noChangeArrowheads="1"/>
          </p:cNvSpPr>
          <p:nvPr/>
        </p:nvSpPr>
        <p:spPr bwMode="auto">
          <a:xfrm>
            <a:off x="4187079" y="1692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65"/>
          <p:cNvSpPr txBox="1">
            <a:spLocks noChangeArrowheads="1"/>
          </p:cNvSpPr>
          <p:nvPr/>
        </p:nvSpPr>
        <p:spPr bwMode="auto">
          <a:xfrm>
            <a:off x="6459538" y="1333500"/>
            <a:ext cx="9890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</a:t>
            </a:r>
          </a:p>
        </p:txBody>
      </p:sp>
      <p:sp>
        <p:nvSpPr>
          <p:cNvPr id="55" name="직사각형 66"/>
          <p:cNvSpPr>
            <a:spLocks noChangeArrowheads="1"/>
          </p:cNvSpPr>
          <p:nvPr/>
        </p:nvSpPr>
        <p:spPr bwMode="auto">
          <a:xfrm>
            <a:off x="734695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fontAlgn="ctr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1000001001</a:t>
            </a: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48"/>
          <p:cNvSpPr>
            <a:spLocks noChangeArrowheads="1"/>
          </p:cNvSpPr>
          <p:nvPr/>
        </p:nvSpPr>
        <p:spPr bwMode="auto">
          <a:xfrm>
            <a:off x="5234829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66"/>
          <p:cNvSpPr>
            <a:spLocks noChangeArrowheads="1"/>
          </p:cNvSpPr>
          <p:nvPr/>
        </p:nvSpPr>
        <p:spPr bwMode="auto">
          <a:xfrm>
            <a:off x="5431679" y="16922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58" name="직사각형 33"/>
          <p:cNvSpPr>
            <a:spLocks noChangeArrowheads="1"/>
          </p:cNvSpPr>
          <p:nvPr/>
        </p:nvSpPr>
        <p:spPr bwMode="auto">
          <a:xfrm>
            <a:off x="1931988" y="1692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9" name="직사각형 33"/>
          <p:cNvSpPr>
            <a:spLocks noChangeArrowheads="1"/>
          </p:cNvSpPr>
          <p:nvPr/>
        </p:nvSpPr>
        <p:spPr bwMode="auto">
          <a:xfrm>
            <a:off x="1917700" y="20462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4" name="TextBox 65"/>
          <p:cNvSpPr txBox="1">
            <a:spLocks noChangeArrowheads="1"/>
          </p:cNvSpPr>
          <p:nvPr/>
        </p:nvSpPr>
        <p:spPr bwMode="auto">
          <a:xfrm>
            <a:off x="3299666" y="2043113"/>
            <a:ext cx="869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실배송처</a:t>
            </a:r>
          </a:p>
        </p:txBody>
      </p:sp>
      <p:sp>
        <p:nvSpPr>
          <p:cNvPr id="65" name="직사각형 66"/>
          <p:cNvSpPr>
            <a:spLocks noChangeArrowheads="1"/>
          </p:cNvSpPr>
          <p:nvPr/>
        </p:nvSpPr>
        <p:spPr bwMode="auto">
          <a:xfrm>
            <a:off x="4204541" y="20431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48"/>
          <p:cNvSpPr>
            <a:spLocks noChangeArrowheads="1"/>
          </p:cNvSpPr>
          <p:nvPr/>
        </p:nvSpPr>
        <p:spPr bwMode="auto">
          <a:xfrm>
            <a:off x="5252291" y="20431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/>
          <p:cNvSpPr>
            <a:spLocks noChangeArrowheads="1"/>
          </p:cNvSpPr>
          <p:nvPr/>
        </p:nvSpPr>
        <p:spPr bwMode="auto">
          <a:xfrm>
            <a:off x="5449141" y="20431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버텍스아이디</a:t>
            </a:r>
          </a:p>
        </p:txBody>
      </p:sp>
      <p:sp>
        <p:nvSpPr>
          <p:cNvPr id="72" name="TextBox 65"/>
          <p:cNvSpPr txBox="1">
            <a:spLocks noChangeArrowheads="1"/>
          </p:cNvSpPr>
          <p:nvPr/>
        </p:nvSpPr>
        <p:spPr bwMode="auto">
          <a:xfrm>
            <a:off x="6459031" y="1671638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배송차수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66"/>
          <p:cNvSpPr>
            <a:spLocks noChangeArrowheads="1"/>
          </p:cNvSpPr>
          <p:nvPr/>
        </p:nvSpPr>
        <p:spPr bwMode="auto">
          <a:xfrm>
            <a:off x="7363906" y="1671638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601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재고입출고이력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587" name="직사각형 54"/>
          <p:cNvSpPr>
            <a:spLocks noChangeArrowheads="1"/>
          </p:cNvSpPr>
          <p:nvPr/>
        </p:nvSpPr>
        <p:spPr bwMode="auto">
          <a:xfrm>
            <a:off x="309563" y="2420938"/>
            <a:ext cx="9215437" cy="3887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58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6758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6759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6773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6773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759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592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593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397876"/>
              </p:ext>
            </p:extLst>
          </p:nvPr>
        </p:nvGraphicFramePr>
        <p:xfrm>
          <a:off x="381000" y="2565400"/>
          <a:ext cx="8964488" cy="496888"/>
        </p:xfrm>
        <a:graphic>
          <a:graphicData uri="http://schemas.openxmlformats.org/drawingml/2006/table">
            <a:tbl>
              <a:tblPr/>
              <a:tblGrid>
                <a:gridCol w="75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058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0512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0586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05861"/>
                <a:gridCol w="80586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0512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05127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705127"/>
                <a:gridCol w="705127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805861"/>
                <a:gridCol w="654767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</a:tblGrid>
              <a:tr h="2821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작업시간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입출고구분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재고이력구분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작업상세상세순번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작업지시번호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754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658919"/>
              </p:ext>
            </p:extLst>
          </p:nvPr>
        </p:nvGraphicFramePr>
        <p:xfrm>
          <a:off x="417510" y="3284538"/>
          <a:ext cx="3186163" cy="496887"/>
        </p:xfrm>
        <a:graphic>
          <a:graphicData uri="http://schemas.openxmlformats.org/drawingml/2006/table">
            <a:tbl>
              <a:tblPr/>
              <a:tblGrid>
                <a:gridCol w="5705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061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0833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08337"/>
                <a:gridCol w="608337"/>
              </a:tblGrid>
              <a:tr h="28213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로케이션코드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예정수량</a:t>
                      </a: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작업수량</a:t>
                      </a: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파렛트</a:t>
                      </a:r>
                      <a:r>
                        <a:rPr lang="en-US" altLang="ko-KR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LOTID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754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948263"/>
              </p:ext>
            </p:extLst>
          </p:nvPr>
        </p:nvGraphicFramePr>
        <p:xfrm>
          <a:off x="3581098" y="3284984"/>
          <a:ext cx="5254959" cy="496887"/>
        </p:xfrm>
        <a:graphic>
          <a:graphicData uri="http://schemas.openxmlformats.org/drawingml/2006/table">
            <a:tbl>
              <a:tblPr/>
              <a:tblGrid>
                <a:gridCol w="78974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74193"/>
                <a:gridCol w="674193"/>
                <a:gridCol w="6741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419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8948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89481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589481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282133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입고번호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lang="en-US" altLang="ko-KR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유통기한일자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754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701" name="직사각형 80"/>
          <p:cNvSpPr>
            <a:spLocks noChangeArrowheads="1"/>
          </p:cNvSpPr>
          <p:nvPr/>
        </p:nvSpPr>
        <p:spPr bwMode="auto">
          <a:xfrm>
            <a:off x="3964285" y="1644650"/>
            <a:ext cx="785812" cy="2317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02" name="직사각형 81"/>
          <p:cNvSpPr>
            <a:spLocks noChangeArrowheads="1"/>
          </p:cNvSpPr>
          <p:nvPr/>
        </p:nvSpPr>
        <p:spPr bwMode="auto">
          <a:xfrm>
            <a:off x="4785022" y="16446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03" name="직사각형 40"/>
          <p:cNvSpPr>
            <a:spLocks noChangeArrowheads="1"/>
          </p:cNvSpPr>
          <p:nvPr/>
        </p:nvSpPr>
        <p:spPr bwMode="auto">
          <a:xfrm>
            <a:off x="4983460" y="1644650"/>
            <a:ext cx="1409700" cy="231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04" name="TextBox 79"/>
          <p:cNvSpPr txBox="1">
            <a:spLocks noChangeArrowheads="1"/>
          </p:cNvSpPr>
          <p:nvPr/>
        </p:nvSpPr>
        <p:spPr bwMode="auto">
          <a:xfrm>
            <a:off x="3392785" y="1628775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</a:p>
        </p:txBody>
      </p:sp>
      <p:sp>
        <p:nvSpPr>
          <p:cNvPr id="67708" name="TextBox 67"/>
          <p:cNvSpPr txBox="1">
            <a:spLocks noChangeArrowheads="1"/>
          </p:cNvSpPr>
          <p:nvPr/>
        </p:nvSpPr>
        <p:spPr bwMode="auto">
          <a:xfrm>
            <a:off x="7001966" y="1627188"/>
            <a:ext cx="69532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제품상태</a:t>
            </a:r>
          </a:p>
        </p:txBody>
      </p:sp>
      <p:sp>
        <p:nvSpPr>
          <p:cNvPr id="67709" name="직사각형 68"/>
          <p:cNvSpPr>
            <a:spLocks noChangeArrowheads="1"/>
          </p:cNvSpPr>
          <p:nvPr/>
        </p:nvSpPr>
        <p:spPr bwMode="auto">
          <a:xfrm>
            <a:off x="7841307" y="162877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10" name="직사각형 69"/>
          <p:cNvSpPr>
            <a:spLocks noChangeArrowheads="1"/>
          </p:cNvSpPr>
          <p:nvPr/>
        </p:nvSpPr>
        <p:spPr bwMode="auto">
          <a:xfrm>
            <a:off x="8698557" y="16287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5" name="직사각형 80"/>
          <p:cNvSpPr>
            <a:spLocks noChangeArrowheads="1"/>
          </p:cNvSpPr>
          <p:nvPr/>
        </p:nvSpPr>
        <p:spPr bwMode="auto">
          <a:xfrm>
            <a:off x="1136135" y="1357313"/>
            <a:ext cx="785813" cy="2317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/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12" name="직사각형 81"/>
          <p:cNvSpPr>
            <a:spLocks noChangeArrowheads="1"/>
          </p:cNvSpPr>
          <p:nvPr/>
        </p:nvSpPr>
        <p:spPr bwMode="auto">
          <a:xfrm>
            <a:off x="1956873" y="13573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13" name="TextBox 79"/>
          <p:cNvSpPr txBox="1">
            <a:spLocks noChangeArrowheads="1"/>
          </p:cNvSpPr>
          <p:nvPr/>
        </p:nvSpPr>
        <p:spPr bwMode="auto">
          <a:xfrm>
            <a:off x="204788" y="1341438"/>
            <a:ext cx="83661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48" name="직사각형 80"/>
          <p:cNvSpPr>
            <a:spLocks noChangeArrowheads="1"/>
          </p:cNvSpPr>
          <p:nvPr/>
        </p:nvSpPr>
        <p:spPr bwMode="auto">
          <a:xfrm>
            <a:off x="2150548" y="1358900"/>
            <a:ext cx="785812" cy="231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/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15" name="직사각형 51"/>
          <p:cNvSpPr>
            <a:spLocks noChangeArrowheads="1"/>
          </p:cNvSpPr>
          <p:nvPr/>
        </p:nvSpPr>
        <p:spPr bwMode="auto">
          <a:xfrm>
            <a:off x="8488363" y="213042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67716" name="직사각형 51"/>
          <p:cNvSpPr>
            <a:spLocks noChangeArrowheads="1"/>
          </p:cNvSpPr>
          <p:nvPr/>
        </p:nvSpPr>
        <p:spPr bwMode="auto">
          <a:xfrm>
            <a:off x="9034463" y="213042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67717" name="직사각형 35"/>
          <p:cNvSpPr>
            <a:spLocks noChangeArrowheads="1"/>
          </p:cNvSpPr>
          <p:nvPr/>
        </p:nvSpPr>
        <p:spPr bwMode="auto">
          <a:xfrm>
            <a:off x="3997995" y="135731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18" name="직사각형 37"/>
          <p:cNvSpPr>
            <a:spLocks noChangeArrowheads="1"/>
          </p:cNvSpPr>
          <p:nvPr/>
        </p:nvSpPr>
        <p:spPr bwMode="auto">
          <a:xfrm>
            <a:off x="5140995" y="135731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19" name="TextBox 39"/>
          <p:cNvSpPr txBox="1">
            <a:spLocks noChangeArrowheads="1"/>
          </p:cNvSpPr>
          <p:nvPr/>
        </p:nvSpPr>
        <p:spPr bwMode="auto">
          <a:xfrm>
            <a:off x="4971132" y="13414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20" name="TextBox 79"/>
          <p:cNvSpPr txBox="1">
            <a:spLocks noChangeArrowheads="1"/>
          </p:cNvSpPr>
          <p:nvPr/>
        </p:nvSpPr>
        <p:spPr bwMode="auto">
          <a:xfrm>
            <a:off x="3348707" y="1347788"/>
            <a:ext cx="7921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작업일자</a:t>
            </a:r>
          </a:p>
        </p:txBody>
      </p:sp>
      <p:sp>
        <p:nvSpPr>
          <p:cNvPr id="67721" name="TextBox 31"/>
          <p:cNvSpPr txBox="1">
            <a:spLocks noChangeArrowheads="1"/>
          </p:cNvSpPr>
          <p:nvPr/>
        </p:nvSpPr>
        <p:spPr bwMode="auto">
          <a:xfrm>
            <a:off x="6969224" y="1341438"/>
            <a:ext cx="84080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입출고구분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22" name="직사각형 32"/>
          <p:cNvSpPr>
            <a:spLocks noChangeArrowheads="1"/>
          </p:cNvSpPr>
          <p:nvPr/>
        </p:nvSpPr>
        <p:spPr bwMode="auto">
          <a:xfrm>
            <a:off x="7813203" y="135731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23" name="직사각형 33"/>
          <p:cNvSpPr>
            <a:spLocks noChangeArrowheads="1"/>
          </p:cNvSpPr>
          <p:nvPr/>
        </p:nvSpPr>
        <p:spPr bwMode="auto">
          <a:xfrm>
            <a:off x="8667447" y="1357340"/>
            <a:ext cx="14287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724" name="TextBox 41"/>
          <p:cNvSpPr txBox="1">
            <a:spLocks noChangeArrowheads="1"/>
          </p:cNvSpPr>
          <p:nvPr/>
        </p:nvSpPr>
        <p:spPr bwMode="auto">
          <a:xfrm>
            <a:off x="193649" y="1650679"/>
            <a:ext cx="94248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재고이력구분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25" name="직사각형 42"/>
          <p:cNvSpPr>
            <a:spLocks noChangeArrowheads="1"/>
          </p:cNvSpPr>
          <p:nvPr/>
        </p:nvSpPr>
        <p:spPr bwMode="auto">
          <a:xfrm>
            <a:off x="1153572" y="1666876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26" name="직사각형 43"/>
          <p:cNvSpPr>
            <a:spLocks noChangeArrowheads="1"/>
          </p:cNvSpPr>
          <p:nvPr/>
        </p:nvSpPr>
        <p:spPr bwMode="auto">
          <a:xfrm>
            <a:off x="2023522" y="1666876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730" name="직사각형 81"/>
          <p:cNvSpPr>
            <a:spLocks noChangeArrowheads="1"/>
          </p:cNvSpPr>
          <p:nvPr/>
        </p:nvSpPr>
        <p:spPr bwMode="auto">
          <a:xfrm>
            <a:off x="4861595" y="13573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31" name="직사각형 81"/>
          <p:cNvSpPr>
            <a:spLocks noChangeArrowheads="1"/>
          </p:cNvSpPr>
          <p:nvPr/>
        </p:nvSpPr>
        <p:spPr bwMode="auto">
          <a:xfrm>
            <a:off x="5995070" y="13493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556183"/>
              </p:ext>
            </p:extLst>
          </p:nvPr>
        </p:nvGraphicFramePr>
        <p:xfrm>
          <a:off x="417511" y="3933056"/>
          <a:ext cx="1748886" cy="496887"/>
        </p:xfrm>
        <a:graphic>
          <a:graphicData uri="http://schemas.openxmlformats.org/drawingml/2006/table">
            <a:tbl>
              <a:tblPr/>
              <a:tblGrid>
                <a:gridCol w="73306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1582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821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9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754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4757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재고이력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체화재고</a:t>
            </a:r>
          </a:p>
        </p:txBody>
      </p:sp>
      <p:sp>
        <p:nvSpPr>
          <p:cNvPr id="57347" name="직사각형 54"/>
          <p:cNvSpPr>
            <a:spLocks noChangeArrowheads="1"/>
          </p:cNvSpPr>
          <p:nvPr/>
        </p:nvSpPr>
        <p:spPr bwMode="auto">
          <a:xfrm>
            <a:off x="309563" y="2420938"/>
            <a:ext cx="9215437" cy="3887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34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5734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57350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grpSp>
        <p:nvGrpSpPr>
          <p:cNvPr id="57351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5745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5745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352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7353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57354" name="그룹 71"/>
          <p:cNvGrpSpPr>
            <a:grpSpLocks/>
          </p:cNvGrpSpPr>
          <p:nvPr/>
        </p:nvGrpSpPr>
        <p:grpSpPr bwMode="auto">
          <a:xfrm>
            <a:off x="3162300" y="1295400"/>
            <a:ext cx="2071688" cy="230188"/>
            <a:chOff x="3238492" y="1428736"/>
            <a:chExt cx="2071698" cy="230832"/>
          </a:xfrm>
        </p:grpSpPr>
        <p:sp>
          <p:nvSpPr>
            <p:cNvPr id="5745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5745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355" name="직사각형 33"/>
          <p:cNvSpPr>
            <a:spLocks noChangeArrowheads="1"/>
          </p:cNvSpPr>
          <p:nvPr/>
        </p:nvSpPr>
        <p:spPr bwMode="auto">
          <a:xfrm>
            <a:off x="5286375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356" name="직사각형 66"/>
          <p:cNvSpPr>
            <a:spLocks noChangeArrowheads="1"/>
          </p:cNvSpPr>
          <p:nvPr/>
        </p:nvSpPr>
        <p:spPr bwMode="auto">
          <a:xfrm>
            <a:off x="5483225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357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57358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5745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5745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359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360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7361" name="그룹 71"/>
          <p:cNvGrpSpPr>
            <a:grpSpLocks/>
          </p:cNvGrpSpPr>
          <p:nvPr/>
        </p:nvGrpSpPr>
        <p:grpSpPr bwMode="auto">
          <a:xfrm>
            <a:off x="6289675" y="1300163"/>
            <a:ext cx="2071688" cy="230187"/>
            <a:chOff x="3238492" y="1428736"/>
            <a:chExt cx="2071698" cy="230832"/>
          </a:xfrm>
        </p:grpSpPr>
        <p:sp>
          <p:nvSpPr>
            <p:cNvPr id="5745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5745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362" name="직사각형 33"/>
          <p:cNvSpPr>
            <a:spLocks noChangeArrowheads="1"/>
          </p:cNvSpPr>
          <p:nvPr/>
        </p:nvSpPr>
        <p:spPr bwMode="auto">
          <a:xfrm>
            <a:off x="8413750" y="13096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363" name="직사각형 66"/>
          <p:cNvSpPr>
            <a:spLocks noChangeArrowheads="1"/>
          </p:cNvSpPr>
          <p:nvPr/>
        </p:nvSpPr>
        <p:spPr bwMode="auto">
          <a:xfrm>
            <a:off x="8610600" y="13065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7439" name="그룹 71"/>
          <p:cNvGrpSpPr>
            <a:grpSpLocks/>
          </p:cNvGrpSpPr>
          <p:nvPr/>
        </p:nvGrpSpPr>
        <p:grpSpPr bwMode="auto">
          <a:xfrm>
            <a:off x="6289675" y="1612900"/>
            <a:ext cx="2071688" cy="230188"/>
            <a:chOff x="3238492" y="1428736"/>
            <a:chExt cx="2071698" cy="230832"/>
          </a:xfrm>
        </p:grpSpPr>
        <p:sp>
          <p:nvSpPr>
            <p:cNvPr id="5744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5744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</a:t>
              </a:r>
            </a:p>
          </p:txBody>
        </p:sp>
      </p:grpSp>
      <p:sp>
        <p:nvSpPr>
          <p:cNvPr id="57440" name="직사각형 69"/>
          <p:cNvSpPr>
            <a:spLocks noChangeArrowheads="1"/>
          </p:cNvSpPr>
          <p:nvPr/>
        </p:nvSpPr>
        <p:spPr bwMode="auto">
          <a:xfrm>
            <a:off x="8218488" y="16160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57442" name="그룹 71"/>
          <p:cNvGrpSpPr>
            <a:grpSpLocks/>
          </p:cNvGrpSpPr>
          <p:nvPr/>
        </p:nvGrpSpPr>
        <p:grpSpPr bwMode="auto">
          <a:xfrm>
            <a:off x="7938" y="1574800"/>
            <a:ext cx="2071687" cy="230188"/>
            <a:chOff x="3238492" y="1428736"/>
            <a:chExt cx="2071698" cy="230832"/>
          </a:xfrm>
        </p:grpSpPr>
        <p:sp>
          <p:nvSpPr>
            <p:cNvPr id="5744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보관기간</a:t>
              </a:r>
            </a:p>
          </p:txBody>
        </p:sp>
        <p:sp>
          <p:nvSpPr>
            <p:cNvPr id="5744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443" name="직사각형 95"/>
          <p:cNvSpPr>
            <a:spLocks noChangeArrowheads="1"/>
          </p:cNvSpPr>
          <p:nvPr/>
        </p:nvSpPr>
        <p:spPr bwMode="auto">
          <a:xfrm>
            <a:off x="2136775" y="1581150"/>
            <a:ext cx="500063" cy="2174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57444" name="직사각형 90"/>
          <p:cNvSpPr>
            <a:spLocks noChangeArrowheads="1"/>
          </p:cNvSpPr>
          <p:nvPr/>
        </p:nvSpPr>
        <p:spPr bwMode="auto">
          <a:xfrm>
            <a:off x="2493963" y="15843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3" name="Group 139"/>
          <p:cNvGraphicFramePr>
            <a:graphicFrameLocks noGrp="1"/>
          </p:cNvGraphicFramePr>
          <p:nvPr>
            <p:extLst/>
          </p:nvPr>
        </p:nvGraphicFramePr>
        <p:xfrm>
          <a:off x="390385" y="2492896"/>
          <a:ext cx="9037640" cy="635866"/>
        </p:xfrm>
        <a:graphic>
          <a:graphicData uri="http://schemas.openxmlformats.org/drawingml/2006/table">
            <a:tbl>
              <a:tblPr/>
              <a:tblGrid>
                <a:gridCol w="2396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5496">
                  <a:extLst>
                    <a:ext uri="{9D8B030D-6E8A-4147-A177-3AD203B41FA5}">
                      <a16:colId xmlns="" xmlns:a16="http://schemas.microsoft.com/office/drawing/2014/main" val="644990893"/>
                    </a:ext>
                  </a:extLst>
                </a:gridCol>
                <a:gridCol w="34549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45496">
                  <a:extLst>
                    <a:ext uri="{9D8B030D-6E8A-4147-A177-3AD203B41FA5}">
                      <a16:colId xmlns="" xmlns:a16="http://schemas.microsoft.com/office/drawing/2014/main" val="1996203912"/>
                    </a:ext>
                  </a:extLst>
                </a:gridCol>
                <a:gridCol w="5390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39057">
                  <a:extLst>
                    <a:ext uri="{9D8B030D-6E8A-4147-A177-3AD203B41FA5}">
                      <a16:colId xmlns="" xmlns:a16="http://schemas.microsoft.com/office/drawing/2014/main" val="3500108918"/>
                    </a:ext>
                  </a:extLst>
                </a:gridCol>
                <a:gridCol w="5390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9307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26791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15531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554042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346276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77021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77021">
                  <a:extLst>
                    <a:ext uri="{9D8B030D-6E8A-4147-A177-3AD203B41FA5}">
                      <a16:colId xmlns="" xmlns:a16="http://schemas.microsoft.com/office/drawing/2014/main" val="4215168625"/>
                    </a:ext>
                  </a:extLst>
                </a:gridCol>
                <a:gridCol w="346276">
                  <a:extLst>
                    <a:ext uri="{9D8B030D-6E8A-4147-A177-3AD203B41FA5}">
                      <a16:colId xmlns="" xmlns:a16="http://schemas.microsoft.com/office/drawing/2014/main" val="1721580915"/>
                    </a:ext>
                  </a:extLst>
                </a:gridCol>
                <a:gridCol w="544479">
                  <a:extLst>
                    <a:ext uri="{9D8B030D-6E8A-4147-A177-3AD203B41FA5}">
                      <a16:colId xmlns="" xmlns:a16="http://schemas.microsoft.com/office/drawing/2014/main" val="1569379475"/>
                    </a:ext>
                  </a:extLst>
                </a:gridCol>
                <a:gridCol w="393969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39396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393969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393969">
                  <a:extLst>
                    <a:ext uri="{9D8B030D-6E8A-4147-A177-3AD203B41FA5}">
                      <a16:colId xmlns="" xmlns:a16="http://schemas.microsoft.com/office/drawing/2014/main" val="1498361104"/>
                    </a:ext>
                  </a:extLst>
                </a:gridCol>
                <a:gridCol w="393969">
                  <a:extLst>
                    <a:ext uri="{9D8B030D-6E8A-4147-A177-3AD203B41FA5}">
                      <a16:colId xmlns="" xmlns:a16="http://schemas.microsoft.com/office/drawing/2014/main" val="2943260624"/>
                    </a:ext>
                  </a:extLst>
                </a:gridCol>
                <a:gridCol w="393969">
                  <a:extLst>
                    <a:ext uri="{9D8B030D-6E8A-4147-A177-3AD203B41FA5}">
                      <a16:colId xmlns="" xmlns:a16="http://schemas.microsoft.com/office/drawing/2014/main" val="1013634608"/>
                    </a:ext>
                  </a:extLst>
                </a:gridCol>
              </a:tblGrid>
              <a:tr h="14098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총재고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867754820"/>
                  </a:ext>
                </a:extLst>
              </a:tr>
              <a:tr h="169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0315874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" name="Group 139"/>
          <p:cNvGraphicFramePr>
            <a:graphicFrameLocks noGrp="1"/>
          </p:cNvGraphicFramePr>
          <p:nvPr>
            <p:extLst/>
          </p:nvPr>
        </p:nvGraphicFramePr>
        <p:xfrm>
          <a:off x="391973" y="3233848"/>
          <a:ext cx="9036050" cy="431800"/>
        </p:xfrm>
        <a:graphic>
          <a:graphicData uri="http://schemas.openxmlformats.org/drawingml/2006/table">
            <a:tbl>
              <a:tblPr/>
              <a:tblGrid>
                <a:gridCol w="71100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9093">
                  <a:extLst>
                    <a:ext uri="{9D8B030D-6E8A-4147-A177-3AD203B41FA5}">
                      <a16:colId xmlns="" xmlns:a16="http://schemas.microsoft.com/office/drawing/2014/main" val="393206023"/>
                    </a:ext>
                  </a:extLst>
                </a:gridCol>
                <a:gridCol w="890014">
                  <a:extLst>
                    <a:ext uri="{9D8B030D-6E8A-4147-A177-3AD203B41FA5}">
                      <a16:colId xmlns="" xmlns:a16="http://schemas.microsoft.com/office/drawing/2014/main" val="3588976106"/>
                    </a:ext>
                  </a:extLst>
                </a:gridCol>
                <a:gridCol w="753993">
                  <a:extLst>
                    <a:ext uri="{9D8B030D-6E8A-4147-A177-3AD203B41FA5}">
                      <a16:colId xmlns="" xmlns:a16="http://schemas.microsoft.com/office/drawing/2014/main" val="3074379037"/>
                    </a:ext>
                  </a:extLst>
                </a:gridCol>
                <a:gridCol w="7539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399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5399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53993">
                  <a:extLst>
                    <a:ext uri="{9D8B030D-6E8A-4147-A177-3AD203B41FA5}">
                      <a16:colId xmlns="" xmlns:a16="http://schemas.microsoft.com/office/drawing/2014/main" val="1544011940"/>
                    </a:ext>
                  </a:extLst>
                </a:gridCol>
                <a:gridCol w="753993">
                  <a:extLst>
                    <a:ext uri="{9D8B030D-6E8A-4147-A177-3AD203B41FA5}">
                      <a16:colId xmlns="" xmlns:a16="http://schemas.microsoft.com/office/drawing/2014/main" val="1369752719"/>
                    </a:ext>
                  </a:extLst>
                </a:gridCol>
                <a:gridCol w="753993">
                  <a:extLst>
                    <a:ext uri="{9D8B030D-6E8A-4147-A177-3AD203B41FA5}">
                      <a16:colId xmlns="" xmlns:a16="http://schemas.microsoft.com/office/drawing/2014/main" val="3951210843"/>
                    </a:ext>
                  </a:extLst>
                </a:gridCol>
                <a:gridCol w="75399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53993">
                  <a:extLst>
                    <a:ext uri="{9D8B030D-6E8A-4147-A177-3AD203B41FA5}">
                      <a16:colId xmlns="" xmlns:a16="http://schemas.microsoft.com/office/drawing/2014/main" val="1611903794"/>
                    </a:ext>
                  </a:extLst>
                </a:gridCol>
              </a:tblGrid>
              <a:tr h="2142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757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100g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565770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900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20715</TotalTime>
  <Words>631</Words>
  <Application>Microsoft Office PowerPoint</Application>
  <PresentationFormat>A4 용지(210x297mm)</PresentationFormat>
  <Paragraphs>494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굴림</vt:lpstr>
      <vt:lpstr>굴림체</vt:lpstr>
      <vt:lpstr>맑은 고딕</vt:lpstr>
      <vt:lpstr>Optima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이종건</dc:creator>
  <cp:lastModifiedBy>mskim</cp:lastModifiedBy>
  <cp:revision>1133</cp:revision>
  <cp:lastPrinted>2017-07-17T07:06:04Z</cp:lastPrinted>
  <dcterms:created xsi:type="dcterms:W3CDTF">2002-03-20T01:19:40Z</dcterms:created>
  <dcterms:modified xsi:type="dcterms:W3CDTF">2017-09-04T06:05:03Z</dcterms:modified>
</cp:coreProperties>
</file>