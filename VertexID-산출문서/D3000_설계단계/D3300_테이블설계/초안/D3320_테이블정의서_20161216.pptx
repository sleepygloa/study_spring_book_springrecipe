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3"/>
  </p:notesMasterIdLst>
  <p:handoutMasterIdLst>
    <p:handoutMasterId r:id="rId4"/>
  </p:handoutMasterIdLst>
  <p:sldIdLst>
    <p:sldId id="271" r:id="rId2"/>
  </p:sldIdLst>
  <p:sldSz cx="9906000" cy="6858000" type="A4"/>
  <p:notesSz cx="9753600" cy="68548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5pPr>
    <a:lvl6pPr marL="2286000" algn="l" defTabSz="914400" rtl="0" eaLnBrk="1" latinLnBrk="1" hangingPunct="1"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6pPr>
    <a:lvl7pPr marL="2743200" algn="l" defTabSz="914400" rtl="0" eaLnBrk="1" latinLnBrk="1" hangingPunct="1"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7pPr>
    <a:lvl8pPr marL="3200400" algn="l" defTabSz="914400" rtl="0" eaLnBrk="1" latinLnBrk="1" hangingPunct="1"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8pPr>
    <a:lvl9pPr marL="3657600" algn="l" defTabSz="914400" rtl="0" eaLnBrk="1" latinLnBrk="1" hangingPunct="1">
      <a:defRPr kumimoji="1" sz="900" b="1" kern="1200">
        <a:solidFill>
          <a:schemeClr val="tx1"/>
        </a:solidFill>
        <a:latin typeface="Optima" panose="00000400000000000000" pitchFamily="2" charset="2"/>
        <a:ea typeface="가는각진제목체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24">
          <p15:clr>
            <a:srgbClr val="A4A3A4"/>
          </p15:clr>
        </p15:guide>
        <p15:guide id="2" pos="6204">
          <p15:clr>
            <a:srgbClr val="A4A3A4"/>
          </p15:clr>
        </p15:guide>
        <p15:guide id="3" pos="54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7586"/>
    <a:srgbClr val="CCE1B1"/>
    <a:srgbClr val="E1D8D3"/>
    <a:srgbClr val="D7DACC"/>
    <a:srgbClr val="EAEAEA"/>
    <a:srgbClr val="CCFF99"/>
    <a:srgbClr val="F47C99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98" autoAdjust="0"/>
    <p:restoredTop sz="95349" autoAdjust="0"/>
  </p:normalViewPr>
  <p:slideViewPr>
    <p:cSldViewPr>
      <p:cViewPr varScale="1">
        <p:scale>
          <a:sx n="95" d="100"/>
          <a:sy n="95" d="100"/>
        </p:scale>
        <p:origin x="300" y="90"/>
      </p:cViewPr>
      <p:guideLst>
        <p:guide orient="horz" pos="4224"/>
        <p:guide pos="6204"/>
        <p:guide pos="54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26088" y="0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0338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26088" y="6510338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 smtClean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142DA53-1B92-4664-9F1F-F00B815A3E3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26088" y="0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3021013" y="514350"/>
            <a:ext cx="3713162" cy="25701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3255963"/>
            <a:ext cx="7804150" cy="308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0338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 b="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26088" y="6510338"/>
            <a:ext cx="422592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b="0" smtClean="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0846D21D-741B-4047-B1CD-672EF5041C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2C4D9CD-C4D6-4247-8E2B-649FD7381FC9}" type="slidenum">
              <a:rPr lang="en-US" altLang="ko-KR"/>
              <a:pPr>
                <a:spcBef>
                  <a:spcPct val="0"/>
                </a:spcBef>
              </a:pPr>
              <a:t>1</a:t>
            </a:fld>
            <a:endParaRPr lang="en-US" altLang="ko-KR"/>
          </a:p>
        </p:txBody>
      </p:sp>
      <p:sp>
        <p:nvSpPr>
          <p:cNvPr id="512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3255963"/>
            <a:ext cx="7807325" cy="3084512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08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79"/>
          <p:cNvSpPr>
            <a:spLocks noChangeShapeType="1"/>
          </p:cNvSpPr>
          <p:nvPr userDrawn="1"/>
        </p:nvSpPr>
        <p:spPr bwMode="auto">
          <a:xfrm>
            <a:off x="220663" y="6524625"/>
            <a:ext cx="9432925" cy="0"/>
          </a:xfrm>
          <a:prstGeom prst="line">
            <a:avLst/>
          </a:prstGeom>
          <a:noFill/>
          <a:ln w="22225">
            <a:solidFill>
              <a:srgbClr val="7A6F5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+mn-ea"/>
              <a:ea typeface="+mn-ea"/>
            </a:endParaRPr>
          </a:p>
        </p:txBody>
      </p:sp>
      <p:graphicFrame>
        <p:nvGraphicFramePr>
          <p:cNvPr id="14469" name="Group 1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859794"/>
              </p:ext>
            </p:extLst>
          </p:nvPr>
        </p:nvGraphicFramePr>
        <p:xfrm>
          <a:off x="200472" y="260350"/>
          <a:ext cx="9440863" cy="738189"/>
        </p:xfrm>
        <a:graphic>
          <a:graphicData uri="http://schemas.openxmlformats.org/drawingml/2006/table">
            <a:tbl>
              <a:tblPr/>
              <a:tblGrid>
                <a:gridCol w="1030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프로젝트명</a:t>
                      </a:r>
                      <a:endParaRPr kumimoji="1" lang="ko-KR" altLang="en-US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창고관리시스템</a:t>
                      </a:r>
                      <a:r>
                        <a:rPr kumimoji="1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(PWM)</a:t>
                      </a:r>
                      <a:r>
                        <a:rPr kumimoji="1" lang="ko-KR" altLang="en-US" sz="9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 구축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프로젝트 공정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작성일자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0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문서명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normalizeH="0" baseline="0">
                          <a:ln>
                            <a:noFill/>
                          </a:ln>
                          <a:solidFill>
                            <a:srgbClr val="111111"/>
                          </a:solidFill>
                          <a:effectLst/>
                          <a:latin typeface="+mn-ea"/>
                          <a:ea typeface="+mn-ea"/>
                        </a:rPr>
                        <a:t>페이지</a:t>
                      </a: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1" i="0" u="none" strike="noStrike" cap="none" normalizeH="0" baseline="0" dirty="0">
                        <a:ln>
                          <a:noFill/>
                        </a:ln>
                        <a:solidFill>
                          <a:srgbClr val="777777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12" marB="46812" anchor="ctr" horzOverflow="overflow">
                    <a:lnL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777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053" name="Group 160"/>
          <p:cNvGrpSpPr>
            <a:grpSpLocks/>
          </p:cNvGrpSpPr>
          <p:nvPr userDrawn="1"/>
        </p:nvGrpSpPr>
        <p:grpSpPr bwMode="auto">
          <a:xfrm>
            <a:off x="1186583" y="260350"/>
            <a:ext cx="7086600" cy="733425"/>
            <a:chOff x="816" y="164"/>
            <a:chExt cx="4464" cy="462"/>
          </a:xfrm>
        </p:grpSpPr>
        <p:grpSp>
          <p:nvGrpSpPr>
            <p:cNvPr id="1056" name="Group 161"/>
            <p:cNvGrpSpPr>
              <a:grpSpLocks/>
            </p:cNvGrpSpPr>
            <p:nvPr/>
          </p:nvGrpSpPr>
          <p:grpSpPr bwMode="auto">
            <a:xfrm>
              <a:off x="4373" y="164"/>
              <a:ext cx="907" cy="300"/>
              <a:chOff x="5207" y="164"/>
              <a:chExt cx="907" cy="300"/>
            </a:xfrm>
          </p:grpSpPr>
          <p:sp>
            <p:nvSpPr>
              <p:cNvPr id="1060" name="Text Box 162"/>
              <p:cNvSpPr txBox="1">
                <a:spLocks noChangeArrowheads="1"/>
              </p:cNvSpPr>
              <p:nvPr/>
            </p:nvSpPr>
            <p:spPr bwMode="auto">
              <a:xfrm>
                <a:off x="5207" y="164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1pPr>
                <a:lvl2pPr marL="742950" indent="-28575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2pPr>
                <a:lvl3pPr marL="11430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3pPr>
                <a:lvl4pPr marL="16002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4pPr>
                <a:lvl5pPr marL="20574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lang="ko-KR" altLang="en-US">
                  <a:solidFill>
                    <a:srgbClr val="777777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1061" name="Text Box 163"/>
              <p:cNvSpPr txBox="1">
                <a:spLocks noChangeArrowheads="1"/>
              </p:cNvSpPr>
              <p:nvPr/>
            </p:nvSpPr>
            <p:spPr bwMode="auto">
              <a:xfrm>
                <a:off x="5207" y="320"/>
                <a:ext cx="90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1pPr>
                <a:lvl2pPr marL="742950" indent="-28575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2pPr>
                <a:lvl3pPr marL="11430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3pPr>
                <a:lvl4pPr marL="16002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4pPr>
                <a:lvl5pPr marL="20574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ko-KR" dirty="0">
                    <a:solidFill>
                      <a:srgbClr val="777777"/>
                    </a:solidFill>
                    <a:latin typeface="+mn-ea"/>
                    <a:ea typeface="+mn-ea"/>
                  </a:rPr>
                  <a:t>2016</a:t>
                </a:r>
                <a:r>
                  <a:rPr lang="ko-KR" altLang="en-US" dirty="0">
                    <a:solidFill>
                      <a:srgbClr val="777777"/>
                    </a:solidFill>
                    <a:latin typeface="+mn-ea"/>
                    <a:ea typeface="+mn-ea"/>
                  </a:rPr>
                  <a:t>년 </a:t>
                </a:r>
                <a:r>
                  <a:rPr lang="en-US" altLang="ko-KR" dirty="0">
                    <a:solidFill>
                      <a:srgbClr val="777777"/>
                    </a:solidFill>
                    <a:latin typeface="+mn-ea"/>
                    <a:ea typeface="+mn-ea"/>
                  </a:rPr>
                  <a:t>12</a:t>
                </a:r>
                <a:r>
                  <a:rPr lang="ko-KR" altLang="en-US" dirty="0">
                    <a:solidFill>
                      <a:srgbClr val="777777"/>
                    </a:solidFill>
                    <a:latin typeface="+mn-ea"/>
                    <a:ea typeface="+mn-ea"/>
                  </a:rPr>
                  <a:t>월 </a:t>
                </a:r>
                <a:r>
                  <a:rPr lang="en-US" altLang="ko-KR" dirty="0">
                    <a:solidFill>
                      <a:srgbClr val="777777"/>
                    </a:solidFill>
                    <a:latin typeface="+mn-ea"/>
                    <a:ea typeface="+mn-ea"/>
                  </a:rPr>
                  <a:t>16</a:t>
                </a:r>
                <a:r>
                  <a:rPr lang="ko-KR" altLang="en-US" dirty="0">
                    <a:solidFill>
                      <a:srgbClr val="777777"/>
                    </a:solidFill>
                    <a:latin typeface="+mn-ea"/>
                    <a:ea typeface="+mn-ea"/>
                  </a:rPr>
                  <a:t>일</a:t>
                </a:r>
              </a:p>
            </p:txBody>
          </p:sp>
        </p:grpSp>
        <p:grpSp>
          <p:nvGrpSpPr>
            <p:cNvPr id="1057" name="Group 164"/>
            <p:cNvGrpSpPr>
              <a:grpSpLocks/>
            </p:cNvGrpSpPr>
            <p:nvPr/>
          </p:nvGrpSpPr>
          <p:grpSpPr bwMode="auto">
            <a:xfrm>
              <a:off x="816" y="320"/>
              <a:ext cx="2767" cy="306"/>
              <a:chOff x="1850" y="320"/>
              <a:chExt cx="2767" cy="306"/>
            </a:xfrm>
          </p:grpSpPr>
          <p:sp>
            <p:nvSpPr>
              <p:cNvPr id="1058" name="Text Box 165"/>
              <p:cNvSpPr txBox="1">
                <a:spLocks noChangeArrowheads="1"/>
              </p:cNvSpPr>
              <p:nvPr/>
            </p:nvSpPr>
            <p:spPr bwMode="auto">
              <a:xfrm>
                <a:off x="1850" y="320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1pPr>
                <a:lvl2pPr marL="742950" indent="-28575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2pPr>
                <a:lvl3pPr marL="11430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3pPr>
                <a:lvl4pPr marL="16002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4pPr>
                <a:lvl5pPr marL="20574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ko-KR" dirty="0">
                    <a:solidFill>
                      <a:srgbClr val="777777"/>
                    </a:solidFill>
                    <a:latin typeface="+mn-ea"/>
                    <a:ea typeface="+mn-ea"/>
                  </a:rPr>
                  <a:t>D3000_</a:t>
                </a:r>
                <a:r>
                  <a:rPr lang="ko-KR" altLang="en-US" dirty="0">
                    <a:solidFill>
                      <a:srgbClr val="777777"/>
                    </a:solidFill>
                    <a:latin typeface="+mn-ea"/>
                    <a:ea typeface="+mn-ea"/>
                  </a:rPr>
                  <a:t>시스템 설계</a:t>
                </a:r>
              </a:p>
            </p:txBody>
          </p:sp>
          <p:sp>
            <p:nvSpPr>
              <p:cNvPr id="1059" name="Text Box 166"/>
              <p:cNvSpPr txBox="1">
                <a:spLocks noChangeArrowheads="1"/>
              </p:cNvSpPr>
              <p:nvPr/>
            </p:nvSpPr>
            <p:spPr bwMode="auto">
              <a:xfrm>
                <a:off x="1850" y="482"/>
                <a:ext cx="2767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1pPr>
                <a:lvl2pPr marL="742950" indent="-28575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2pPr>
                <a:lvl3pPr marL="11430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3pPr>
                <a:lvl4pPr marL="16002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4pPr>
                <a:lvl5pPr marL="2057400" indent="-228600" algn="ctr" latinLnBrk="1"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900" b="1">
                    <a:solidFill>
                      <a:schemeClr val="tx1"/>
                    </a:solidFill>
                    <a:latin typeface="Optima" panose="00000400000000000000" pitchFamily="2" charset="2"/>
                    <a:ea typeface="가는각진제목체" panose="02030600000101010101" pitchFamily="18" charset="-127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ko-KR">
                    <a:solidFill>
                      <a:srgbClr val="777777"/>
                    </a:solidFill>
                    <a:latin typeface="+mn-ea"/>
                    <a:ea typeface="+mn-ea"/>
                  </a:rPr>
                  <a:t>D3320_</a:t>
                </a:r>
                <a:r>
                  <a:rPr lang="ko-KR" altLang="en-US">
                    <a:solidFill>
                      <a:srgbClr val="777777"/>
                    </a:solidFill>
                    <a:latin typeface="+mn-ea"/>
                    <a:ea typeface="+mn-ea"/>
                  </a:rPr>
                  <a:t>테이블 정의서</a:t>
                </a:r>
              </a:p>
            </p:txBody>
          </p:sp>
        </p:grpSp>
      </p:grpSp>
      <p:sp>
        <p:nvSpPr>
          <p:cNvPr id="38" name="TextBox 37"/>
          <p:cNvSpPr txBox="1"/>
          <p:nvPr userDrawn="1"/>
        </p:nvSpPr>
        <p:spPr>
          <a:xfrm>
            <a:off x="7007946" y="765175"/>
            <a:ext cx="1152525" cy="230188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eaLnBrk="0" hangingPunct="0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1pPr>
            <a:lvl2pPr marL="742950" indent="-285750" eaLnBrk="0" hangingPunct="0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2pPr>
            <a:lvl3pPr marL="1143000" indent="-228600" eaLnBrk="0" hangingPunct="0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3pPr>
            <a:lvl4pPr marL="1600200" indent="-228600" eaLnBrk="0" hangingPunct="0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4pPr>
            <a:lvl5pPr marL="2057400" indent="-228600" eaLnBrk="0" hangingPunct="0"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900" b="1">
                <a:solidFill>
                  <a:schemeClr val="tx1"/>
                </a:solidFill>
                <a:latin typeface="Optima" panose="00000400000000000000" pitchFamily="2" charset="2"/>
                <a:ea typeface="가는각진제목체" panose="02030600000101010101" pitchFamily="18" charset="-127"/>
              </a:defRPr>
            </a:lvl9pPr>
          </a:lstStyle>
          <a:p>
            <a:pPr algn="ctr" eaLnBrk="1" latinLnBrk="1" hangingPunct="1">
              <a:defRPr/>
            </a:pPr>
            <a:fld id="{7AC3E0C6-CE49-4852-B9F0-F4C78502EE3A}" type="slidenum">
              <a:rPr lang="en-US" altLang="ko-KR" smtClean="0">
                <a:solidFill>
                  <a:srgbClr val="777777"/>
                </a:solidFill>
                <a:latin typeface="+mn-ea"/>
                <a:ea typeface="+mn-ea"/>
              </a:rPr>
              <a:pPr algn="ctr" eaLnBrk="1" latinLnBrk="1" hangingPunct="1">
                <a:defRPr/>
              </a:pPr>
              <a:t>‹#›</a:t>
            </a:fld>
            <a:endParaRPr lang="ko-KR" altLang="en-US">
              <a:latin typeface="+mn-ea"/>
              <a:ea typeface="+mn-ea"/>
            </a:endParaRP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7169" y="6580100"/>
            <a:ext cx="816894" cy="196532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486" y="455404"/>
            <a:ext cx="1457849" cy="37487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863" name="Group 26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894427"/>
              </p:ext>
            </p:extLst>
          </p:nvPr>
        </p:nvGraphicFramePr>
        <p:xfrm>
          <a:off x="201613" y="1052513"/>
          <a:ext cx="9431337" cy="568326"/>
        </p:xfrm>
        <a:graphic>
          <a:graphicData uri="http://schemas.openxmlformats.org/drawingml/2006/table">
            <a:tbl>
              <a:tblPr/>
              <a:tblGrid>
                <a:gridCol w="2009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59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테이블 명칭</a:t>
                      </a:r>
                    </a:p>
                  </a:txBody>
                  <a:tcPr marL="36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항목명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타입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길이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소수점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NULL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기본값</a:t>
                      </a: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설 명</a:t>
                      </a: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4D4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40860" name="Group 26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266560"/>
              </p:ext>
            </p:extLst>
          </p:nvPr>
        </p:nvGraphicFramePr>
        <p:xfrm>
          <a:off x="198438" y="1627188"/>
          <a:ext cx="9440862" cy="4849819"/>
        </p:xfrm>
        <a:graphic>
          <a:graphicData uri="http://schemas.openxmlformats.org/drawingml/2006/table">
            <a:tbl>
              <a:tblPr/>
              <a:tblGrid>
                <a:gridCol w="32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6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7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59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1 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2 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3 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4 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5 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6 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7 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b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Arial" charset="0"/>
                        </a:rPr>
                        <a:t>8 </a:t>
                      </a: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13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8000" marR="18000" marT="36000" marB="36000" anchor="ctr" horzOverflow="overflow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기본 디자인">
  <a:themeElements>
    <a:clrScheme name="1_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가는각진제목체" pitchFamily="18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18000" tIns="36000" rIns="18000" bIns="36000" numCol="1" anchor="ctr" anchorCtr="1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Optima" pitchFamily="2" charset="2"/>
            <a:ea typeface="가는각진제목체" pitchFamily="18" charset="-127"/>
          </a:defRPr>
        </a:defPPr>
      </a:lstStyle>
    </a:lnDef>
  </a:objectDefaults>
  <a:extraClrSchemeLst>
    <a:extraClrScheme>
      <a:clrScheme name="1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7017</TotalTime>
  <Words>19</Words>
  <Application>Microsoft Office PowerPoint</Application>
  <PresentationFormat>A4 용지(210x297mm)</PresentationFormat>
  <Paragraphs>17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Optima</vt:lpstr>
      <vt:lpstr>가는각진제목체</vt:lpstr>
      <vt:lpstr>Arial</vt:lpstr>
      <vt:lpstr>굴림</vt:lpstr>
      <vt:lpstr>굴림체</vt:lpstr>
      <vt:lpstr>1_기본 디자인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/>
  <cp:lastModifiedBy>jklee</cp:lastModifiedBy>
  <cp:revision>107</cp:revision>
  <dcterms:created xsi:type="dcterms:W3CDTF">2002-03-20T01:19:40Z</dcterms:created>
  <dcterms:modified xsi:type="dcterms:W3CDTF">2016-12-15T23:55:05Z</dcterms:modified>
</cp:coreProperties>
</file>