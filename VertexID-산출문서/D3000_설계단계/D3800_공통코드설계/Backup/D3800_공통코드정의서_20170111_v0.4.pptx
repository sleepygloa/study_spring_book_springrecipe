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314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3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</p:sldIdLst>
  <p:sldSz cx="9906000" cy="6858000" type="A4"/>
  <p:notesSz cx="9753600" cy="68548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5pPr>
    <a:lvl6pPr marL="2286000" algn="l" defTabSz="914400" rtl="0" eaLnBrk="1" latinLnBrk="1" hangingPunct="1"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6pPr>
    <a:lvl7pPr marL="2743200" algn="l" defTabSz="914400" rtl="0" eaLnBrk="1" latinLnBrk="1" hangingPunct="1"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7pPr>
    <a:lvl8pPr marL="3200400" algn="l" defTabSz="914400" rtl="0" eaLnBrk="1" latinLnBrk="1" hangingPunct="1"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8pPr>
    <a:lvl9pPr marL="3657600" algn="l" defTabSz="914400" rtl="0" eaLnBrk="1" latinLnBrk="1" hangingPunct="1"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204">
          <p15:clr>
            <a:srgbClr val="A4A3A4"/>
          </p15:clr>
        </p15:guide>
        <p15:guide id="3" pos="54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7586"/>
    <a:srgbClr val="CCE1B1"/>
    <a:srgbClr val="E1D8D3"/>
    <a:srgbClr val="D7DACC"/>
    <a:srgbClr val="EAEAEA"/>
    <a:srgbClr val="CCFF99"/>
    <a:srgbClr val="F47C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7" autoAdjust="0"/>
    <p:restoredTop sz="94992" autoAdjust="0"/>
  </p:normalViewPr>
  <p:slideViewPr>
    <p:cSldViewPr>
      <p:cViewPr varScale="1">
        <p:scale>
          <a:sx n="94" d="100"/>
          <a:sy n="94" d="100"/>
        </p:scale>
        <p:origin x="96" y="252"/>
      </p:cViewPr>
      <p:guideLst>
        <p:guide orient="horz" pos="4247"/>
        <p:guide pos="6204"/>
        <p:guide pos="54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26088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26088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5292A8C-B68F-4AB7-8D0C-2E70202102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26088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21013" y="514350"/>
            <a:ext cx="3713162" cy="2570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3255963"/>
            <a:ext cx="7804150" cy="308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26088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B490E9E6-A167-49EA-833A-928A7C6E9D4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094786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2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052617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3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71378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4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964806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5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097356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6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76198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7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153012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8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91203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9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101949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10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73394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11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037396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12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08834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13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572468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14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18004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15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647913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16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6986437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17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780807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18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553075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19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52460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20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389136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21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34363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22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14647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23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5687889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0A02EA-EB41-448E-94E1-8EDE9E6A9716}" type="slidenum">
              <a:rPr lang="en-US" altLang="ko-KR" smtClean="0"/>
              <a:pPr>
                <a:spcBef>
                  <a:spcPct val="0"/>
                </a:spcBef>
              </a:pPr>
              <a:t>24</a:t>
            </a:fld>
            <a:endParaRPr lang="en-US" altLang="ko-K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21643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177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469" name="Group 133"/>
          <p:cNvGraphicFramePr>
            <a:graphicFrameLocks noGrp="1"/>
          </p:cNvGraphicFramePr>
          <p:nvPr/>
        </p:nvGraphicFramePr>
        <p:xfrm>
          <a:off x="203200" y="260350"/>
          <a:ext cx="9440863" cy="738189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53" name="Group 160"/>
          <p:cNvGrpSpPr>
            <a:grpSpLocks/>
          </p:cNvGrpSpPr>
          <p:nvPr/>
        </p:nvGrpSpPr>
        <p:grpSpPr bwMode="auto">
          <a:xfrm>
            <a:off x="1219200" y="260350"/>
            <a:ext cx="7086600" cy="733425"/>
            <a:chOff x="816" y="164"/>
            <a:chExt cx="4464" cy="462"/>
          </a:xfrm>
        </p:grpSpPr>
        <p:sp>
          <p:nvSpPr>
            <p:cNvPr id="1060" name="Text Box 162"/>
            <p:cNvSpPr txBox="1">
              <a:spLocks noChangeArrowheads="1"/>
            </p:cNvSpPr>
            <p:nvPr/>
          </p:nvSpPr>
          <p:spPr bwMode="auto">
            <a:xfrm>
              <a:off x="4373" y="164"/>
              <a:ext cx="9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 latinLnBrk="1"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1pPr>
              <a:lvl2pPr marL="742950" indent="-285750" algn="ctr" latinLnBrk="1"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2pPr>
              <a:lvl3pPr marL="1143000" indent="-228600" algn="ctr" latinLnBrk="1"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3pPr>
              <a:lvl4pPr marL="1600200" indent="-228600" algn="ctr" latinLnBrk="1"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4pPr>
              <a:lvl5pPr marL="2057400" indent="-228600" algn="ctr" latinLnBrk="1"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b="1">
                  <a:solidFill>
                    <a:schemeClr val="tx1"/>
                  </a:solidFill>
                  <a:latin typeface="Optima" panose="00000400000000000000" pitchFamily="2" charset="2"/>
                  <a:ea typeface="가는각진제목체" panose="02030600000101010101" pitchFamily="18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ko-KR" altLang="ko-KR">
                <a:solidFill>
                  <a:srgbClr val="777777"/>
                </a:solidFill>
                <a:latin typeface="+mn-ea"/>
                <a:ea typeface="+mn-ea"/>
              </a:endParaRPr>
            </a:p>
          </p:txBody>
        </p:sp>
        <p:grpSp>
          <p:nvGrpSpPr>
            <p:cNvPr id="1058" name="Group 164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2" name="Text Box 165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777777"/>
                    </a:solidFill>
                    <a:latin typeface="+mn-ea"/>
                    <a:ea typeface="+mn-ea"/>
                  </a:rPr>
                  <a:t>D3000_</a:t>
                </a:r>
                <a:r>
                  <a:rPr lang="ko-KR" altLang="en-US">
                    <a:solidFill>
                      <a:srgbClr val="777777"/>
                    </a:solidFill>
                    <a:latin typeface="+mn-ea"/>
                    <a:ea typeface="+mn-ea"/>
                  </a:rPr>
                  <a:t>시스템 설계</a:t>
                </a:r>
              </a:p>
            </p:txBody>
          </p:sp>
          <p:sp>
            <p:nvSpPr>
              <p:cNvPr id="1059" name="Text Box 166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defRPr/>
                </a:pPr>
                <a:r>
                  <a:rPr lang="en-US" altLang="ko-KR" dirty="0">
                    <a:solidFill>
                      <a:srgbClr val="777777"/>
                    </a:solidFill>
                    <a:latin typeface="+mn-ea"/>
                    <a:ea typeface="+mn-ea"/>
                  </a:rPr>
                  <a:t>D3800_</a:t>
                </a:r>
                <a:r>
                  <a:rPr lang="ko-KR" altLang="en-US" dirty="0">
                    <a:solidFill>
                      <a:srgbClr val="777777"/>
                    </a:solidFill>
                    <a:latin typeface="+mn-ea"/>
                    <a:ea typeface="+mn-ea"/>
                  </a:rPr>
                  <a:t>공통코드 정의서</a:t>
                </a:r>
              </a:p>
            </p:txBody>
          </p:sp>
        </p:grpSp>
      </p:grpSp>
      <p:sp>
        <p:nvSpPr>
          <p:cNvPr id="38" name="TextBox 37"/>
          <p:cNvSpPr txBox="1"/>
          <p:nvPr userDrawn="1"/>
        </p:nvSpPr>
        <p:spPr>
          <a:xfrm>
            <a:off x="7011988" y="765175"/>
            <a:ext cx="1152525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algn="ctr" eaLnBrk="1" latinLnBrk="1" hangingPunct="1">
              <a:defRPr/>
            </a:pPr>
            <a:fld id="{B08131D7-2E53-42C8-90BB-42B71F288F91}" type="slidenum">
              <a:rPr lang="en-US" altLang="ko-KR" smtClean="0">
                <a:solidFill>
                  <a:srgbClr val="777777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>
              <a:latin typeface="+mn-ea"/>
              <a:ea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82340"/>
            <a:ext cx="816894" cy="19653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86" y="455404"/>
            <a:ext cx="1457849" cy="3748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831171"/>
              </p:ext>
            </p:extLst>
          </p:nvPr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618800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COUNTRY_CD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KOR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한국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CITY_CD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SEOUL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KEEP_TEMPE_GBN_CD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보관온도구분코드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냉장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냉동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KEEP_TYPE_CD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보관유형코드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행거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HOLD_ST_CD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보류상태코드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LOC_TYPE_CD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로케이션유형코드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입하대기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출하대기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이동대기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가공대기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LOAD_GBN_CD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적재구분코드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Pallet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308775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403134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605209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DEAL_GBN_CD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거래중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거래종료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CHANNEL_GBN_CD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채널구분코드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대리점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영업소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백화점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할인점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편의점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ALLOCT_PRIOORD_CD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할당우선순위코드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ITEM_GBN_CD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YMD_GBN_CD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년월일구분코드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22322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729519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UOM_CD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Bottle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Bucket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Cubic Feet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Cubic Meter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CRAT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CRATE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Carton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Drum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Dozen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Feet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Grams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Gross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Inches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Innerpack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52800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811601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Kilograms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Metric Tonnes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Ounces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Pallet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Piece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PKG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Package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Pounds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Roll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Yards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병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병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포대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포대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26269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553143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봉지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봉지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SPEC_TYPE_CD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규격유형코드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파렛트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DOMAIN_GROUP_CD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권역그룹코드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수도권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충청권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강원권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전라권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제주권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573246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050930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IB_PROG_ST_CD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입고진행상태코드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입하검수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입고적치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IB_GBN_CD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이고입고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반품입고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NIB_RS_CD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미입고사유코드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발주오류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TC_REQ_PROG_ST_CD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이고의뢰진행상태코드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이고의뢰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이고의뢰확정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84335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729360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OB_PROG_ST_CD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출고진행상태코드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출고배차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101100000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WAVE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100110000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100011000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출고피킹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100001100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출하상차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100000110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출하확정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100000011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배송완료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100000001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OB_GBN_CD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판매출고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이고출고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반품출고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WAVE_STD_CD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웨이브기준코드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출고구분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출고예정일자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배송권역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배송차수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97164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642768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배송처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주문번호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NOB_RS_CD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미출고사유코드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재고부족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상태불량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NDELIVERY_RS_CD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미배송사유코드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인수거절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주문오류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151791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787087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RI_PROG_ST_CD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반입진행상태코드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반입검수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반입적치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RI_GBN_CD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매장반입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폐점반입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시즌아웃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RI_RS_CD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유통기한임박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0791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951875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RO_PROG_ST_CD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반출진행상태코드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RO_GBN_CD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정상반출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불량반출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시즌아웃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RO_RS_CD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불량반출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폐기반출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628476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592113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WORK_ST_CD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작업상태코드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작업중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작업완료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ITEM_ST_CD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MOVE_GBN_CD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이동구분코드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수시이동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보충이동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긴급보충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유통가공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MOVE_RS_CD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이동사유코드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수시이동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보충이동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긴급보충이동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유통가공이동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ADJS_RS_CD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조정사유코드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손실조정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잉여조정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폐기출고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기부출고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사은품출고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ITEM_CHG_RS_CD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제품변경사유코드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제품코드변경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ITEM_ST_CHG_RS_CD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제품상태변경사유코드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제품상태변경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833135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117888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LOT_CHG_RS_CD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변경사유코드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HOLD_GBN_CD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보류구분코드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HOLD_RS_CD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보류사유코드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품질검사전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품질이상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품질검사후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IOB_GBN_CD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입출고구분코드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DIST_MANF_GBN_CD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유통가공구분코드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STOCK_INSP_GBN_CD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재고실사구분코드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작업일자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제품분류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INOUT_GBN_CD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수불구분코드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이고입고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922336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76441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반품입고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상태변경입고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제품변경입고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변경입고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가공조립입고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가공해체입고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미배송입고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재고조정입고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판매출고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이고출고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반품출고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상태변경출고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제품변경출고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변경출고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가공조립출고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가공해체출고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재고조정출고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STOCK_HIST_CD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재고이력코드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입하승인취소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977963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869534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입하검수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입하검수취소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입고지시취소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입고적치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입고적치취소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반입확정취소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출고승인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출고승인취소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출고지시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출고지시취소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출고피킹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33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출고피킹취소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33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출하확정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출하확정취소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반출확정취소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52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474728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695916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53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PALLET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54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가공조립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가공해체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62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재고이동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재고보충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72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미배송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재고조정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687036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463167"/>
              </p:ext>
            </p:extLst>
          </p:nvPr>
        </p:nvGraphicFramePr>
        <p:xfrm>
          <a:off x="200025" y="1338263"/>
          <a:ext cx="9433495" cy="5167320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RTX_GBN_CD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송수신구분코드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RTX_OBJ_CD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송수신항목코드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배송처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제품분류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제품단위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반출예정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반출확정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배송완료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CD_MAPP_OBJ_CD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코드매핑항목코드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IB_GBN_CD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OB_GBN_CD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022406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24120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DATA_TYPE_CD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자료유형코드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DBtoDB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DBview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Spcall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Excel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Text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XML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CSV_CHARSET_CD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CSV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캐랙터셋코드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UTF8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KO-KR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FIELD_GBN_CD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필드구분코드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MASTER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DETAIL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FIELD_TYPE_CD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필드유형코드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숫자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DATE_TYPE_CD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날짜형식코드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YYYYMMDD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YYYY-MM-DD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YYYY-MM-DD HH:MI:SS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YYYY/MM/DD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YYYY.MM.DD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DD-MM-YYYY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DD/MM/YYYY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763769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571318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DD.MM.YYYY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MM-DD-YYYY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MM/DD/YYYY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HH:MI:SS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YYMMDD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YY-MM-DD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YY-MM-DD HH:MI:SS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YY/MM/DD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YY.MM.DD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DD-MM-YY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DD/MM/YY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DD.MM.YY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MM-DD-YY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MM/DD/YY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UP_FLAG_GBN_CD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수정플래그구분코드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처리플래그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처리자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처리일시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EXEC_ST_CD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가동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RTX_PROG_ST_CD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송수신진행상태코드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신규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551035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106479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에러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613123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1988"/>
              </p:ext>
            </p:extLst>
          </p:nvPr>
        </p:nvGraphicFramePr>
        <p:xfrm>
          <a:off x="200025" y="1338263"/>
          <a:ext cx="9433495" cy="5068259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OP_RULE_GBN_CD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운영규칙구분코드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I/F Rule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PDA Rule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LOT_ATTR_CD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CLIENT_CD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ITEM_ST_CD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IB_NO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IB_YMD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MAKE_LOT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MAKE_YMD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VALID_YMD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LOT_ATT_1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LOT_ATT_2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LOT_ATT_3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LOT_ATT_4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LOT_ATT_5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077179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644123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PUTW_STRTG_TYPE_CD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적치전략유형코드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동일제품적치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빈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고정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고정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LOC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PUTW_SORT_STD_CD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적치정렬기준코드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SORT_METHD_CD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정렬방법코드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오름차순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내림차순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EQ_ITEM_RNG_CD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동일제품범위코드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존포함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SETUP_GBN_CD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설정구분코드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존포함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존제외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로케이션포함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로케이션제외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REFER_UOM_GBN_CD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참조단위구분코드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FO_GBN_CD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선출구분코드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FIFO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선입선출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LIFO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후입선출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135181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74432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FO_STD_CD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선출기준코드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유통기한일자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REPL_SORT_STD_CD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보충정렬기준코드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가용수량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ALLOC_SORT_STD_CD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할당정렬기준코드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가용수량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PREFIX_GBN_CD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접두사구분코드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특정문자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YMD(8)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YMD(6)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YM(6)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YM(4)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59218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947506"/>
              </p:ext>
            </p:extLst>
          </p:nvPr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SUFFIX_GBN_CD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접미사구분코드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특정문자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509330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9905" name="Group 4177"/>
          <p:cNvGraphicFramePr>
            <a:graphicFrameLocks noGrp="1"/>
          </p:cNvGraphicFramePr>
          <p:nvPr/>
        </p:nvGraphicFramePr>
        <p:xfrm>
          <a:off x="200023" y="1052513"/>
          <a:ext cx="9433496" cy="284162"/>
        </p:xfrm>
        <a:graphic>
          <a:graphicData uri="http://schemas.openxmlformats.org/drawingml/2006/table">
            <a:tbl>
              <a:tblPr/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15464722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그룹코드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그룹명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공통코드명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서브코드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순서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300" name="Group 4572"/>
          <p:cNvGraphicFramePr>
            <a:graphicFrameLocks noGrp="1"/>
          </p:cNvGraphicFramePr>
          <p:nvPr/>
        </p:nvGraphicFramePr>
        <p:xfrm>
          <a:off x="200025" y="1338263"/>
          <a:ext cx="9433495" cy="5043496"/>
        </p:xfrm>
        <a:graphic>
          <a:graphicData uri="http://schemas.openxmlformats.org/drawingml/2006/table">
            <a:tbl>
              <a:tblPr/>
              <a:tblGrid>
                <a:gridCol w="158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15408201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Text Box 163"/>
          <p:cNvSpPr txBox="1">
            <a:spLocks noChangeArrowheads="1"/>
          </p:cNvSpPr>
          <p:nvPr/>
        </p:nvSpPr>
        <p:spPr bwMode="auto">
          <a:xfrm>
            <a:off x="6865938" y="50800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algn="ctr" latinLnBrk="1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2016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06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월 </a:t>
            </a:r>
            <a:r>
              <a:rPr lang="en-US" altLang="ko-KR" dirty="0">
                <a:solidFill>
                  <a:srgbClr val="777777"/>
                </a:solidFill>
                <a:latin typeface="+mn-ea"/>
                <a:ea typeface="+mn-ea"/>
              </a:rPr>
              <a:t>16</a:t>
            </a:r>
            <a:r>
              <a:rPr lang="ko-KR" altLang="en-US" dirty="0">
                <a:solidFill>
                  <a:srgbClr val="777777"/>
                </a:solidFill>
                <a:latin typeface="+mn-ea"/>
                <a:ea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4259641842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가는각진제목체" pitchFamily="18" charset="-127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14312</TotalTime>
  <Words>1385</Words>
  <Application>Microsoft Office PowerPoint</Application>
  <PresentationFormat>A4 용지(210x297mm)</PresentationFormat>
  <Paragraphs>1192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가는각진제목체</vt:lpstr>
      <vt:lpstr>굴림</vt:lpstr>
      <vt:lpstr>맑은 고딕</vt:lpstr>
      <vt:lpstr>Arial</vt:lpstr>
      <vt:lpstr>Optima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jklee</cp:lastModifiedBy>
  <cp:revision>243</cp:revision>
  <dcterms:created xsi:type="dcterms:W3CDTF">2002-03-20T01:19:40Z</dcterms:created>
  <dcterms:modified xsi:type="dcterms:W3CDTF">2017-03-15T06:53:42Z</dcterms:modified>
</cp:coreProperties>
</file>