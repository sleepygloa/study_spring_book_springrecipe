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524" r:id="rId3"/>
    <p:sldId id="539" r:id="rId4"/>
    <p:sldId id="550" r:id="rId5"/>
    <p:sldId id="525" r:id="rId6"/>
    <p:sldId id="543" r:id="rId7"/>
    <p:sldId id="544" r:id="rId8"/>
    <p:sldId id="545" r:id="rId9"/>
    <p:sldId id="549" r:id="rId10"/>
    <p:sldId id="555" r:id="rId11"/>
    <p:sldId id="558" r:id="rId12"/>
    <p:sldId id="546" r:id="rId13"/>
    <p:sldId id="547" r:id="rId14"/>
    <p:sldId id="551" r:id="rId15"/>
    <p:sldId id="548" r:id="rId16"/>
    <p:sldId id="552" r:id="rId17"/>
    <p:sldId id="553" r:id="rId18"/>
    <p:sldId id="554" r:id="rId19"/>
    <p:sldId id="557" r:id="rId20"/>
    <p:sldId id="556" r:id="rId21"/>
    <p:sldId id="542" r:id="rId22"/>
    <p:sldId id="526" r:id="rId23"/>
    <p:sldId id="262" r:id="rId24"/>
  </p:sldIdLst>
  <p:sldSz cx="9906000" cy="6858000" type="A4"/>
  <p:notesSz cx="6735763" cy="9866313"/>
  <p:embeddedFontLst>
    <p:embeddedFont>
      <p:font typeface="Impact" panose="020B0806030902050204" pitchFamily="34" charset="0"/>
      <p:regular r:id="rId27"/>
    </p:embeddedFont>
    <p:embeddedFont>
      <p:font typeface="HY헤드라인M" panose="02030600000101010101" pitchFamily="18" charset="-127"/>
      <p:regular r:id="rId28"/>
    </p:embeddedFont>
    <p:embeddedFont>
      <p:font typeface="맑은 고딕" panose="020B0503020000020004" pitchFamily="50" charset="-127"/>
      <p:regular r:id="rId29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799">
          <p15:clr>
            <a:srgbClr val="A4A3A4"/>
          </p15:clr>
        </p15:guide>
        <p15:guide id="3" orient="horz" pos="935">
          <p15:clr>
            <a:srgbClr val="A4A3A4"/>
          </p15:clr>
        </p15:guide>
        <p15:guide id="4" orient="horz" pos="2840">
          <p15:clr>
            <a:srgbClr val="A4A3A4"/>
          </p15:clr>
        </p15:guide>
        <p15:guide id="5" orient="horz" pos="4020">
          <p15:clr>
            <a:srgbClr val="A4A3A4"/>
          </p15:clr>
        </p15:guide>
        <p15:guide id="6" orient="horz" pos="1071">
          <p15:clr>
            <a:srgbClr val="A4A3A4"/>
          </p15:clr>
        </p15:guide>
        <p15:guide id="7" pos="398">
          <p15:clr>
            <a:srgbClr val="A4A3A4"/>
          </p15:clr>
        </p15:guide>
        <p15:guide id="8" pos="5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637F"/>
    <a:srgbClr val="99CCFF"/>
    <a:srgbClr val="FFC5D8"/>
    <a:srgbClr val="FFFF99"/>
    <a:srgbClr val="FFCC00"/>
    <a:srgbClr val="2D6AAB"/>
    <a:srgbClr val="609DC6"/>
    <a:srgbClr val="FF9966"/>
    <a:srgbClr val="2467D9"/>
    <a:srgbClr val="71B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0" autoAdjust="0"/>
    <p:restoredTop sz="91889" autoAdjust="0"/>
  </p:normalViewPr>
  <p:slideViewPr>
    <p:cSldViewPr showGuides="1">
      <p:cViewPr varScale="1">
        <p:scale>
          <a:sx n="91" d="100"/>
          <a:sy n="91" d="100"/>
        </p:scale>
        <p:origin x="96" y="102"/>
      </p:cViewPr>
      <p:guideLst>
        <p:guide orient="horz" pos="4110"/>
        <p:guide orient="horz" pos="799"/>
        <p:guide orient="horz" pos="935"/>
        <p:guide orient="horz" pos="2840"/>
        <p:guide orient="horz" pos="4020"/>
        <p:guide orient="horz" pos="1071"/>
        <p:guide pos="398"/>
        <p:guide pos="5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0" d="100"/>
          <a:sy n="60" d="100"/>
        </p:scale>
        <p:origin x="-1992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B5C5B8F-D462-4368-8461-2A60FAE35D92}" type="datetimeFigureOut">
              <a:rPr lang="ko-KR" altLang="en-US"/>
              <a:pPr>
                <a:defRPr/>
              </a:pPr>
              <a:t>2016-12-02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FE4ED75-30A7-42E0-9F19-2CC082FBE2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968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3711D15-A793-43C2-95F3-0EE608434B71}" type="datetimeFigureOut">
              <a:rPr lang="ko-KR" altLang="en-US"/>
              <a:pPr>
                <a:defRPr/>
              </a:pPr>
              <a:t>2016-12-02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95325" y="739775"/>
            <a:ext cx="53451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D87132A-BE77-42D3-A4C4-E7B6344462E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330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5530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EE4EEF5-12D8-4B51-B12E-A7B6C31AC94E}" type="slidenum">
              <a:rPr lang="ko-KR" alt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2540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87132A-BE77-42D3-A4C4-E7B6344462E3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260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6246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9A7BE44-6AA3-4842-91B4-CF69196287D5}" type="slidenum">
              <a:rPr lang="ko-KR" alt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036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0" y="-4143"/>
            <a:ext cx="9906000" cy="3861048"/>
          </a:xfrm>
          <a:prstGeom prst="rect">
            <a:avLst/>
          </a:prstGeom>
          <a:noFill/>
        </p:spPr>
      </p:pic>
      <p:cxnSp>
        <p:nvCxnSpPr>
          <p:cNvPr id="5" name="직선 연결선 4"/>
          <p:cNvCxnSpPr/>
          <p:nvPr userDrawn="1"/>
        </p:nvCxnSpPr>
        <p:spPr>
          <a:xfrm>
            <a:off x="1052513" y="4929188"/>
            <a:ext cx="0" cy="719137"/>
          </a:xfrm>
          <a:prstGeom prst="line">
            <a:avLst/>
          </a:prstGeom>
          <a:ln w="76200">
            <a:solidFill>
              <a:schemeClr val="accent1">
                <a:alpha val="58039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387" y="5949280"/>
            <a:ext cx="1415407" cy="340525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ctrTitle"/>
          </p:nvPr>
        </p:nvSpPr>
        <p:spPr>
          <a:xfrm>
            <a:off x="1208584" y="4797153"/>
            <a:ext cx="8697416" cy="578495"/>
          </a:xfrm>
        </p:spPr>
        <p:txBody>
          <a:bodyPr>
            <a:noAutofit/>
          </a:bodyPr>
          <a:lstStyle>
            <a:lvl1pPr algn="l">
              <a:defRPr lang="ko-KR" altLang="en-US" sz="3200" b="0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부제목 2"/>
          <p:cNvSpPr>
            <a:spLocks noGrp="1"/>
          </p:cNvSpPr>
          <p:nvPr>
            <p:ph type="subTitle" idx="1"/>
          </p:nvPr>
        </p:nvSpPr>
        <p:spPr>
          <a:xfrm>
            <a:off x="1208317" y="5396456"/>
            <a:ext cx="8691464" cy="360040"/>
          </a:xfrm>
        </p:spPr>
        <p:txBody>
          <a:bodyPr>
            <a:noAutofit/>
          </a:bodyPr>
          <a:lstStyle>
            <a:lvl1pPr marL="0" indent="0" algn="l"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3133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>
            <a:off x="272481" y="0"/>
            <a:ext cx="9633521" cy="4437112"/>
          </a:xfrm>
          <a:prstGeom prst="rect">
            <a:avLst/>
          </a:prstGeom>
          <a:noFill/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920" y="5949280"/>
            <a:ext cx="1415407" cy="34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47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0"/>
            <a:ext cx="9906000" cy="6858000"/>
          </a:xfrm>
          <a:prstGeom prst="rect">
            <a:avLst/>
          </a:prstGeom>
          <a:noFill/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920" y="5949280"/>
            <a:ext cx="1415407" cy="340525"/>
          </a:xfrm>
          <a:prstGeom prst="rect">
            <a:avLst/>
          </a:prstGeom>
        </p:spPr>
      </p:pic>
      <p:sp>
        <p:nvSpPr>
          <p:cNvPr id="15" name="제목 1"/>
          <p:cNvSpPr>
            <a:spLocks noGrp="1"/>
          </p:cNvSpPr>
          <p:nvPr>
            <p:ph type="ctrTitle"/>
          </p:nvPr>
        </p:nvSpPr>
        <p:spPr>
          <a:xfrm>
            <a:off x="1" y="2636912"/>
            <a:ext cx="9906000" cy="1584176"/>
          </a:xfrm>
          <a:solidFill>
            <a:srgbClr val="0070C0">
              <a:alpha val="30196"/>
            </a:srgbClr>
          </a:solidFill>
        </p:spPr>
        <p:txBody>
          <a:bodyPr wrap="none">
            <a:noAutofit/>
          </a:bodyPr>
          <a:lstStyle>
            <a:lvl1pPr algn="r">
              <a:defRPr lang="ko-KR" altLang="en-US" sz="40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5602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1" descr="2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직선 연결선 3"/>
          <p:cNvCxnSpPr/>
          <p:nvPr userDrawn="1"/>
        </p:nvCxnSpPr>
        <p:spPr>
          <a:xfrm>
            <a:off x="128536" y="728663"/>
            <a:ext cx="964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631825" y="6480175"/>
            <a:ext cx="7988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25" y="6500698"/>
            <a:ext cx="816894" cy="196532"/>
          </a:xfrm>
          <a:prstGeom prst="rect">
            <a:avLst/>
          </a:prstGeom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990600" y="260648"/>
            <a:ext cx="89154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304928" y="6500698"/>
            <a:ext cx="1872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FEF0503B-FA2D-4260-AC18-6FC3139BAA53}" type="slidenum"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6877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 rot="16200000">
            <a:off x="-1077200" y="1077201"/>
            <a:ext cx="4689131" cy="2534731"/>
          </a:xfrm>
          <a:prstGeom prst="rect">
            <a:avLst/>
          </a:prstGeom>
          <a:noFill/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911" y="5949280"/>
            <a:ext cx="1415407" cy="340525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54375" y="2667000"/>
            <a:ext cx="396557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r>
              <a:rPr lang="en-US" altLang="ko-KR" sz="6000" b="1">
                <a:solidFill>
                  <a:srgbClr val="595959"/>
                </a:solidFill>
                <a:latin typeface="Impact" pitchFamily="34" charset="0"/>
                <a:ea typeface="맑은 고딕" pitchFamily="50" charset="-127"/>
              </a:rPr>
              <a:t>Thank </a:t>
            </a:r>
          </a:p>
          <a:p>
            <a:pPr algn="ctr" eaLnBrk="1" hangingPunct="1">
              <a:defRPr/>
            </a:pPr>
            <a:r>
              <a:rPr lang="en-US" altLang="ko-KR" sz="6000" b="1">
                <a:solidFill>
                  <a:srgbClr val="595959"/>
                </a:solidFill>
                <a:latin typeface="Impact" pitchFamily="34" charset="0"/>
                <a:ea typeface="맑은 고딕" pitchFamily="50" charset="-127"/>
              </a:rPr>
              <a:t>You</a:t>
            </a:r>
            <a:endParaRPr lang="en-IN" altLang="ko-KR" sz="6000" b="1">
              <a:solidFill>
                <a:srgbClr val="595959"/>
              </a:solidFill>
              <a:latin typeface="Impact" pitchFamily="34" charset="0"/>
              <a:ea typeface="맑은 고딕" pitchFamily="50" charset="-127"/>
            </a:endParaRP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498725" y="914400"/>
            <a:ext cx="2043113" cy="5029200"/>
            <a:chOff x="2211857" y="838200"/>
            <a:chExt cx="2043338" cy="5029200"/>
          </a:xfrm>
        </p:grpSpPr>
        <p:sp>
          <p:nvSpPr>
            <p:cNvPr id="6" name="Rectangle 3"/>
            <p:cNvSpPr/>
            <p:nvPr/>
          </p:nvSpPr>
          <p:spPr>
            <a:xfrm rot="5400000">
              <a:off x="1779068" y="2553073"/>
              <a:ext cx="3124198" cy="1828056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noFill/>
              <a:prstDash val="solid"/>
            </a:ln>
            <a:effectLst>
              <a:softEdge rad="317500"/>
            </a:effectLst>
          </p:spPr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IN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 rot="5400000">
              <a:off x="610965" y="2439092"/>
              <a:ext cx="5029200" cy="18274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en-IN" altLang="ko-KR">
                <a:solidFill>
                  <a:srgbClr val="595959"/>
                </a:solidFill>
                <a:latin typeface="Calibri" pitchFamily="34" charset="0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9692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631825" y="6480175"/>
            <a:ext cx="7988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25" y="6500698"/>
            <a:ext cx="816894" cy="196532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4304928" y="6500698"/>
            <a:ext cx="1872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FEF0503B-FA2D-4260-AC18-6FC3139BAA53}" type="slidenum">
              <a:rPr lang="en-US" altLang="ko-KR" sz="10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28536" y="728663"/>
            <a:ext cx="9648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8"/>
          <p:cNvSpPr>
            <a:spLocks noGrp="1"/>
          </p:cNvSpPr>
          <p:nvPr>
            <p:ph type="title"/>
          </p:nvPr>
        </p:nvSpPr>
        <p:spPr>
          <a:xfrm>
            <a:off x="990600" y="260648"/>
            <a:ext cx="89154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5815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C:\Users\msk\Desktop\abstract-blue-backgrounds-14_1920x1200_71472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51" b="22360"/>
          <a:stretch>
            <a:fillRect/>
          </a:stretch>
        </p:blipFill>
        <p:spPr bwMode="auto">
          <a:xfrm flipH="1">
            <a:off x="0" y="1"/>
            <a:ext cx="2768757" cy="1291233"/>
          </a:xfrm>
          <a:prstGeom prst="rect">
            <a:avLst/>
          </a:prstGeom>
          <a:noFill/>
        </p:spPr>
      </p:pic>
      <p:cxnSp>
        <p:nvCxnSpPr>
          <p:cNvPr id="4" name="직선 연결선 3"/>
          <p:cNvCxnSpPr/>
          <p:nvPr userDrawn="1"/>
        </p:nvCxnSpPr>
        <p:spPr>
          <a:xfrm>
            <a:off x="1365250" y="728663"/>
            <a:ext cx="842486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631825" y="6480175"/>
            <a:ext cx="79883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25" y="6500698"/>
            <a:ext cx="816894" cy="196532"/>
          </a:xfrm>
          <a:prstGeom prst="rect">
            <a:avLst/>
          </a:prstGeom>
        </p:spPr>
      </p:pic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990600" y="260648"/>
            <a:ext cx="8915400" cy="413196"/>
          </a:xfrm>
        </p:spPr>
        <p:txBody>
          <a:bodyPr>
            <a:noAutofit/>
          </a:bodyPr>
          <a:lstStyle>
            <a:lvl1pPr algn="r"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797300" y="6356350"/>
            <a:ext cx="23114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D2EE030-A7DE-4C17-93AC-52097598BAF1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61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513930C-376A-4F5D-8FE2-8A220761C92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3" r:id="rId6"/>
    <p:sldLayoutId id="2147483724" r:id="rId7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0"/>
          <p:cNvSpPr>
            <a:spLocks noGrp="1"/>
          </p:cNvSpPr>
          <p:nvPr>
            <p:ph type="ctrTitle"/>
          </p:nvPr>
        </p:nvSpPr>
        <p:spPr>
          <a:extLst/>
        </p:spPr>
        <p:txBody>
          <a:bodyPr/>
          <a:lstStyle/>
          <a:p>
            <a:pPr eaLnBrk="1" hangingPunct="1">
              <a:defRPr/>
            </a:pPr>
            <a:r>
              <a:rPr lang="ko-KR" altLang="en-US" sz="2400" b="1" dirty="0">
                <a:solidFill>
                  <a:srgbClr val="002060"/>
                </a:solidFill>
                <a:latin typeface="+mn-ea"/>
              </a:rPr>
              <a:t>                    구축 중간보고서</a:t>
            </a:r>
            <a:endParaRPr sz="1400" b="1" dirty="0">
              <a:latin typeface="+mn-ea"/>
              <a:ea typeface="+mn-ea"/>
            </a:endParaRPr>
          </a:p>
        </p:txBody>
      </p:sp>
      <p:sp>
        <p:nvSpPr>
          <p:cNvPr id="7" name="부제목 1"/>
          <p:cNvSpPr>
            <a:spLocks noGrp="1"/>
          </p:cNvSpPr>
          <p:nvPr>
            <p:ph type="subTitle" idx="1"/>
          </p:nvPr>
        </p:nvSpPr>
        <p:spPr>
          <a:xfrm>
            <a:off x="1208088" y="5395913"/>
            <a:ext cx="8691562" cy="360362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en-US" altLang="ko-KR" b="1" dirty="0">
                <a:latin typeface="+mn-ea"/>
                <a:ea typeface="+mn-ea"/>
              </a:rPr>
              <a:t>2016. 12. 5</a:t>
            </a:r>
            <a:endParaRPr lang="ko-KR" altLang="en-US" b="1" dirty="0">
              <a:latin typeface="+mn-ea"/>
              <a:ea typeface="+mn-ea"/>
            </a:endParaRPr>
          </a:p>
        </p:txBody>
      </p:sp>
      <p:pic>
        <p:nvPicPr>
          <p:cNvPr id="4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088" y="4796335"/>
            <a:ext cx="2232744" cy="576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>
                <a:latin typeface="+mn-ea"/>
                <a:ea typeface="+mn-ea"/>
              </a:rPr>
              <a:t>Agenda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12640" y="1143903"/>
            <a:ext cx="316835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b="1" dirty="0">
                <a:latin typeface="+mn-ea"/>
                <a:ea typeface="+mn-ea"/>
              </a:rPr>
              <a:t>추진 경과 일정</a:t>
            </a:r>
            <a:endParaRPr lang="en-US" altLang="ko-KR" sz="1600" b="1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endParaRPr lang="en-US" altLang="ko-KR" sz="1600" b="1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latin typeface="+mn-ea"/>
                <a:ea typeface="+mn-ea"/>
              </a:rPr>
              <a:t>인력 투입 현황</a:t>
            </a:r>
            <a:endParaRPr lang="en-US" altLang="ko-KR" sz="1600" b="1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endParaRPr lang="en-US" altLang="ko-KR" sz="1600" b="1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latin typeface="+mn-ea"/>
                <a:ea typeface="+mn-ea"/>
              </a:rPr>
              <a:t>프로세스 모델링</a:t>
            </a:r>
            <a:r>
              <a:rPr lang="en-US" altLang="ko-KR" sz="1600" b="1" dirty="0">
                <a:latin typeface="+mn-ea"/>
                <a:ea typeface="+mn-ea"/>
              </a:rPr>
              <a:t>(BPMN)</a:t>
            </a:r>
          </a:p>
          <a:p>
            <a:pPr marL="342900" indent="-342900">
              <a:buAutoNum type="arabicPeriod"/>
            </a:pPr>
            <a:endParaRPr lang="en-US" altLang="ko-KR" sz="1600" b="1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latin typeface="+mn-ea"/>
                <a:ea typeface="+mn-ea"/>
              </a:rPr>
              <a:t>메뉴 구성도</a:t>
            </a:r>
            <a:endParaRPr lang="en-US" altLang="ko-KR" sz="1600" b="1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endParaRPr lang="en-US" altLang="ko-KR" sz="1600" b="1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latin typeface="+mn-ea"/>
                <a:ea typeface="+mn-ea"/>
              </a:rPr>
              <a:t>화면설계 현황</a:t>
            </a:r>
            <a:endParaRPr lang="en-US" altLang="ko-KR" sz="1600" b="1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endParaRPr lang="en-US" altLang="ko-KR" sz="1600" b="1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latin typeface="+mn-ea"/>
                <a:ea typeface="+mn-ea"/>
              </a:rPr>
              <a:t>프레임워크 예시</a:t>
            </a:r>
            <a:endParaRPr lang="en-US" altLang="ko-KR" sz="1600" b="1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endParaRPr lang="en-US" altLang="ko-KR" sz="1600" b="1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r>
              <a:rPr lang="ko-KR" altLang="en-US" sz="1600" b="1" dirty="0">
                <a:latin typeface="+mn-ea"/>
                <a:ea typeface="+mn-ea"/>
              </a:rPr>
              <a:t>주요 </a:t>
            </a:r>
            <a:r>
              <a:rPr lang="en-US" altLang="ko-KR" sz="1600" b="1" dirty="0">
                <a:latin typeface="+mn-ea"/>
                <a:ea typeface="+mn-ea"/>
              </a:rPr>
              <a:t>UI </a:t>
            </a:r>
            <a:r>
              <a:rPr lang="ko-KR" altLang="en-US" sz="1600" b="1" dirty="0">
                <a:latin typeface="+mn-ea"/>
                <a:ea typeface="+mn-ea"/>
              </a:rPr>
              <a:t>설계</a:t>
            </a:r>
            <a:endParaRPr lang="en-US" altLang="ko-KR" sz="1600" b="1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endParaRPr lang="en-US" altLang="ko-KR" sz="1600" b="1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r>
              <a:rPr lang="en-US" altLang="ko-KR" sz="1600" b="1" dirty="0">
                <a:latin typeface="+mn-ea"/>
                <a:ea typeface="+mn-ea"/>
              </a:rPr>
              <a:t>WMS </a:t>
            </a:r>
            <a:r>
              <a:rPr lang="ko-KR" altLang="en-US" sz="1600" b="1" dirty="0">
                <a:latin typeface="+mn-ea"/>
                <a:ea typeface="+mn-ea"/>
              </a:rPr>
              <a:t>특장점</a:t>
            </a:r>
            <a:endParaRPr lang="en-US" altLang="ko-KR" sz="1600" b="1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endParaRPr lang="en-US" altLang="ko-KR" sz="1600" b="1" dirty="0">
              <a:latin typeface="+mn-ea"/>
              <a:ea typeface="+mn-ea"/>
            </a:endParaRPr>
          </a:p>
          <a:p>
            <a:pPr marL="342900" indent="-342900">
              <a:buAutoNum type="arabicPeriod"/>
            </a:pPr>
            <a:r>
              <a:rPr lang="en-US" altLang="ko-KR" sz="1600" b="1" dirty="0">
                <a:latin typeface="+mn-ea"/>
                <a:ea typeface="+mn-ea"/>
              </a:rPr>
              <a:t>WMS </a:t>
            </a:r>
            <a:r>
              <a:rPr lang="ko-KR" altLang="en-US" sz="1600" b="1" dirty="0">
                <a:latin typeface="+mn-ea"/>
                <a:ea typeface="+mn-ea"/>
              </a:rPr>
              <a:t>고도화 방안</a:t>
            </a:r>
            <a:endParaRPr lang="en-US" altLang="ko-KR" sz="1600" b="1" dirty="0">
              <a:latin typeface="+mn-ea"/>
              <a:ea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064" y="3117309"/>
            <a:ext cx="3719314" cy="261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344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>
                <a:latin typeface="+mn-ea"/>
                <a:ea typeface="+mn-ea"/>
              </a:rPr>
              <a:t>추진 경과 일정</a:t>
            </a:r>
          </a:p>
        </p:txBody>
      </p:sp>
      <p:graphicFrame>
        <p:nvGraphicFramePr>
          <p:cNvPr id="67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932638"/>
              </p:ext>
            </p:extLst>
          </p:nvPr>
        </p:nvGraphicFramePr>
        <p:xfrm>
          <a:off x="639481" y="1500227"/>
          <a:ext cx="8617873" cy="4797637"/>
        </p:xfrm>
        <a:graphic>
          <a:graphicData uri="http://schemas.openxmlformats.org/drawingml/2006/table">
            <a:tbl>
              <a:tblPr/>
              <a:tblGrid>
                <a:gridCol w="383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0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0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03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03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849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6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Event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819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그램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구현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59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H/W  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설치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PM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이종건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PL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이종혁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0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개발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TBD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0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개발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TBD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0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개발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TBD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80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PDA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TBD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33" marR="91433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8" name="AutoShape 106"/>
          <p:cNvSpPr>
            <a:spLocks noChangeArrowheads="1"/>
          </p:cNvSpPr>
          <p:nvPr/>
        </p:nvSpPr>
        <p:spPr bwMode="auto">
          <a:xfrm>
            <a:off x="1456127" y="2734747"/>
            <a:ext cx="720000" cy="360362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b="1" dirty="0">
                <a:latin typeface="+mn-ea"/>
                <a:ea typeface="+mn-ea"/>
              </a:rPr>
              <a:t>환경 분석</a:t>
            </a:r>
          </a:p>
        </p:txBody>
      </p:sp>
      <p:sp>
        <p:nvSpPr>
          <p:cNvPr id="69" name="AutoShape 107"/>
          <p:cNvSpPr>
            <a:spLocks noChangeArrowheads="1"/>
          </p:cNvSpPr>
          <p:nvPr/>
        </p:nvSpPr>
        <p:spPr bwMode="auto">
          <a:xfrm>
            <a:off x="8481392" y="3570929"/>
            <a:ext cx="720725" cy="360363"/>
          </a:xfrm>
          <a:prstGeom prst="roundRect">
            <a:avLst>
              <a:gd name="adj" fmla="val 16667"/>
            </a:avLst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000" b="1" dirty="0">
                <a:latin typeface="+mn-ea"/>
                <a:ea typeface="+mn-ea"/>
              </a:rPr>
              <a:t>사용자 </a:t>
            </a:r>
            <a:endParaRPr lang="en-US" altLang="ko-KR" sz="1000" b="1" dirty="0">
              <a:latin typeface="+mn-ea"/>
              <a:ea typeface="+mn-ea"/>
            </a:endParaRPr>
          </a:p>
          <a:p>
            <a:pPr algn="ctr" eaLnBrk="1" hangingPunct="1"/>
            <a:r>
              <a:rPr lang="ko-KR" altLang="en-US" sz="1000" b="1" dirty="0">
                <a:latin typeface="+mn-ea"/>
                <a:ea typeface="+mn-ea"/>
              </a:rPr>
              <a:t>매뉴얼 작성</a:t>
            </a:r>
          </a:p>
        </p:txBody>
      </p:sp>
      <p:sp>
        <p:nvSpPr>
          <p:cNvPr id="70" name="AutoShape 116"/>
          <p:cNvSpPr>
            <a:spLocks noChangeArrowheads="1"/>
          </p:cNvSpPr>
          <p:nvPr/>
        </p:nvSpPr>
        <p:spPr bwMode="auto">
          <a:xfrm>
            <a:off x="4560880" y="2748385"/>
            <a:ext cx="3888001" cy="360363"/>
          </a:xfrm>
          <a:prstGeom prst="roundRect">
            <a:avLst>
              <a:gd name="adj" fmla="val 16667"/>
            </a:avLst>
          </a:prstGeom>
          <a:solidFill>
            <a:srgbClr val="FFC5D8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b="1" dirty="0">
                <a:latin typeface="+mn-ea"/>
                <a:ea typeface="+mn-ea"/>
              </a:rPr>
              <a:t>프로그램 개발 </a:t>
            </a:r>
            <a:r>
              <a:rPr lang="en-US" altLang="ko-KR" sz="1200" b="1" dirty="0">
                <a:latin typeface="+mn-ea"/>
                <a:ea typeface="+mn-ea"/>
              </a:rPr>
              <a:t>(WMS)</a:t>
            </a:r>
            <a:endParaRPr lang="ko-KR" altLang="en-US" sz="1200" b="1" dirty="0">
              <a:latin typeface="+mn-ea"/>
              <a:ea typeface="+mn-ea"/>
            </a:endParaRPr>
          </a:p>
        </p:txBody>
      </p:sp>
      <p:sp>
        <p:nvSpPr>
          <p:cNvPr id="71" name="AutoShape 117"/>
          <p:cNvSpPr>
            <a:spLocks noChangeArrowheads="1"/>
          </p:cNvSpPr>
          <p:nvPr/>
        </p:nvSpPr>
        <p:spPr bwMode="auto">
          <a:xfrm>
            <a:off x="3013074" y="4488232"/>
            <a:ext cx="571500" cy="449262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ko-KR" altLang="en-US" sz="1000" b="1" dirty="0">
                <a:latin typeface="+mn-ea"/>
                <a:ea typeface="+mn-ea"/>
              </a:rPr>
              <a:t>개발</a:t>
            </a:r>
          </a:p>
          <a:p>
            <a:pPr algn="ctr">
              <a:defRPr/>
            </a:pPr>
            <a:r>
              <a:rPr lang="ko-KR" altLang="en-US" sz="1000" b="1" dirty="0">
                <a:latin typeface="+mn-ea"/>
                <a:ea typeface="+mn-ea"/>
              </a:rPr>
              <a:t>시스템</a:t>
            </a:r>
          </a:p>
          <a:p>
            <a:pPr algn="ctr">
              <a:defRPr/>
            </a:pPr>
            <a:r>
              <a:rPr lang="ko-KR" altLang="en-US" sz="1000" b="1" dirty="0">
                <a:latin typeface="+mn-ea"/>
                <a:ea typeface="+mn-ea"/>
              </a:rPr>
              <a:t>설치</a:t>
            </a:r>
          </a:p>
        </p:txBody>
      </p:sp>
      <p:sp>
        <p:nvSpPr>
          <p:cNvPr id="72" name="AutoShape 118"/>
          <p:cNvSpPr>
            <a:spLocks noChangeArrowheads="1"/>
          </p:cNvSpPr>
          <p:nvPr/>
        </p:nvSpPr>
        <p:spPr bwMode="auto">
          <a:xfrm>
            <a:off x="3626867" y="4490772"/>
            <a:ext cx="569912" cy="447675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ko-KR" altLang="en-US" sz="1000" b="1" dirty="0">
                <a:latin typeface="+mn-ea"/>
                <a:ea typeface="+mn-ea"/>
              </a:rPr>
              <a:t>개발자</a:t>
            </a:r>
          </a:p>
          <a:p>
            <a:pPr algn="ctr">
              <a:defRPr/>
            </a:pPr>
            <a:r>
              <a:rPr lang="ko-KR" altLang="en-US" sz="1000" b="1" dirty="0">
                <a:latin typeface="+mn-ea"/>
                <a:ea typeface="+mn-ea"/>
              </a:rPr>
              <a:t>환경구축</a:t>
            </a:r>
          </a:p>
        </p:txBody>
      </p:sp>
      <p:sp>
        <p:nvSpPr>
          <p:cNvPr id="76" name="AutoShape 124"/>
          <p:cNvSpPr>
            <a:spLocks noChangeArrowheads="1"/>
          </p:cNvSpPr>
          <p:nvPr/>
        </p:nvSpPr>
        <p:spPr bwMode="auto">
          <a:xfrm>
            <a:off x="2200567" y="2734747"/>
            <a:ext cx="2304257" cy="360362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b="1" dirty="0">
                <a:latin typeface="+mn-ea"/>
                <a:ea typeface="+mn-ea"/>
              </a:rPr>
              <a:t>시스템 설계</a:t>
            </a:r>
          </a:p>
        </p:txBody>
      </p:sp>
      <p:sp>
        <p:nvSpPr>
          <p:cNvPr id="77" name="AutoShape 126"/>
          <p:cNvSpPr>
            <a:spLocks noChangeArrowheads="1"/>
          </p:cNvSpPr>
          <p:nvPr/>
        </p:nvSpPr>
        <p:spPr bwMode="auto">
          <a:xfrm>
            <a:off x="8481392" y="4002977"/>
            <a:ext cx="720725" cy="360362"/>
          </a:xfrm>
          <a:prstGeom prst="roundRect">
            <a:avLst>
              <a:gd name="adj" fmla="val 16667"/>
            </a:avLst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000" b="1" dirty="0">
                <a:latin typeface="+mn-ea"/>
                <a:ea typeface="+mn-ea"/>
              </a:rPr>
              <a:t>설계문서</a:t>
            </a:r>
            <a:endParaRPr lang="en-US" altLang="ko-KR" sz="1000" b="1" dirty="0">
              <a:latin typeface="+mn-ea"/>
              <a:ea typeface="+mn-ea"/>
            </a:endParaRPr>
          </a:p>
          <a:p>
            <a:pPr algn="ctr" eaLnBrk="1" hangingPunct="1"/>
            <a:r>
              <a:rPr lang="ko-KR" altLang="en-US" sz="1000" b="1" dirty="0">
                <a:latin typeface="+mn-ea"/>
                <a:ea typeface="+mn-ea"/>
              </a:rPr>
              <a:t>보완</a:t>
            </a:r>
          </a:p>
        </p:txBody>
      </p:sp>
      <p:sp>
        <p:nvSpPr>
          <p:cNvPr id="78" name="AutoShape 127"/>
          <p:cNvSpPr>
            <a:spLocks noChangeArrowheads="1"/>
          </p:cNvSpPr>
          <p:nvPr/>
        </p:nvSpPr>
        <p:spPr bwMode="auto">
          <a:xfrm>
            <a:off x="8481392" y="3138881"/>
            <a:ext cx="720725" cy="360363"/>
          </a:xfrm>
          <a:prstGeom prst="roundRect">
            <a:avLst>
              <a:gd name="adj" fmla="val 16667"/>
            </a:avLst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000" b="1" dirty="0">
                <a:latin typeface="+mn-ea"/>
                <a:ea typeface="+mn-ea"/>
              </a:rPr>
              <a:t>통합테스트</a:t>
            </a:r>
          </a:p>
        </p:txBody>
      </p:sp>
      <p:sp>
        <p:nvSpPr>
          <p:cNvPr id="82" name="AutoShape 136"/>
          <p:cNvSpPr>
            <a:spLocks noChangeArrowheads="1"/>
          </p:cNvSpPr>
          <p:nvPr/>
        </p:nvSpPr>
        <p:spPr bwMode="auto">
          <a:xfrm>
            <a:off x="4562168" y="3141911"/>
            <a:ext cx="3884995" cy="360362"/>
          </a:xfrm>
          <a:prstGeom prst="roundRect">
            <a:avLst>
              <a:gd name="adj" fmla="val 16667"/>
            </a:avLst>
          </a:prstGeom>
          <a:solidFill>
            <a:srgbClr val="FFC5D8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b="1" dirty="0">
                <a:latin typeface="+mn-ea"/>
                <a:ea typeface="+mn-ea"/>
              </a:rPr>
              <a:t>프로그램 단위 테스트</a:t>
            </a:r>
          </a:p>
        </p:txBody>
      </p:sp>
      <p:sp>
        <p:nvSpPr>
          <p:cNvPr id="97" name="AutoShape 119"/>
          <p:cNvSpPr>
            <a:spLocks noChangeArrowheads="1"/>
          </p:cNvSpPr>
          <p:nvPr/>
        </p:nvSpPr>
        <p:spPr bwMode="auto">
          <a:xfrm>
            <a:off x="4589278" y="4493026"/>
            <a:ext cx="573088" cy="449263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 dirty="0">
                <a:latin typeface="+mn-ea"/>
                <a:ea typeface="+mn-ea"/>
              </a:rPr>
              <a:t>PDA</a:t>
            </a:r>
          </a:p>
          <a:p>
            <a:pPr algn="ctr">
              <a:defRPr/>
            </a:pPr>
            <a:r>
              <a:rPr lang="ko-KR" altLang="en-US" sz="1000" b="1" dirty="0">
                <a:latin typeface="+mn-ea"/>
                <a:ea typeface="+mn-ea"/>
              </a:rPr>
              <a:t>개발환경</a:t>
            </a:r>
            <a:endParaRPr lang="en-US" altLang="ko-KR" sz="1000" b="1" dirty="0">
              <a:latin typeface="+mn-ea"/>
              <a:ea typeface="+mn-ea"/>
            </a:endParaRPr>
          </a:p>
          <a:p>
            <a:pPr algn="ctr">
              <a:defRPr/>
            </a:pPr>
            <a:r>
              <a:rPr lang="ko-KR" altLang="en-US" sz="1000" b="1" dirty="0">
                <a:latin typeface="+mn-ea"/>
                <a:ea typeface="+mn-ea"/>
              </a:rPr>
              <a:t>구축</a:t>
            </a:r>
          </a:p>
        </p:txBody>
      </p:sp>
      <p:sp>
        <p:nvSpPr>
          <p:cNvPr id="102" name="갈매기형 수장 101"/>
          <p:cNvSpPr/>
          <p:nvPr/>
        </p:nvSpPr>
        <p:spPr bwMode="auto">
          <a:xfrm>
            <a:off x="8471168" y="1842737"/>
            <a:ext cx="786187" cy="356113"/>
          </a:xfrm>
          <a:prstGeom prst="chevron">
            <a:avLst>
              <a:gd name="adj" fmla="val 30079"/>
            </a:avLst>
          </a:prstGeom>
          <a:solidFill>
            <a:srgbClr val="99CCFF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Test</a:t>
            </a:r>
          </a:p>
        </p:txBody>
      </p:sp>
      <p:sp>
        <p:nvSpPr>
          <p:cNvPr id="133" name="이등변 삼각형 132"/>
          <p:cNvSpPr/>
          <p:nvPr/>
        </p:nvSpPr>
        <p:spPr bwMode="auto">
          <a:xfrm>
            <a:off x="1424608" y="2293447"/>
            <a:ext cx="249238" cy="136525"/>
          </a:xfrm>
          <a:prstGeom prst="triangle">
            <a:avLst/>
          </a:prstGeom>
          <a:solidFill>
            <a:srgbClr val="EE2212"/>
          </a:solidFill>
          <a:ln>
            <a:solidFill>
              <a:srgbClr val="EE2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ko-KR" altLang="en-US" dirty="0">
              <a:latin typeface="+mn-ea"/>
              <a:cs typeface="Arial" pitchFamily="34" charset="0"/>
            </a:endParaRPr>
          </a:p>
        </p:txBody>
      </p:sp>
      <p:sp>
        <p:nvSpPr>
          <p:cNvPr id="134" name="TextBox 101"/>
          <p:cNvSpPr txBox="1">
            <a:spLocks noChangeArrowheads="1"/>
          </p:cNvSpPr>
          <p:nvPr/>
        </p:nvSpPr>
        <p:spPr bwMode="auto">
          <a:xfrm>
            <a:off x="1341156" y="2472834"/>
            <a:ext cx="6778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 b="1" dirty="0">
                <a:latin typeface="+mn-ea"/>
                <a:ea typeface="+mn-ea"/>
              </a:rPr>
              <a:t>Kick Off</a:t>
            </a:r>
            <a:endParaRPr lang="ko-KR" altLang="en-US" sz="1000" b="1" dirty="0">
              <a:latin typeface="+mn-ea"/>
              <a:ea typeface="+mn-ea"/>
            </a:endParaRPr>
          </a:p>
        </p:txBody>
      </p:sp>
      <p:sp>
        <p:nvSpPr>
          <p:cNvPr id="135" name="이등변 삼각형 134"/>
          <p:cNvSpPr/>
          <p:nvPr/>
        </p:nvSpPr>
        <p:spPr bwMode="auto">
          <a:xfrm>
            <a:off x="8969320" y="2293447"/>
            <a:ext cx="250825" cy="136525"/>
          </a:xfrm>
          <a:prstGeom prst="triangle">
            <a:avLst/>
          </a:prstGeom>
          <a:solidFill>
            <a:srgbClr val="EE2212"/>
          </a:solidFill>
          <a:ln>
            <a:solidFill>
              <a:srgbClr val="EE2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ko-KR" altLang="en-US" dirty="0">
              <a:latin typeface="+mn-ea"/>
              <a:cs typeface="Arial" pitchFamily="34" charset="0"/>
            </a:endParaRPr>
          </a:p>
        </p:txBody>
      </p:sp>
      <p:sp>
        <p:nvSpPr>
          <p:cNvPr id="136" name="TextBox 107"/>
          <p:cNvSpPr txBox="1">
            <a:spLocks noChangeArrowheads="1"/>
          </p:cNvSpPr>
          <p:nvPr/>
        </p:nvSpPr>
        <p:spPr bwMode="auto">
          <a:xfrm>
            <a:off x="8121352" y="2472834"/>
            <a:ext cx="1224136" cy="246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r>
              <a:rPr lang="ko-KR" altLang="en-US" sz="1000" b="1" dirty="0">
                <a:latin typeface="+mn-ea"/>
                <a:ea typeface="+mn-ea"/>
              </a:rPr>
              <a:t>프로젝트종료</a:t>
            </a:r>
          </a:p>
        </p:txBody>
      </p:sp>
      <p:sp>
        <p:nvSpPr>
          <p:cNvPr id="139" name="이등변 삼각형 138"/>
          <p:cNvSpPr/>
          <p:nvPr/>
        </p:nvSpPr>
        <p:spPr bwMode="auto">
          <a:xfrm>
            <a:off x="4470524" y="2293447"/>
            <a:ext cx="250825" cy="136525"/>
          </a:xfrm>
          <a:prstGeom prst="triangle">
            <a:avLst/>
          </a:prstGeom>
          <a:solidFill>
            <a:srgbClr val="EE2212"/>
          </a:solidFill>
          <a:ln>
            <a:solidFill>
              <a:srgbClr val="EE2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ko-KR" altLang="en-US" dirty="0">
              <a:latin typeface="+mn-ea"/>
              <a:cs typeface="Arial" pitchFamily="34" charset="0"/>
            </a:endParaRPr>
          </a:p>
        </p:txBody>
      </p:sp>
      <p:sp>
        <p:nvSpPr>
          <p:cNvPr id="140" name="TextBox 40"/>
          <p:cNvSpPr txBox="1">
            <a:spLocks noChangeArrowheads="1"/>
          </p:cNvSpPr>
          <p:nvPr/>
        </p:nvSpPr>
        <p:spPr bwMode="auto">
          <a:xfrm>
            <a:off x="4104265" y="2471247"/>
            <a:ext cx="998972" cy="246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000" b="1" dirty="0">
                <a:latin typeface="+mn-ea"/>
                <a:ea typeface="+mn-ea"/>
              </a:rPr>
              <a:t>설계 중간보고</a:t>
            </a:r>
          </a:p>
        </p:txBody>
      </p:sp>
      <p:sp>
        <p:nvSpPr>
          <p:cNvPr id="147" name="갈매기형 수장 146"/>
          <p:cNvSpPr/>
          <p:nvPr/>
        </p:nvSpPr>
        <p:spPr bwMode="auto">
          <a:xfrm>
            <a:off x="4465787" y="1842737"/>
            <a:ext cx="4087612" cy="356113"/>
          </a:xfrm>
          <a:prstGeom prst="chevron">
            <a:avLst>
              <a:gd name="adj" fmla="val 30079"/>
            </a:avLst>
          </a:prstGeom>
          <a:solidFill>
            <a:srgbClr val="FFC5D8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  <a:latin typeface="+mn-ea"/>
              </a:rPr>
              <a:t>Implementation</a:t>
            </a:r>
            <a:endParaRPr lang="ko-KR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8" name="갈매기형 수장 147"/>
          <p:cNvSpPr/>
          <p:nvPr/>
        </p:nvSpPr>
        <p:spPr bwMode="auto">
          <a:xfrm>
            <a:off x="2128561" y="1842737"/>
            <a:ext cx="2432320" cy="356113"/>
          </a:xfrm>
          <a:prstGeom prst="chevron">
            <a:avLst>
              <a:gd name="adj" fmla="val 30079"/>
            </a:avLst>
          </a:prstGeom>
          <a:solidFill>
            <a:srgbClr val="FFFF99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Design</a:t>
            </a:r>
            <a:endParaRPr lang="ko-KR" altLang="en-US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49" name="오각형 148"/>
          <p:cNvSpPr/>
          <p:nvPr/>
        </p:nvSpPr>
        <p:spPr bwMode="auto">
          <a:xfrm>
            <a:off x="1447519" y="1842737"/>
            <a:ext cx="761611" cy="356113"/>
          </a:xfrm>
          <a:prstGeom prst="homePlate">
            <a:avLst>
              <a:gd name="adj" fmla="val 30068"/>
            </a:avLst>
          </a:prstGeom>
          <a:solidFill>
            <a:srgbClr val="FFCC00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3600" tIns="45715" rIns="3600" bIns="45715" anchor="ctr"/>
          <a:lstStyle/>
          <a:p>
            <a:pPr algn="ctr">
              <a:defRPr/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Analyze</a:t>
            </a:r>
          </a:p>
        </p:txBody>
      </p:sp>
      <p:sp>
        <p:nvSpPr>
          <p:cNvPr id="154" name="AutoShape 136"/>
          <p:cNvSpPr>
            <a:spLocks noChangeArrowheads="1"/>
          </p:cNvSpPr>
          <p:nvPr/>
        </p:nvSpPr>
        <p:spPr bwMode="auto">
          <a:xfrm>
            <a:off x="4560880" y="4002977"/>
            <a:ext cx="3888002" cy="358775"/>
          </a:xfrm>
          <a:prstGeom prst="roundRect">
            <a:avLst>
              <a:gd name="adj" fmla="val 16667"/>
            </a:avLst>
          </a:prstGeom>
          <a:solidFill>
            <a:srgbClr val="FFC5D8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b="1" dirty="0">
                <a:latin typeface="+mn-ea"/>
                <a:ea typeface="+mn-ea"/>
              </a:rPr>
              <a:t>인터페이스</a:t>
            </a:r>
            <a:r>
              <a:rPr lang="en-US" altLang="ko-KR" sz="1200" b="1" dirty="0">
                <a:latin typeface="+mn-ea"/>
                <a:ea typeface="+mn-ea"/>
              </a:rPr>
              <a:t> </a:t>
            </a:r>
            <a:r>
              <a:rPr lang="ko-KR" altLang="en-US" sz="1200" b="1" dirty="0">
                <a:latin typeface="+mn-ea"/>
                <a:ea typeface="+mn-ea"/>
              </a:rPr>
              <a:t>개발</a:t>
            </a:r>
            <a:r>
              <a:rPr lang="en-US" altLang="ko-KR" sz="1200" b="1" dirty="0">
                <a:latin typeface="+mn-ea"/>
                <a:ea typeface="+mn-ea"/>
              </a:rPr>
              <a:t>/</a:t>
            </a:r>
            <a:r>
              <a:rPr lang="ko-KR" altLang="en-US" sz="1200" b="1" dirty="0">
                <a:latin typeface="+mn-ea"/>
                <a:ea typeface="+mn-ea"/>
              </a:rPr>
              <a:t>단위테스트</a:t>
            </a:r>
            <a:endParaRPr lang="en-US" altLang="ko-KR" sz="1200" b="1" dirty="0">
              <a:latin typeface="+mn-ea"/>
              <a:ea typeface="+mn-ea"/>
            </a:endParaRPr>
          </a:p>
        </p:txBody>
      </p:sp>
      <p:sp>
        <p:nvSpPr>
          <p:cNvPr id="155" name="AutoShape 136"/>
          <p:cNvSpPr>
            <a:spLocks noChangeArrowheads="1"/>
          </p:cNvSpPr>
          <p:nvPr/>
        </p:nvSpPr>
        <p:spPr bwMode="auto">
          <a:xfrm>
            <a:off x="3716080" y="4002655"/>
            <a:ext cx="793026" cy="360362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b="1" dirty="0">
                <a:latin typeface="+mn-ea"/>
                <a:ea typeface="+mn-ea"/>
              </a:rPr>
              <a:t>인터페이스</a:t>
            </a:r>
            <a:endParaRPr lang="en-US" altLang="ko-KR" sz="1200" b="1" dirty="0">
              <a:latin typeface="+mn-ea"/>
              <a:ea typeface="+mn-ea"/>
            </a:endParaRPr>
          </a:p>
          <a:p>
            <a:pPr algn="ctr" eaLnBrk="1" hangingPunct="1"/>
            <a:r>
              <a:rPr lang="ko-KR" altLang="en-US" sz="1200" b="1" dirty="0">
                <a:latin typeface="+mn-ea"/>
                <a:ea typeface="+mn-ea"/>
              </a:rPr>
              <a:t>설계</a:t>
            </a:r>
          </a:p>
        </p:txBody>
      </p:sp>
      <p:sp>
        <p:nvSpPr>
          <p:cNvPr id="156" name="AutoShape 124"/>
          <p:cNvSpPr>
            <a:spLocks noChangeArrowheads="1"/>
          </p:cNvSpPr>
          <p:nvPr/>
        </p:nvSpPr>
        <p:spPr bwMode="auto">
          <a:xfrm>
            <a:off x="4570230" y="3578744"/>
            <a:ext cx="792000" cy="360362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200" b="1" dirty="0">
                <a:latin typeface="+mn-ea"/>
                <a:ea typeface="+mn-ea"/>
              </a:rPr>
              <a:t>PDA</a:t>
            </a:r>
            <a:r>
              <a:rPr lang="ko-KR" altLang="en-US" sz="1200" b="1" dirty="0">
                <a:latin typeface="+mn-ea"/>
                <a:ea typeface="+mn-ea"/>
              </a:rPr>
              <a:t> 설계</a:t>
            </a:r>
          </a:p>
        </p:txBody>
      </p:sp>
      <p:sp>
        <p:nvSpPr>
          <p:cNvPr id="157" name="AutoShape 116"/>
          <p:cNvSpPr>
            <a:spLocks noChangeArrowheads="1"/>
          </p:cNvSpPr>
          <p:nvPr/>
        </p:nvSpPr>
        <p:spPr bwMode="auto">
          <a:xfrm>
            <a:off x="5423162" y="3570929"/>
            <a:ext cx="3025719" cy="360363"/>
          </a:xfrm>
          <a:prstGeom prst="roundRect">
            <a:avLst>
              <a:gd name="adj" fmla="val 16667"/>
            </a:avLst>
          </a:prstGeom>
          <a:solidFill>
            <a:srgbClr val="FFC5D8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200" b="1" dirty="0">
                <a:latin typeface="+mn-ea"/>
                <a:ea typeface="+mn-ea"/>
              </a:rPr>
              <a:t>PDA </a:t>
            </a:r>
            <a:r>
              <a:rPr lang="ko-KR" altLang="en-US" sz="1200" b="1" dirty="0">
                <a:latin typeface="+mn-ea"/>
                <a:ea typeface="+mn-ea"/>
              </a:rPr>
              <a:t>개발</a:t>
            </a:r>
            <a:r>
              <a:rPr lang="en-US" altLang="ko-KR" sz="1200" b="1" dirty="0">
                <a:latin typeface="+mn-ea"/>
                <a:ea typeface="+mn-ea"/>
              </a:rPr>
              <a:t>/</a:t>
            </a:r>
            <a:r>
              <a:rPr lang="ko-KR" altLang="en-US" sz="1200" b="1" dirty="0">
                <a:latin typeface="+mn-ea"/>
                <a:ea typeface="+mn-ea"/>
              </a:rPr>
              <a:t>단위테스트</a:t>
            </a: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1424608" y="5083097"/>
            <a:ext cx="7832746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1431403" y="5307505"/>
            <a:ext cx="7832746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4530283" y="5515145"/>
            <a:ext cx="472680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>
            <a:off x="4537078" y="5731169"/>
            <a:ext cx="4727071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4537078" y="5966243"/>
            <a:ext cx="471600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>
            <a:off x="4538430" y="6182267"/>
            <a:ext cx="471600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아래쪽 화살표 설명선 37"/>
          <p:cNvSpPr/>
          <p:nvPr/>
        </p:nvSpPr>
        <p:spPr>
          <a:xfrm>
            <a:off x="4358705" y="1104294"/>
            <a:ext cx="522287" cy="309562"/>
          </a:xfrm>
          <a:prstGeom prst="downArrow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anchor="ctr"/>
          <a:lstStyle/>
          <a:p>
            <a:pPr algn="ctr">
              <a:defRPr/>
            </a:pPr>
            <a:r>
              <a:rPr lang="en-US" altLang="ko-KR" sz="1200" dirty="0">
                <a:solidFill>
                  <a:schemeClr val="tx1"/>
                </a:solidFill>
              </a:rPr>
              <a:t>12/05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9" name="직선 연결선 38"/>
          <p:cNvCxnSpPr/>
          <p:nvPr/>
        </p:nvCxnSpPr>
        <p:spPr>
          <a:xfrm flipH="1">
            <a:off x="4607942" y="1377344"/>
            <a:ext cx="12700" cy="50760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3800872" y="5513625"/>
            <a:ext cx="75600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470183"/>
              </p:ext>
            </p:extLst>
          </p:nvPr>
        </p:nvGraphicFramePr>
        <p:xfrm>
          <a:off x="5057323" y="756348"/>
          <a:ext cx="1584176" cy="57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4934527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827890228"/>
                    </a:ext>
                  </a:extLst>
                </a:gridCol>
              </a:tblGrid>
              <a:tr h="8794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계획율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18.8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44825"/>
                  </a:ext>
                </a:extLst>
              </a:tr>
              <a:tr h="879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021948"/>
                  </a:ext>
                </a:extLst>
              </a:tr>
              <a:tr h="818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실행율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18.9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36377"/>
                  </a:ext>
                </a:extLst>
              </a:tr>
              <a:tr h="81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99145"/>
                  </a:ext>
                </a:extLst>
              </a:tr>
              <a:tr h="7501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달성율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100.5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260484"/>
                  </a:ext>
                </a:extLst>
              </a:tr>
              <a:tr h="750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53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011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ko-KR" altLang="en-US" dirty="0">
                <a:latin typeface="+mn-ea"/>
                <a:ea typeface="+mn-ea"/>
              </a:rPr>
              <a:t>인력 투입 현황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224783"/>
              </p:ext>
            </p:extLst>
          </p:nvPr>
        </p:nvGraphicFramePr>
        <p:xfrm>
          <a:off x="848545" y="1196752"/>
          <a:ext cx="8136901" cy="47665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75241289"/>
                    </a:ext>
                  </a:extLst>
                </a:gridCol>
                <a:gridCol w="791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83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83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83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83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83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152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7436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역할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업무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원가</a:t>
                      </a: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천원</a:t>
                      </a: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88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PM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이종건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총괄관리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특급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600992"/>
                  </a:ext>
                </a:extLst>
              </a:tr>
              <a:tr h="2817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PL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이종혁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중급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7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408075"/>
                  </a:ext>
                </a:extLst>
              </a:tr>
              <a:tr h="25833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개발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TBD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인터페이스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중급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3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136349"/>
                  </a:ext>
                </a:extLst>
              </a:tr>
              <a:tr h="25202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+mn-ea"/>
                          <a:ea typeface="+mn-ea"/>
                        </a:rPr>
                        <a:t>개발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TBD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마스터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반출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초급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7437"/>
                  </a:ext>
                </a:extLst>
              </a:tr>
              <a:tr h="23718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>
                          <a:effectLst/>
                          <a:latin typeface="+mn-ea"/>
                          <a:ea typeface="+mn-ea"/>
                        </a:rPr>
                        <a:t>개발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TBD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마스터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입고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반입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중급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823960"/>
                  </a:ext>
                </a:extLst>
              </a:tr>
              <a:tr h="19486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PDA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TBD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PDA(Android)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중급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8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016146"/>
                  </a:ext>
                </a:extLst>
              </a:tr>
              <a:tr h="237181">
                <a:tc rowSpan="2"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2.5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142,000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8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543501"/>
                  </a:ext>
                </a:extLst>
              </a:tr>
              <a:tr h="237181">
                <a:tc rowSpan="3"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누계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93641"/>
                  </a:ext>
                </a:extLst>
              </a:tr>
              <a:tr h="237181">
                <a:tc gridSpan="4" vMerge="1"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실행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607901"/>
                  </a:ext>
                </a:extLst>
              </a:tr>
              <a:tr h="237181">
                <a:tc gridSpan="4" vMerge="1">
                  <a:txBody>
                    <a:bodyPr/>
                    <a:lstStyle/>
                    <a:p>
                      <a:pPr algn="ctr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달성률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75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67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36000" marR="3600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448892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8544" y="6021868"/>
            <a:ext cx="41395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* </a:t>
            </a:r>
            <a:r>
              <a:rPr lang="ko-KR" altLang="en-US" sz="800" dirty="0">
                <a:latin typeface="+mn-ea"/>
                <a:ea typeface="+mn-ea"/>
              </a:rPr>
              <a:t>등급별 원가</a:t>
            </a:r>
            <a:r>
              <a:rPr lang="en-US" altLang="ko-KR" sz="800" dirty="0">
                <a:latin typeface="+mn-ea"/>
                <a:ea typeface="+mn-ea"/>
              </a:rPr>
              <a:t>(</a:t>
            </a:r>
            <a:r>
              <a:rPr lang="ko-KR" altLang="en-US" sz="800" dirty="0">
                <a:latin typeface="+mn-ea"/>
                <a:ea typeface="+mn-ea"/>
              </a:rPr>
              <a:t>만원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: </a:t>
            </a:r>
            <a:r>
              <a:rPr lang="ko-KR" altLang="en-US" sz="800" dirty="0">
                <a:latin typeface="+mn-ea"/>
                <a:ea typeface="+mn-ea"/>
              </a:rPr>
              <a:t>초급</a:t>
            </a:r>
            <a:r>
              <a:rPr lang="en-US" altLang="ko-KR" sz="800" dirty="0">
                <a:latin typeface="+mn-ea"/>
                <a:ea typeface="+mn-ea"/>
              </a:rPr>
              <a:t>-500, </a:t>
            </a:r>
            <a:r>
              <a:rPr lang="ko-KR" altLang="en-US" sz="800" dirty="0">
                <a:latin typeface="+mn-ea"/>
                <a:ea typeface="+mn-ea"/>
              </a:rPr>
              <a:t>중급</a:t>
            </a:r>
            <a:r>
              <a:rPr lang="en-US" altLang="ko-KR" sz="800" dirty="0">
                <a:latin typeface="+mn-ea"/>
                <a:ea typeface="+mn-ea"/>
              </a:rPr>
              <a:t>-600, </a:t>
            </a:r>
            <a:r>
              <a:rPr lang="ko-KR" altLang="en-US" sz="800" dirty="0">
                <a:latin typeface="+mn-ea"/>
                <a:ea typeface="+mn-ea"/>
              </a:rPr>
              <a:t>고급</a:t>
            </a:r>
            <a:r>
              <a:rPr lang="en-US" altLang="ko-KR" sz="800" dirty="0">
                <a:latin typeface="+mn-ea"/>
                <a:ea typeface="+mn-ea"/>
              </a:rPr>
              <a:t>-700, </a:t>
            </a:r>
            <a:r>
              <a:rPr lang="ko-KR" altLang="en-US" sz="800" dirty="0">
                <a:latin typeface="+mn-ea"/>
                <a:ea typeface="+mn-ea"/>
              </a:rPr>
              <a:t>특급</a:t>
            </a:r>
            <a:r>
              <a:rPr lang="en-US" altLang="ko-KR" sz="800" dirty="0">
                <a:latin typeface="+mn-ea"/>
                <a:ea typeface="+mn-ea"/>
              </a:rPr>
              <a:t>-800 </a:t>
            </a:r>
            <a:r>
              <a:rPr lang="ko-KR" altLang="en-US" sz="800" dirty="0">
                <a:latin typeface="+mn-ea"/>
                <a:ea typeface="+mn-ea"/>
              </a:rPr>
              <a:t>기준으로 산정</a:t>
            </a:r>
          </a:p>
        </p:txBody>
      </p:sp>
    </p:spTree>
    <p:extLst>
      <p:ext uri="{BB962C8B-B14F-4D97-AF65-F5344CB8AC3E}">
        <p14:creationId xmlns:p14="http://schemas.microsoft.com/office/powerpoint/2010/main" val="3118061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3. </a:t>
            </a:r>
            <a:r>
              <a:rPr lang="ko-KR" altLang="en-US" dirty="0">
                <a:latin typeface="+mn-ea"/>
                <a:ea typeface="+mn-ea"/>
              </a:rPr>
              <a:t>프로세스 모델링</a:t>
            </a:r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00" y="980728"/>
            <a:ext cx="8699439" cy="5460293"/>
          </a:xfrm>
          <a:prstGeom prst="rect">
            <a:avLst/>
          </a:prstGeom>
        </p:spPr>
      </p:pic>
      <p:sp>
        <p:nvSpPr>
          <p:cNvPr id="61" name="제목 1"/>
          <p:cNvSpPr txBox="1">
            <a:spLocks/>
          </p:cNvSpPr>
          <p:nvPr/>
        </p:nvSpPr>
        <p:spPr bwMode="auto">
          <a:xfrm>
            <a:off x="1208584" y="332656"/>
            <a:ext cx="3420567" cy="41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600" dirty="0">
                <a:latin typeface="+mn-ea"/>
                <a:ea typeface="+mn-ea"/>
              </a:rPr>
              <a:t>전체 프로세스</a:t>
            </a:r>
          </a:p>
        </p:txBody>
      </p:sp>
    </p:spTree>
    <p:extLst>
      <p:ext uri="{BB962C8B-B14F-4D97-AF65-F5344CB8AC3E}">
        <p14:creationId xmlns:p14="http://schemas.microsoft.com/office/powerpoint/2010/main" val="3401388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3. </a:t>
            </a:r>
            <a:r>
              <a:rPr lang="ko-KR" altLang="en-US" dirty="0">
                <a:latin typeface="+mn-ea"/>
                <a:ea typeface="+mn-ea"/>
              </a:rPr>
              <a:t>프로세스 모델링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00" y="980728"/>
            <a:ext cx="8701200" cy="5466465"/>
          </a:xfrm>
          <a:prstGeom prst="rect">
            <a:avLst/>
          </a:prstGeom>
        </p:spPr>
      </p:pic>
      <p:sp>
        <p:nvSpPr>
          <p:cNvPr id="5" name="제목 1"/>
          <p:cNvSpPr txBox="1">
            <a:spLocks/>
          </p:cNvSpPr>
          <p:nvPr/>
        </p:nvSpPr>
        <p:spPr bwMode="auto">
          <a:xfrm>
            <a:off x="1208584" y="332656"/>
            <a:ext cx="3420567" cy="41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600" dirty="0">
                <a:latin typeface="+mn-ea"/>
                <a:ea typeface="+mn-ea"/>
              </a:rPr>
              <a:t>입고 프로세스</a:t>
            </a:r>
          </a:p>
        </p:txBody>
      </p:sp>
    </p:spTree>
    <p:extLst>
      <p:ext uri="{BB962C8B-B14F-4D97-AF65-F5344CB8AC3E}">
        <p14:creationId xmlns:p14="http://schemas.microsoft.com/office/powerpoint/2010/main" val="1145193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3. </a:t>
            </a:r>
            <a:r>
              <a:rPr lang="ko-KR" altLang="en-US" dirty="0">
                <a:latin typeface="+mn-ea"/>
                <a:ea typeface="+mn-ea"/>
              </a:rPr>
              <a:t>프로세스 모델링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00" y="980728"/>
            <a:ext cx="8699439" cy="5460293"/>
          </a:xfrm>
          <a:prstGeom prst="rect">
            <a:avLst/>
          </a:prstGeom>
        </p:spPr>
      </p:pic>
      <p:sp>
        <p:nvSpPr>
          <p:cNvPr id="4" name="제목 1"/>
          <p:cNvSpPr txBox="1">
            <a:spLocks/>
          </p:cNvSpPr>
          <p:nvPr/>
        </p:nvSpPr>
        <p:spPr bwMode="auto">
          <a:xfrm>
            <a:off x="1208584" y="332656"/>
            <a:ext cx="3420567" cy="41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600" dirty="0">
                <a:latin typeface="+mn-ea"/>
                <a:ea typeface="+mn-ea"/>
              </a:rPr>
              <a:t>출고 프로세스</a:t>
            </a:r>
          </a:p>
        </p:txBody>
      </p:sp>
    </p:spTree>
    <p:extLst>
      <p:ext uri="{BB962C8B-B14F-4D97-AF65-F5344CB8AC3E}">
        <p14:creationId xmlns:p14="http://schemas.microsoft.com/office/powerpoint/2010/main" val="3666453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3. </a:t>
            </a:r>
            <a:r>
              <a:rPr lang="ko-KR" altLang="en-US" dirty="0">
                <a:latin typeface="+mn-ea"/>
                <a:ea typeface="+mn-ea"/>
              </a:rPr>
              <a:t>프로세스 모델링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00" y="980728"/>
            <a:ext cx="8699439" cy="5460293"/>
          </a:xfrm>
          <a:prstGeom prst="rect">
            <a:avLst/>
          </a:prstGeom>
        </p:spPr>
      </p:pic>
      <p:sp>
        <p:nvSpPr>
          <p:cNvPr id="5" name="제목 1"/>
          <p:cNvSpPr txBox="1">
            <a:spLocks/>
          </p:cNvSpPr>
          <p:nvPr/>
        </p:nvSpPr>
        <p:spPr bwMode="auto">
          <a:xfrm>
            <a:off x="1208584" y="332656"/>
            <a:ext cx="3420567" cy="41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600" dirty="0">
                <a:latin typeface="+mn-ea"/>
                <a:ea typeface="+mn-ea"/>
              </a:rPr>
              <a:t>반품 프로세스</a:t>
            </a:r>
          </a:p>
        </p:txBody>
      </p:sp>
    </p:spTree>
    <p:extLst>
      <p:ext uri="{BB962C8B-B14F-4D97-AF65-F5344CB8AC3E}">
        <p14:creationId xmlns:p14="http://schemas.microsoft.com/office/powerpoint/2010/main" val="4188973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3. </a:t>
            </a:r>
            <a:r>
              <a:rPr lang="ko-KR" altLang="en-US" dirty="0">
                <a:latin typeface="+mn-ea"/>
                <a:ea typeface="+mn-ea"/>
              </a:rPr>
              <a:t>프로세스 모델링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00" y="980728"/>
            <a:ext cx="8708947" cy="5461200"/>
          </a:xfrm>
          <a:prstGeom prst="rect">
            <a:avLst/>
          </a:prstGeom>
        </p:spPr>
      </p:pic>
      <p:sp>
        <p:nvSpPr>
          <p:cNvPr id="4" name="제목 1"/>
          <p:cNvSpPr txBox="1">
            <a:spLocks/>
          </p:cNvSpPr>
          <p:nvPr/>
        </p:nvSpPr>
        <p:spPr bwMode="auto">
          <a:xfrm>
            <a:off x="1208584" y="332656"/>
            <a:ext cx="3420567" cy="41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600" dirty="0">
                <a:latin typeface="+mn-ea"/>
                <a:ea typeface="+mn-ea"/>
              </a:rPr>
              <a:t>재고 프로세스</a:t>
            </a:r>
          </a:p>
        </p:txBody>
      </p:sp>
    </p:spTree>
    <p:extLst>
      <p:ext uri="{BB962C8B-B14F-4D97-AF65-F5344CB8AC3E}">
        <p14:creationId xmlns:p14="http://schemas.microsoft.com/office/powerpoint/2010/main" val="1738579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4. </a:t>
            </a:r>
            <a:r>
              <a:rPr lang="ko-KR" altLang="en-US" dirty="0">
                <a:latin typeface="+mn-ea"/>
                <a:ea typeface="+mn-ea"/>
              </a:rPr>
              <a:t>메뉴 구성도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632519" y="980728"/>
            <a:ext cx="1224136" cy="2880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입고관리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2504864" y="980728"/>
            <a:ext cx="1224136" cy="2880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출고관리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4340932" y="980728"/>
            <a:ext cx="1224136" cy="2880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반품관리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6195138" y="980728"/>
            <a:ext cx="1224136" cy="2880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재고관리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8049343" y="980728"/>
            <a:ext cx="1224136" cy="2880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마스터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632519" y="141277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>
                <a:solidFill>
                  <a:schemeClr val="tx1"/>
                </a:solidFill>
              </a:rPr>
              <a:t>입하예정등록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0" name="꺾인 연결선 9"/>
          <p:cNvCxnSpPr/>
          <p:nvPr/>
        </p:nvCxnSpPr>
        <p:spPr>
          <a:xfrm rot="10800000" flipV="1">
            <a:off x="632520" y="1124744"/>
            <a:ext cx="12700" cy="39604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632519" y="170080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입하승인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632519" y="1988840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>
                <a:solidFill>
                  <a:schemeClr val="tx1"/>
                </a:solidFill>
              </a:rPr>
              <a:t>입하검수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32519" y="227687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>
                <a:solidFill>
                  <a:schemeClr val="tx1"/>
                </a:solidFill>
              </a:rPr>
              <a:t>입고지시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32519" y="2564904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입고적치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632519" y="285293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입고적치</a:t>
            </a:r>
          </a:p>
        </p:txBody>
      </p:sp>
      <p:cxnSp>
        <p:nvCxnSpPr>
          <p:cNvPr id="26" name="꺾인 연결선 25"/>
          <p:cNvCxnSpPr/>
          <p:nvPr/>
        </p:nvCxnSpPr>
        <p:spPr>
          <a:xfrm rot="10800000" flipV="1">
            <a:off x="632519" y="1124744"/>
            <a:ext cx="12700" cy="68407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/>
          <p:nvPr/>
        </p:nvCxnSpPr>
        <p:spPr>
          <a:xfrm rot="10800000" flipV="1">
            <a:off x="632519" y="1124744"/>
            <a:ext cx="12700" cy="972108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632519" y="3429000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검수지시서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32519" y="371703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>
                <a:solidFill>
                  <a:schemeClr val="tx1"/>
                </a:solidFill>
              </a:rPr>
              <a:t>적치지시서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32519" y="4005064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>
                <a:solidFill>
                  <a:schemeClr val="tx1"/>
                </a:solidFill>
              </a:rPr>
              <a:t>입고라벨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32519" y="429309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>
                <a:solidFill>
                  <a:schemeClr val="tx1"/>
                </a:solidFill>
              </a:rPr>
              <a:t>입고현황조회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32519" y="458112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이고의뢰등록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7" name="꺾인 연결선 36"/>
          <p:cNvCxnSpPr/>
          <p:nvPr/>
        </p:nvCxnSpPr>
        <p:spPr>
          <a:xfrm rot="10800000" flipV="1">
            <a:off x="632520" y="1124744"/>
            <a:ext cx="12700" cy="126014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9"/>
          <p:cNvCxnSpPr/>
          <p:nvPr/>
        </p:nvCxnSpPr>
        <p:spPr>
          <a:xfrm rot="10800000" flipV="1">
            <a:off x="632520" y="1124744"/>
            <a:ext cx="12700" cy="154817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/>
          <p:nvPr/>
        </p:nvCxnSpPr>
        <p:spPr>
          <a:xfrm rot="10800000" flipV="1">
            <a:off x="632520" y="1124744"/>
            <a:ext cx="12700" cy="183620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/>
          <p:nvPr/>
        </p:nvCxnSpPr>
        <p:spPr>
          <a:xfrm rot="10800000" flipV="1">
            <a:off x="632520" y="1124744"/>
            <a:ext cx="12700" cy="2412268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/>
          <p:nvPr/>
        </p:nvCxnSpPr>
        <p:spPr>
          <a:xfrm rot="10800000" flipV="1">
            <a:off x="632519" y="1124744"/>
            <a:ext cx="12700" cy="270030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/>
          <p:nvPr/>
        </p:nvCxnSpPr>
        <p:spPr>
          <a:xfrm rot="10800000" flipV="1">
            <a:off x="632519" y="1124744"/>
            <a:ext cx="12700" cy="298833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54"/>
          <p:cNvCxnSpPr/>
          <p:nvPr/>
        </p:nvCxnSpPr>
        <p:spPr>
          <a:xfrm rot="10800000" flipV="1">
            <a:off x="632520" y="1124744"/>
            <a:ext cx="12700" cy="327636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/>
          <p:nvPr/>
        </p:nvCxnSpPr>
        <p:spPr>
          <a:xfrm rot="10800000" flipV="1">
            <a:off x="632520" y="1124744"/>
            <a:ext cx="12700" cy="356439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2504864" y="141277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출고예정등록</a:t>
            </a:r>
          </a:p>
        </p:txBody>
      </p:sp>
      <p:cxnSp>
        <p:nvCxnSpPr>
          <p:cNvPr id="62" name="꺾인 연결선 61"/>
          <p:cNvCxnSpPr/>
          <p:nvPr/>
        </p:nvCxnSpPr>
        <p:spPr>
          <a:xfrm rot="10800000" flipV="1">
            <a:off x="2504864" y="1124744"/>
            <a:ext cx="12700" cy="39604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2504864" y="170080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출고승인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2504864" y="1988840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출고</a:t>
            </a:r>
            <a:r>
              <a:rPr lang="en-US" altLang="ko-KR" sz="1000" dirty="0">
                <a:solidFill>
                  <a:schemeClr val="tx1"/>
                </a:solidFill>
              </a:rPr>
              <a:t>WAVE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504864" y="227687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출고지시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2504864" y="2564904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출고피킹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504864" y="285293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출하상차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68" name="꺾인 연결선 67"/>
          <p:cNvCxnSpPr/>
          <p:nvPr/>
        </p:nvCxnSpPr>
        <p:spPr>
          <a:xfrm rot="10800000" flipV="1">
            <a:off x="2504864" y="1124744"/>
            <a:ext cx="12700" cy="68407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/>
          <p:nvPr/>
        </p:nvCxnSpPr>
        <p:spPr>
          <a:xfrm rot="10800000" flipV="1">
            <a:off x="2504865" y="1124744"/>
            <a:ext cx="12700" cy="972108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/>
        </p:nvSpPr>
        <p:spPr>
          <a:xfrm>
            <a:off x="2504864" y="314096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출하확정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2504864" y="4005064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피킹지시서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504864" y="429309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TOTAL</a:t>
            </a:r>
            <a:r>
              <a:rPr lang="ko-KR" altLang="en-US" sz="1000" dirty="0" err="1">
                <a:solidFill>
                  <a:schemeClr val="tx1"/>
                </a:solidFill>
              </a:rPr>
              <a:t>피킹지시서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504864" y="458112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분배지시서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2504864" y="4869160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출고라벨</a:t>
            </a:r>
          </a:p>
        </p:txBody>
      </p:sp>
      <p:cxnSp>
        <p:nvCxnSpPr>
          <p:cNvPr id="75" name="꺾인 연결선 74"/>
          <p:cNvCxnSpPr/>
          <p:nvPr/>
        </p:nvCxnSpPr>
        <p:spPr>
          <a:xfrm rot="10800000" flipV="1">
            <a:off x="2504865" y="1124744"/>
            <a:ext cx="12700" cy="126014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꺾인 연결선 75"/>
          <p:cNvCxnSpPr/>
          <p:nvPr/>
        </p:nvCxnSpPr>
        <p:spPr>
          <a:xfrm rot="10800000" flipV="1">
            <a:off x="2504865" y="1124744"/>
            <a:ext cx="12700" cy="154817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/>
          <p:nvPr/>
        </p:nvCxnSpPr>
        <p:spPr>
          <a:xfrm rot="10800000" flipV="1">
            <a:off x="2504865" y="1124744"/>
            <a:ext cx="12700" cy="183620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꺾인 연결선 77"/>
          <p:cNvCxnSpPr/>
          <p:nvPr/>
        </p:nvCxnSpPr>
        <p:spPr>
          <a:xfrm rot="10800000" flipV="1">
            <a:off x="2504865" y="1124744"/>
            <a:ext cx="12700" cy="212423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/>
          <p:nvPr/>
        </p:nvCxnSpPr>
        <p:spPr>
          <a:xfrm rot="10800000" flipV="1">
            <a:off x="2504865" y="1124744"/>
            <a:ext cx="12700" cy="2412268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79"/>
          <p:cNvCxnSpPr/>
          <p:nvPr/>
        </p:nvCxnSpPr>
        <p:spPr>
          <a:xfrm rot="10800000" flipV="1">
            <a:off x="2504865" y="1124744"/>
            <a:ext cx="12700" cy="270030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/>
          <p:nvPr/>
        </p:nvCxnSpPr>
        <p:spPr>
          <a:xfrm rot="10800000" flipV="1">
            <a:off x="2504865" y="1124744"/>
            <a:ext cx="12700" cy="298833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/>
          <p:nvPr/>
        </p:nvCxnSpPr>
        <p:spPr>
          <a:xfrm rot="10800000" flipV="1">
            <a:off x="2504865" y="1124744"/>
            <a:ext cx="12700" cy="327636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/>
          <p:cNvSpPr/>
          <p:nvPr/>
        </p:nvSpPr>
        <p:spPr>
          <a:xfrm>
            <a:off x="2504864" y="515719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거래명세서</a:t>
            </a:r>
          </a:p>
        </p:txBody>
      </p:sp>
      <p:cxnSp>
        <p:nvCxnSpPr>
          <p:cNvPr id="100" name="꺾인 연결선 99"/>
          <p:cNvCxnSpPr/>
          <p:nvPr/>
        </p:nvCxnSpPr>
        <p:spPr>
          <a:xfrm rot="10800000" flipV="1">
            <a:off x="2504865" y="1124744"/>
            <a:ext cx="12700" cy="414046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632519" y="314096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입고시리얼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04" name="꺾인 연결선 103"/>
          <p:cNvCxnSpPr/>
          <p:nvPr/>
        </p:nvCxnSpPr>
        <p:spPr>
          <a:xfrm rot="10800000" flipV="1">
            <a:off x="632520" y="1124744"/>
            <a:ext cx="12700" cy="212423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/>
          <p:cNvSpPr/>
          <p:nvPr/>
        </p:nvSpPr>
        <p:spPr>
          <a:xfrm>
            <a:off x="2504864" y="3429000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출하시리얼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2504864" y="371703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배송완료</a:t>
            </a:r>
          </a:p>
        </p:txBody>
      </p:sp>
      <p:cxnSp>
        <p:nvCxnSpPr>
          <p:cNvPr id="109" name="꺾인 연결선 108"/>
          <p:cNvCxnSpPr/>
          <p:nvPr/>
        </p:nvCxnSpPr>
        <p:spPr>
          <a:xfrm rot="10800000" flipV="1">
            <a:off x="2504865" y="1124744"/>
            <a:ext cx="12700" cy="356439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/>
          <p:nvPr/>
        </p:nvCxnSpPr>
        <p:spPr>
          <a:xfrm rot="10800000" flipV="1">
            <a:off x="2504865" y="1124744"/>
            <a:ext cx="12700" cy="3852428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/>
          <p:cNvSpPr/>
          <p:nvPr/>
        </p:nvSpPr>
        <p:spPr>
          <a:xfrm>
            <a:off x="2504864" y="5445224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출고현황조회</a:t>
            </a:r>
          </a:p>
        </p:txBody>
      </p:sp>
      <p:cxnSp>
        <p:nvCxnSpPr>
          <p:cNvPr id="116" name="꺾인 연결선 115"/>
          <p:cNvCxnSpPr>
            <a:stCxn id="6" idx="1"/>
            <a:endCxn id="115" idx="1"/>
          </p:cNvCxnSpPr>
          <p:nvPr/>
        </p:nvCxnSpPr>
        <p:spPr>
          <a:xfrm rot="10800000" flipV="1">
            <a:off x="2504864" y="1124744"/>
            <a:ext cx="12700" cy="442849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/>
          <p:cNvSpPr/>
          <p:nvPr/>
        </p:nvSpPr>
        <p:spPr>
          <a:xfrm>
            <a:off x="4340932" y="141277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반입예정등록</a:t>
            </a:r>
          </a:p>
        </p:txBody>
      </p:sp>
      <p:cxnSp>
        <p:nvCxnSpPr>
          <p:cNvPr id="124" name="꺾인 연결선 123"/>
          <p:cNvCxnSpPr/>
          <p:nvPr/>
        </p:nvCxnSpPr>
        <p:spPr>
          <a:xfrm rot="10800000" flipV="1">
            <a:off x="4340932" y="1124744"/>
            <a:ext cx="12700" cy="39604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직사각형 124"/>
          <p:cNvSpPr/>
          <p:nvPr/>
        </p:nvSpPr>
        <p:spPr>
          <a:xfrm>
            <a:off x="4340932" y="170080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반입검수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4340932" y="1988840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반입적치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340932" y="227687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반출예정등록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4340932" y="2564904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반출지시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4340932" y="285293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반출피킹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30" name="꺾인 연결선 129"/>
          <p:cNvCxnSpPr/>
          <p:nvPr/>
        </p:nvCxnSpPr>
        <p:spPr>
          <a:xfrm rot="10800000" flipV="1">
            <a:off x="4340932" y="1124744"/>
            <a:ext cx="12700" cy="68407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/>
          <p:nvPr/>
        </p:nvCxnSpPr>
        <p:spPr>
          <a:xfrm rot="10800000" flipV="1">
            <a:off x="4340932" y="1124744"/>
            <a:ext cx="12700" cy="972108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직사각형 131"/>
          <p:cNvSpPr/>
          <p:nvPr/>
        </p:nvSpPr>
        <p:spPr>
          <a:xfrm>
            <a:off x="4340932" y="314096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반품현황조회</a:t>
            </a:r>
          </a:p>
        </p:txBody>
      </p:sp>
      <p:cxnSp>
        <p:nvCxnSpPr>
          <p:cNvPr id="137" name="꺾인 연결선 136"/>
          <p:cNvCxnSpPr/>
          <p:nvPr/>
        </p:nvCxnSpPr>
        <p:spPr>
          <a:xfrm rot="10800000" flipV="1">
            <a:off x="4340932" y="1124744"/>
            <a:ext cx="12700" cy="126014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꺾인 연결선 137"/>
          <p:cNvCxnSpPr/>
          <p:nvPr/>
        </p:nvCxnSpPr>
        <p:spPr>
          <a:xfrm rot="10800000" flipV="1">
            <a:off x="4340932" y="1124744"/>
            <a:ext cx="12700" cy="154817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/>
          <p:cNvCxnSpPr/>
          <p:nvPr/>
        </p:nvCxnSpPr>
        <p:spPr>
          <a:xfrm rot="10800000" flipV="1">
            <a:off x="4340932" y="1124744"/>
            <a:ext cx="12700" cy="183620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꺾인 연결선 139"/>
          <p:cNvCxnSpPr>
            <a:stCxn id="7" idx="1"/>
            <a:endCxn id="132" idx="1"/>
          </p:cNvCxnSpPr>
          <p:nvPr/>
        </p:nvCxnSpPr>
        <p:spPr>
          <a:xfrm rot="10800000" flipV="1">
            <a:off x="4340932" y="1124744"/>
            <a:ext cx="12700" cy="212423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/>
          <p:cNvSpPr/>
          <p:nvPr/>
        </p:nvSpPr>
        <p:spPr>
          <a:xfrm>
            <a:off x="6195138" y="141277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재고이동</a:t>
            </a:r>
          </a:p>
        </p:txBody>
      </p:sp>
      <p:cxnSp>
        <p:nvCxnSpPr>
          <p:cNvPr id="156" name="꺾인 연결선 155"/>
          <p:cNvCxnSpPr>
            <a:stCxn id="8" idx="1"/>
            <a:endCxn id="155" idx="1"/>
          </p:cNvCxnSpPr>
          <p:nvPr/>
        </p:nvCxnSpPr>
        <p:spPr>
          <a:xfrm rot="10800000" flipV="1">
            <a:off x="6195138" y="1124744"/>
            <a:ext cx="12700" cy="39604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직사각형 156"/>
          <p:cNvSpPr/>
          <p:nvPr/>
        </p:nvSpPr>
        <p:spPr>
          <a:xfrm>
            <a:off x="6195138" y="170080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재고조정</a:t>
            </a:r>
          </a:p>
        </p:txBody>
      </p:sp>
      <p:sp>
        <p:nvSpPr>
          <p:cNvPr id="158" name="직사각형 157"/>
          <p:cNvSpPr/>
          <p:nvPr/>
        </p:nvSpPr>
        <p:spPr>
          <a:xfrm>
            <a:off x="6195138" y="1988840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제품코드변경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6195138" y="227687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제품상태변경</a:t>
            </a:r>
          </a:p>
        </p:txBody>
      </p:sp>
      <p:sp>
        <p:nvSpPr>
          <p:cNvPr id="160" name="직사각형 159"/>
          <p:cNvSpPr/>
          <p:nvPr/>
        </p:nvSpPr>
        <p:spPr>
          <a:xfrm>
            <a:off x="6195138" y="2564904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제품</a:t>
            </a:r>
            <a:r>
              <a:rPr lang="en-US" altLang="ko-KR" sz="1000" dirty="0">
                <a:solidFill>
                  <a:schemeClr val="tx1"/>
                </a:solidFill>
              </a:rPr>
              <a:t>LOT</a:t>
            </a:r>
            <a:r>
              <a:rPr lang="ko-KR" altLang="en-US" sz="1000" dirty="0">
                <a:solidFill>
                  <a:schemeClr val="tx1"/>
                </a:solidFill>
              </a:rPr>
              <a:t>변경</a:t>
            </a:r>
          </a:p>
        </p:txBody>
      </p:sp>
      <p:sp>
        <p:nvSpPr>
          <p:cNvPr id="161" name="직사각형 160"/>
          <p:cNvSpPr/>
          <p:nvPr/>
        </p:nvSpPr>
        <p:spPr>
          <a:xfrm>
            <a:off x="6195138" y="285293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재고보류해제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62" name="꺾인 연결선 161"/>
          <p:cNvCxnSpPr>
            <a:stCxn id="8" idx="1"/>
            <a:endCxn id="157" idx="1"/>
          </p:cNvCxnSpPr>
          <p:nvPr/>
        </p:nvCxnSpPr>
        <p:spPr>
          <a:xfrm rot="10800000" flipV="1">
            <a:off x="6195138" y="1124744"/>
            <a:ext cx="12700" cy="68407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162"/>
          <p:cNvCxnSpPr>
            <a:stCxn id="8" idx="1"/>
            <a:endCxn id="158" idx="1"/>
          </p:cNvCxnSpPr>
          <p:nvPr/>
        </p:nvCxnSpPr>
        <p:spPr>
          <a:xfrm rot="10800000" flipV="1">
            <a:off x="6195138" y="1124744"/>
            <a:ext cx="12700" cy="972108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/>
          <p:cNvSpPr/>
          <p:nvPr/>
        </p:nvSpPr>
        <p:spPr>
          <a:xfrm>
            <a:off x="6195138" y="314096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유통가공</a:t>
            </a:r>
          </a:p>
        </p:txBody>
      </p:sp>
      <p:sp>
        <p:nvSpPr>
          <p:cNvPr id="165" name="직사각형 164"/>
          <p:cNvSpPr/>
          <p:nvPr/>
        </p:nvSpPr>
        <p:spPr>
          <a:xfrm>
            <a:off x="6195138" y="4005064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현재고조회</a:t>
            </a:r>
          </a:p>
        </p:txBody>
      </p:sp>
      <p:sp>
        <p:nvSpPr>
          <p:cNvPr id="166" name="직사각형 165"/>
          <p:cNvSpPr/>
          <p:nvPr/>
        </p:nvSpPr>
        <p:spPr>
          <a:xfrm>
            <a:off x="6195138" y="429309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수불조회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6195138" y="458112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이력조회</a:t>
            </a:r>
          </a:p>
        </p:txBody>
      </p:sp>
      <p:sp>
        <p:nvSpPr>
          <p:cNvPr id="168" name="직사각형 167"/>
          <p:cNvSpPr/>
          <p:nvPr/>
        </p:nvSpPr>
        <p:spPr>
          <a:xfrm>
            <a:off x="6195138" y="4869160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임박재고조회</a:t>
            </a:r>
          </a:p>
        </p:txBody>
      </p:sp>
      <p:cxnSp>
        <p:nvCxnSpPr>
          <p:cNvPr id="169" name="꺾인 연결선 168"/>
          <p:cNvCxnSpPr>
            <a:stCxn id="8" idx="1"/>
            <a:endCxn id="159" idx="1"/>
          </p:cNvCxnSpPr>
          <p:nvPr/>
        </p:nvCxnSpPr>
        <p:spPr>
          <a:xfrm rot="10800000" flipV="1">
            <a:off x="6195138" y="1124744"/>
            <a:ext cx="12700" cy="126014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꺾인 연결선 169"/>
          <p:cNvCxnSpPr>
            <a:stCxn id="8" idx="1"/>
            <a:endCxn id="160" idx="1"/>
          </p:cNvCxnSpPr>
          <p:nvPr/>
        </p:nvCxnSpPr>
        <p:spPr>
          <a:xfrm rot="10800000" flipV="1">
            <a:off x="6195138" y="1124744"/>
            <a:ext cx="12700" cy="154817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8" idx="1"/>
            <a:endCxn id="161" idx="1"/>
          </p:cNvCxnSpPr>
          <p:nvPr/>
        </p:nvCxnSpPr>
        <p:spPr>
          <a:xfrm rot="10800000" flipV="1">
            <a:off x="6195138" y="1124744"/>
            <a:ext cx="12700" cy="183620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/>
          <p:cNvCxnSpPr>
            <a:stCxn id="8" idx="1"/>
            <a:endCxn id="164" idx="1"/>
          </p:cNvCxnSpPr>
          <p:nvPr/>
        </p:nvCxnSpPr>
        <p:spPr>
          <a:xfrm rot="10800000" flipV="1">
            <a:off x="6195138" y="1124744"/>
            <a:ext cx="12700" cy="212423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/>
          <p:cNvCxnSpPr>
            <a:stCxn id="8" idx="1"/>
            <a:endCxn id="179" idx="1"/>
          </p:cNvCxnSpPr>
          <p:nvPr/>
        </p:nvCxnSpPr>
        <p:spPr>
          <a:xfrm rot="10800000" flipV="1">
            <a:off x="6195138" y="1124744"/>
            <a:ext cx="12700" cy="2412268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꺾인 연결선 173"/>
          <p:cNvCxnSpPr>
            <a:stCxn id="8" idx="1"/>
            <a:endCxn id="180" idx="1"/>
          </p:cNvCxnSpPr>
          <p:nvPr/>
        </p:nvCxnSpPr>
        <p:spPr>
          <a:xfrm rot="10800000" flipV="1">
            <a:off x="6195138" y="1124744"/>
            <a:ext cx="12700" cy="270030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꺾인 연결선 174"/>
          <p:cNvCxnSpPr>
            <a:stCxn id="8" idx="1"/>
            <a:endCxn id="165" idx="1"/>
          </p:cNvCxnSpPr>
          <p:nvPr/>
        </p:nvCxnSpPr>
        <p:spPr>
          <a:xfrm rot="10800000" flipV="1">
            <a:off x="6195138" y="1124744"/>
            <a:ext cx="12700" cy="298833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8" idx="1"/>
            <a:endCxn id="166" idx="1"/>
          </p:cNvCxnSpPr>
          <p:nvPr/>
        </p:nvCxnSpPr>
        <p:spPr>
          <a:xfrm rot="10800000" flipV="1">
            <a:off x="6195138" y="1124744"/>
            <a:ext cx="12700" cy="327636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직사각형 176"/>
          <p:cNvSpPr/>
          <p:nvPr/>
        </p:nvSpPr>
        <p:spPr>
          <a:xfrm>
            <a:off x="6195138" y="515719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체화재고조회</a:t>
            </a:r>
          </a:p>
        </p:txBody>
      </p:sp>
      <p:cxnSp>
        <p:nvCxnSpPr>
          <p:cNvPr id="178" name="꺾인 연결선 177"/>
          <p:cNvCxnSpPr>
            <a:stCxn id="8" idx="1"/>
            <a:endCxn id="177" idx="1"/>
          </p:cNvCxnSpPr>
          <p:nvPr/>
        </p:nvCxnSpPr>
        <p:spPr>
          <a:xfrm rot="10800000" flipV="1">
            <a:off x="6195138" y="1124744"/>
            <a:ext cx="12700" cy="414046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/>
          <p:cNvSpPr/>
          <p:nvPr/>
        </p:nvSpPr>
        <p:spPr>
          <a:xfrm>
            <a:off x="6195138" y="3429000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재고실사</a:t>
            </a:r>
          </a:p>
        </p:txBody>
      </p:sp>
      <p:sp>
        <p:nvSpPr>
          <p:cNvPr id="180" name="직사각형 179"/>
          <p:cNvSpPr/>
          <p:nvPr/>
        </p:nvSpPr>
        <p:spPr>
          <a:xfrm>
            <a:off x="6195138" y="371703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재고수불이월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1" name="꺾인 연결선 180"/>
          <p:cNvCxnSpPr>
            <a:stCxn id="8" idx="1"/>
            <a:endCxn id="167" idx="1"/>
          </p:cNvCxnSpPr>
          <p:nvPr/>
        </p:nvCxnSpPr>
        <p:spPr>
          <a:xfrm rot="10800000" flipV="1">
            <a:off x="6195138" y="1124744"/>
            <a:ext cx="12700" cy="356439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8" idx="1"/>
            <a:endCxn id="168" idx="1"/>
          </p:cNvCxnSpPr>
          <p:nvPr/>
        </p:nvCxnSpPr>
        <p:spPr>
          <a:xfrm rot="10800000" flipV="1">
            <a:off x="6195138" y="1124744"/>
            <a:ext cx="12700" cy="3852428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직사각형 182"/>
          <p:cNvSpPr/>
          <p:nvPr/>
        </p:nvSpPr>
        <p:spPr>
          <a:xfrm>
            <a:off x="6195138" y="5445224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LOT</a:t>
            </a:r>
            <a:r>
              <a:rPr lang="ko-KR" altLang="en-US" sz="1000" dirty="0">
                <a:solidFill>
                  <a:schemeClr val="tx1"/>
                </a:solidFill>
              </a:rPr>
              <a:t>재고조회</a:t>
            </a:r>
          </a:p>
        </p:txBody>
      </p:sp>
      <p:cxnSp>
        <p:nvCxnSpPr>
          <p:cNvPr id="184" name="꺾인 연결선 183"/>
          <p:cNvCxnSpPr>
            <a:stCxn id="8" idx="1"/>
            <a:endCxn id="183" idx="1"/>
          </p:cNvCxnSpPr>
          <p:nvPr/>
        </p:nvCxnSpPr>
        <p:spPr>
          <a:xfrm rot="10800000" flipV="1">
            <a:off x="6195138" y="1124744"/>
            <a:ext cx="12700" cy="442849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/>
          <p:cNvSpPr/>
          <p:nvPr/>
        </p:nvSpPr>
        <p:spPr>
          <a:xfrm>
            <a:off x="8049343" y="141277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물류센터</a:t>
            </a:r>
          </a:p>
        </p:txBody>
      </p:sp>
      <p:cxnSp>
        <p:nvCxnSpPr>
          <p:cNvPr id="217" name="꺾인 연결선 216"/>
          <p:cNvCxnSpPr>
            <a:stCxn id="9" idx="1"/>
            <a:endCxn id="216" idx="1"/>
          </p:cNvCxnSpPr>
          <p:nvPr/>
        </p:nvCxnSpPr>
        <p:spPr>
          <a:xfrm rot="10800000" flipV="1">
            <a:off x="8049343" y="1124744"/>
            <a:ext cx="12700" cy="39604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직사각형 217"/>
          <p:cNvSpPr/>
          <p:nvPr/>
        </p:nvSpPr>
        <p:spPr>
          <a:xfrm>
            <a:off x="8049343" y="170080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구역</a:t>
            </a:r>
          </a:p>
        </p:txBody>
      </p:sp>
      <p:sp>
        <p:nvSpPr>
          <p:cNvPr id="219" name="직사각형 218"/>
          <p:cNvSpPr/>
          <p:nvPr/>
        </p:nvSpPr>
        <p:spPr>
          <a:xfrm>
            <a:off x="8049343" y="1988840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ZONE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0" name="직사각형 219"/>
          <p:cNvSpPr/>
          <p:nvPr/>
        </p:nvSpPr>
        <p:spPr>
          <a:xfrm>
            <a:off x="8049343" y="227687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로케이션</a:t>
            </a:r>
          </a:p>
        </p:txBody>
      </p:sp>
      <p:sp>
        <p:nvSpPr>
          <p:cNvPr id="221" name="직사각형 220"/>
          <p:cNvSpPr/>
          <p:nvPr/>
        </p:nvSpPr>
        <p:spPr>
          <a:xfrm>
            <a:off x="8049343" y="2564904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고객사</a:t>
            </a:r>
          </a:p>
        </p:txBody>
      </p:sp>
      <p:sp>
        <p:nvSpPr>
          <p:cNvPr id="222" name="직사각형 221"/>
          <p:cNvSpPr/>
          <p:nvPr/>
        </p:nvSpPr>
        <p:spPr>
          <a:xfrm>
            <a:off x="8049343" y="285293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공급처</a:t>
            </a:r>
          </a:p>
        </p:txBody>
      </p:sp>
      <p:cxnSp>
        <p:nvCxnSpPr>
          <p:cNvPr id="223" name="꺾인 연결선 222"/>
          <p:cNvCxnSpPr>
            <a:stCxn id="9" idx="1"/>
            <a:endCxn id="218" idx="1"/>
          </p:cNvCxnSpPr>
          <p:nvPr/>
        </p:nvCxnSpPr>
        <p:spPr>
          <a:xfrm rot="10800000" flipV="1">
            <a:off x="8049343" y="1124744"/>
            <a:ext cx="12700" cy="68407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꺾인 연결선 223"/>
          <p:cNvCxnSpPr>
            <a:stCxn id="9" idx="1"/>
            <a:endCxn id="219" idx="1"/>
          </p:cNvCxnSpPr>
          <p:nvPr/>
        </p:nvCxnSpPr>
        <p:spPr>
          <a:xfrm rot="10800000" flipV="1">
            <a:off x="8049343" y="1124744"/>
            <a:ext cx="12700" cy="972108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직사각형 224"/>
          <p:cNvSpPr/>
          <p:nvPr/>
        </p:nvSpPr>
        <p:spPr>
          <a:xfrm>
            <a:off x="8049343" y="314096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배송처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6" name="직사각형 225"/>
          <p:cNvSpPr/>
          <p:nvPr/>
        </p:nvSpPr>
        <p:spPr>
          <a:xfrm>
            <a:off x="8049343" y="4005064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세트제품</a:t>
            </a:r>
            <a:r>
              <a:rPr lang="en-US" altLang="ko-KR" sz="1000" dirty="0">
                <a:solidFill>
                  <a:schemeClr val="tx1"/>
                </a:solidFill>
              </a:rPr>
              <a:t>BOM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8049343" y="429309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제품고정로케이션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8049343" y="458112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규격</a:t>
            </a:r>
          </a:p>
        </p:txBody>
      </p:sp>
      <p:sp>
        <p:nvSpPr>
          <p:cNvPr id="229" name="직사각형 228"/>
          <p:cNvSpPr/>
          <p:nvPr/>
        </p:nvSpPr>
        <p:spPr>
          <a:xfrm>
            <a:off x="8049343" y="4869160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파렛트</a:t>
            </a:r>
            <a:r>
              <a:rPr lang="en-US" altLang="ko-KR" sz="1000" dirty="0">
                <a:solidFill>
                  <a:schemeClr val="tx1"/>
                </a:solidFill>
              </a:rPr>
              <a:t>ID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230" name="꺾인 연결선 229"/>
          <p:cNvCxnSpPr>
            <a:stCxn id="9" idx="1"/>
            <a:endCxn id="220" idx="1"/>
          </p:cNvCxnSpPr>
          <p:nvPr/>
        </p:nvCxnSpPr>
        <p:spPr>
          <a:xfrm rot="10800000" flipV="1">
            <a:off x="8049343" y="1124744"/>
            <a:ext cx="12700" cy="126014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꺾인 연결선 230"/>
          <p:cNvCxnSpPr>
            <a:stCxn id="9" idx="1"/>
            <a:endCxn id="221" idx="1"/>
          </p:cNvCxnSpPr>
          <p:nvPr/>
        </p:nvCxnSpPr>
        <p:spPr>
          <a:xfrm rot="10800000" flipV="1">
            <a:off x="8049343" y="1124744"/>
            <a:ext cx="12700" cy="154817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꺾인 연결선 231"/>
          <p:cNvCxnSpPr>
            <a:stCxn id="9" idx="1"/>
            <a:endCxn id="222" idx="1"/>
          </p:cNvCxnSpPr>
          <p:nvPr/>
        </p:nvCxnSpPr>
        <p:spPr>
          <a:xfrm rot="10800000" flipV="1">
            <a:off x="8049343" y="1124744"/>
            <a:ext cx="12700" cy="183620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꺾인 연결선 232"/>
          <p:cNvCxnSpPr>
            <a:stCxn id="9" idx="1"/>
            <a:endCxn id="225" idx="1"/>
          </p:cNvCxnSpPr>
          <p:nvPr/>
        </p:nvCxnSpPr>
        <p:spPr>
          <a:xfrm rot="10800000" flipV="1">
            <a:off x="8049343" y="1124744"/>
            <a:ext cx="12700" cy="212423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/>
          <p:cNvCxnSpPr>
            <a:stCxn id="9" idx="1"/>
            <a:endCxn id="240" idx="1"/>
          </p:cNvCxnSpPr>
          <p:nvPr/>
        </p:nvCxnSpPr>
        <p:spPr>
          <a:xfrm rot="10800000" flipV="1">
            <a:off x="8049343" y="1124744"/>
            <a:ext cx="12700" cy="2412268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꺾인 연결선 234"/>
          <p:cNvCxnSpPr>
            <a:stCxn id="9" idx="1"/>
            <a:endCxn id="241" idx="1"/>
          </p:cNvCxnSpPr>
          <p:nvPr/>
        </p:nvCxnSpPr>
        <p:spPr>
          <a:xfrm rot="10800000" flipV="1">
            <a:off x="8049343" y="1124744"/>
            <a:ext cx="12700" cy="270030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꺾인 연결선 235"/>
          <p:cNvCxnSpPr>
            <a:stCxn id="9" idx="1"/>
            <a:endCxn id="226" idx="1"/>
          </p:cNvCxnSpPr>
          <p:nvPr/>
        </p:nvCxnSpPr>
        <p:spPr>
          <a:xfrm rot="10800000" flipV="1">
            <a:off x="8049343" y="1124744"/>
            <a:ext cx="12700" cy="298833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9" idx="1"/>
            <a:endCxn id="227" idx="1"/>
          </p:cNvCxnSpPr>
          <p:nvPr/>
        </p:nvCxnSpPr>
        <p:spPr>
          <a:xfrm rot="10800000" flipV="1">
            <a:off x="8049343" y="1124744"/>
            <a:ext cx="12700" cy="327636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직사각형 237"/>
          <p:cNvSpPr/>
          <p:nvPr/>
        </p:nvSpPr>
        <p:spPr>
          <a:xfrm>
            <a:off x="8049343" y="515719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박스</a:t>
            </a:r>
            <a:r>
              <a:rPr lang="en-US" altLang="ko-KR" sz="1000" dirty="0">
                <a:solidFill>
                  <a:schemeClr val="tx1"/>
                </a:solidFill>
              </a:rPr>
              <a:t>ID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239" name="꺾인 연결선 238"/>
          <p:cNvCxnSpPr>
            <a:stCxn id="9" idx="1"/>
            <a:endCxn id="238" idx="1"/>
          </p:cNvCxnSpPr>
          <p:nvPr/>
        </p:nvCxnSpPr>
        <p:spPr>
          <a:xfrm rot="10800000" flipV="1">
            <a:off x="8049343" y="1124744"/>
            <a:ext cx="12700" cy="414046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직사각형 239"/>
          <p:cNvSpPr/>
          <p:nvPr/>
        </p:nvSpPr>
        <p:spPr>
          <a:xfrm>
            <a:off x="8049343" y="3429000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제품분류</a:t>
            </a:r>
          </a:p>
        </p:txBody>
      </p:sp>
      <p:sp>
        <p:nvSpPr>
          <p:cNvPr id="241" name="직사각형 240"/>
          <p:cNvSpPr/>
          <p:nvPr/>
        </p:nvSpPr>
        <p:spPr>
          <a:xfrm>
            <a:off x="8049343" y="371703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제품</a:t>
            </a:r>
          </a:p>
        </p:txBody>
      </p:sp>
      <p:cxnSp>
        <p:nvCxnSpPr>
          <p:cNvPr id="242" name="꺾인 연결선 241"/>
          <p:cNvCxnSpPr>
            <a:stCxn id="9" idx="1"/>
            <a:endCxn id="228" idx="1"/>
          </p:cNvCxnSpPr>
          <p:nvPr/>
        </p:nvCxnSpPr>
        <p:spPr>
          <a:xfrm rot="10800000" flipV="1">
            <a:off x="8049343" y="1124744"/>
            <a:ext cx="12700" cy="356439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꺾인 연결선 242"/>
          <p:cNvCxnSpPr>
            <a:stCxn id="9" idx="1"/>
            <a:endCxn id="229" idx="1"/>
          </p:cNvCxnSpPr>
          <p:nvPr/>
        </p:nvCxnSpPr>
        <p:spPr>
          <a:xfrm rot="10800000" flipV="1">
            <a:off x="8049343" y="1124744"/>
            <a:ext cx="12700" cy="3852428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직사각형 243"/>
          <p:cNvSpPr/>
          <p:nvPr/>
        </p:nvSpPr>
        <p:spPr>
          <a:xfrm>
            <a:off x="8049343" y="5445224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권역</a:t>
            </a:r>
          </a:p>
        </p:txBody>
      </p:sp>
      <p:cxnSp>
        <p:nvCxnSpPr>
          <p:cNvPr id="245" name="꺾인 연결선 244"/>
          <p:cNvCxnSpPr>
            <a:stCxn id="9" idx="1"/>
            <a:endCxn id="244" idx="1"/>
          </p:cNvCxnSpPr>
          <p:nvPr/>
        </p:nvCxnSpPr>
        <p:spPr>
          <a:xfrm rot="10800000" flipV="1">
            <a:off x="8049343" y="1124744"/>
            <a:ext cx="12700" cy="442849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모서리가 둥근 직사각형 278"/>
          <p:cNvSpPr/>
          <p:nvPr/>
        </p:nvSpPr>
        <p:spPr>
          <a:xfrm>
            <a:off x="4338836" y="4077072"/>
            <a:ext cx="1224136" cy="2880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인터페이스</a:t>
            </a:r>
          </a:p>
        </p:txBody>
      </p:sp>
      <p:sp>
        <p:nvSpPr>
          <p:cNvPr id="280" name="직사각형 279"/>
          <p:cNvSpPr/>
          <p:nvPr/>
        </p:nvSpPr>
        <p:spPr>
          <a:xfrm>
            <a:off x="4338836" y="4509120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체크항목</a:t>
            </a:r>
          </a:p>
        </p:txBody>
      </p:sp>
      <p:cxnSp>
        <p:nvCxnSpPr>
          <p:cNvPr id="281" name="꺾인 연결선 280"/>
          <p:cNvCxnSpPr/>
          <p:nvPr/>
        </p:nvCxnSpPr>
        <p:spPr>
          <a:xfrm rot="10800000" flipV="1">
            <a:off x="4338836" y="4221088"/>
            <a:ext cx="12700" cy="39604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직사각형 281"/>
          <p:cNvSpPr/>
          <p:nvPr/>
        </p:nvSpPr>
        <p:spPr>
          <a:xfrm>
            <a:off x="4338836" y="479715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코드매핑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83" name="직사각형 282"/>
          <p:cNvSpPr/>
          <p:nvPr/>
        </p:nvSpPr>
        <p:spPr>
          <a:xfrm>
            <a:off x="4338836" y="5085184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레이아웃매핑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84" name="직사각형 283"/>
          <p:cNvSpPr/>
          <p:nvPr/>
        </p:nvSpPr>
        <p:spPr>
          <a:xfrm>
            <a:off x="4338836" y="537321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플래그정보</a:t>
            </a:r>
          </a:p>
        </p:txBody>
      </p:sp>
      <p:sp>
        <p:nvSpPr>
          <p:cNvPr id="285" name="직사각형 284"/>
          <p:cNvSpPr/>
          <p:nvPr/>
        </p:nvSpPr>
        <p:spPr>
          <a:xfrm>
            <a:off x="4338836" y="566124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수신처리</a:t>
            </a:r>
          </a:p>
        </p:txBody>
      </p:sp>
      <p:sp>
        <p:nvSpPr>
          <p:cNvPr id="286" name="직사각형 285"/>
          <p:cNvSpPr/>
          <p:nvPr/>
        </p:nvSpPr>
        <p:spPr>
          <a:xfrm>
            <a:off x="4338836" y="5949280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송신처리</a:t>
            </a:r>
          </a:p>
        </p:txBody>
      </p:sp>
      <p:cxnSp>
        <p:nvCxnSpPr>
          <p:cNvPr id="287" name="꺾인 연결선 286"/>
          <p:cNvCxnSpPr/>
          <p:nvPr/>
        </p:nvCxnSpPr>
        <p:spPr>
          <a:xfrm rot="10800000" flipV="1">
            <a:off x="4338836" y="4221088"/>
            <a:ext cx="12700" cy="68407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꺾인 연결선 287"/>
          <p:cNvCxnSpPr/>
          <p:nvPr/>
        </p:nvCxnSpPr>
        <p:spPr>
          <a:xfrm rot="10800000" flipV="1">
            <a:off x="4338836" y="4221088"/>
            <a:ext cx="12700" cy="972108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직사각형 288"/>
          <p:cNvSpPr/>
          <p:nvPr/>
        </p:nvSpPr>
        <p:spPr>
          <a:xfrm>
            <a:off x="4338836" y="623731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송수신스케쥴러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290" name="꺾인 연결선 289"/>
          <p:cNvCxnSpPr/>
          <p:nvPr/>
        </p:nvCxnSpPr>
        <p:spPr>
          <a:xfrm rot="10800000" flipV="1">
            <a:off x="4338836" y="4221088"/>
            <a:ext cx="12700" cy="126014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꺾인 연결선 290"/>
          <p:cNvCxnSpPr/>
          <p:nvPr/>
        </p:nvCxnSpPr>
        <p:spPr>
          <a:xfrm rot="10800000" flipV="1">
            <a:off x="4338836" y="4221088"/>
            <a:ext cx="12700" cy="1548172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꺾인 연결선 291"/>
          <p:cNvCxnSpPr/>
          <p:nvPr/>
        </p:nvCxnSpPr>
        <p:spPr>
          <a:xfrm rot="10800000" flipV="1">
            <a:off x="4338836" y="4221088"/>
            <a:ext cx="12700" cy="183620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꺾인 연결선 292"/>
          <p:cNvCxnSpPr>
            <a:stCxn id="279" idx="1"/>
            <a:endCxn id="289" idx="1"/>
          </p:cNvCxnSpPr>
          <p:nvPr/>
        </p:nvCxnSpPr>
        <p:spPr>
          <a:xfrm rot="10800000" flipV="1">
            <a:off x="4338836" y="4221088"/>
            <a:ext cx="12700" cy="212423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모서리가 둥근 직사각형 293"/>
          <p:cNvSpPr/>
          <p:nvPr/>
        </p:nvSpPr>
        <p:spPr>
          <a:xfrm>
            <a:off x="628192" y="4941168"/>
            <a:ext cx="1224136" cy="2880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시스템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628192" y="5373216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운영규칙설정</a:t>
            </a:r>
          </a:p>
        </p:txBody>
      </p:sp>
      <p:cxnSp>
        <p:nvCxnSpPr>
          <p:cNvPr id="296" name="꺾인 연결선 295"/>
          <p:cNvCxnSpPr/>
          <p:nvPr/>
        </p:nvCxnSpPr>
        <p:spPr>
          <a:xfrm rot="10800000" flipV="1">
            <a:off x="628192" y="5085184"/>
            <a:ext cx="12700" cy="39604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직사각형 296"/>
          <p:cNvSpPr/>
          <p:nvPr/>
        </p:nvSpPr>
        <p:spPr>
          <a:xfrm>
            <a:off x="628192" y="5661248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적치전략</a:t>
            </a:r>
          </a:p>
        </p:txBody>
      </p:sp>
      <p:sp>
        <p:nvSpPr>
          <p:cNvPr id="298" name="직사각형 297"/>
          <p:cNvSpPr/>
          <p:nvPr/>
        </p:nvSpPr>
        <p:spPr>
          <a:xfrm>
            <a:off x="628192" y="5949280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보충전략</a:t>
            </a:r>
          </a:p>
        </p:txBody>
      </p:sp>
      <p:sp>
        <p:nvSpPr>
          <p:cNvPr id="299" name="직사각형 298"/>
          <p:cNvSpPr/>
          <p:nvPr/>
        </p:nvSpPr>
        <p:spPr>
          <a:xfrm>
            <a:off x="628192" y="623731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할당전략</a:t>
            </a:r>
          </a:p>
        </p:txBody>
      </p:sp>
      <p:cxnSp>
        <p:nvCxnSpPr>
          <p:cNvPr id="302" name="꺾인 연결선 301"/>
          <p:cNvCxnSpPr/>
          <p:nvPr/>
        </p:nvCxnSpPr>
        <p:spPr>
          <a:xfrm rot="10800000" flipV="1">
            <a:off x="628192" y="5085184"/>
            <a:ext cx="12700" cy="68407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꺾인 연결선 302"/>
          <p:cNvCxnSpPr/>
          <p:nvPr/>
        </p:nvCxnSpPr>
        <p:spPr>
          <a:xfrm rot="10800000" flipV="1">
            <a:off x="628192" y="5085184"/>
            <a:ext cx="12700" cy="972108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꺾인 연결선 304"/>
          <p:cNvCxnSpPr/>
          <p:nvPr/>
        </p:nvCxnSpPr>
        <p:spPr>
          <a:xfrm rot="10800000" flipV="1">
            <a:off x="628192" y="5085184"/>
            <a:ext cx="12700" cy="1260140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모서리가 둥근 직사각형 308"/>
          <p:cNvSpPr/>
          <p:nvPr/>
        </p:nvSpPr>
        <p:spPr>
          <a:xfrm>
            <a:off x="6194021" y="5805264"/>
            <a:ext cx="1224136" cy="2880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PDA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10" name="직사각형 309"/>
          <p:cNvSpPr/>
          <p:nvPr/>
        </p:nvSpPr>
        <p:spPr>
          <a:xfrm>
            <a:off x="6194021" y="6237312"/>
            <a:ext cx="1224000" cy="21602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입고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출고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재고</a:t>
            </a:r>
          </a:p>
        </p:txBody>
      </p:sp>
      <p:cxnSp>
        <p:nvCxnSpPr>
          <p:cNvPr id="311" name="꺾인 연결선 310"/>
          <p:cNvCxnSpPr>
            <a:stCxn id="309" idx="1"/>
            <a:endCxn id="310" idx="1"/>
          </p:cNvCxnSpPr>
          <p:nvPr/>
        </p:nvCxnSpPr>
        <p:spPr>
          <a:xfrm rot="10800000" flipV="1">
            <a:off x="6194021" y="5949280"/>
            <a:ext cx="12700" cy="396044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591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5. </a:t>
            </a:r>
            <a:r>
              <a:rPr lang="ko-KR" altLang="en-US" dirty="0">
                <a:latin typeface="+mn-ea"/>
                <a:ea typeface="+mn-ea"/>
              </a:rPr>
              <a:t>화면설계 현황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856527"/>
              </p:ext>
            </p:extLst>
          </p:nvPr>
        </p:nvGraphicFramePr>
        <p:xfrm>
          <a:off x="1064568" y="1196752"/>
          <a:ext cx="7344816" cy="4752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9759">
                  <a:extLst>
                    <a:ext uri="{9D8B030D-6E8A-4147-A177-3AD203B41FA5}">
                      <a16:colId xmlns:a16="http://schemas.microsoft.com/office/drawing/2014/main" val="3306505822"/>
                    </a:ext>
                  </a:extLst>
                </a:gridCol>
                <a:gridCol w="2356625">
                  <a:extLst>
                    <a:ext uri="{9D8B030D-6E8A-4147-A177-3AD203B41FA5}">
                      <a16:colId xmlns:a16="http://schemas.microsoft.com/office/drawing/2014/main" val="196213875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66940545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2669293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281137187"/>
                    </a:ext>
                  </a:extLst>
                </a:gridCol>
              </a:tblGrid>
              <a:tr h="43204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모듈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DB Table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10669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MS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마스터 관리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310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IB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입고 관리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7725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OB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출고 관리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2045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RI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반입 관리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81055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RO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반출 관리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997209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재고 관리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42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5843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IF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인터페이스 관리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56691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SYS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시스템 관리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프레임워크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공통 별도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45067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  <a:latin typeface="+mn-ea"/>
                          <a:ea typeface="+mn-ea"/>
                        </a:rPr>
                        <a:t>PDA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모바일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971622"/>
                  </a:ext>
                </a:extLst>
              </a:tr>
              <a:tr h="43204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+mn-ea"/>
                          <a:ea typeface="+mn-ea"/>
                        </a:rPr>
                        <a:t>159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로직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SP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 별도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186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245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6. </a:t>
            </a:r>
            <a:r>
              <a:rPr lang="ko-KR" altLang="en-US" dirty="0">
                <a:latin typeface="+mn-ea"/>
                <a:ea typeface="+mn-ea"/>
              </a:rPr>
              <a:t>프레임워크 예시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4" y="1556792"/>
            <a:ext cx="8534570" cy="482453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44" y="991778"/>
            <a:ext cx="8534570" cy="51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628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138388"/>
              </p:ext>
            </p:extLst>
          </p:nvPr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7. </a:t>
            </a:r>
            <a:r>
              <a:rPr lang="ko-KR" altLang="en-US" dirty="0">
                <a:latin typeface="+mn-ea"/>
                <a:ea typeface="+mn-ea"/>
              </a:rPr>
              <a:t>주요 </a:t>
            </a:r>
            <a:r>
              <a:rPr lang="en-US" altLang="ko-KR" dirty="0">
                <a:latin typeface="+mn-ea"/>
                <a:ea typeface="+mn-ea"/>
              </a:rPr>
              <a:t>UI</a:t>
            </a:r>
            <a:r>
              <a:rPr lang="ko-KR" altLang="en-US" dirty="0">
                <a:latin typeface="+mn-ea"/>
                <a:ea typeface="+mn-ea"/>
              </a:rPr>
              <a:t>설계</a:t>
            </a:r>
          </a:p>
        </p:txBody>
      </p:sp>
      <p:graphicFrame>
        <p:nvGraphicFramePr>
          <p:cNvPr id="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327794"/>
              </p:ext>
            </p:extLst>
          </p:nvPr>
        </p:nvGraphicFramePr>
        <p:xfrm>
          <a:off x="379413" y="2641480"/>
          <a:ext cx="9038082" cy="496277"/>
        </p:xfrm>
        <a:graphic>
          <a:graphicData uri="http://schemas.openxmlformats.org/drawingml/2006/table">
            <a:tbl>
              <a:tblPr/>
              <a:tblGrid>
                <a:gridCol w="220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7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00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2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5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5447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5447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5447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5447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5447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차량번호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발주일자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입고예정일자</a:t>
                      </a: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검수확정일시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입고구분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공급처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1000001001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20161027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2016-10-27 11:20:33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4" marR="7644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정상입고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54"/>
          <p:cNvSpPr>
            <a:spLocks noChangeArrowheads="1"/>
          </p:cNvSpPr>
          <p:nvPr/>
        </p:nvSpPr>
        <p:spPr bwMode="auto">
          <a:xfrm>
            <a:off x="309563" y="2533530"/>
            <a:ext cx="9215437" cy="16891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5" name="TextBox 55"/>
          <p:cNvSpPr txBox="1">
            <a:spLocks noChangeArrowheads="1"/>
          </p:cNvSpPr>
          <p:nvPr/>
        </p:nvSpPr>
        <p:spPr bwMode="auto">
          <a:xfrm>
            <a:off x="381000" y="2409705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입하예정 내역</a:t>
            </a:r>
          </a:p>
        </p:txBody>
      </p:sp>
      <p:sp>
        <p:nvSpPr>
          <p:cNvPr id="6" name="직사각형 51"/>
          <p:cNvSpPr>
            <a:spLocks noChangeArrowheads="1"/>
          </p:cNvSpPr>
          <p:nvPr/>
        </p:nvSpPr>
        <p:spPr bwMode="auto">
          <a:xfrm>
            <a:off x="8488363" y="227635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삭제</a:t>
            </a:r>
          </a:p>
        </p:txBody>
      </p:sp>
      <p:sp>
        <p:nvSpPr>
          <p:cNvPr id="7" name="직사각형 51"/>
          <p:cNvSpPr>
            <a:spLocks noChangeArrowheads="1"/>
          </p:cNvSpPr>
          <p:nvPr/>
        </p:nvSpPr>
        <p:spPr bwMode="auto">
          <a:xfrm>
            <a:off x="7399338" y="227635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조회</a:t>
            </a:r>
          </a:p>
        </p:txBody>
      </p:sp>
      <p:sp>
        <p:nvSpPr>
          <p:cNvPr id="8" name="직사각형 51"/>
          <p:cNvSpPr>
            <a:spLocks noChangeArrowheads="1"/>
          </p:cNvSpPr>
          <p:nvPr/>
        </p:nvSpPr>
        <p:spPr bwMode="auto">
          <a:xfrm>
            <a:off x="7945438" y="2276355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+mn-ea"/>
                <a:ea typeface="+mn-ea"/>
              </a:rPr>
              <a:t>신규</a:t>
            </a:r>
          </a:p>
        </p:txBody>
      </p:sp>
      <p:sp>
        <p:nvSpPr>
          <p:cNvPr id="9" name="직사각형 51"/>
          <p:cNvSpPr>
            <a:spLocks noChangeArrowheads="1"/>
          </p:cNvSpPr>
          <p:nvPr/>
        </p:nvSpPr>
        <p:spPr bwMode="auto">
          <a:xfrm>
            <a:off x="9026525" y="2276355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+mn-ea"/>
                <a:ea typeface="+mn-ea"/>
              </a:rPr>
              <a:t>엑셀</a:t>
            </a:r>
          </a:p>
        </p:txBody>
      </p:sp>
      <p:sp>
        <p:nvSpPr>
          <p:cNvPr id="10" name="직사각형 54"/>
          <p:cNvSpPr>
            <a:spLocks noChangeArrowheads="1"/>
          </p:cNvSpPr>
          <p:nvPr/>
        </p:nvSpPr>
        <p:spPr bwMode="auto">
          <a:xfrm>
            <a:off x="309563" y="4397255"/>
            <a:ext cx="9215437" cy="17700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11" name="TextBox 55"/>
          <p:cNvSpPr txBox="1">
            <a:spLocks noChangeArrowheads="1"/>
          </p:cNvSpPr>
          <p:nvPr/>
        </p:nvSpPr>
        <p:spPr bwMode="auto">
          <a:xfrm>
            <a:off x="381000" y="4273430"/>
            <a:ext cx="928688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입하예정상세</a:t>
            </a:r>
          </a:p>
        </p:txBody>
      </p:sp>
      <p:graphicFrame>
        <p:nvGraphicFramePr>
          <p:cNvPr id="12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292778"/>
              </p:ext>
            </p:extLst>
          </p:nvPr>
        </p:nvGraphicFramePr>
        <p:xfrm>
          <a:off x="379413" y="4503617"/>
          <a:ext cx="9038084" cy="503297"/>
        </p:xfrm>
        <a:graphic>
          <a:graphicData uri="http://schemas.openxmlformats.org/drawingml/2006/table">
            <a:tbl>
              <a:tblPr/>
              <a:tblGrid>
                <a:gridCol w="309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6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8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4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13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1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2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81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817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817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453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453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453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645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14475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제품명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규격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제품상태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입수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입고예정수량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입고수량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7645" marR="7645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예정중량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총량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낱개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3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VT100(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20*4*3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정상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박스</a:t>
                      </a: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5" marR="7645" marT="762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3" name="그룹 71"/>
          <p:cNvGrpSpPr>
            <a:grpSpLocks/>
          </p:cNvGrpSpPr>
          <p:nvPr/>
        </p:nvGrpSpPr>
        <p:grpSpPr bwMode="auto">
          <a:xfrm>
            <a:off x="425055" y="999778"/>
            <a:ext cx="1803668" cy="230188"/>
            <a:chOff x="3506512" y="1428736"/>
            <a:chExt cx="1803678" cy="230832"/>
          </a:xfrm>
        </p:grpSpPr>
        <p:sp>
          <p:nvSpPr>
            <p:cNvPr id="14" name="TextBox 65"/>
            <p:cNvSpPr txBox="1">
              <a:spLocks noChangeArrowheads="1"/>
            </p:cNvSpPr>
            <p:nvPr/>
          </p:nvSpPr>
          <p:spPr bwMode="auto">
            <a:xfrm>
              <a:off x="350651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+mn-ea"/>
                  <a:ea typeface="+mn-ea"/>
                </a:rPr>
                <a:t>물류센터</a:t>
              </a:r>
            </a:p>
          </p:txBody>
        </p:sp>
        <p:sp>
          <p:nvSpPr>
            <p:cNvPr id="1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6" name="직사각형 33"/>
          <p:cNvSpPr>
            <a:spLocks noChangeArrowheads="1"/>
          </p:cNvSpPr>
          <p:nvPr/>
        </p:nvSpPr>
        <p:spPr bwMode="auto">
          <a:xfrm>
            <a:off x="2085852" y="1004541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17" name="TextBox 65"/>
          <p:cNvSpPr txBox="1">
            <a:spLocks noChangeArrowheads="1"/>
          </p:cNvSpPr>
          <p:nvPr/>
        </p:nvSpPr>
        <p:spPr bwMode="auto">
          <a:xfrm>
            <a:off x="333375" y="1700092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입고구분</a:t>
            </a:r>
          </a:p>
        </p:txBody>
      </p:sp>
      <p:sp>
        <p:nvSpPr>
          <p:cNvPr id="18" name="TextBox 65"/>
          <p:cNvSpPr txBox="1">
            <a:spLocks noChangeArrowheads="1"/>
          </p:cNvSpPr>
          <p:nvPr/>
        </p:nvSpPr>
        <p:spPr bwMode="auto">
          <a:xfrm>
            <a:off x="296863" y="1342111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 err="1">
                <a:latin typeface="+mn-ea"/>
                <a:ea typeface="+mn-ea"/>
              </a:rPr>
              <a:t>고객사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9" name="직사각형 66"/>
          <p:cNvSpPr>
            <a:spLocks noChangeArrowheads="1"/>
          </p:cNvSpPr>
          <p:nvPr/>
        </p:nvSpPr>
        <p:spPr bwMode="auto">
          <a:xfrm>
            <a:off x="1239838" y="1351636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+mn-ea"/>
                <a:ea typeface="+mn-ea"/>
              </a:rPr>
              <a:t>0000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0" name="TextBox 65"/>
          <p:cNvSpPr txBox="1">
            <a:spLocks noChangeArrowheads="1"/>
          </p:cNvSpPr>
          <p:nvPr/>
        </p:nvSpPr>
        <p:spPr bwMode="auto">
          <a:xfrm>
            <a:off x="3555815" y="1370930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입고예정일자</a:t>
            </a:r>
          </a:p>
        </p:txBody>
      </p:sp>
      <p:sp>
        <p:nvSpPr>
          <p:cNvPr id="21" name="직사각형 66"/>
          <p:cNvSpPr>
            <a:spLocks noChangeArrowheads="1"/>
          </p:cNvSpPr>
          <p:nvPr/>
        </p:nvSpPr>
        <p:spPr bwMode="auto">
          <a:xfrm>
            <a:off x="4497203" y="135823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2016-10-27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2" name="직사각형 66"/>
          <p:cNvSpPr>
            <a:spLocks noChangeArrowheads="1"/>
          </p:cNvSpPr>
          <p:nvPr/>
        </p:nvSpPr>
        <p:spPr bwMode="auto">
          <a:xfrm>
            <a:off x="5714815" y="135823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2016-11-03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3" name="직사각형 48"/>
          <p:cNvSpPr>
            <a:spLocks noChangeArrowheads="1"/>
          </p:cNvSpPr>
          <p:nvPr/>
        </p:nvSpPr>
        <p:spPr bwMode="auto">
          <a:xfrm>
            <a:off x="5354453" y="135823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4" name="직사각형 48"/>
          <p:cNvSpPr>
            <a:spLocks noChangeArrowheads="1"/>
          </p:cNvSpPr>
          <p:nvPr/>
        </p:nvSpPr>
        <p:spPr bwMode="auto">
          <a:xfrm>
            <a:off x="6572065" y="135823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25" name="TextBox 65"/>
          <p:cNvSpPr txBox="1">
            <a:spLocks noChangeArrowheads="1"/>
          </p:cNvSpPr>
          <p:nvPr/>
        </p:nvSpPr>
        <p:spPr bwMode="auto">
          <a:xfrm>
            <a:off x="5486215" y="1340768"/>
            <a:ext cx="21431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>
                <a:latin typeface="+mn-ea"/>
                <a:ea typeface="+mn-ea"/>
              </a:rPr>
              <a:t>~</a:t>
            </a:r>
            <a:endParaRPr lang="ko-KR" altLang="en-US" sz="900">
              <a:latin typeface="+mn-ea"/>
              <a:ea typeface="+mn-ea"/>
            </a:endParaRPr>
          </a:p>
        </p:txBody>
      </p:sp>
      <p:sp>
        <p:nvSpPr>
          <p:cNvPr id="26" name="TextBox 65"/>
          <p:cNvSpPr txBox="1">
            <a:spLocks noChangeArrowheads="1"/>
          </p:cNvSpPr>
          <p:nvPr/>
        </p:nvSpPr>
        <p:spPr bwMode="auto">
          <a:xfrm>
            <a:off x="6784605" y="1356399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진행상태</a:t>
            </a:r>
          </a:p>
        </p:txBody>
      </p:sp>
      <p:sp>
        <p:nvSpPr>
          <p:cNvPr id="27" name="직사각형 66"/>
          <p:cNvSpPr>
            <a:spLocks noChangeArrowheads="1"/>
          </p:cNvSpPr>
          <p:nvPr/>
        </p:nvSpPr>
        <p:spPr bwMode="auto">
          <a:xfrm>
            <a:off x="7687893" y="1356399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+mn-ea"/>
                <a:ea typeface="+mn-ea"/>
              </a:rPr>
              <a:t>입하예정</a:t>
            </a:r>
          </a:p>
        </p:txBody>
      </p:sp>
      <p:sp>
        <p:nvSpPr>
          <p:cNvPr id="28" name="TextBox 65"/>
          <p:cNvSpPr txBox="1">
            <a:spLocks noChangeArrowheads="1"/>
          </p:cNvSpPr>
          <p:nvPr/>
        </p:nvSpPr>
        <p:spPr bwMode="auto">
          <a:xfrm>
            <a:off x="3430353" y="1693833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입고번호</a:t>
            </a:r>
          </a:p>
        </p:txBody>
      </p:sp>
      <p:sp>
        <p:nvSpPr>
          <p:cNvPr id="29" name="직사각형 66"/>
          <p:cNvSpPr>
            <a:spLocks noChangeArrowheads="1"/>
          </p:cNvSpPr>
          <p:nvPr/>
        </p:nvSpPr>
        <p:spPr bwMode="auto">
          <a:xfrm>
            <a:off x="4482631" y="1695330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TextBox 65"/>
          <p:cNvSpPr txBox="1">
            <a:spLocks noChangeArrowheads="1"/>
          </p:cNvSpPr>
          <p:nvPr/>
        </p:nvSpPr>
        <p:spPr bwMode="auto">
          <a:xfrm>
            <a:off x="6784606" y="1638729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+mn-ea"/>
                <a:ea typeface="+mn-ea"/>
              </a:rPr>
              <a:t>차량번호</a:t>
            </a:r>
          </a:p>
        </p:txBody>
      </p:sp>
      <p:sp>
        <p:nvSpPr>
          <p:cNvPr id="31" name="직사각형 66"/>
          <p:cNvSpPr>
            <a:spLocks noChangeArrowheads="1"/>
          </p:cNvSpPr>
          <p:nvPr/>
        </p:nvSpPr>
        <p:spPr bwMode="auto">
          <a:xfrm>
            <a:off x="7687893" y="1638729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06</a:t>
            </a:r>
            <a:r>
              <a:rPr lang="ko-KR" altLang="en-US">
                <a:latin typeface="+mn-ea"/>
                <a:ea typeface="+mn-ea"/>
              </a:rPr>
              <a:t>머</a:t>
            </a:r>
            <a:r>
              <a:rPr lang="en-US" altLang="ko-KR">
                <a:latin typeface="+mn-ea"/>
                <a:ea typeface="+mn-ea"/>
              </a:rPr>
              <a:t>-0407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32" name="직사각형 66"/>
          <p:cNvSpPr>
            <a:spLocks noChangeArrowheads="1"/>
          </p:cNvSpPr>
          <p:nvPr/>
        </p:nvSpPr>
        <p:spPr bwMode="auto">
          <a:xfrm>
            <a:off x="1239838" y="1695330"/>
            <a:ext cx="1000125" cy="2143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+mn-ea"/>
                <a:ea typeface="+mn-ea"/>
              </a:rPr>
              <a:t>정상입고</a:t>
            </a:r>
          </a:p>
        </p:txBody>
      </p:sp>
      <p:sp>
        <p:nvSpPr>
          <p:cNvPr id="33" name="직사각형 33"/>
          <p:cNvSpPr>
            <a:spLocks noChangeArrowheads="1"/>
          </p:cNvSpPr>
          <p:nvPr/>
        </p:nvSpPr>
        <p:spPr bwMode="auto">
          <a:xfrm>
            <a:off x="2105025" y="1688980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34" name="직사각형 48"/>
          <p:cNvSpPr>
            <a:spLocks noChangeArrowheads="1"/>
          </p:cNvSpPr>
          <p:nvPr/>
        </p:nvSpPr>
        <p:spPr bwMode="auto">
          <a:xfrm>
            <a:off x="2298700" y="1348461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35" name="직사각형 66"/>
          <p:cNvSpPr>
            <a:spLocks noChangeArrowheads="1"/>
          </p:cNvSpPr>
          <p:nvPr/>
        </p:nvSpPr>
        <p:spPr bwMode="auto">
          <a:xfrm>
            <a:off x="2498725" y="1356399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 err="1">
                <a:latin typeface="+mn-ea"/>
                <a:ea typeface="+mn-ea"/>
              </a:rPr>
              <a:t>버텍스아이디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6" name="직사각형 33"/>
          <p:cNvSpPr>
            <a:spLocks noChangeArrowheads="1"/>
          </p:cNvSpPr>
          <p:nvPr/>
        </p:nvSpPr>
        <p:spPr bwMode="auto">
          <a:xfrm>
            <a:off x="8549905" y="1356399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+mn-ea"/>
                <a:ea typeface="+mn-ea"/>
              </a:rPr>
              <a:t>▼</a:t>
            </a:r>
          </a:p>
        </p:txBody>
      </p:sp>
      <p:sp>
        <p:nvSpPr>
          <p:cNvPr id="37" name="TextBox 65"/>
          <p:cNvSpPr txBox="1">
            <a:spLocks noChangeArrowheads="1"/>
          </p:cNvSpPr>
          <p:nvPr/>
        </p:nvSpPr>
        <p:spPr bwMode="auto">
          <a:xfrm>
            <a:off x="311150" y="2055692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+mn-ea"/>
                <a:ea typeface="+mn-ea"/>
              </a:rPr>
              <a:t>공급처</a:t>
            </a:r>
          </a:p>
        </p:txBody>
      </p:sp>
      <p:sp>
        <p:nvSpPr>
          <p:cNvPr id="38" name="직사각형 66"/>
          <p:cNvSpPr>
            <a:spLocks noChangeArrowheads="1"/>
          </p:cNvSpPr>
          <p:nvPr/>
        </p:nvSpPr>
        <p:spPr bwMode="auto">
          <a:xfrm>
            <a:off x="1254125" y="2065217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39" name="직사각형 48"/>
          <p:cNvSpPr>
            <a:spLocks noChangeArrowheads="1"/>
          </p:cNvSpPr>
          <p:nvPr/>
        </p:nvSpPr>
        <p:spPr bwMode="auto">
          <a:xfrm>
            <a:off x="2312988" y="2062042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+mn-ea"/>
                <a:ea typeface="+mn-ea"/>
              </a:rPr>
              <a:t>?</a:t>
            </a:r>
            <a:endParaRPr lang="ko-KR" altLang="en-US">
              <a:latin typeface="+mn-ea"/>
              <a:ea typeface="+mn-ea"/>
            </a:endParaRPr>
          </a:p>
        </p:txBody>
      </p:sp>
      <p:sp>
        <p:nvSpPr>
          <p:cNvPr id="40" name="직사각형 66"/>
          <p:cNvSpPr>
            <a:spLocks noChangeArrowheads="1"/>
          </p:cNvSpPr>
          <p:nvPr/>
        </p:nvSpPr>
        <p:spPr bwMode="auto">
          <a:xfrm>
            <a:off x="2513013" y="2069980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102244"/>
              </p:ext>
            </p:extLst>
          </p:nvPr>
        </p:nvGraphicFramePr>
        <p:xfrm>
          <a:off x="381000" y="5158659"/>
          <a:ext cx="9036495" cy="466395"/>
        </p:xfrm>
        <a:graphic>
          <a:graphicData uri="http://schemas.openxmlformats.org/drawingml/2006/table">
            <a:tbl>
              <a:tblPr/>
              <a:tblGrid>
                <a:gridCol w="100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4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4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4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0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40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690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49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입고예정</a:t>
                      </a:r>
                    </a:p>
                  </a:txBody>
                  <a:tcPr marL="7648" marR="7648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" name="제목 1"/>
          <p:cNvSpPr txBox="1">
            <a:spLocks/>
          </p:cNvSpPr>
          <p:nvPr/>
        </p:nvSpPr>
        <p:spPr bwMode="auto">
          <a:xfrm>
            <a:off x="1208584" y="332656"/>
            <a:ext cx="3420567" cy="41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600" dirty="0">
                <a:latin typeface="+mn-ea"/>
                <a:ea typeface="+mn-ea"/>
              </a:rPr>
              <a:t>입고예정등록</a:t>
            </a:r>
            <a:r>
              <a:rPr kumimoji="0" lang="en-US" altLang="ko-KR" sz="1600" dirty="0">
                <a:latin typeface="+mn-ea"/>
                <a:ea typeface="+mn-ea"/>
              </a:rPr>
              <a:t>/</a:t>
            </a:r>
            <a:r>
              <a:rPr kumimoji="0" lang="ko-KR" altLang="en-US" sz="1600" dirty="0">
                <a:latin typeface="+mn-ea"/>
                <a:ea typeface="+mn-ea"/>
              </a:rPr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653090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82615"/>
              </p:ext>
            </p:extLst>
          </p:nvPr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7. </a:t>
            </a:r>
            <a:r>
              <a:rPr lang="ko-KR" altLang="en-US" dirty="0">
                <a:latin typeface="+mn-ea"/>
                <a:ea typeface="+mn-ea"/>
              </a:rPr>
              <a:t>주요 </a:t>
            </a:r>
            <a:r>
              <a:rPr lang="en-US" altLang="ko-KR" dirty="0">
                <a:latin typeface="+mn-ea"/>
                <a:ea typeface="+mn-ea"/>
              </a:rPr>
              <a:t>UI</a:t>
            </a:r>
            <a:r>
              <a:rPr lang="ko-KR" altLang="en-US" dirty="0">
                <a:latin typeface="+mn-ea"/>
                <a:ea typeface="+mn-ea"/>
              </a:rPr>
              <a:t>설계</a:t>
            </a:r>
          </a:p>
        </p:txBody>
      </p:sp>
      <p:graphicFrame>
        <p:nvGraphicFramePr>
          <p:cNvPr id="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764606"/>
              </p:ext>
            </p:extLst>
          </p:nvPr>
        </p:nvGraphicFramePr>
        <p:xfrm>
          <a:off x="379413" y="2640013"/>
          <a:ext cx="5852124" cy="563562"/>
        </p:xfrm>
        <a:graphic>
          <a:graphicData uri="http://schemas.openxmlformats.org/drawingml/2006/table">
            <a:tbl>
              <a:tblPr/>
              <a:tblGrid>
                <a:gridCol w="295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1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00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7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웨이브번호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웨이브설명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웨이브기준번호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웨이브기준설명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고객사출고예정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고객사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+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출고예정일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출고승인</a:t>
                      </a:r>
                    </a:p>
                  </a:txBody>
                  <a:tcPr marL="7644" marR="7644" marT="7628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54"/>
          <p:cNvSpPr>
            <a:spLocks noChangeArrowheads="1"/>
          </p:cNvSpPr>
          <p:nvPr/>
        </p:nvSpPr>
        <p:spPr bwMode="auto">
          <a:xfrm>
            <a:off x="309563" y="2532063"/>
            <a:ext cx="9215437" cy="14493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55"/>
          <p:cNvSpPr txBox="1">
            <a:spLocks noChangeArrowheads="1"/>
          </p:cNvSpPr>
          <p:nvPr/>
        </p:nvSpPr>
        <p:spPr bwMode="auto">
          <a:xfrm>
            <a:off x="381000" y="2408238"/>
            <a:ext cx="971550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Wave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1"/>
          <p:cNvSpPr>
            <a:spLocks noChangeArrowheads="1"/>
          </p:cNvSpPr>
          <p:nvPr/>
        </p:nvSpPr>
        <p:spPr bwMode="auto">
          <a:xfrm>
            <a:off x="84804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</a:p>
        </p:txBody>
      </p:sp>
      <p:sp>
        <p:nvSpPr>
          <p:cNvPr id="7" name="직사각형 51"/>
          <p:cNvSpPr>
            <a:spLocks noChangeArrowheads="1"/>
          </p:cNvSpPr>
          <p:nvPr/>
        </p:nvSpPr>
        <p:spPr bwMode="auto">
          <a:xfrm>
            <a:off x="6825208" y="227171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8" name="직사각형 51"/>
          <p:cNvSpPr>
            <a:spLocks noChangeArrowheads="1"/>
          </p:cNvSpPr>
          <p:nvPr/>
        </p:nvSpPr>
        <p:spPr bwMode="auto">
          <a:xfrm>
            <a:off x="79343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9" name="직사각형 51"/>
          <p:cNvSpPr>
            <a:spLocks noChangeArrowheads="1"/>
          </p:cNvSpPr>
          <p:nvPr/>
        </p:nvSpPr>
        <p:spPr bwMode="auto">
          <a:xfrm>
            <a:off x="9026525" y="22748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10" name="TextBox 65"/>
          <p:cNvSpPr txBox="1">
            <a:spLocks noChangeArrowheads="1"/>
          </p:cNvSpPr>
          <p:nvPr/>
        </p:nvSpPr>
        <p:spPr bwMode="auto">
          <a:xfrm>
            <a:off x="6591820" y="1301750"/>
            <a:ext cx="100012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웨이브설명</a:t>
            </a:r>
          </a:p>
        </p:txBody>
      </p:sp>
      <p:sp>
        <p:nvSpPr>
          <p:cNvPr id="11" name="직사각형 66"/>
          <p:cNvSpPr>
            <a:spLocks noChangeArrowheads="1"/>
          </p:cNvSpPr>
          <p:nvPr/>
        </p:nvSpPr>
        <p:spPr bwMode="auto">
          <a:xfrm>
            <a:off x="7625283" y="130175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65"/>
          <p:cNvSpPr txBox="1">
            <a:spLocks noChangeArrowheads="1"/>
          </p:cNvSpPr>
          <p:nvPr/>
        </p:nvSpPr>
        <p:spPr bwMode="auto">
          <a:xfrm>
            <a:off x="488950" y="1685925"/>
            <a:ext cx="10795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웨이브기준 설명</a:t>
            </a:r>
          </a:p>
        </p:txBody>
      </p:sp>
      <p:sp>
        <p:nvSpPr>
          <p:cNvPr id="13" name="직사각형 66"/>
          <p:cNvSpPr>
            <a:spLocks noChangeArrowheads="1"/>
          </p:cNvSpPr>
          <p:nvPr/>
        </p:nvSpPr>
        <p:spPr bwMode="auto">
          <a:xfrm>
            <a:off x="1630363" y="1685925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65"/>
          <p:cNvSpPr txBox="1">
            <a:spLocks noChangeArrowheads="1"/>
          </p:cNvSpPr>
          <p:nvPr/>
        </p:nvSpPr>
        <p:spPr bwMode="auto">
          <a:xfrm>
            <a:off x="344488" y="1308100"/>
            <a:ext cx="10191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</a:p>
        </p:txBody>
      </p:sp>
      <p:sp>
        <p:nvSpPr>
          <p:cNvPr id="15" name="직사각형 66"/>
          <p:cNvSpPr>
            <a:spLocks noChangeArrowheads="1"/>
          </p:cNvSpPr>
          <p:nvPr/>
        </p:nvSpPr>
        <p:spPr bwMode="auto">
          <a:xfrm>
            <a:off x="1649413" y="13160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kumimoji="0"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1000000001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428343"/>
              </p:ext>
            </p:extLst>
          </p:nvPr>
        </p:nvGraphicFramePr>
        <p:xfrm>
          <a:off x="388938" y="4443413"/>
          <a:ext cx="8526462" cy="778675"/>
        </p:xfrm>
        <a:graphic>
          <a:graphicData uri="http://schemas.openxmlformats.org/drawingml/2006/table">
            <a:tbl>
              <a:tblPr/>
              <a:tblGrid>
                <a:gridCol w="19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8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8220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웨이브번호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출고번호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출고예정일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출고구분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차량번호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49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0000000123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버텍스아이디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수원창고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06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-0407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출고승인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49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0000000124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출고승인</a:t>
                      </a:r>
                    </a:p>
                  </a:txBody>
                  <a:tcPr marL="7645" marR="7645" marT="765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직사각형 54"/>
          <p:cNvSpPr>
            <a:spLocks noChangeArrowheads="1"/>
          </p:cNvSpPr>
          <p:nvPr/>
        </p:nvSpPr>
        <p:spPr bwMode="auto">
          <a:xfrm>
            <a:off x="319088" y="4335463"/>
            <a:ext cx="9215437" cy="19732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55"/>
          <p:cNvSpPr txBox="1">
            <a:spLocks noChangeArrowheads="1"/>
          </p:cNvSpPr>
          <p:nvPr/>
        </p:nvSpPr>
        <p:spPr bwMode="auto">
          <a:xfrm>
            <a:off x="390525" y="4211638"/>
            <a:ext cx="1033463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Wave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</a:p>
        </p:txBody>
      </p:sp>
      <p:sp>
        <p:nvSpPr>
          <p:cNvPr id="19" name="직사각형 51"/>
          <p:cNvSpPr>
            <a:spLocks noChangeArrowheads="1"/>
          </p:cNvSpPr>
          <p:nvPr/>
        </p:nvSpPr>
        <p:spPr bwMode="auto">
          <a:xfrm>
            <a:off x="9026525" y="407670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grpSp>
        <p:nvGrpSpPr>
          <p:cNvPr id="2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2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2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3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4" name="직사각형 51"/>
          <p:cNvSpPr>
            <a:spLocks noChangeArrowheads="1"/>
          </p:cNvSpPr>
          <p:nvPr/>
        </p:nvSpPr>
        <p:spPr bwMode="auto">
          <a:xfrm>
            <a:off x="8477250" y="407670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25" name="TextBox 65"/>
          <p:cNvSpPr txBox="1">
            <a:spLocks noChangeArrowheads="1"/>
          </p:cNvSpPr>
          <p:nvPr/>
        </p:nvSpPr>
        <p:spPr bwMode="auto">
          <a:xfrm>
            <a:off x="3675063" y="1309688"/>
            <a:ext cx="8699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26" name="직사각형 66"/>
          <p:cNvSpPr>
            <a:spLocks noChangeArrowheads="1"/>
          </p:cNvSpPr>
          <p:nvPr/>
        </p:nvSpPr>
        <p:spPr bwMode="auto">
          <a:xfrm>
            <a:off x="5097463" y="1309688"/>
            <a:ext cx="1000125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출고승인</a:t>
            </a:r>
          </a:p>
        </p:txBody>
      </p:sp>
      <p:sp>
        <p:nvSpPr>
          <p:cNvPr id="27" name="직사각형 33"/>
          <p:cNvSpPr>
            <a:spLocks noChangeArrowheads="1"/>
          </p:cNvSpPr>
          <p:nvPr/>
        </p:nvSpPr>
        <p:spPr bwMode="auto">
          <a:xfrm>
            <a:off x="5954713" y="13081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8" name="직사각형 51"/>
          <p:cNvSpPr>
            <a:spLocks noChangeArrowheads="1"/>
          </p:cNvSpPr>
          <p:nvPr/>
        </p:nvSpPr>
        <p:spPr bwMode="auto">
          <a:xfrm>
            <a:off x="7926388" y="407193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29" name="TextBox 65"/>
          <p:cNvSpPr txBox="1">
            <a:spLocks noChangeArrowheads="1"/>
          </p:cNvSpPr>
          <p:nvPr/>
        </p:nvSpPr>
        <p:spPr bwMode="auto">
          <a:xfrm>
            <a:off x="3657600" y="1671638"/>
            <a:ext cx="107950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웨이브기준 설명</a:t>
            </a:r>
          </a:p>
        </p:txBody>
      </p:sp>
      <p:sp>
        <p:nvSpPr>
          <p:cNvPr id="30" name="직사각형 66"/>
          <p:cNvSpPr>
            <a:spLocks noChangeArrowheads="1"/>
          </p:cNvSpPr>
          <p:nvPr/>
        </p:nvSpPr>
        <p:spPr bwMode="auto">
          <a:xfrm>
            <a:off x="5105400" y="1671638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51"/>
          <p:cNvSpPr>
            <a:spLocks noChangeArrowheads="1"/>
          </p:cNvSpPr>
          <p:nvPr/>
        </p:nvSpPr>
        <p:spPr bwMode="auto">
          <a:xfrm>
            <a:off x="7371357" y="2276872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32" name="TextBox 65"/>
          <p:cNvSpPr txBox="1">
            <a:spLocks noChangeArrowheads="1"/>
          </p:cNvSpPr>
          <p:nvPr/>
        </p:nvSpPr>
        <p:spPr bwMode="auto">
          <a:xfrm>
            <a:off x="760413" y="2008981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33" name="직사각형 66"/>
          <p:cNvSpPr>
            <a:spLocks noChangeArrowheads="1"/>
          </p:cNvSpPr>
          <p:nvPr/>
        </p:nvSpPr>
        <p:spPr bwMode="auto">
          <a:xfrm>
            <a:off x="1630363" y="2008981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48"/>
          <p:cNvSpPr>
            <a:spLocks noChangeArrowheads="1"/>
          </p:cNvSpPr>
          <p:nvPr/>
        </p:nvSpPr>
        <p:spPr bwMode="auto">
          <a:xfrm>
            <a:off x="2514601" y="2008981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66"/>
          <p:cNvSpPr>
            <a:spLocks noChangeArrowheads="1"/>
          </p:cNvSpPr>
          <p:nvPr/>
        </p:nvSpPr>
        <p:spPr bwMode="auto">
          <a:xfrm>
            <a:off x="2735263" y="2008981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제목 1"/>
          <p:cNvSpPr txBox="1">
            <a:spLocks/>
          </p:cNvSpPr>
          <p:nvPr/>
        </p:nvSpPr>
        <p:spPr bwMode="auto">
          <a:xfrm>
            <a:off x="1208584" y="332656"/>
            <a:ext cx="3420567" cy="41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600" dirty="0">
                <a:latin typeface="+mn-ea"/>
                <a:ea typeface="+mn-ea"/>
              </a:rPr>
              <a:t>출고</a:t>
            </a:r>
            <a:r>
              <a:rPr kumimoji="0" lang="en-US" altLang="ko-KR" sz="1600" dirty="0">
                <a:latin typeface="+mn-ea"/>
                <a:ea typeface="+mn-ea"/>
              </a:rPr>
              <a:t>WAVE</a:t>
            </a:r>
            <a:endParaRPr kumimoji="0" lang="ko-KR" altLang="en-US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4602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73701"/>
              </p:ext>
            </p:extLst>
          </p:nvPr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7. </a:t>
            </a:r>
            <a:r>
              <a:rPr lang="ko-KR" altLang="en-US" dirty="0">
                <a:latin typeface="+mn-ea"/>
                <a:ea typeface="+mn-ea"/>
              </a:rPr>
              <a:t>주요 </a:t>
            </a:r>
            <a:r>
              <a:rPr lang="en-US" altLang="ko-KR" dirty="0">
                <a:latin typeface="+mn-ea"/>
                <a:ea typeface="+mn-ea"/>
              </a:rPr>
              <a:t>UI</a:t>
            </a:r>
            <a:r>
              <a:rPr lang="ko-KR" altLang="en-US" dirty="0">
                <a:latin typeface="+mn-ea"/>
                <a:ea typeface="+mn-ea"/>
              </a:rPr>
              <a:t>설계</a:t>
            </a:r>
          </a:p>
        </p:txBody>
      </p:sp>
      <p:graphicFrame>
        <p:nvGraphicFramePr>
          <p:cNvPr id="4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011438"/>
              </p:ext>
            </p:extLst>
          </p:nvPr>
        </p:nvGraphicFramePr>
        <p:xfrm>
          <a:off x="379413" y="2515518"/>
          <a:ext cx="4286250" cy="563564"/>
        </p:xfrm>
        <a:graphic>
          <a:graphicData uri="http://schemas.openxmlformats.org/drawingml/2006/table">
            <a:tbl>
              <a:tblPr/>
              <a:tblGrid>
                <a:gridCol w="45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1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웨이브번호</a:t>
                      </a: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웨이브설명</a:t>
                      </a: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9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고객사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+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출고예정일</a:t>
                      </a: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출고승인</a:t>
                      </a:r>
                    </a:p>
                  </a:txBody>
                  <a:tcPr marL="7644" marR="7644" marT="7629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" name="직사각형 54"/>
          <p:cNvSpPr>
            <a:spLocks noChangeArrowheads="1"/>
          </p:cNvSpPr>
          <p:nvPr/>
        </p:nvSpPr>
        <p:spPr bwMode="auto">
          <a:xfrm>
            <a:off x="309563" y="2407568"/>
            <a:ext cx="4572000" cy="10477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55"/>
          <p:cNvSpPr txBox="1">
            <a:spLocks noChangeArrowheads="1"/>
          </p:cNvSpPr>
          <p:nvPr/>
        </p:nvSpPr>
        <p:spPr bwMode="auto">
          <a:xfrm>
            <a:off x="381000" y="2283743"/>
            <a:ext cx="982663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Wave</a:t>
            </a:r>
            <a:endParaRPr lang="ko-KR" altLang="en-US" sz="9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51"/>
          <p:cNvSpPr>
            <a:spLocks noChangeArrowheads="1"/>
          </p:cNvSpPr>
          <p:nvPr/>
        </p:nvSpPr>
        <p:spPr bwMode="auto">
          <a:xfrm>
            <a:off x="7769225" y="2099593"/>
            <a:ext cx="628650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지시취소</a:t>
            </a:r>
          </a:p>
        </p:txBody>
      </p:sp>
      <p:sp>
        <p:nvSpPr>
          <p:cNvPr id="49" name="직사각형 51"/>
          <p:cNvSpPr>
            <a:spLocks noChangeArrowheads="1"/>
          </p:cNvSpPr>
          <p:nvPr/>
        </p:nvSpPr>
        <p:spPr bwMode="auto">
          <a:xfrm>
            <a:off x="6681788" y="209959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50" name="직사각형 51"/>
          <p:cNvSpPr>
            <a:spLocks noChangeArrowheads="1"/>
          </p:cNvSpPr>
          <p:nvPr/>
        </p:nvSpPr>
        <p:spPr bwMode="auto">
          <a:xfrm>
            <a:off x="7226300" y="209959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출고지시</a:t>
            </a:r>
          </a:p>
        </p:txBody>
      </p:sp>
      <p:sp>
        <p:nvSpPr>
          <p:cNvPr id="51" name="직사각형 51"/>
          <p:cNvSpPr>
            <a:spLocks noChangeArrowheads="1"/>
          </p:cNvSpPr>
          <p:nvPr/>
        </p:nvSpPr>
        <p:spPr bwMode="auto">
          <a:xfrm>
            <a:off x="9026525" y="209959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52" name="직사각형 54"/>
          <p:cNvSpPr>
            <a:spLocks noChangeArrowheads="1"/>
          </p:cNvSpPr>
          <p:nvPr/>
        </p:nvSpPr>
        <p:spPr bwMode="auto">
          <a:xfrm>
            <a:off x="303213" y="3652168"/>
            <a:ext cx="4578350" cy="272916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5"/>
          <p:cNvSpPr txBox="1">
            <a:spLocks noChangeArrowheads="1"/>
          </p:cNvSpPr>
          <p:nvPr/>
        </p:nvSpPr>
        <p:spPr bwMode="auto">
          <a:xfrm>
            <a:off x="344488" y="3536281"/>
            <a:ext cx="720725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출고상세</a:t>
            </a:r>
          </a:p>
        </p:txBody>
      </p:sp>
      <p:grpSp>
        <p:nvGrpSpPr>
          <p:cNvPr id="54" name="그룹 71"/>
          <p:cNvGrpSpPr>
            <a:grpSpLocks/>
          </p:cNvGrpSpPr>
          <p:nvPr/>
        </p:nvGrpSpPr>
        <p:grpSpPr bwMode="auto">
          <a:xfrm>
            <a:off x="567531" y="980728"/>
            <a:ext cx="2071688" cy="230188"/>
            <a:chOff x="3238492" y="1428736"/>
            <a:chExt cx="2071698" cy="230832"/>
          </a:xfrm>
        </p:grpSpPr>
        <p:sp>
          <p:nvSpPr>
            <p:cNvPr id="55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56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" name="직사각형 33"/>
          <p:cNvSpPr>
            <a:spLocks noChangeArrowheads="1"/>
          </p:cNvSpPr>
          <p:nvPr/>
        </p:nvSpPr>
        <p:spPr bwMode="auto">
          <a:xfrm>
            <a:off x="2496344" y="985491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8" name="TextBox 65"/>
          <p:cNvSpPr txBox="1">
            <a:spLocks noChangeArrowheads="1"/>
          </p:cNvSpPr>
          <p:nvPr/>
        </p:nvSpPr>
        <p:spPr bwMode="auto">
          <a:xfrm>
            <a:off x="333375" y="1737643"/>
            <a:ext cx="11191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웨이브기준번호</a:t>
            </a:r>
          </a:p>
        </p:txBody>
      </p:sp>
      <p:sp>
        <p:nvSpPr>
          <p:cNvPr id="59" name="직사각형 66"/>
          <p:cNvSpPr>
            <a:spLocks noChangeArrowheads="1"/>
          </p:cNvSpPr>
          <p:nvPr/>
        </p:nvSpPr>
        <p:spPr bwMode="auto">
          <a:xfrm>
            <a:off x="1635125" y="1745581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000001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65"/>
          <p:cNvSpPr txBox="1">
            <a:spLocks noChangeArrowheads="1"/>
          </p:cNvSpPr>
          <p:nvPr/>
        </p:nvSpPr>
        <p:spPr bwMode="auto">
          <a:xfrm>
            <a:off x="6807200" y="1340768"/>
            <a:ext cx="100012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웨이브설명</a:t>
            </a:r>
          </a:p>
        </p:txBody>
      </p:sp>
      <p:sp>
        <p:nvSpPr>
          <p:cNvPr id="61" name="직사각형 66"/>
          <p:cNvSpPr>
            <a:spLocks noChangeArrowheads="1"/>
          </p:cNvSpPr>
          <p:nvPr/>
        </p:nvSpPr>
        <p:spPr bwMode="auto">
          <a:xfrm>
            <a:off x="7840663" y="1340768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62" name="TextBox 65"/>
          <p:cNvSpPr txBox="1">
            <a:spLocks noChangeArrowheads="1"/>
          </p:cNvSpPr>
          <p:nvPr/>
        </p:nvSpPr>
        <p:spPr bwMode="auto">
          <a:xfrm>
            <a:off x="3675063" y="1724943"/>
            <a:ext cx="14224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 기준 설명</a:t>
            </a:r>
          </a:p>
        </p:txBody>
      </p:sp>
      <p:sp>
        <p:nvSpPr>
          <p:cNvPr id="63" name="직사각형 66"/>
          <p:cNvSpPr>
            <a:spLocks noChangeArrowheads="1"/>
          </p:cNvSpPr>
          <p:nvPr/>
        </p:nvSpPr>
        <p:spPr bwMode="auto">
          <a:xfrm>
            <a:off x="5105400" y="1724943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Box 65"/>
          <p:cNvSpPr txBox="1">
            <a:spLocks noChangeArrowheads="1"/>
          </p:cNvSpPr>
          <p:nvPr/>
        </p:nvSpPr>
        <p:spPr bwMode="auto">
          <a:xfrm>
            <a:off x="344488" y="1347118"/>
            <a:ext cx="10191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웨이브번호</a:t>
            </a:r>
          </a:p>
        </p:txBody>
      </p:sp>
      <p:sp>
        <p:nvSpPr>
          <p:cNvPr id="65" name="직사각형 66"/>
          <p:cNvSpPr>
            <a:spLocks noChangeArrowheads="1"/>
          </p:cNvSpPr>
          <p:nvPr/>
        </p:nvSpPr>
        <p:spPr bwMode="auto">
          <a:xfrm>
            <a:off x="1649413" y="1355056"/>
            <a:ext cx="100012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kumimoji="0"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100000001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/>
          <p:cNvSpPr txBox="1">
            <a:spLocks noChangeArrowheads="1"/>
          </p:cNvSpPr>
          <p:nvPr/>
        </p:nvSpPr>
        <p:spPr bwMode="auto">
          <a:xfrm>
            <a:off x="3675063" y="1348706"/>
            <a:ext cx="8699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진행상태</a:t>
            </a:r>
          </a:p>
        </p:txBody>
      </p:sp>
      <p:sp>
        <p:nvSpPr>
          <p:cNvPr id="67" name="직사각형 66"/>
          <p:cNvSpPr>
            <a:spLocks noChangeArrowheads="1"/>
          </p:cNvSpPr>
          <p:nvPr/>
        </p:nvSpPr>
        <p:spPr bwMode="auto">
          <a:xfrm>
            <a:off x="5097463" y="1348706"/>
            <a:ext cx="1000125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출고배차</a:t>
            </a:r>
          </a:p>
        </p:txBody>
      </p:sp>
      <p:sp>
        <p:nvSpPr>
          <p:cNvPr id="68" name="직사각형 54"/>
          <p:cNvSpPr>
            <a:spLocks noChangeArrowheads="1"/>
          </p:cNvSpPr>
          <p:nvPr/>
        </p:nvSpPr>
        <p:spPr bwMode="auto">
          <a:xfrm>
            <a:off x="5024438" y="2418681"/>
            <a:ext cx="4554537" cy="10223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55"/>
          <p:cNvSpPr txBox="1">
            <a:spLocks noChangeArrowheads="1"/>
          </p:cNvSpPr>
          <p:nvPr/>
        </p:nvSpPr>
        <p:spPr bwMode="auto">
          <a:xfrm>
            <a:off x="5095875" y="2283743"/>
            <a:ext cx="1233488" cy="230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Wave</a:t>
            </a:r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 내역</a:t>
            </a:r>
          </a:p>
        </p:txBody>
      </p:sp>
      <p:graphicFrame>
        <p:nvGraphicFramePr>
          <p:cNvPr id="70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242417"/>
              </p:ext>
            </p:extLst>
          </p:nvPr>
        </p:nvGraphicFramePr>
        <p:xfrm>
          <a:off x="5095875" y="2528218"/>
          <a:ext cx="4421191" cy="846138"/>
        </p:xfrm>
        <a:graphic>
          <a:graphicData uri="http://schemas.openxmlformats.org/drawingml/2006/table">
            <a:tbl>
              <a:tblPr/>
              <a:tblGrid>
                <a:gridCol w="217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4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9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95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95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8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0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웨이브번호</a:t>
                      </a: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출고번호</a:t>
                      </a: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출고구분</a:t>
                      </a: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실배송처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차량번호</a:t>
                      </a: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배송차수</a:t>
                      </a: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0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0000000123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정상출고</a:t>
                      </a: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출고승인</a:t>
                      </a: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04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0000000124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출고승인</a:t>
                      </a:r>
                    </a:p>
                  </a:txBody>
                  <a:tcPr marL="7645" marR="7645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" name="직사각형 33"/>
          <p:cNvSpPr>
            <a:spLocks noChangeArrowheads="1"/>
          </p:cNvSpPr>
          <p:nvPr/>
        </p:nvSpPr>
        <p:spPr bwMode="auto">
          <a:xfrm>
            <a:off x="5956300" y="1347118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72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868197"/>
              </p:ext>
            </p:extLst>
          </p:nvPr>
        </p:nvGraphicFramePr>
        <p:xfrm>
          <a:off x="400050" y="3745831"/>
          <a:ext cx="4408487" cy="706438"/>
        </p:xfrm>
        <a:graphic>
          <a:graphicData uri="http://schemas.openxmlformats.org/drawingml/2006/table">
            <a:tbl>
              <a:tblPr/>
              <a:tblGrid>
                <a:gridCol w="23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7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7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73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34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49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019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출고예정수량</a:t>
                      </a: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3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8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38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VTX(100)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20*3*4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EA/BOX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1" marR="7641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3" name="표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32990"/>
              </p:ext>
            </p:extLst>
          </p:nvPr>
        </p:nvGraphicFramePr>
        <p:xfrm>
          <a:off x="388938" y="4536406"/>
          <a:ext cx="1339452" cy="706438"/>
        </p:xfrm>
        <a:graphic>
          <a:graphicData uri="http://schemas.openxmlformats.org/drawingml/2006/table">
            <a:tbl>
              <a:tblPr/>
              <a:tblGrid>
                <a:gridCol w="446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19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출고지시수량</a:t>
                      </a: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8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38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7" marR="7647" marT="767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직사각형 54"/>
          <p:cNvSpPr>
            <a:spLocks noChangeArrowheads="1"/>
          </p:cNvSpPr>
          <p:nvPr/>
        </p:nvSpPr>
        <p:spPr bwMode="auto">
          <a:xfrm>
            <a:off x="5024438" y="3652168"/>
            <a:ext cx="4578350" cy="272916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TextBox 55"/>
          <p:cNvSpPr txBox="1">
            <a:spLocks noChangeArrowheads="1"/>
          </p:cNvSpPr>
          <p:nvPr/>
        </p:nvSpPr>
        <p:spPr bwMode="auto">
          <a:xfrm>
            <a:off x="5065713" y="3536281"/>
            <a:ext cx="928687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출고지시</a:t>
            </a:r>
          </a:p>
        </p:txBody>
      </p:sp>
      <p:graphicFrame>
        <p:nvGraphicFramePr>
          <p:cNvPr id="7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582641"/>
              </p:ext>
            </p:extLst>
          </p:nvPr>
        </p:nvGraphicFramePr>
        <p:xfrm>
          <a:off x="5121274" y="3768056"/>
          <a:ext cx="1919957" cy="773927"/>
        </p:xfrm>
        <a:graphic>
          <a:graphicData uri="http://schemas.openxmlformats.org/drawingml/2006/table">
            <a:tbl>
              <a:tblPr/>
              <a:tblGrid>
                <a:gridCol w="234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0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피킹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피킹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LOC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8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152965"/>
              </p:ext>
            </p:extLst>
          </p:nvPr>
        </p:nvGraphicFramePr>
        <p:xfrm>
          <a:off x="5157164" y="4692154"/>
          <a:ext cx="3134348" cy="773113"/>
        </p:xfrm>
        <a:graphic>
          <a:graphicData uri="http://schemas.openxmlformats.org/drawingml/2006/table">
            <a:tbl>
              <a:tblPr/>
              <a:tblGrid>
                <a:gridCol w="335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5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0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6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58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969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출고지시수량</a:t>
                      </a: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진행상태</a:t>
                      </a: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7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DOCK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2" marR="7642" marT="7652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8" name="TextBox 65"/>
          <p:cNvSpPr txBox="1">
            <a:spLocks noChangeArrowheads="1"/>
          </p:cNvSpPr>
          <p:nvPr/>
        </p:nvSpPr>
        <p:spPr bwMode="auto">
          <a:xfrm>
            <a:off x="6931025" y="1702718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>
              <a:defRPr/>
            </a:pPr>
            <a:r>
              <a:rPr lang="ko-KR" altLang="en-US" sz="900" dirty="0">
                <a:latin typeface="+mn-ea"/>
                <a:ea typeface="+mn-ea"/>
              </a:rPr>
              <a:t>출력종류</a:t>
            </a:r>
          </a:p>
        </p:txBody>
      </p:sp>
      <p:sp>
        <p:nvSpPr>
          <p:cNvPr id="79" name="직사각형 66"/>
          <p:cNvSpPr>
            <a:spLocks noChangeArrowheads="1"/>
          </p:cNvSpPr>
          <p:nvPr/>
        </p:nvSpPr>
        <p:spPr bwMode="auto">
          <a:xfrm>
            <a:off x="7842250" y="1702718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>
              <a:defRPr/>
            </a:pPr>
            <a:r>
              <a:rPr lang="ko-KR" altLang="en-US" dirty="0" err="1">
                <a:latin typeface="+mn-ea"/>
                <a:ea typeface="+mn-ea"/>
              </a:rPr>
              <a:t>피킹지시서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80" name="직사각형 33"/>
          <p:cNvSpPr>
            <a:spLocks noChangeArrowheads="1"/>
          </p:cNvSpPr>
          <p:nvPr/>
        </p:nvSpPr>
        <p:spPr bwMode="auto">
          <a:xfrm>
            <a:off x="8699500" y="1699543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1" name="직사각형 51"/>
          <p:cNvSpPr>
            <a:spLocks noChangeArrowheads="1"/>
          </p:cNvSpPr>
          <p:nvPr/>
        </p:nvSpPr>
        <p:spPr bwMode="auto">
          <a:xfrm>
            <a:off x="8475663" y="209959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인쇄</a:t>
            </a:r>
          </a:p>
        </p:txBody>
      </p:sp>
      <p:graphicFrame>
        <p:nvGraphicFramePr>
          <p:cNvPr id="82" name="표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789480"/>
              </p:ext>
            </p:extLst>
          </p:nvPr>
        </p:nvGraphicFramePr>
        <p:xfrm>
          <a:off x="381000" y="5412706"/>
          <a:ext cx="4355976" cy="563928"/>
        </p:xfrm>
        <a:graphic>
          <a:graphicData uri="http://schemas.openxmlformats.org/drawingml/2006/table">
            <a:tbl>
              <a:tblPr/>
              <a:tblGrid>
                <a:gridCol w="323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7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73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73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73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4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중량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(g)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제조일자</a:t>
                      </a: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제조 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유통일자</a:t>
                      </a: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78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2016.10.25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6" marR="7646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2016.12.31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출고예정</a:t>
                      </a:r>
                    </a:p>
                  </a:txBody>
                  <a:tcPr marL="7649" marR="7649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3" name="TextBox 65"/>
          <p:cNvSpPr txBox="1">
            <a:spLocks noChangeArrowheads="1"/>
          </p:cNvSpPr>
          <p:nvPr/>
        </p:nvSpPr>
        <p:spPr bwMode="auto">
          <a:xfrm>
            <a:off x="760413" y="2047999"/>
            <a:ext cx="869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eaLnBrk="1" latinLnBrk="1" hangingPunct="1"/>
            <a:r>
              <a:rPr lang="ko-KR" altLang="en-US" sz="90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84" name="직사각형 66"/>
          <p:cNvSpPr>
            <a:spLocks noChangeArrowheads="1"/>
          </p:cNvSpPr>
          <p:nvPr/>
        </p:nvSpPr>
        <p:spPr bwMode="auto">
          <a:xfrm>
            <a:off x="1630363" y="2047999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직사각형 48"/>
          <p:cNvSpPr>
            <a:spLocks noChangeArrowheads="1"/>
          </p:cNvSpPr>
          <p:nvPr/>
        </p:nvSpPr>
        <p:spPr bwMode="auto">
          <a:xfrm>
            <a:off x="2514601" y="2047999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직사각형 66"/>
          <p:cNvSpPr>
            <a:spLocks noChangeArrowheads="1"/>
          </p:cNvSpPr>
          <p:nvPr/>
        </p:nvSpPr>
        <p:spPr bwMode="auto">
          <a:xfrm>
            <a:off x="2735263" y="2047999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제목 1"/>
          <p:cNvSpPr txBox="1">
            <a:spLocks/>
          </p:cNvSpPr>
          <p:nvPr/>
        </p:nvSpPr>
        <p:spPr bwMode="auto">
          <a:xfrm>
            <a:off x="1208584" y="332656"/>
            <a:ext cx="3420567" cy="41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600" dirty="0">
                <a:latin typeface="+mn-ea"/>
                <a:ea typeface="+mn-ea"/>
              </a:rPr>
              <a:t>출고지시</a:t>
            </a:r>
          </a:p>
        </p:txBody>
      </p:sp>
    </p:spTree>
    <p:extLst>
      <p:ext uri="{BB962C8B-B14F-4D97-AF65-F5344CB8AC3E}">
        <p14:creationId xmlns:p14="http://schemas.microsoft.com/office/powerpoint/2010/main" val="3117911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7. </a:t>
            </a:r>
            <a:r>
              <a:rPr lang="ko-KR" altLang="en-US" dirty="0">
                <a:latin typeface="+mn-ea"/>
                <a:ea typeface="+mn-ea"/>
              </a:rPr>
              <a:t>주요 </a:t>
            </a:r>
            <a:r>
              <a:rPr lang="en-US" altLang="ko-KR" dirty="0">
                <a:latin typeface="+mn-ea"/>
                <a:ea typeface="+mn-ea"/>
              </a:rPr>
              <a:t>UI</a:t>
            </a:r>
            <a:r>
              <a:rPr lang="ko-KR" altLang="en-US" dirty="0">
                <a:latin typeface="+mn-ea"/>
                <a:ea typeface="+mn-ea"/>
              </a:rPr>
              <a:t>설계</a:t>
            </a:r>
          </a:p>
        </p:txBody>
      </p:sp>
      <p:sp>
        <p:nvSpPr>
          <p:cNvPr id="3" name="제목 1"/>
          <p:cNvSpPr txBox="1">
            <a:spLocks/>
          </p:cNvSpPr>
          <p:nvPr/>
        </p:nvSpPr>
        <p:spPr bwMode="auto">
          <a:xfrm>
            <a:off x="1208584" y="332656"/>
            <a:ext cx="3420567" cy="41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600" dirty="0" err="1">
                <a:latin typeface="+mn-ea"/>
                <a:ea typeface="+mn-ea"/>
              </a:rPr>
              <a:t>현재고</a:t>
            </a:r>
            <a:r>
              <a:rPr kumimoji="0" lang="ko-KR" altLang="en-US" sz="1600" dirty="0">
                <a:latin typeface="+mn-ea"/>
                <a:ea typeface="+mn-ea"/>
              </a:rPr>
              <a:t> 조회</a:t>
            </a:r>
          </a:p>
        </p:txBody>
      </p:sp>
      <p:graphicFrame>
        <p:nvGraphicFramePr>
          <p:cNvPr id="4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479872"/>
              </p:ext>
            </p:extLst>
          </p:nvPr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54"/>
          <p:cNvSpPr>
            <a:spLocks noChangeArrowheads="1"/>
          </p:cNvSpPr>
          <p:nvPr/>
        </p:nvSpPr>
        <p:spPr bwMode="auto">
          <a:xfrm>
            <a:off x="309563" y="2420939"/>
            <a:ext cx="9215437" cy="2376214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1"/>
          <p:cNvSpPr>
            <a:spLocks noChangeArrowheads="1"/>
          </p:cNvSpPr>
          <p:nvPr/>
        </p:nvSpPr>
        <p:spPr bwMode="auto">
          <a:xfrm>
            <a:off x="9026525" y="2051050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grpSp>
        <p:nvGrpSpPr>
          <p:cNvPr id="7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8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9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1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12" name="그룹 71"/>
          <p:cNvGrpSpPr>
            <a:grpSpLocks/>
          </p:cNvGrpSpPr>
          <p:nvPr/>
        </p:nvGrpSpPr>
        <p:grpSpPr bwMode="auto">
          <a:xfrm>
            <a:off x="3162300" y="1295400"/>
            <a:ext cx="2071688" cy="230188"/>
            <a:chOff x="3238492" y="1428736"/>
            <a:chExt cx="2071698" cy="230832"/>
          </a:xfrm>
        </p:grpSpPr>
        <p:sp>
          <p:nvSpPr>
            <p:cNvPr id="13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</a:p>
          </p:txBody>
        </p:sp>
        <p:sp>
          <p:nvSpPr>
            <p:cNvPr id="14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" name="직사각형 33"/>
          <p:cNvSpPr>
            <a:spLocks noChangeArrowheads="1"/>
          </p:cNvSpPr>
          <p:nvPr/>
        </p:nvSpPr>
        <p:spPr bwMode="auto">
          <a:xfrm>
            <a:off x="5286375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66"/>
          <p:cNvSpPr>
            <a:spLocks noChangeArrowheads="1"/>
          </p:cNvSpPr>
          <p:nvPr/>
        </p:nvSpPr>
        <p:spPr bwMode="auto">
          <a:xfrm>
            <a:off x="5483225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65"/>
          <p:cNvSpPr txBox="1">
            <a:spLocks noChangeArrowheads="1"/>
          </p:cNvSpPr>
          <p:nvPr/>
        </p:nvSpPr>
        <p:spPr bwMode="auto">
          <a:xfrm>
            <a:off x="292100" y="2173288"/>
            <a:ext cx="9286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총건수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18" name="그룹 71"/>
          <p:cNvGrpSpPr>
            <a:grpSpLocks/>
          </p:cNvGrpSpPr>
          <p:nvPr/>
        </p:nvGrpSpPr>
        <p:grpSpPr bwMode="auto">
          <a:xfrm>
            <a:off x="15875" y="1295400"/>
            <a:ext cx="2071688" cy="230188"/>
            <a:chOff x="3238492" y="1428736"/>
            <a:chExt cx="2071698" cy="230832"/>
          </a:xfrm>
        </p:grpSpPr>
        <p:sp>
          <p:nvSpPr>
            <p:cNvPr id="19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</a:p>
          </p:txBody>
        </p:sp>
        <p:sp>
          <p:nvSpPr>
            <p:cNvPr id="20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1" name="직사각형 33"/>
          <p:cNvSpPr>
            <a:spLocks noChangeArrowheads="1"/>
          </p:cNvSpPr>
          <p:nvPr/>
        </p:nvSpPr>
        <p:spPr bwMode="auto">
          <a:xfrm>
            <a:off x="2139950" y="1304925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66"/>
          <p:cNvSpPr>
            <a:spLocks noChangeArrowheads="1"/>
          </p:cNvSpPr>
          <p:nvPr/>
        </p:nvSpPr>
        <p:spPr bwMode="auto">
          <a:xfrm>
            <a:off x="2336800" y="1301750"/>
            <a:ext cx="1000125" cy="2143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" name="그룹 71"/>
          <p:cNvGrpSpPr>
            <a:grpSpLocks/>
          </p:cNvGrpSpPr>
          <p:nvPr/>
        </p:nvGrpSpPr>
        <p:grpSpPr bwMode="auto">
          <a:xfrm>
            <a:off x="6289675" y="1300163"/>
            <a:ext cx="2071688" cy="230187"/>
            <a:chOff x="3238492" y="1428736"/>
            <a:chExt cx="2071698" cy="230832"/>
          </a:xfrm>
        </p:grpSpPr>
        <p:sp>
          <p:nvSpPr>
            <p:cNvPr id="24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</a:p>
          </p:txBody>
        </p:sp>
        <p:sp>
          <p:nvSpPr>
            <p:cNvPr id="25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6" name="직사각형 33"/>
          <p:cNvSpPr>
            <a:spLocks noChangeArrowheads="1"/>
          </p:cNvSpPr>
          <p:nvPr/>
        </p:nvSpPr>
        <p:spPr bwMode="auto">
          <a:xfrm>
            <a:off x="8413750" y="13096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66"/>
          <p:cNvSpPr>
            <a:spLocks noChangeArrowheads="1"/>
          </p:cNvSpPr>
          <p:nvPr/>
        </p:nvSpPr>
        <p:spPr bwMode="auto">
          <a:xfrm>
            <a:off x="8610600" y="1306513"/>
            <a:ext cx="1000125" cy="2143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  <a:extLst/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8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360257"/>
              </p:ext>
            </p:extLst>
          </p:nvPr>
        </p:nvGraphicFramePr>
        <p:xfrm>
          <a:off x="379413" y="2513013"/>
          <a:ext cx="9020906" cy="555947"/>
        </p:xfrm>
        <a:graphic>
          <a:graphicData uri="http://schemas.openxmlformats.org/drawingml/2006/table">
            <a:tbl>
              <a:tblPr/>
              <a:tblGrid>
                <a:gridCol w="283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4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4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71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40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74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05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08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576">
                  <a:extLst>
                    <a:ext uri="{9D8B030D-6E8A-4147-A177-3AD203B41FA5}">
                      <a16:colId xmlns:a16="http://schemas.microsoft.com/office/drawing/2014/main" val="2133064765"/>
                    </a:ext>
                  </a:extLst>
                </a:gridCol>
                <a:gridCol w="354646">
                  <a:extLst>
                    <a:ext uri="{9D8B030D-6E8A-4147-A177-3AD203B41FA5}">
                      <a16:colId xmlns:a16="http://schemas.microsoft.com/office/drawing/2014/main" val="1442496705"/>
                    </a:ext>
                  </a:extLst>
                </a:gridCol>
                <a:gridCol w="496505">
                  <a:extLst>
                    <a:ext uri="{9D8B030D-6E8A-4147-A177-3AD203B41FA5}">
                      <a16:colId xmlns:a16="http://schemas.microsoft.com/office/drawing/2014/main" val="1776114101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val="3386578432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val="1590906909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val="682377796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val="2994411968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val="20969951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val="3335539100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val="2087088844"/>
                    </a:ext>
                  </a:extLst>
                </a:gridCol>
                <a:gridCol w="378290">
                  <a:extLst>
                    <a:ext uri="{9D8B030D-6E8A-4147-A177-3AD203B41FA5}">
                      <a16:colId xmlns:a16="http://schemas.microsoft.com/office/drawing/2014/main" val="1881495052"/>
                    </a:ext>
                  </a:extLst>
                </a:gridCol>
              </a:tblGrid>
              <a:tr h="1409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제품코드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제품명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제품상태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가용재고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9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645710"/>
                  </a:ext>
                </a:extLst>
              </a:tr>
              <a:tr h="26631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버텍스아이디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VTX(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파라곤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9" name="그룹 71"/>
          <p:cNvGrpSpPr>
            <a:grpSpLocks/>
          </p:cNvGrpSpPr>
          <p:nvPr/>
        </p:nvGrpSpPr>
        <p:grpSpPr bwMode="auto">
          <a:xfrm>
            <a:off x="20638" y="1665288"/>
            <a:ext cx="2071687" cy="230187"/>
            <a:chOff x="3238492" y="1428736"/>
            <a:chExt cx="2071698" cy="230832"/>
          </a:xfrm>
        </p:grpSpPr>
        <p:sp>
          <p:nvSpPr>
            <p:cNvPr id="30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</a:p>
          </p:txBody>
        </p:sp>
        <p:sp>
          <p:nvSpPr>
            <p:cNvPr id="31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" name="직사각형 33"/>
          <p:cNvSpPr>
            <a:spLocks noChangeArrowheads="1"/>
          </p:cNvSpPr>
          <p:nvPr/>
        </p:nvSpPr>
        <p:spPr bwMode="auto">
          <a:xfrm>
            <a:off x="2144688" y="1673043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147950"/>
              </p:ext>
            </p:extLst>
          </p:nvPr>
        </p:nvGraphicFramePr>
        <p:xfrm>
          <a:off x="362684" y="5169495"/>
          <a:ext cx="9037634" cy="563761"/>
        </p:xfrm>
        <a:graphic>
          <a:graphicData uri="http://schemas.openxmlformats.org/drawingml/2006/table">
            <a:tbl>
              <a:tblPr/>
              <a:tblGrid>
                <a:gridCol w="390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8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4677">
                  <a:extLst>
                    <a:ext uri="{9D8B030D-6E8A-4147-A177-3AD203B41FA5}">
                      <a16:colId xmlns:a16="http://schemas.microsoft.com/office/drawing/2014/main" val="4253853028"/>
                    </a:ext>
                  </a:extLst>
                </a:gridCol>
                <a:gridCol w="48698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6989">
                  <a:extLst>
                    <a:ext uri="{9D8B030D-6E8A-4147-A177-3AD203B41FA5}">
                      <a16:colId xmlns:a16="http://schemas.microsoft.com/office/drawing/2014/main" val="4035726718"/>
                    </a:ext>
                  </a:extLst>
                </a:gridCol>
                <a:gridCol w="486989">
                  <a:extLst>
                    <a:ext uri="{9D8B030D-6E8A-4147-A177-3AD203B41FA5}">
                      <a16:colId xmlns:a16="http://schemas.microsoft.com/office/drawing/2014/main" val="906236864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val="2300653535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val="4132321049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val="4166332447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val="1797604620"/>
                    </a:ext>
                  </a:extLst>
                </a:gridCol>
                <a:gridCol w="642384">
                  <a:extLst>
                    <a:ext uri="{9D8B030D-6E8A-4147-A177-3AD203B41FA5}">
                      <a16:colId xmlns:a16="http://schemas.microsoft.com/office/drawing/2014/main" val="159349436"/>
                    </a:ext>
                  </a:extLst>
                </a:gridCol>
              </a:tblGrid>
              <a:tr h="1409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창고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로케이션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현재고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보류</a:t>
                      </a:r>
                      <a:endParaRPr kumimoji="0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가용재고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9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총량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박스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낱개</a:t>
                      </a: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753730"/>
                  </a:ext>
                </a:extLst>
              </a:tr>
              <a:tr h="27412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AA-01-01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295348"/>
              </p:ext>
            </p:extLst>
          </p:nvPr>
        </p:nvGraphicFramePr>
        <p:xfrm>
          <a:off x="364270" y="5877520"/>
          <a:ext cx="9036047" cy="431800"/>
        </p:xfrm>
        <a:graphic>
          <a:graphicData uri="http://schemas.openxmlformats.org/drawingml/2006/table">
            <a:tbl>
              <a:tblPr/>
              <a:tblGrid>
                <a:gridCol w="704529">
                  <a:extLst>
                    <a:ext uri="{9D8B030D-6E8A-4147-A177-3AD203B41FA5}">
                      <a16:colId xmlns:a16="http://schemas.microsoft.com/office/drawing/2014/main" val="393206023"/>
                    </a:ext>
                  </a:extLst>
                </a:gridCol>
                <a:gridCol w="966026">
                  <a:extLst>
                    <a:ext uri="{9D8B030D-6E8A-4147-A177-3AD203B41FA5}">
                      <a16:colId xmlns:a16="http://schemas.microsoft.com/office/drawing/2014/main" val="3588976106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val="3074379037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val="1544011940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val="1369752719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val="3951210843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8388">
                  <a:extLst>
                    <a:ext uri="{9D8B030D-6E8A-4147-A177-3AD203B41FA5}">
                      <a16:colId xmlns:a16="http://schemas.microsoft.com/office/drawing/2014/main" val="1611903794"/>
                    </a:ext>
                  </a:extLst>
                </a:gridCol>
              </a:tblGrid>
              <a:tr h="2142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PALLET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 ID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유통일자</a:t>
                      </a: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LOT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57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0000000001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2016-10-30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2016-12-31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1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직사각형 54"/>
          <p:cNvSpPr>
            <a:spLocks noChangeArrowheads="1"/>
          </p:cNvSpPr>
          <p:nvPr/>
        </p:nvSpPr>
        <p:spPr bwMode="auto">
          <a:xfrm>
            <a:off x="301626" y="5056959"/>
            <a:ext cx="9215437" cy="1324369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한쪽 모서리가 둥근 사각형 35"/>
          <p:cNvSpPr/>
          <p:nvPr/>
        </p:nvSpPr>
        <p:spPr bwMode="auto">
          <a:xfrm>
            <a:off x="319088" y="4869160"/>
            <a:ext cx="714375" cy="214312"/>
          </a:xfrm>
          <a:prstGeom prst="round1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로케이션</a:t>
            </a:r>
          </a:p>
        </p:txBody>
      </p:sp>
      <p:sp>
        <p:nvSpPr>
          <p:cNvPr id="37" name="한쪽 모서리가 둥근 사각형 36"/>
          <p:cNvSpPr/>
          <p:nvPr/>
        </p:nvSpPr>
        <p:spPr bwMode="auto">
          <a:xfrm>
            <a:off x="1042988" y="4872335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입고예정</a:t>
            </a:r>
          </a:p>
        </p:txBody>
      </p:sp>
      <p:sp>
        <p:nvSpPr>
          <p:cNvPr id="38" name="한쪽 모서리가 둥근 사각형 37"/>
          <p:cNvSpPr/>
          <p:nvPr/>
        </p:nvSpPr>
        <p:spPr bwMode="auto">
          <a:xfrm>
            <a:off x="1723273" y="4869160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출고예정</a:t>
            </a:r>
          </a:p>
        </p:txBody>
      </p:sp>
      <p:sp>
        <p:nvSpPr>
          <p:cNvPr id="39" name="직사각형 51"/>
          <p:cNvSpPr>
            <a:spLocks noChangeArrowheads="1"/>
          </p:cNvSpPr>
          <p:nvPr/>
        </p:nvSpPr>
        <p:spPr bwMode="auto">
          <a:xfrm>
            <a:off x="8475218" y="2041744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40" name="한쪽 모서리가 둥근 사각형 39"/>
          <p:cNvSpPr/>
          <p:nvPr/>
        </p:nvSpPr>
        <p:spPr bwMode="auto">
          <a:xfrm>
            <a:off x="2447173" y="4863036"/>
            <a:ext cx="714375" cy="214312"/>
          </a:xfrm>
          <a:prstGeom prst="round1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18000" tIns="36000" rIns="18000" bIns="36000" anchor="ctr" anchorCtr="1"/>
          <a:lstStyle/>
          <a:p>
            <a:pPr>
              <a:defRPr/>
            </a:pPr>
            <a:r>
              <a:rPr lang="ko-KR" altLang="en-US" sz="900" b="1" dirty="0">
                <a:solidFill>
                  <a:schemeClr val="bg1"/>
                </a:solidFill>
                <a:latin typeface="+mj-lt"/>
                <a:ea typeface="맑은 고딕" panose="020B0503020000020004" pitchFamily="50" charset="-127"/>
              </a:rPr>
              <a:t>출고승인</a:t>
            </a:r>
          </a:p>
        </p:txBody>
      </p:sp>
    </p:spTree>
    <p:extLst>
      <p:ext uri="{BB962C8B-B14F-4D97-AF65-F5344CB8AC3E}">
        <p14:creationId xmlns:p14="http://schemas.microsoft.com/office/powerpoint/2010/main" val="4264551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7. </a:t>
            </a:r>
            <a:r>
              <a:rPr lang="ko-KR" altLang="en-US" dirty="0">
                <a:latin typeface="+mn-ea"/>
                <a:ea typeface="+mn-ea"/>
              </a:rPr>
              <a:t>주요 </a:t>
            </a:r>
            <a:r>
              <a:rPr lang="en-US" altLang="ko-KR" dirty="0">
                <a:latin typeface="+mn-ea"/>
                <a:ea typeface="+mn-ea"/>
              </a:rPr>
              <a:t>UI</a:t>
            </a:r>
            <a:r>
              <a:rPr lang="ko-KR" altLang="en-US" dirty="0">
                <a:latin typeface="+mn-ea"/>
                <a:ea typeface="+mn-ea"/>
              </a:rPr>
              <a:t>설계</a:t>
            </a:r>
          </a:p>
        </p:txBody>
      </p:sp>
      <p:graphicFrame>
        <p:nvGraphicFramePr>
          <p:cNvPr id="3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387458"/>
              </p:ext>
            </p:extLst>
          </p:nvPr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000114"/>
              </p:ext>
            </p:extLst>
          </p:nvPr>
        </p:nvGraphicFramePr>
        <p:xfrm>
          <a:off x="355600" y="2195513"/>
          <a:ext cx="8701088" cy="2143120"/>
        </p:xfrm>
        <a:graphic>
          <a:graphicData uri="http://schemas.openxmlformats.org/drawingml/2006/table">
            <a:tbl>
              <a:tblPr/>
              <a:tblGrid>
                <a:gridCol w="44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9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0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2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4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4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30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 옵션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 </a:t>
                      </a: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옵션명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적치전략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표준전략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전략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할당전략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표준전략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가용재고 부족 시 배분 순위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전표번호순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보충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긴급보충여부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미생성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긴급보충 시 자동 확정 여부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자동확정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수동확정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729263"/>
                  </a:ext>
                </a:extLst>
              </a:tr>
              <a:tr h="2143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유통가공</a:t>
                      </a: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3" marR="7643" marT="7644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직사각형 54"/>
          <p:cNvSpPr>
            <a:spLocks noChangeArrowheads="1"/>
          </p:cNvSpPr>
          <p:nvPr/>
        </p:nvSpPr>
        <p:spPr bwMode="auto">
          <a:xfrm>
            <a:off x="309563" y="2087563"/>
            <a:ext cx="9215437" cy="422175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5"/>
          <p:cNvSpPr txBox="1">
            <a:spLocks noChangeArrowheads="1"/>
          </p:cNvSpPr>
          <p:nvPr/>
        </p:nvSpPr>
        <p:spPr bwMode="auto">
          <a:xfrm>
            <a:off x="381000" y="1963738"/>
            <a:ext cx="1331913" cy="230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고객별 운영규칙 관리</a:t>
            </a:r>
          </a:p>
        </p:txBody>
      </p:sp>
      <p:sp>
        <p:nvSpPr>
          <p:cNvPr id="7" name="TextBox 65"/>
          <p:cNvSpPr txBox="1">
            <a:spLocks noChangeArrowheads="1"/>
          </p:cNvSpPr>
          <p:nvPr/>
        </p:nvSpPr>
        <p:spPr bwMode="auto">
          <a:xfrm>
            <a:off x="207963" y="1312863"/>
            <a:ext cx="7286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8" name="직사각형 66"/>
          <p:cNvSpPr>
            <a:spLocks noChangeArrowheads="1"/>
          </p:cNvSpPr>
          <p:nvPr/>
        </p:nvSpPr>
        <p:spPr bwMode="auto">
          <a:xfrm>
            <a:off x="968375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51"/>
          <p:cNvSpPr>
            <a:spLocks noChangeArrowheads="1"/>
          </p:cNvSpPr>
          <p:nvPr/>
        </p:nvSpPr>
        <p:spPr bwMode="auto">
          <a:xfrm>
            <a:off x="848836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10" name="직사각형 51"/>
          <p:cNvSpPr>
            <a:spLocks noChangeArrowheads="1"/>
          </p:cNvSpPr>
          <p:nvPr/>
        </p:nvSpPr>
        <p:spPr bwMode="auto">
          <a:xfrm>
            <a:off x="68564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11" name="직사각형 48"/>
          <p:cNvSpPr>
            <a:spLocks noChangeArrowheads="1"/>
          </p:cNvSpPr>
          <p:nvPr/>
        </p:nvSpPr>
        <p:spPr bwMode="auto">
          <a:xfrm>
            <a:off x="2005013" y="1295400"/>
            <a:ext cx="14287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51"/>
          <p:cNvSpPr>
            <a:spLocks noChangeArrowheads="1"/>
          </p:cNvSpPr>
          <p:nvPr/>
        </p:nvSpPr>
        <p:spPr bwMode="auto">
          <a:xfrm>
            <a:off x="74025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13" name="직사각형 51"/>
          <p:cNvSpPr>
            <a:spLocks noChangeArrowheads="1"/>
          </p:cNvSpPr>
          <p:nvPr/>
        </p:nvSpPr>
        <p:spPr bwMode="auto">
          <a:xfrm>
            <a:off x="7948613" y="1830388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14" name="직사각형 51"/>
          <p:cNvSpPr>
            <a:spLocks noChangeArrowheads="1"/>
          </p:cNvSpPr>
          <p:nvPr/>
        </p:nvSpPr>
        <p:spPr bwMode="auto">
          <a:xfrm>
            <a:off x="9026525" y="1830388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엑셀</a:t>
            </a:r>
          </a:p>
        </p:txBody>
      </p:sp>
      <p:sp>
        <p:nvSpPr>
          <p:cNvPr id="29" name="직사각형 66"/>
          <p:cNvSpPr>
            <a:spLocks noChangeArrowheads="1"/>
          </p:cNvSpPr>
          <p:nvPr/>
        </p:nvSpPr>
        <p:spPr bwMode="auto">
          <a:xfrm>
            <a:off x="2184400" y="1295400"/>
            <a:ext cx="1000125" cy="2143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0" name="그룹 71"/>
          <p:cNvGrpSpPr>
            <a:grpSpLocks/>
          </p:cNvGrpSpPr>
          <p:nvPr/>
        </p:nvGrpSpPr>
        <p:grpSpPr bwMode="auto">
          <a:xfrm>
            <a:off x="381000" y="1000125"/>
            <a:ext cx="2071688" cy="230188"/>
            <a:chOff x="3238492" y="1428736"/>
            <a:chExt cx="2071698" cy="230832"/>
          </a:xfrm>
        </p:grpSpPr>
        <p:sp>
          <p:nvSpPr>
            <p:cNvPr id="31" name="TextBox 65"/>
            <p:cNvSpPr txBox="1">
              <a:spLocks noChangeArrowheads="1"/>
            </p:cNvSpPr>
            <p:nvPr/>
          </p:nvSpPr>
          <p:spPr bwMode="auto">
            <a:xfrm>
              <a:off x="3238492" y="1428736"/>
              <a:ext cx="107156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</a:p>
          </p:txBody>
        </p:sp>
        <p:sp>
          <p:nvSpPr>
            <p:cNvPr id="32" name="직사각형 66"/>
            <p:cNvSpPr>
              <a:spLocks noChangeArrowheads="1"/>
            </p:cNvSpPr>
            <p:nvPr/>
          </p:nvSpPr>
          <p:spPr bwMode="auto">
            <a:xfrm>
              <a:off x="4310065" y="1433501"/>
              <a:ext cx="1000125" cy="2143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8000" tIns="36000" rIns="18000" bIns="36000" anchor="ctr" anchorCtr="1"/>
            <a:lstStyle>
              <a:lvl1pPr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Optima" panose="00000400000000000000" pitchFamily="2" charset="2"/>
                  <a:ea typeface="굴림체" panose="020B0609000101010101" pitchFamily="49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3" name="직사각형 33"/>
          <p:cNvSpPr>
            <a:spLocks noChangeArrowheads="1"/>
          </p:cNvSpPr>
          <p:nvPr/>
        </p:nvSpPr>
        <p:spPr bwMode="auto">
          <a:xfrm>
            <a:off x="2309813" y="100488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34" name="제목 1"/>
          <p:cNvSpPr txBox="1">
            <a:spLocks/>
          </p:cNvSpPr>
          <p:nvPr/>
        </p:nvSpPr>
        <p:spPr bwMode="auto">
          <a:xfrm>
            <a:off x="1208584" y="332656"/>
            <a:ext cx="3420567" cy="41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600" dirty="0">
                <a:latin typeface="+mn-ea"/>
                <a:ea typeface="+mn-ea"/>
              </a:rPr>
              <a:t>운영 </a:t>
            </a:r>
            <a:r>
              <a:rPr kumimoji="0" lang="en-US" altLang="ko-KR" sz="1600" dirty="0">
                <a:latin typeface="+mn-ea"/>
                <a:ea typeface="+mn-ea"/>
              </a:rPr>
              <a:t>Rule </a:t>
            </a:r>
            <a:r>
              <a:rPr kumimoji="0" lang="ko-KR" altLang="en-US" sz="1600" dirty="0">
                <a:latin typeface="+mn-ea"/>
                <a:ea typeface="+mn-ea"/>
              </a:rPr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3643537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7. </a:t>
            </a:r>
            <a:r>
              <a:rPr lang="ko-KR" altLang="en-US" dirty="0">
                <a:latin typeface="+mn-ea"/>
                <a:ea typeface="+mn-ea"/>
              </a:rPr>
              <a:t>주요 </a:t>
            </a:r>
            <a:r>
              <a:rPr lang="en-US" altLang="ko-KR" dirty="0">
                <a:latin typeface="+mn-ea"/>
                <a:ea typeface="+mn-ea"/>
              </a:rPr>
              <a:t>UI</a:t>
            </a:r>
            <a:r>
              <a:rPr lang="ko-KR" altLang="en-US" dirty="0">
                <a:latin typeface="+mn-ea"/>
                <a:ea typeface="+mn-ea"/>
              </a:rPr>
              <a:t>설계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980728"/>
            <a:ext cx="6320476" cy="365857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056" y="2745936"/>
            <a:ext cx="6280432" cy="3635392"/>
          </a:xfrm>
          <a:prstGeom prst="rect">
            <a:avLst/>
          </a:prstGeom>
        </p:spPr>
      </p:pic>
      <p:sp>
        <p:nvSpPr>
          <p:cNvPr id="7" name="제목 1"/>
          <p:cNvSpPr txBox="1">
            <a:spLocks/>
          </p:cNvSpPr>
          <p:nvPr/>
        </p:nvSpPr>
        <p:spPr bwMode="auto">
          <a:xfrm>
            <a:off x="1208584" y="332656"/>
            <a:ext cx="3420567" cy="41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600" dirty="0">
                <a:latin typeface="+mn-ea"/>
                <a:ea typeface="+mn-ea"/>
              </a:rPr>
              <a:t>적치전략</a:t>
            </a:r>
            <a:r>
              <a:rPr kumimoji="0" lang="en-US" altLang="ko-KR" sz="1600" dirty="0">
                <a:latin typeface="+mn-ea"/>
                <a:ea typeface="+mn-ea"/>
              </a:rPr>
              <a:t>/</a:t>
            </a:r>
            <a:r>
              <a:rPr kumimoji="0" lang="ko-KR" altLang="en-US" sz="1600" dirty="0">
                <a:latin typeface="+mn-ea"/>
                <a:ea typeface="+mn-ea"/>
              </a:rPr>
              <a:t>할당전략 설정</a:t>
            </a:r>
          </a:p>
        </p:txBody>
      </p:sp>
    </p:spTree>
    <p:extLst>
      <p:ext uri="{BB962C8B-B14F-4D97-AF65-F5344CB8AC3E}">
        <p14:creationId xmlns:p14="http://schemas.microsoft.com/office/powerpoint/2010/main" val="881668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7. </a:t>
            </a:r>
            <a:r>
              <a:rPr lang="ko-KR" altLang="en-US" dirty="0">
                <a:latin typeface="+mn-ea"/>
                <a:ea typeface="+mn-ea"/>
              </a:rPr>
              <a:t>주요 </a:t>
            </a:r>
            <a:r>
              <a:rPr lang="en-US" altLang="ko-KR" dirty="0">
                <a:latin typeface="+mn-ea"/>
                <a:ea typeface="+mn-ea"/>
              </a:rPr>
              <a:t>UI</a:t>
            </a:r>
            <a:r>
              <a:rPr lang="ko-KR" altLang="en-US" dirty="0">
                <a:latin typeface="+mn-ea"/>
                <a:ea typeface="+mn-ea"/>
              </a:rPr>
              <a:t>설계</a:t>
            </a:r>
          </a:p>
        </p:txBody>
      </p:sp>
      <p:graphicFrame>
        <p:nvGraphicFramePr>
          <p:cNvPr id="3" name="Group 13"/>
          <p:cNvGraphicFramePr>
            <a:graphicFrameLocks noGrp="1"/>
          </p:cNvGraphicFramePr>
          <p:nvPr>
            <p:extLst/>
          </p:nvPr>
        </p:nvGraphicFramePr>
        <p:xfrm>
          <a:off x="200025" y="981075"/>
          <a:ext cx="9463088" cy="5472113"/>
        </p:xfrm>
        <a:graphic>
          <a:graphicData uri="http://schemas.openxmlformats.org/drawingml/2006/table">
            <a:tbl>
              <a:tblPr/>
              <a:tblGrid>
                <a:gridCol w="946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  면</a:t>
                      </a:r>
                    </a:p>
                  </a:txBody>
                  <a:tcPr marL="18000" marR="18000" marT="0" marB="0" anchor="ctr" anchorCtr="1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0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제목 1"/>
          <p:cNvSpPr txBox="1">
            <a:spLocks/>
          </p:cNvSpPr>
          <p:nvPr/>
        </p:nvSpPr>
        <p:spPr bwMode="auto">
          <a:xfrm>
            <a:off x="1208584" y="332656"/>
            <a:ext cx="3420567" cy="41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600" dirty="0">
                <a:latin typeface="+mn-ea"/>
                <a:ea typeface="+mn-ea"/>
              </a:rPr>
              <a:t>인터페이스 매핑 설정</a:t>
            </a:r>
          </a:p>
        </p:txBody>
      </p:sp>
      <p:graphicFrame>
        <p:nvGraphicFramePr>
          <p:cNvPr id="35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044238"/>
              </p:ext>
            </p:extLst>
          </p:nvPr>
        </p:nvGraphicFramePr>
        <p:xfrm>
          <a:off x="377825" y="3322638"/>
          <a:ext cx="9039225" cy="854074"/>
        </p:xfrm>
        <a:graphic>
          <a:graphicData uri="http://schemas.openxmlformats.org/drawingml/2006/table">
            <a:tbl>
              <a:tblPr/>
              <a:tblGrid>
                <a:gridCol w="236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94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648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38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8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36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36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86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86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36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36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36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366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366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366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8366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83666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28980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</a:t>
                      </a: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수신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송신 필드</a:t>
                      </a: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기본값</a:t>
                      </a: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날짜포맷</a:t>
                      </a: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코드변환</a:t>
                      </a: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대상필드</a:t>
                      </a: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데이터유형</a:t>
                      </a: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시작위치</a:t>
                      </a: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자료길이</a:t>
                      </a: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태그</a:t>
                      </a: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태그속성</a:t>
                      </a: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</a:t>
                      </a: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3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13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√</a:t>
                      </a: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송신</a:t>
                      </a: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ITEM_CD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Item_cd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13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IN_DT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sysdate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YYYYMMDD</a:t>
                      </a: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50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44" marR="7644" marT="7646" marB="0"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직사각형 54"/>
          <p:cNvSpPr>
            <a:spLocks noChangeArrowheads="1"/>
          </p:cNvSpPr>
          <p:nvPr/>
        </p:nvSpPr>
        <p:spPr bwMode="auto">
          <a:xfrm>
            <a:off x="307975" y="3214688"/>
            <a:ext cx="9215438" cy="309403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55"/>
          <p:cNvSpPr txBox="1">
            <a:spLocks noChangeArrowheads="1"/>
          </p:cNvSpPr>
          <p:nvPr/>
        </p:nvSpPr>
        <p:spPr bwMode="auto">
          <a:xfrm>
            <a:off x="344488" y="3079750"/>
            <a:ext cx="1223962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수신정의 상세내역</a:t>
            </a:r>
          </a:p>
        </p:txBody>
      </p:sp>
      <p:sp>
        <p:nvSpPr>
          <p:cNvPr id="38" name="직사각형 51"/>
          <p:cNvSpPr>
            <a:spLocks noChangeArrowheads="1"/>
          </p:cNvSpPr>
          <p:nvPr/>
        </p:nvSpPr>
        <p:spPr bwMode="auto">
          <a:xfrm>
            <a:off x="9056688" y="28686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39" name="직사각형 51"/>
          <p:cNvSpPr>
            <a:spLocks noChangeArrowheads="1"/>
          </p:cNvSpPr>
          <p:nvPr/>
        </p:nvSpPr>
        <p:spPr bwMode="auto">
          <a:xfrm>
            <a:off x="8482013" y="2868613"/>
            <a:ext cx="490537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40" name="직사각형 51"/>
          <p:cNvSpPr>
            <a:spLocks noChangeArrowheads="1"/>
          </p:cNvSpPr>
          <p:nvPr/>
        </p:nvSpPr>
        <p:spPr bwMode="auto">
          <a:xfrm>
            <a:off x="7905750" y="2868613"/>
            <a:ext cx="490538" cy="19685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</a:p>
        </p:txBody>
      </p:sp>
      <p:sp>
        <p:nvSpPr>
          <p:cNvPr id="41" name="직사각형 51"/>
          <p:cNvSpPr>
            <a:spLocks noChangeArrowheads="1"/>
          </p:cNvSpPr>
          <p:nvPr/>
        </p:nvSpPr>
        <p:spPr bwMode="auto">
          <a:xfrm>
            <a:off x="7256463" y="2868613"/>
            <a:ext cx="563562" cy="21590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불러오기</a:t>
            </a: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5605463" y="2852738"/>
            <a:ext cx="6429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43" name="직사각형 42"/>
          <p:cNvSpPr>
            <a:spLocks noChangeArrowheads="1"/>
          </p:cNvSpPr>
          <p:nvPr/>
        </p:nvSpPr>
        <p:spPr bwMode="auto">
          <a:xfrm>
            <a:off x="6105525" y="2868613"/>
            <a:ext cx="1079500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상품마스터</a:t>
            </a:r>
          </a:p>
        </p:txBody>
      </p:sp>
      <p:sp>
        <p:nvSpPr>
          <p:cNvPr id="44" name="직사각형 43"/>
          <p:cNvSpPr>
            <a:spLocks noChangeArrowheads="1"/>
          </p:cNvSpPr>
          <p:nvPr/>
        </p:nvSpPr>
        <p:spPr bwMode="auto">
          <a:xfrm>
            <a:off x="7040563" y="286861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5" name="직사각형 46"/>
          <p:cNvSpPr>
            <a:spLocks noChangeArrowheads="1"/>
          </p:cNvSpPr>
          <p:nvPr/>
        </p:nvSpPr>
        <p:spPr bwMode="auto">
          <a:xfrm>
            <a:off x="344488" y="5877146"/>
            <a:ext cx="2090860" cy="40139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자료유형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DBtoDB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Dbview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Spcall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Excel, Text, XML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1"/>
          <p:cNvSpPr txBox="1">
            <a:spLocks noChangeArrowheads="1"/>
          </p:cNvSpPr>
          <p:nvPr/>
        </p:nvSpPr>
        <p:spPr bwMode="auto">
          <a:xfrm>
            <a:off x="344488" y="1541463"/>
            <a:ext cx="72072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</a:p>
        </p:txBody>
      </p:sp>
      <p:sp>
        <p:nvSpPr>
          <p:cNvPr id="48" name="직사각형 42"/>
          <p:cNvSpPr>
            <a:spLocks noChangeArrowheads="1"/>
          </p:cNvSpPr>
          <p:nvPr/>
        </p:nvSpPr>
        <p:spPr bwMode="auto">
          <a:xfrm>
            <a:off x="1069975" y="1557338"/>
            <a:ext cx="796925" cy="2000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3"/>
          <p:cNvSpPr>
            <a:spLocks noChangeArrowheads="1"/>
          </p:cNvSpPr>
          <p:nvPr/>
        </p:nvSpPr>
        <p:spPr bwMode="auto">
          <a:xfrm>
            <a:off x="1922463" y="1557338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2"/>
          <p:cNvSpPr>
            <a:spLocks noChangeArrowheads="1"/>
          </p:cNvSpPr>
          <p:nvPr/>
        </p:nvSpPr>
        <p:spPr bwMode="auto">
          <a:xfrm>
            <a:off x="2144713" y="1557338"/>
            <a:ext cx="1512887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22"/>
          <p:cNvSpPr>
            <a:spLocks noChangeArrowheads="1"/>
          </p:cNvSpPr>
          <p:nvPr/>
        </p:nvSpPr>
        <p:spPr bwMode="auto">
          <a:xfrm>
            <a:off x="309563" y="1412875"/>
            <a:ext cx="9215437" cy="13684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41"/>
          <p:cNvSpPr txBox="1">
            <a:spLocks noChangeArrowheads="1"/>
          </p:cNvSpPr>
          <p:nvPr/>
        </p:nvSpPr>
        <p:spPr bwMode="auto">
          <a:xfrm>
            <a:off x="3733800" y="1456016"/>
            <a:ext cx="6429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송신항목</a:t>
            </a:r>
          </a:p>
        </p:txBody>
      </p:sp>
      <p:sp>
        <p:nvSpPr>
          <p:cNvPr id="53" name="직사각형 42"/>
          <p:cNvSpPr>
            <a:spLocks noChangeArrowheads="1"/>
          </p:cNvSpPr>
          <p:nvPr/>
        </p:nvSpPr>
        <p:spPr bwMode="auto">
          <a:xfrm>
            <a:off x="4525963" y="1541463"/>
            <a:ext cx="496888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</a:p>
        </p:txBody>
      </p:sp>
      <p:sp>
        <p:nvSpPr>
          <p:cNvPr id="54" name="직사각형 43"/>
          <p:cNvSpPr>
            <a:spLocks noChangeArrowheads="1"/>
          </p:cNvSpPr>
          <p:nvPr/>
        </p:nvSpPr>
        <p:spPr bwMode="auto">
          <a:xfrm>
            <a:off x="4883272" y="1540905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5" name="TextBox 41"/>
          <p:cNvSpPr txBox="1">
            <a:spLocks noChangeArrowheads="1"/>
          </p:cNvSpPr>
          <p:nvPr/>
        </p:nvSpPr>
        <p:spPr bwMode="auto">
          <a:xfrm>
            <a:off x="344488" y="1760816"/>
            <a:ext cx="936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송신 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정의번호</a:t>
            </a:r>
          </a:p>
        </p:txBody>
      </p:sp>
      <p:sp>
        <p:nvSpPr>
          <p:cNvPr id="56" name="직사각형 42"/>
          <p:cNvSpPr>
            <a:spLocks noChangeArrowheads="1"/>
          </p:cNvSpPr>
          <p:nvPr/>
        </p:nvSpPr>
        <p:spPr bwMode="auto">
          <a:xfrm>
            <a:off x="1065213" y="1846263"/>
            <a:ext cx="796925" cy="2000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1010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TextBox 41"/>
          <p:cNvSpPr txBox="1">
            <a:spLocks noChangeArrowheads="1"/>
          </p:cNvSpPr>
          <p:nvPr/>
        </p:nvSpPr>
        <p:spPr bwMode="auto">
          <a:xfrm>
            <a:off x="344488" y="2047360"/>
            <a:ext cx="936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송신</a:t>
            </a:r>
            <a:b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정의명</a:t>
            </a:r>
          </a:p>
        </p:txBody>
      </p:sp>
      <p:sp>
        <p:nvSpPr>
          <p:cNvPr id="58" name="직사각형 42"/>
          <p:cNvSpPr>
            <a:spLocks noChangeArrowheads="1"/>
          </p:cNvSpPr>
          <p:nvPr/>
        </p:nvSpPr>
        <p:spPr bwMode="auto">
          <a:xfrm>
            <a:off x="1065213" y="2133600"/>
            <a:ext cx="2592387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상품마스터수신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DBtoDB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41"/>
          <p:cNvSpPr txBox="1">
            <a:spLocks noChangeArrowheads="1"/>
          </p:cNvSpPr>
          <p:nvPr/>
        </p:nvSpPr>
        <p:spPr bwMode="auto">
          <a:xfrm>
            <a:off x="1928813" y="1828800"/>
            <a:ext cx="93662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자료유형</a:t>
            </a:r>
          </a:p>
        </p:txBody>
      </p:sp>
      <p:sp>
        <p:nvSpPr>
          <p:cNvPr id="60" name="직사각형 42"/>
          <p:cNvSpPr>
            <a:spLocks noChangeArrowheads="1"/>
          </p:cNvSpPr>
          <p:nvPr/>
        </p:nvSpPr>
        <p:spPr bwMode="auto">
          <a:xfrm>
            <a:off x="2432050" y="1844675"/>
            <a:ext cx="1225550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41"/>
          <p:cNvSpPr txBox="1">
            <a:spLocks noChangeArrowheads="1"/>
          </p:cNvSpPr>
          <p:nvPr/>
        </p:nvSpPr>
        <p:spPr bwMode="auto">
          <a:xfrm>
            <a:off x="3733800" y="1828800"/>
            <a:ext cx="6429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원격테이블</a:t>
            </a:r>
          </a:p>
        </p:txBody>
      </p:sp>
      <p:sp>
        <p:nvSpPr>
          <p:cNvPr id="62" name="직사각형 42"/>
          <p:cNvSpPr>
            <a:spLocks noChangeArrowheads="1"/>
          </p:cNvSpPr>
          <p:nvPr/>
        </p:nvSpPr>
        <p:spPr bwMode="auto">
          <a:xfrm>
            <a:off x="4516438" y="1844675"/>
            <a:ext cx="2087562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41"/>
          <p:cNvSpPr txBox="1">
            <a:spLocks noChangeArrowheads="1"/>
          </p:cNvSpPr>
          <p:nvPr/>
        </p:nvSpPr>
        <p:spPr bwMode="auto">
          <a:xfrm>
            <a:off x="3733800" y="2335491"/>
            <a:ext cx="6429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송신경로</a:t>
            </a:r>
          </a:p>
        </p:txBody>
      </p:sp>
      <p:sp>
        <p:nvSpPr>
          <p:cNvPr id="64" name="직사각형 42"/>
          <p:cNvSpPr>
            <a:spLocks noChangeArrowheads="1"/>
          </p:cNvSpPr>
          <p:nvPr/>
        </p:nvSpPr>
        <p:spPr bwMode="auto">
          <a:xfrm>
            <a:off x="4516438" y="2420938"/>
            <a:ext cx="2087562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Box 41"/>
          <p:cNvSpPr txBox="1">
            <a:spLocks noChangeArrowheads="1"/>
          </p:cNvSpPr>
          <p:nvPr/>
        </p:nvSpPr>
        <p:spPr bwMode="auto">
          <a:xfrm>
            <a:off x="6686550" y="2405063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원격경로</a:t>
            </a:r>
          </a:p>
        </p:txBody>
      </p:sp>
      <p:sp>
        <p:nvSpPr>
          <p:cNvPr id="66" name="직사각형 42"/>
          <p:cNvSpPr>
            <a:spLocks noChangeArrowheads="1"/>
          </p:cNvSpPr>
          <p:nvPr/>
        </p:nvSpPr>
        <p:spPr bwMode="auto">
          <a:xfrm>
            <a:off x="7329488" y="2420938"/>
            <a:ext cx="2087562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43"/>
          <p:cNvSpPr>
            <a:spLocks noChangeArrowheads="1"/>
          </p:cNvSpPr>
          <p:nvPr/>
        </p:nvSpPr>
        <p:spPr bwMode="auto">
          <a:xfrm>
            <a:off x="3513138" y="1846263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8" name="TextBox 41"/>
          <p:cNvSpPr txBox="1">
            <a:spLocks noChangeArrowheads="1"/>
          </p:cNvSpPr>
          <p:nvPr/>
        </p:nvSpPr>
        <p:spPr bwMode="auto">
          <a:xfrm>
            <a:off x="6681788" y="1844675"/>
            <a:ext cx="6429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FTP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주소</a:t>
            </a:r>
          </a:p>
        </p:txBody>
      </p:sp>
      <p:sp>
        <p:nvSpPr>
          <p:cNvPr id="69" name="직사각형 42"/>
          <p:cNvSpPr>
            <a:spLocks noChangeArrowheads="1"/>
          </p:cNvSpPr>
          <p:nvPr/>
        </p:nvSpPr>
        <p:spPr bwMode="auto">
          <a:xfrm>
            <a:off x="7324725" y="1860550"/>
            <a:ext cx="1157288" cy="2000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41"/>
          <p:cNvSpPr txBox="1">
            <a:spLocks noChangeArrowheads="1"/>
          </p:cNvSpPr>
          <p:nvPr/>
        </p:nvSpPr>
        <p:spPr bwMode="auto">
          <a:xfrm>
            <a:off x="8486775" y="1828800"/>
            <a:ext cx="6429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FTP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포트</a:t>
            </a:r>
          </a:p>
        </p:txBody>
      </p:sp>
      <p:sp>
        <p:nvSpPr>
          <p:cNvPr id="71" name="직사각형 42"/>
          <p:cNvSpPr>
            <a:spLocks noChangeArrowheads="1"/>
          </p:cNvSpPr>
          <p:nvPr/>
        </p:nvSpPr>
        <p:spPr bwMode="auto">
          <a:xfrm>
            <a:off x="8985250" y="1844675"/>
            <a:ext cx="431800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TextBox 41"/>
          <p:cNvSpPr txBox="1">
            <a:spLocks noChangeArrowheads="1"/>
          </p:cNvSpPr>
          <p:nvPr/>
        </p:nvSpPr>
        <p:spPr bwMode="auto">
          <a:xfrm>
            <a:off x="6681788" y="2119313"/>
            <a:ext cx="6429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FTP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42"/>
          <p:cNvSpPr>
            <a:spLocks noChangeArrowheads="1"/>
          </p:cNvSpPr>
          <p:nvPr/>
        </p:nvSpPr>
        <p:spPr bwMode="auto">
          <a:xfrm>
            <a:off x="7324725" y="2135188"/>
            <a:ext cx="868363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41"/>
          <p:cNvSpPr txBox="1">
            <a:spLocks noChangeArrowheads="1"/>
          </p:cNvSpPr>
          <p:nvPr/>
        </p:nvSpPr>
        <p:spPr bwMode="auto">
          <a:xfrm>
            <a:off x="8270875" y="2103438"/>
            <a:ext cx="64293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FTP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PW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직사각형 42"/>
          <p:cNvSpPr>
            <a:spLocks noChangeArrowheads="1"/>
          </p:cNvSpPr>
          <p:nvPr/>
        </p:nvSpPr>
        <p:spPr bwMode="auto">
          <a:xfrm>
            <a:off x="8769350" y="2119313"/>
            <a:ext cx="647700" cy="2301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41"/>
          <p:cNvSpPr txBox="1">
            <a:spLocks noChangeArrowheads="1"/>
          </p:cNvSpPr>
          <p:nvPr/>
        </p:nvSpPr>
        <p:spPr bwMode="auto">
          <a:xfrm>
            <a:off x="344488" y="2405063"/>
            <a:ext cx="936625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비고</a:t>
            </a:r>
          </a:p>
        </p:txBody>
      </p:sp>
      <p:sp>
        <p:nvSpPr>
          <p:cNvPr id="77" name="직사각형 42"/>
          <p:cNvSpPr>
            <a:spLocks noChangeArrowheads="1"/>
          </p:cNvSpPr>
          <p:nvPr/>
        </p:nvSpPr>
        <p:spPr bwMode="auto">
          <a:xfrm>
            <a:off x="1065213" y="2420938"/>
            <a:ext cx="2592387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TextBox 41"/>
          <p:cNvSpPr txBox="1">
            <a:spLocks noChangeArrowheads="1"/>
          </p:cNvSpPr>
          <p:nvPr/>
        </p:nvSpPr>
        <p:spPr bwMode="auto">
          <a:xfrm>
            <a:off x="3733800" y="2116138"/>
            <a:ext cx="7874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호출프로시져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직사각형 42"/>
          <p:cNvSpPr>
            <a:spLocks noChangeArrowheads="1"/>
          </p:cNvSpPr>
          <p:nvPr/>
        </p:nvSpPr>
        <p:spPr bwMode="auto">
          <a:xfrm>
            <a:off x="4516438" y="2133600"/>
            <a:ext cx="2087562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TextBox 41"/>
          <p:cNvSpPr txBox="1">
            <a:spLocks noChangeArrowheads="1"/>
          </p:cNvSpPr>
          <p:nvPr/>
        </p:nvSpPr>
        <p:spPr bwMode="auto">
          <a:xfrm>
            <a:off x="6681788" y="1557338"/>
            <a:ext cx="7921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DBLink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</a:p>
        </p:txBody>
      </p:sp>
      <p:sp>
        <p:nvSpPr>
          <p:cNvPr id="81" name="직사각형 42"/>
          <p:cNvSpPr>
            <a:spLocks noChangeArrowheads="1"/>
          </p:cNvSpPr>
          <p:nvPr/>
        </p:nvSpPr>
        <p:spPr bwMode="auto">
          <a:xfrm>
            <a:off x="7329488" y="1557338"/>
            <a:ext cx="647700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TextBox 41"/>
          <p:cNvSpPr txBox="1">
            <a:spLocks noChangeArrowheads="1"/>
          </p:cNvSpPr>
          <p:nvPr/>
        </p:nvSpPr>
        <p:spPr bwMode="auto">
          <a:xfrm>
            <a:off x="8120063" y="1557338"/>
            <a:ext cx="7921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Passive Mode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직사각형 42"/>
          <p:cNvSpPr>
            <a:spLocks noChangeArrowheads="1"/>
          </p:cNvSpPr>
          <p:nvPr/>
        </p:nvSpPr>
        <p:spPr bwMode="auto">
          <a:xfrm>
            <a:off x="8985250" y="1557338"/>
            <a:ext cx="431800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41"/>
          <p:cNvSpPr txBox="1">
            <a:spLocks noChangeArrowheads="1"/>
          </p:cNvSpPr>
          <p:nvPr/>
        </p:nvSpPr>
        <p:spPr bwMode="auto">
          <a:xfrm>
            <a:off x="5284154" y="1548774"/>
            <a:ext cx="792162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85" name="직사각형 42"/>
          <p:cNvSpPr>
            <a:spLocks noChangeArrowheads="1"/>
          </p:cNvSpPr>
          <p:nvPr/>
        </p:nvSpPr>
        <p:spPr bwMode="auto">
          <a:xfrm>
            <a:off x="5931854" y="1548774"/>
            <a:ext cx="647700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송신</a:t>
            </a:r>
          </a:p>
        </p:txBody>
      </p:sp>
      <p:sp>
        <p:nvSpPr>
          <p:cNvPr id="86" name="직사각형 43"/>
          <p:cNvSpPr>
            <a:spLocks noChangeArrowheads="1"/>
          </p:cNvSpPr>
          <p:nvPr/>
        </p:nvSpPr>
        <p:spPr bwMode="auto">
          <a:xfrm>
            <a:off x="6459278" y="1555751"/>
            <a:ext cx="142875" cy="2143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 anchorCtr="1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algn="ctr" ea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87" name="TextBox 41"/>
          <p:cNvSpPr txBox="1">
            <a:spLocks noChangeArrowheads="1"/>
          </p:cNvSpPr>
          <p:nvPr/>
        </p:nvSpPr>
        <p:spPr bwMode="auto">
          <a:xfrm>
            <a:off x="3983039" y="2878693"/>
            <a:ext cx="6429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88" name="직사각형 42"/>
          <p:cNvSpPr>
            <a:spLocks noChangeArrowheads="1"/>
          </p:cNvSpPr>
          <p:nvPr/>
        </p:nvSpPr>
        <p:spPr bwMode="auto">
          <a:xfrm>
            <a:off x="4483101" y="2894568"/>
            <a:ext cx="642937" cy="2159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18000" tIns="36000" rIns="18000" bIns="36000" anchor="ctr"/>
          <a:lstStyle>
            <a:lvl1pPr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anose="00000400000000000000" pitchFamily="2" charset="2"/>
                <a:ea typeface="굴림체" panose="020B0609000101010101" pitchFamily="49" charset="-127"/>
              </a:defRPr>
            </a:lvl9pPr>
          </a:lstStyle>
          <a:p>
            <a:pPr eaLnBrk="1" hangingPunct="1"/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송신</a:t>
            </a:r>
          </a:p>
        </p:txBody>
      </p:sp>
    </p:spTree>
    <p:extLst>
      <p:ext uri="{BB962C8B-B14F-4D97-AF65-F5344CB8AC3E}">
        <p14:creationId xmlns:p14="http://schemas.microsoft.com/office/powerpoint/2010/main" val="2970435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7. </a:t>
            </a:r>
            <a:r>
              <a:rPr lang="ko-KR" altLang="en-US" dirty="0">
                <a:latin typeface="+mn-ea"/>
                <a:ea typeface="+mn-ea"/>
              </a:rPr>
              <a:t>주요 </a:t>
            </a:r>
            <a:r>
              <a:rPr lang="en-US" altLang="ko-KR" dirty="0">
                <a:latin typeface="+mn-ea"/>
                <a:ea typeface="+mn-ea"/>
              </a:rPr>
              <a:t>UI</a:t>
            </a:r>
            <a:r>
              <a:rPr lang="ko-KR" altLang="en-US" dirty="0">
                <a:latin typeface="+mn-ea"/>
                <a:ea typeface="+mn-ea"/>
              </a:rPr>
              <a:t>설계</a:t>
            </a: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1208584" y="332656"/>
            <a:ext cx="3420567" cy="41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 dirty="0">
                <a:gradFill flip="none" rotWithShape="1"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6200000" scaled="1"/>
                  <a:tileRect/>
                </a:gradFill>
                <a:latin typeface="HY헤드라인M" pitchFamily="18" charset="-127"/>
                <a:ea typeface="HY헤드라인M" pitchFamily="18" charset="-127"/>
                <a:cs typeface="HY헤드라인M" pitchFamily="18" charset="-127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600" dirty="0">
                <a:latin typeface="+mn-ea"/>
                <a:ea typeface="+mn-ea"/>
              </a:rPr>
              <a:t>모바일</a:t>
            </a:r>
            <a:r>
              <a:rPr kumimoji="0" lang="en-US" altLang="ko-KR" sz="1600" dirty="0">
                <a:latin typeface="+mn-ea"/>
                <a:ea typeface="+mn-ea"/>
              </a:rPr>
              <a:t>(PDA)</a:t>
            </a:r>
            <a:endParaRPr kumimoji="0" lang="ko-KR" altLang="en-US" sz="1600" dirty="0"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66" y="1268759"/>
            <a:ext cx="1380953" cy="221428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672" y="1268759"/>
            <a:ext cx="1390476" cy="223333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840" y="1292569"/>
            <a:ext cx="1380953" cy="220952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770" y="1292569"/>
            <a:ext cx="1376191" cy="221904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504" y="4020645"/>
            <a:ext cx="1385715" cy="221428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9719" y="4020645"/>
            <a:ext cx="1371429" cy="220476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2840" y="4015883"/>
            <a:ext cx="1376191" cy="220952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5008" y="4018264"/>
            <a:ext cx="1380953" cy="221904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176" y="1268759"/>
            <a:ext cx="1380953" cy="2214286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9344" y="1292569"/>
            <a:ext cx="1385715" cy="221904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57157" y="4025407"/>
            <a:ext cx="1380953" cy="2209524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1937" y="4006359"/>
            <a:ext cx="1371429" cy="2219048"/>
          </a:xfrm>
          <a:prstGeom prst="rect">
            <a:avLst/>
          </a:prstGeom>
        </p:spPr>
      </p:pic>
      <p:sp>
        <p:nvSpPr>
          <p:cNvPr id="18" name="TextBox 65"/>
          <p:cNvSpPr txBox="1">
            <a:spLocks noChangeArrowheads="1"/>
          </p:cNvSpPr>
          <p:nvPr/>
        </p:nvSpPr>
        <p:spPr bwMode="auto">
          <a:xfrm>
            <a:off x="488503" y="980728"/>
            <a:ext cx="138571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[Main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메뉴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65"/>
          <p:cNvSpPr txBox="1">
            <a:spLocks noChangeArrowheads="1"/>
          </p:cNvSpPr>
          <p:nvPr/>
        </p:nvSpPr>
        <p:spPr bwMode="auto">
          <a:xfrm>
            <a:off x="2000672" y="980728"/>
            <a:ext cx="138571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입하검수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65"/>
          <p:cNvSpPr txBox="1">
            <a:spLocks noChangeArrowheads="1"/>
          </p:cNvSpPr>
          <p:nvPr/>
        </p:nvSpPr>
        <p:spPr bwMode="auto">
          <a:xfrm>
            <a:off x="3512840" y="980728"/>
            <a:ext cx="138571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입고적치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65"/>
          <p:cNvSpPr txBox="1">
            <a:spLocks noChangeArrowheads="1"/>
          </p:cNvSpPr>
          <p:nvPr/>
        </p:nvSpPr>
        <p:spPr bwMode="auto">
          <a:xfrm>
            <a:off x="5025008" y="980728"/>
            <a:ext cx="138571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입고시리얼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65"/>
          <p:cNvSpPr txBox="1">
            <a:spLocks noChangeArrowheads="1"/>
          </p:cNvSpPr>
          <p:nvPr/>
        </p:nvSpPr>
        <p:spPr bwMode="auto">
          <a:xfrm>
            <a:off x="6519613" y="980728"/>
            <a:ext cx="138571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재고이동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65"/>
          <p:cNvSpPr txBox="1">
            <a:spLocks noChangeArrowheads="1"/>
          </p:cNvSpPr>
          <p:nvPr/>
        </p:nvSpPr>
        <p:spPr bwMode="auto">
          <a:xfrm>
            <a:off x="8049344" y="980728"/>
            <a:ext cx="138571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재고실사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65"/>
          <p:cNvSpPr txBox="1">
            <a:spLocks noChangeArrowheads="1"/>
          </p:cNvSpPr>
          <p:nvPr/>
        </p:nvSpPr>
        <p:spPr bwMode="auto">
          <a:xfrm>
            <a:off x="488504" y="3701281"/>
            <a:ext cx="138571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출고피킹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65"/>
          <p:cNvSpPr txBox="1">
            <a:spLocks noChangeArrowheads="1"/>
          </p:cNvSpPr>
          <p:nvPr/>
        </p:nvSpPr>
        <p:spPr bwMode="auto">
          <a:xfrm>
            <a:off x="2000673" y="3701281"/>
            <a:ext cx="138571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[TOTAL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피킹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65"/>
          <p:cNvSpPr txBox="1">
            <a:spLocks noChangeArrowheads="1"/>
          </p:cNvSpPr>
          <p:nvPr/>
        </p:nvSpPr>
        <p:spPr bwMode="auto">
          <a:xfrm>
            <a:off x="3512841" y="3701281"/>
            <a:ext cx="138571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분배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65"/>
          <p:cNvSpPr txBox="1">
            <a:spLocks noChangeArrowheads="1"/>
          </p:cNvSpPr>
          <p:nvPr/>
        </p:nvSpPr>
        <p:spPr bwMode="auto">
          <a:xfrm>
            <a:off x="5025009" y="3701281"/>
            <a:ext cx="138571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출고시리얼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65"/>
          <p:cNvSpPr txBox="1">
            <a:spLocks noChangeArrowheads="1"/>
          </p:cNvSpPr>
          <p:nvPr/>
        </p:nvSpPr>
        <p:spPr bwMode="auto">
          <a:xfrm>
            <a:off x="6519614" y="3701281"/>
            <a:ext cx="138571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재고상태변경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65"/>
          <p:cNvSpPr txBox="1">
            <a:spLocks noChangeArrowheads="1"/>
          </p:cNvSpPr>
          <p:nvPr/>
        </p:nvSpPr>
        <p:spPr bwMode="auto">
          <a:xfrm>
            <a:off x="8049345" y="3701281"/>
            <a:ext cx="1385715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Optima" pitchFamily="2" charset="2"/>
                <a:ea typeface="굴림체" panose="020B0609000101010101" pitchFamily="49" charset="-127"/>
              </a:defRPr>
            </a:lvl9pPr>
          </a:lstStyle>
          <a:p>
            <a:pPr algn="ctr" eaLnBrk="1" latinLnBrk="1" hangingPunct="1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재고조회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7881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671661" y="3921065"/>
            <a:ext cx="2807125" cy="2235548"/>
            <a:chOff x="671661" y="3921065"/>
            <a:chExt cx="2807125" cy="2235548"/>
          </a:xfrm>
        </p:grpSpPr>
        <p:sp>
          <p:nvSpPr>
            <p:cNvPr id="127" name="AutoShape 94"/>
            <p:cNvSpPr>
              <a:spLocks noChangeArrowheads="1"/>
            </p:cNvSpPr>
            <p:nvPr/>
          </p:nvSpPr>
          <p:spPr bwMode="auto">
            <a:xfrm flipV="1">
              <a:off x="671661" y="3921065"/>
              <a:ext cx="2807125" cy="257292"/>
            </a:xfrm>
            <a:custGeom>
              <a:avLst/>
              <a:gdLst>
                <a:gd name="T0" fmla="*/ 254 w 21600"/>
                <a:gd name="T1" fmla="*/ 1 h 21600"/>
                <a:gd name="T2" fmla="*/ 136 w 21600"/>
                <a:gd name="T3" fmla="*/ 2 h 21600"/>
                <a:gd name="T4" fmla="*/ 18 w 21600"/>
                <a:gd name="T5" fmla="*/ 1 h 21600"/>
                <a:gd name="T6" fmla="*/ 13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259 w 21600"/>
                <a:gd name="T13" fmla="*/ 3289 h 21600"/>
                <a:gd name="T14" fmla="*/ 18341 w 21600"/>
                <a:gd name="T15" fmla="*/ 1831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914" y="21600"/>
                  </a:lnTo>
                  <a:lnTo>
                    <a:pt x="18686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A2C1E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>
                <a:defRPr/>
              </a:pPr>
              <a:endParaRPr lang="ko-KR" altLang="en-US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8" name="AutoShape 95"/>
            <p:cNvSpPr>
              <a:spLocks noChangeArrowheads="1"/>
            </p:cNvSpPr>
            <p:nvPr/>
          </p:nvSpPr>
          <p:spPr bwMode="auto">
            <a:xfrm flipV="1">
              <a:off x="1281453" y="3931190"/>
              <a:ext cx="1588699" cy="185092"/>
            </a:xfrm>
            <a:custGeom>
              <a:avLst/>
              <a:gdLst>
                <a:gd name="T0" fmla="*/ 81 w 21600"/>
                <a:gd name="T1" fmla="*/ 0 h 21600"/>
                <a:gd name="T2" fmla="*/ 44 w 21600"/>
                <a:gd name="T3" fmla="*/ 1 h 21600"/>
                <a:gd name="T4" fmla="*/ 6 w 21600"/>
                <a:gd name="T5" fmla="*/ 0 h 21600"/>
                <a:gd name="T6" fmla="*/ 4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257 w 21600"/>
                <a:gd name="T13" fmla="*/ 3217 h 21600"/>
                <a:gd name="T14" fmla="*/ 18343 w 21600"/>
                <a:gd name="T15" fmla="*/ 1838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914" y="21600"/>
                  </a:lnTo>
                  <a:lnTo>
                    <a:pt x="1868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800000"/>
              <a:headEnd/>
              <a:tailEnd/>
            </a:ln>
          </p:spPr>
          <p:txBody>
            <a:bodyPr rot="10800000"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9" name="AutoShape 96"/>
            <p:cNvSpPr>
              <a:spLocks noChangeArrowheads="1"/>
            </p:cNvSpPr>
            <p:nvPr/>
          </p:nvSpPr>
          <p:spPr bwMode="auto">
            <a:xfrm flipH="1">
              <a:off x="1264096" y="3940379"/>
              <a:ext cx="236048" cy="175903"/>
            </a:xfrm>
            <a:prstGeom prst="rtTriangle">
              <a:avLst/>
            </a:prstGeom>
            <a:gradFill rotWithShape="0">
              <a:gsLst>
                <a:gs pos="0">
                  <a:srgbClr val="81ABD5"/>
                </a:gs>
                <a:gs pos="100000">
                  <a:srgbClr val="FFFFFF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30" name="AutoShape 97"/>
            <p:cNvSpPr>
              <a:spLocks noChangeArrowheads="1"/>
            </p:cNvSpPr>
            <p:nvPr/>
          </p:nvSpPr>
          <p:spPr bwMode="auto">
            <a:xfrm>
              <a:off x="2665345" y="3941505"/>
              <a:ext cx="234891" cy="175903"/>
            </a:xfrm>
            <a:prstGeom prst="rtTriangl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1ABD5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31" name="Rectangle 98"/>
            <p:cNvSpPr>
              <a:spLocks noChangeArrowheads="1"/>
            </p:cNvSpPr>
            <p:nvPr/>
          </p:nvSpPr>
          <p:spPr bwMode="auto">
            <a:xfrm>
              <a:off x="683232" y="4178356"/>
              <a:ext cx="2783983" cy="1978257"/>
            </a:xfrm>
            <a:prstGeom prst="rect">
              <a:avLst/>
            </a:prstGeom>
            <a:solidFill>
              <a:srgbClr val="C1D6EB"/>
            </a:solidFill>
            <a:ln w="9525">
              <a:solidFill>
                <a:srgbClr val="A2C1E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32" name="Rectangle 99"/>
            <p:cNvSpPr>
              <a:spLocks noChangeArrowheads="1"/>
            </p:cNvSpPr>
            <p:nvPr/>
          </p:nvSpPr>
          <p:spPr bwMode="auto">
            <a:xfrm>
              <a:off x="707531" y="4212487"/>
              <a:ext cx="2734228" cy="191130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E2ECF6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4" name="Group 100"/>
          <p:cNvGrpSpPr>
            <a:grpSpLocks/>
          </p:cNvGrpSpPr>
          <p:nvPr/>
        </p:nvGrpSpPr>
        <p:grpSpPr bwMode="auto">
          <a:xfrm>
            <a:off x="3599070" y="3929208"/>
            <a:ext cx="2807125" cy="2243272"/>
            <a:chOff x="3334" y="398"/>
            <a:chExt cx="2426" cy="1710"/>
          </a:xfrm>
        </p:grpSpPr>
        <p:sp>
          <p:nvSpPr>
            <p:cNvPr id="121" name="AutoShape 101"/>
            <p:cNvSpPr>
              <a:spLocks noChangeArrowheads="1"/>
            </p:cNvSpPr>
            <p:nvPr/>
          </p:nvSpPr>
          <p:spPr bwMode="auto">
            <a:xfrm flipV="1">
              <a:off x="3334" y="402"/>
              <a:ext cx="2426" cy="200"/>
            </a:xfrm>
            <a:custGeom>
              <a:avLst/>
              <a:gdLst>
                <a:gd name="T0" fmla="*/ 254 w 21600"/>
                <a:gd name="T1" fmla="*/ 1 h 21600"/>
                <a:gd name="T2" fmla="*/ 136 w 21600"/>
                <a:gd name="T3" fmla="*/ 2 h 21600"/>
                <a:gd name="T4" fmla="*/ 18 w 21600"/>
                <a:gd name="T5" fmla="*/ 1 h 21600"/>
                <a:gd name="T6" fmla="*/ 13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259 w 21600"/>
                <a:gd name="T13" fmla="*/ 3240 h 21600"/>
                <a:gd name="T14" fmla="*/ 18341 w 21600"/>
                <a:gd name="T15" fmla="*/ 1836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914" y="21600"/>
                  </a:lnTo>
                  <a:lnTo>
                    <a:pt x="18686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A2C1E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2" name="AutoShape 102"/>
            <p:cNvSpPr>
              <a:spLocks noChangeArrowheads="1"/>
            </p:cNvSpPr>
            <p:nvPr/>
          </p:nvSpPr>
          <p:spPr bwMode="auto">
            <a:xfrm flipV="1">
              <a:off x="3861" y="398"/>
              <a:ext cx="1373" cy="142"/>
            </a:xfrm>
            <a:custGeom>
              <a:avLst/>
              <a:gdLst>
                <a:gd name="T0" fmla="*/ 81 w 21600"/>
                <a:gd name="T1" fmla="*/ 0 h 21600"/>
                <a:gd name="T2" fmla="*/ 44 w 21600"/>
                <a:gd name="T3" fmla="*/ 1 h 21600"/>
                <a:gd name="T4" fmla="*/ 6 w 21600"/>
                <a:gd name="T5" fmla="*/ 0 h 21600"/>
                <a:gd name="T6" fmla="*/ 4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257 w 21600"/>
                <a:gd name="T13" fmla="*/ 3217 h 21600"/>
                <a:gd name="T14" fmla="*/ 18343 w 21600"/>
                <a:gd name="T15" fmla="*/ 1838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914" y="21600"/>
                  </a:lnTo>
                  <a:lnTo>
                    <a:pt x="1868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800000"/>
              <a:headEnd/>
              <a:tailEnd/>
            </a:ln>
          </p:spPr>
          <p:txBody>
            <a:bodyPr rot="10800000"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3" name="AutoShape 103"/>
            <p:cNvSpPr>
              <a:spLocks noChangeArrowheads="1"/>
            </p:cNvSpPr>
            <p:nvPr/>
          </p:nvSpPr>
          <p:spPr bwMode="auto">
            <a:xfrm flipH="1">
              <a:off x="3846" y="400"/>
              <a:ext cx="204" cy="138"/>
            </a:xfrm>
            <a:prstGeom prst="rtTriangle">
              <a:avLst/>
            </a:prstGeom>
            <a:gradFill rotWithShape="0">
              <a:gsLst>
                <a:gs pos="0">
                  <a:srgbClr val="81ABD5"/>
                </a:gs>
                <a:gs pos="100000">
                  <a:srgbClr val="FFFFFF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4" name="AutoShape 104"/>
            <p:cNvSpPr>
              <a:spLocks noChangeArrowheads="1"/>
            </p:cNvSpPr>
            <p:nvPr/>
          </p:nvSpPr>
          <p:spPr bwMode="auto">
            <a:xfrm>
              <a:off x="5057" y="400"/>
              <a:ext cx="203" cy="138"/>
            </a:xfrm>
            <a:prstGeom prst="rtTriangl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1ABD5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5" name="Rectangle 105"/>
            <p:cNvSpPr>
              <a:spLocks noChangeArrowheads="1"/>
            </p:cNvSpPr>
            <p:nvPr/>
          </p:nvSpPr>
          <p:spPr bwMode="auto">
            <a:xfrm>
              <a:off x="3343" y="598"/>
              <a:ext cx="2404" cy="1510"/>
            </a:xfrm>
            <a:prstGeom prst="rect">
              <a:avLst/>
            </a:prstGeom>
            <a:solidFill>
              <a:srgbClr val="C1D6EB"/>
            </a:solidFill>
            <a:ln w="9525">
              <a:solidFill>
                <a:srgbClr val="A2C1E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6" name="Rectangle 106"/>
            <p:cNvSpPr>
              <a:spLocks noChangeArrowheads="1"/>
            </p:cNvSpPr>
            <p:nvPr/>
          </p:nvSpPr>
          <p:spPr bwMode="auto">
            <a:xfrm>
              <a:off x="3365" y="625"/>
              <a:ext cx="2363" cy="145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E2ECF6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5" name="Group 107"/>
          <p:cNvGrpSpPr>
            <a:grpSpLocks/>
          </p:cNvGrpSpPr>
          <p:nvPr/>
        </p:nvGrpSpPr>
        <p:grpSpPr bwMode="auto">
          <a:xfrm>
            <a:off x="6565531" y="3928852"/>
            <a:ext cx="2807126" cy="2253926"/>
            <a:chOff x="3334" y="391"/>
            <a:chExt cx="2426" cy="1717"/>
          </a:xfrm>
        </p:grpSpPr>
        <p:sp>
          <p:nvSpPr>
            <p:cNvPr id="115" name="AutoShape 108"/>
            <p:cNvSpPr>
              <a:spLocks noChangeArrowheads="1"/>
            </p:cNvSpPr>
            <p:nvPr/>
          </p:nvSpPr>
          <p:spPr bwMode="auto">
            <a:xfrm flipV="1">
              <a:off x="3334" y="402"/>
              <a:ext cx="2426" cy="195"/>
            </a:xfrm>
            <a:custGeom>
              <a:avLst/>
              <a:gdLst>
                <a:gd name="T0" fmla="*/ 254 w 21600"/>
                <a:gd name="T1" fmla="*/ 1 h 21600"/>
                <a:gd name="T2" fmla="*/ 136 w 21600"/>
                <a:gd name="T3" fmla="*/ 2 h 21600"/>
                <a:gd name="T4" fmla="*/ 18 w 21600"/>
                <a:gd name="T5" fmla="*/ 1 h 21600"/>
                <a:gd name="T6" fmla="*/ 13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259 w 21600"/>
                <a:gd name="T13" fmla="*/ 3289 h 21600"/>
                <a:gd name="T14" fmla="*/ 18341 w 21600"/>
                <a:gd name="T15" fmla="*/ 1831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914" y="21600"/>
                  </a:lnTo>
                  <a:lnTo>
                    <a:pt x="18686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A2C1E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16" name="AutoShape 109"/>
            <p:cNvSpPr>
              <a:spLocks noChangeArrowheads="1"/>
            </p:cNvSpPr>
            <p:nvPr/>
          </p:nvSpPr>
          <p:spPr bwMode="auto">
            <a:xfrm flipV="1">
              <a:off x="3861" y="391"/>
              <a:ext cx="1373" cy="141"/>
            </a:xfrm>
            <a:custGeom>
              <a:avLst/>
              <a:gdLst>
                <a:gd name="T0" fmla="*/ 81 w 21600"/>
                <a:gd name="T1" fmla="*/ 0 h 21600"/>
                <a:gd name="T2" fmla="*/ 44 w 21600"/>
                <a:gd name="T3" fmla="*/ 1 h 21600"/>
                <a:gd name="T4" fmla="*/ 6 w 21600"/>
                <a:gd name="T5" fmla="*/ 0 h 21600"/>
                <a:gd name="T6" fmla="*/ 4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257 w 21600"/>
                <a:gd name="T13" fmla="*/ 3217 h 21600"/>
                <a:gd name="T14" fmla="*/ 18343 w 21600"/>
                <a:gd name="T15" fmla="*/ 1838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914" y="21600"/>
                  </a:lnTo>
                  <a:lnTo>
                    <a:pt x="18686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2700">
              <a:noFill/>
              <a:miter lim="800000"/>
              <a:headEnd/>
              <a:tailEnd/>
            </a:ln>
          </p:spPr>
          <p:txBody>
            <a:bodyPr rot="10800000"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17" name="AutoShape 110"/>
            <p:cNvSpPr>
              <a:spLocks noChangeArrowheads="1"/>
            </p:cNvSpPr>
            <p:nvPr/>
          </p:nvSpPr>
          <p:spPr bwMode="auto">
            <a:xfrm flipH="1">
              <a:off x="3846" y="398"/>
              <a:ext cx="204" cy="134"/>
            </a:xfrm>
            <a:prstGeom prst="rtTriangle">
              <a:avLst/>
            </a:prstGeom>
            <a:gradFill rotWithShape="0">
              <a:gsLst>
                <a:gs pos="0">
                  <a:srgbClr val="81ABD5"/>
                </a:gs>
                <a:gs pos="100000">
                  <a:srgbClr val="FFFFFF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18" name="AutoShape 111"/>
            <p:cNvSpPr>
              <a:spLocks noChangeArrowheads="1"/>
            </p:cNvSpPr>
            <p:nvPr/>
          </p:nvSpPr>
          <p:spPr bwMode="auto">
            <a:xfrm>
              <a:off x="5059" y="398"/>
              <a:ext cx="203" cy="134"/>
            </a:xfrm>
            <a:prstGeom prst="rtTriangl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1ABD5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19" name="Rectangle 112"/>
            <p:cNvSpPr>
              <a:spLocks noChangeArrowheads="1"/>
            </p:cNvSpPr>
            <p:nvPr/>
          </p:nvSpPr>
          <p:spPr bwMode="auto">
            <a:xfrm>
              <a:off x="3344" y="599"/>
              <a:ext cx="2406" cy="1509"/>
            </a:xfrm>
            <a:prstGeom prst="rect">
              <a:avLst/>
            </a:prstGeom>
            <a:solidFill>
              <a:srgbClr val="C1D6EB"/>
            </a:solidFill>
            <a:ln w="9525">
              <a:solidFill>
                <a:srgbClr val="A2C1E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20" name="Rectangle 113"/>
            <p:cNvSpPr>
              <a:spLocks noChangeArrowheads="1"/>
            </p:cNvSpPr>
            <p:nvPr/>
          </p:nvSpPr>
          <p:spPr bwMode="auto">
            <a:xfrm>
              <a:off x="3366" y="623"/>
              <a:ext cx="2363" cy="1461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E2ECF6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76" name="Rectangle 119"/>
          <p:cNvSpPr>
            <a:spLocks noChangeArrowheads="1"/>
          </p:cNvSpPr>
          <p:nvPr/>
        </p:nvSpPr>
        <p:spPr bwMode="auto">
          <a:xfrm rot="10800000">
            <a:off x="681095" y="1542515"/>
            <a:ext cx="2784475" cy="1981200"/>
          </a:xfrm>
          <a:prstGeom prst="rect">
            <a:avLst/>
          </a:prstGeom>
          <a:solidFill>
            <a:srgbClr val="C1D6EB"/>
          </a:solidFill>
          <a:ln w="9525">
            <a:solidFill>
              <a:srgbClr val="A2C1E0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7" name="Rectangle 120"/>
          <p:cNvSpPr>
            <a:spLocks noChangeArrowheads="1"/>
          </p:cNvSpPr>
          <p:nvPr/>
        </p:nvSpPr>
        <p:spPr bwMode="auto">
          <a:xfrm rot="10800000">
            <a:off x="709670" y="1574265"/>
            <a:ext cx="2735262" cy="19177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2ECF6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8" name="Rectangle 126"/>
          <p:cNvSpPr>
            <a:spLocks noChangeArrowheads="1"/>
          </p:cNvSpPr>
          <p:nvPr/>
        </p:nvSpPr>
        <p:spPr bwMode="auto">
          <a:xfrm rot="10800000">
            <a:off x="3608445" y="1558390"/>
            <a:ext cx="2786061" cy="1979613"/>
          </a:xfrm>
          <a:prstGeom prst="rect">
            <a:avLst/>
          </a:prstGeom>
          <a:solidFill>
            <a:srgbClr val="C1D6EB"/>
          </a:solidFill>
          <a:ln w="9525">
            <a:solidFill>
              <a:srgbClr val="A2C1E0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9" name="Rectangle 127"/>
          <p:cNvSpPr>
            <a:spLocks noChangeArrowheads="1"/>
          </p:cNvSpPr>
          <p:nvPr/>
        </p:nvSpPr>
        <p:spPr bwMode="auto">
          <a:xfrm rot="10800000">
            <a:off x="3637020" y="1590140"/>
            <a:ext cx="2735262" cy="1916113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2ECF6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0" name="Rectangle 133"/>
          <p:cNvSpPr>
            <a:spLocks noChangeArrowheads="1"/>
          </p:cNvSpPr>
          <p:nvPr/>
        </p:nvSpPr>
        <p:spPr bwMode="auto">
          <a:xfrm rot="10800000">
            <a:off x="6577070" y="1564740"/>
            <a:ext cx="2784475" cy="1981200"/>
          </a:xfrm>
          <a:prstGeom prst="rect">
            <a:avLst/>
          </a:prstGeom>
          <a:solidFill>
            <a:srgbClr val="C1D6EB"/>
          </a:solidFill>
          <a:ln w="9525">
            <a:solidFill>
              <a:srgbClr val="A2C1E0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1" name="Rectangle 134"/>
          <p:cNvSpPr>
            <a:spLocks noChangeArrowheads="1"/>
          </p:cNvSpPr>
          <p:nvPr/>
        </p:nvSpPr>
        <p:spPr bwMode="auto">
          <a:xfrm rot="10800000">
            <a:off x="6604057" y="1596490"/>
            <a:ext cx="2735263" cy="19177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E2ECF6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>
              <a:defRPr/>
            </a:pPr>
            <a:endParaRPr lang="ko-KR" altLang="en-US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2" name="AutoShape 115"/>
          <p:cNvSpPr>
            <a:spLocks noChangeArrowheads="1"/>
          </p:cNvSpPr>
          <p:nvPr/>
        </p:nvSpPr>
        <p:spPr bwMode="auto">
          <a:xfrm rot="10800000" flipV="1">
            <a:off x="669982" y="3518953"/>
            <a:ext cx="2806700" cy="261937"/>
          </a:xfrm>
          <a:custGeom>
            <a:avLst/>
            <a:gdLst>
              <a:gd name="T0" fmla="*/ 2660309 w 21600"/>
              <a:gd name="T1" fmla="*/ 142081 h 21600"/>
              <a:gd name="T2" fmla="*/ 1426369 w 21600"/>
              <a:gd name="T3" fmla="*/ 284162 h 21600"/>
              <a:gd name="T4" fmla="*/ 192428 w 21600"/>
              <a:gd name="T5" fmla="*/ 142081 h 21600"/>
              <a:gd name="T6" fmla="*/ 1426369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257 w 21600"/>
              <a:gd name="T13" fmla="*/ 3257 h 21600"/>
              <a:gd name="T14" fmla="*/ 18343 w 21600"/>
              <a:gd name="T15" fmla="*/ 1834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914" y="21600"/>
                </a:lnTo>
                <a:lnTo>
                  <a:pt x="18686" y="21600"/>
                </a:lnTo>
                <a:lnTo>
                  <a:pt x="21600" y="0"/>
                </a:lnTo>
                <a:close/>
              </a:path>
            </a:pathLst>
          </a:custGeom>
          <a:gradFill rotWithShape="0">
            <a:gsLst>
              <a:gs pos="0">
                <a:srgbClr val="A2C1E0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3" name="AutoShape 116"/>
          <p:cNvSpPr>
            <a:spLocks noChangeArrowheads="1"/>
          </p:cNvSpPr>
          <p:nvPr/>
        </p:nvSpPr>
        <p:spPr bwMode="auto">
          <a:xfrm rot="10800000" flipV="1">
            <a:off x="1282757" y="3635318"/>
            <a:ext cx="1589088" cy="185738"/>
          </a:xfrm>
          <a:custGeom>
            <a:avLst/>
            <a:gdLst>
              <a:gd name="T0" fmla="*/ 1505584 w 21600"/>
              <a:gd name="T1" fmla="*/ 100013 h 21600"/>
              <a:gd name="T2" fmla="*/ 807244 w 21600"/>
              <a:gd name="T3" fmla="*/ 200025 h 21600"/>
              <a:gd name="T4" fmla="*/ 108903 w 21600"/>
              <a:gd name="T5" fmla="*/ 100013 h 21600"/>
              <a:gd name="T6" fmla="*/ 80724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257 w 21600"/>
              <a:gd name="T13" fmla="*/ 3257 h 21600"/>
              <a:gd name="T14" fmla="*/ 18343 w 21600"/>
              <a:gd name="T15" fmla="*/ 1834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914" y="21600"/>
                </a:lnTo>
                <a:lnTo>
                  <a:pt x="1868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4" name="AutoShape 117"/>
          <p:cNvSpPr>
            <a:spLocks noChangeArrowheads="1"/>
          </p:cNvSpPr>
          <p:nvPr/>
        </p:nvSpPr>
        <p:spPr bwMode="auto">
          <a:xfrm rot="10800000" flipH="1">
            <a:off x="2651182" y="3635318"/>
            <a:ext cx="234950" cy="174625"/>
          </a:xfrm>
          <a:prstGeom prst="rtTriangle">
            <a:avLst/>
          </a:prstGeom>
          <a:gradFill rotWithShape="0">
            <a:gsLst>
              <a:gs pos="0">
                <a:srgbClr val="FFFFFF"/>
              </a:gs>
              <a:gs pos="100000">
                <a:srgbClr val="81ABD5"/>
              </a:gs>
            </a:gsLst>
            <a:lin ang="0" scaled="1"/>
          </a:gradFill>
          <a:ln w="12700">
            <a:noFill/>
            <a:miter lim="800000"/>
            <a:headEnd/>
            <a:tailEnd/>
          </a:ln>
        </p:spPr>
        <p:txBody>
          <a:bodyPr rot="10800000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5" name="AutoShape 118"/>
          <p:cNvSpPr>
            <a:spLocks noChangeArrowheads="1"/>
          </p:cNvSpPr>
          <p:nvPr/>
        </p:nvSpPr>
        <p:spPr bwMode="auto">
          <a:xfrm rot="10800000">
            <a:off x="1246246" y="3635318"/>
            <a:ext cx="234950" cy="174625"/>
          </a:xfrm>
          <a:prstGeom prst="rtTriangle">
            <a:avLst/>
          </a:prstGeom>
          <a:gradFill rotWithShape="0">
            <a:gsLst>
              <a:gs pos="0">
                <a:srgbClr val="81ABD5"/>
              </a:gs>
              <a:gs pos="100000">
                <a:srgbClr val="FFFFFF"/>
              </a:gs>
            </a:gsLst>
            <a:lin ang="0" scaled="1"/>
          </a:gradFill>
          <a:ln w="12700">
            <a:noFill/>
            <a:miter lim="800000"/>
            <a:headEnd/>
            <a:tailEnd/>
          </a:ln>
        </p:spPr>
        <p:txBody>
          <a:bodyPr rot="10800000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6" name="AutoShape 122"/>
          <p:cNvSpPr>
            <a:spLocks noChangeArrowheads="1"/>
          </p:cNvSpPr>
          <p:nvPr/>
        </p:nvSpPr>
        <p:spPr bwMode="auto">
          <a:xfrm rot="10800000" flipV="1">
            <a:off x="3598920" y="3533240"/>
            <a:ext cx="2806700" cy="263525"/>
          </a:xfrm>
          <a:custGeom>
            <a:avLst/>
            <a:gdLst>
              <a:gd name="T0" fmla="*/ 2660310 w 21600"/>
              <a:gd name="T1" fmla="*/ 142081 h 21600"/>
              <a:gd name="T2" fmla="*/ 1426369 w 21600"/>
              <a:gd name="T3" fmla="*/ 284162 h 21600"/>
              <a:gd name="T4" fmla="*/ 192428 w 21600"/>
              <a:gd name="T5" fmla="*/ 142081 h 21600"/>
              <a:gd name="T6" fmla="*/ 1426369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257 w 21600"/>
              <a:gd name="T13" fmla="*/ 3257 h 21600"/>
              <a:gd name="T14" fmla="*/ 18343 w 21600"/>
              <a:gd name="T15" fmla="*/ 1834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914" y="21600"/>
                </a:lnTo>
                <a:lnTo>
                  <a:pt x="18686" y="21600"/>
                </a:lnTo>
                <a:lnTo>
                  <a:pt x="21600" y="0"/>
                </a:lnTo>
                <a:close/>
              </a:path>
            </a:pathLst>
          </a:custGeom>
          <a:gradFill rotWithShape="0">
            <a:gsLst>
              <a:gs pos="0">
                <a:srgbClr val="A2C1E0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7" name="AutoShape 123"/>
          <p:cNvSpPr>
            <a:spLocks noChangeArrowheads="1"/>
          </p:cNvSpPr>
          <p:nvPr/>
        </p:nvSpPr>
        <p:spPr bwMode="auto">
          <a:xfrm rot="10800000" flipV="1">
            <a:off x="4210107" y="3623728"/>
            <a:ext cx="1589088" cy="187325"/>
          </a:xfrm>
          <a:custGeom>
            <a:avLst/>
            <a:gdLst>
              <a:gd name="T0" fmla="*/ 1505584 w 21600"/>
              <a:gd name="T1" fmla="*/ 100013 h 21600"/>
              <a:gd name="T2" fmla="*/ 807244 w 21600"/>
              <a:gd name="T3" fmla="*/ 200025 h 21600"/>
              <a:gd name="T4" fmla="*/ 108903 w 21600"/>
              <a:gd name="T5" fmla="*/ 100013 h 21600"/>
              <a:gd name="T6" fmla="*/ 80724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257 w 21600"/>
              <a:gd name="T13" fmla="*/ 3257 h 21600"/>
              <a:gd name="T14" fmla="*/ 18343 w 21600"/>
              <a:gd name="T15" fmla="*/ 1834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914" y="21600"/>
                </a:lnTo>
                <a:lnTo>
                  <a:pt x="1868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8" name="AutoShape 124"/>
          <p:cNvSpPr>
            <a:spLocks noChangeArrowheads="1"/>
          </p:cNvSpPr>
          <p:nvPr/>
        </p:nvSpPr>
        <p:spPr bwMode="auto">
          <a:xfrm rot="10800000" flipH="1">
            <a:off x="5580120" y="3623728"/>
            <a:ext cx="234950" cy="176212"/>
          </a:xfrm>
          <a:prstGeom prst="rtTriangle">
            <a:avLst/>
          </a:prstGeom>
          <a:gradFill rotWithShape="0">
            <a:gsLst>
              <a:gs pos="0">
                <a:srgbClr val="FFFFFF"/>
              </a:gs>
              <a:gs pos="100000">
                <a:srgbClr val="81ABD5"/>
              </a:gs>
            </a:gsLst>
            <a:lin ang="0" scaled="1"/>
          </a:gradFill>
          <a:ln w="12700">
            <a:noFill/>
            <a:miter lim="800000"/>
            <a:headEnd/>
            <a:tailEnd/>
          </a:ln>
        </p:spPr>
        <p:txBody>
          <a:bodyPr rot="10800000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9" name="AutoShape 125"/>
          <p:cNvSpPr>
            <a:spLocks noChangeArrowheads="1"/>
          </p:cNvSpPr>
          <p:nvPr/>
        </p:nvSpPr>
        <p:spPr bwMode="auto">
          <a:xfrm rot="10800000">
            <a:off x="4175183" y="3623728"/>
            <a:ext cx="233363" cy="176212"/>
          </a:xfrm>
          <a:prstGeom prst="rtTriangle">
            <a:avLst/>
          </a:prstGeom>
          <a:gradFill rotWithShape="0">
            <a:gsLst>
              <a:gs pos="0">
                <a:srgbClr val="81ABD5"/>
              </a:gs>
              <a:gs pos="100000">
                <a:srgbClr val="FFFFFF"/>
              </a:gs>
            </a:gsLst>
            <a:lin ang="0" scaled="1"/>
          </a:gradFill>
          <a:ln w="12700">
            <a:noFill/>
            <a:miter lim="800000"/>
            <a:headEnd/>
            <a:tailEnd/>
          </a:ln>
        </p:spPr>
        <p:txBody>
          <a:bodyPr rot="10800000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90" name="AutoShape 129"/>
          <p:cNvSpPr>
            <a:spLocks noChangeArrowheads="1"/>
          </p:cNvSpPr>
          <p:nvPr/>
        </p:nvSpPr>
        <p:spPr bwMode="auto">
          <a:xfrm rot="10800000" flipV="1">
            <a:off x="6565957" y="3541178"/>
            <a:ext cx="2806700" cy="263525"/>
          </a:xfrm>
          <a:custGeom>
            <a:avLst/>
            <a:gdLst>
              <a:gd name="T0" fmla="*/ 2660309 w 21600"/>
              <a:gd name="T1" fmla="*/ 141288 h 21600"/>
              <a:gd name="T2" fmla="*/ 1426369 w 21600"/>
              <a:gd name="T3" fmla="*/ 282575 h 21600"/>
              <a:gd name="T4" fmla="*/ 192428 w 21600"/>
              <a:gd name="T5" fmla="*/ 141288 h 21600"/>
              <a:gd name="T6" fmla="*/ 1426369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257 w 21600"/>
              <a:gd name="T13" fmla="*/ 3257 h 21600"/>
              <a:gd name="T14" fmla="*/ 18343 w 21600"/>
              <a:gd name="T15" fmla="*/ 1834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914" y="21600"/>
                </a:lnTo>
                <a:lnTo>
                  <a:pt x="18686" y="21600"/>
                </a:lnTo>
                <a:lnTo>
                  <a:pt x="21600" y="0"/>
                </a:lnTo>
                <a:close/>
              </a:path>
            </a:pathLst>
          </a:custGeom>
          <a:gradFill rotWithShape="0">
            <a:gsLst>
              <a:gs pos="0">
                <a:srgbClr val="A2C1E0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91" name="AutoShape 130"/>
          <p:cNvSpPr>
            <a:spLocks noChangeArrowheads="1"/>
          </p:cNvSpPr>
          <p:nvPr/>
        </p:nvSpPr>
        <p:spPr bwMode="auto">
          <a:xfrm rot="10800000" flipV="1">
            <a:off x="7177145" y="3633253"/>
            <a:ext cx="1589087" cy="182562"/>
          </a:xfrm>
          <a:custGeom>
            <a:avLst/>
            <a:gdLst>
              <a:gd name="T0" fmla="*/ 1505584 w 21600"/>
              <a:gd name="T1" fmla="*/ 99219 h 21600"/>
              <a:gd name="T2" fmla="*/ 807244 w 21600"/>
              <a:gd name="T3" fmla="*/ 198437 h 21600"/>
              <a:gd name="T4" fmla="*/ 108903 w 21600"/>
              <a:gd name="T5" fmla="*/ 99219 h 21600"/>
              <a:gd name="T6" fmla="*/ 807244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257 w 21600"/>
              <a:gd name="T13" fmla="*/ 3257 h 21600"/>
              <a:gd name="T14" fmla="*/ 18343 w 21600"/>
              <a:gd name="T15" fmla="*/ 1834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914" y="21600"/>
                </a:lnTo>
                <a:lnTo>
                  <a:pt x="1868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92" name="AutoShape 131"/>
          <p:cNvSpPr>
            <a:spLocks noChangeArrowheads="1"/>
          </p:cNvSpPr>
          <p:nvPr/>
        </p:nvSpPr>
        <p:spPr bwMode="auto">
          <a:xfrm rot="10800000" flipH="1">
            <a:off x="8545570" y="3633253"/>
            <a:ext cx="236537" cy="174625"/>
          </a:xfrm>
          <a:prstGeom prst="rtTriangle">
            <a:avLst/>
          </a:prstGeom>
          <a:gradFill rotWithShape="0">
            <a:gsLst>
              <a:gs pos="0">
                <a:srgbClr val="FFFFFF"/>
              </a:gs>
              <a:gs pos="100000">
                <a:srgbClr val="81ABD5"/>
              </a:gs>
            </a:gsLst>
            <a:lin ang="0" scaled="1"/>
          </a:gradFill>
          <a:ln w="12700">
            <a:noFill/>
            <a:miter lim="800000"/>
            <a:headEnd/>
            <a:tailEnd/>
          </a:ln>
        </p:spPr>
        <p:txBody>
          <a:bodyPr rot="10800000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93" name="AutoShape 132"/>
          <p:cNvSpPr>
            <a:spLocks noChangeArrowheads="1"/>
          </p:cNvSpPr>
          <p:nvPr/>
        </p:nvSpPr>
        <p:spPr bwMode="auto">
          <a:xfrm rot="10800000">
            <a:off x="7142220" y="3633253"/>
            <a:ext cx="233362" cy="174625"/>
          </a:xfrm>
          <a:prstGeom prst="rtTriangle">
            <a:avLst/>
          </a:prstGeom>
          <a:gradFill rotWithShape="0">
            <a:gsLst>
              <a:gs pos="0">
                <a:srgbClr val="81ABD5"/>
              </a:gs>
              <a:gs pos="100000">
                <a:srgbClr val="FFFFFF"/>
              </a:gs>
            </a:gsLst>
            <a:lin ang="0" scaled="1"/>
          </a:gradFill>
          <a:ln w="12700">
            <a:noFill/>
            <a:miter lim="800000"/>
            <a:headEnd/>
            <a:tailEnd/>
          </a:ln>
        </p:spPr>
        <p:txBody>
          <a:bodyPr rot="10800000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94" name="AutoShape 147"/>
          <p:cNvSpPr>
            <a:spLocks noChangeArrowheads="1"/>
          </p:cNvSpPr>
          <p:nvPr/>
        </p:nvSpPr>
        <p:spPr bwMode="auto">
          <a:xfrm>
            <a:off x="1162108" y="3672940"/>
            <a:ext cx="7718425" cy="400050"/>
          </a:xfrm>
          <a:prstGeom prst="roundRect">
            <a:avLst>
              <a:gd name="adj" fmla="val 29282"/>
            </a:avLst>
          </a:prstGeom>
          <a:gradFill rotWithShape="1">
            <a:gsLst>
              <a:gs pos="0">
                <a:srgbClr val="558EC7"/>
              </a:gs>
              <a:gs pos="50000">
                <a:srgbClr val="FFFFFF"/>
              </a:gs>
              <a:gs pos="100000">
                <a:srgbClr val="558EC7"/>
              </a:gs>
            </a:gsLst>
            <a:lin ang="5400000" scaled="1"/>
          </a:gradFill>
          <a:ln w="19050" algn="ctr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95" name="Rectangle 158"/>
          <p:cNvSpPr>
            <a:spLocks noChangeArrowheads="1"/>
          </p:cNvSpPr>
          <p:nvPr/>
        </p:nvSpPr>
        <p:spPr bwMode="auto">
          <a:xfrm>
            <a:off x="1246246" y="3725806"/>
            <a:ext cx="7516812" cy="311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/>
          <a:lstStyle/>
          <a:p>
            <a:pPr algn="ctr">
              <a:defRPr/>
            </a:pPr>
            <a:r>
              <a:rPr lang="ko-KR" altLang="en-US" sz="1400" b="1" dirty="0">
                <a:latin typeface="+mn-ea"/>
                <a:ea typeface="+mn-ea"/>
                <a:cs typeface="Times New Roman" pitchFamily="18" charset="0"/>
              </a:rPr>
              <a:t>편리성</a:t>
            </a:r>
            <a:r>
              <a:rPr lang="en-US" altLang="ko-KR" sz="1400" b="1" dirty="0">
                <a:latin typeface="+mn-ea"/>
                <a:ea typeface="+mn-ea"/>
                <a:cs typeface="Times New Roman" pitchFamily="18" charset="0"/>
              </a:rPr>
              <a:t>, </a:t>
            </a:r>
            <a:r>
              <a:rPr lang="ko-KR" altLang="en-US" sz="1400" b="1" dirty="0">
                <a:latin typeface="+mn-ea"/>
                <a:ea typeface="+mn-ea"/>
              </a:rPr>
              <a:t>유연성</a:t>
            </a:r>
            <a:r>
              <a:rPr lang="en-US" altLang="ko-KR" sz="1400" b="1" dirty="0">
                <a:latin typeface="+mn-ea"/>
                <a:ea typeface="+mn-ea"/>
              </a:rPr>
              <a:t>, </a:t>
            </a:r>
            <a:r>
              <a:rPr lang="ko-KR" altLang="en-US" sz="1400" b="1" dirty="0">
                <a:latin typeface="+mn-ea"/>
                <a:ea typeface="+mn-ea"/>
              </a:rPr>
              <a:t>확장성</a:t>
            </a:r>
            <a:r>
              <a:rPr lang="en-US" altLang="ko-KR" sz="1400" b="1" dirty="0">
                <a:latin typeface="+mn-ea"/>
                <a:ea typeface="+mn-ea"/>
              </a:rPr>
              <a:t>, </a:t>
            </a:r>
            <a:r>
              <a:rPr lang="ko-KR" altLang="en-US" sz="1400" b="1" dirty="0">
                <a:latin typeface="+mn-ea"/>
                <a:ea typeface="+mn-ea"/>
              </a:rPr>
              <a:t>통합성을 고려한 안정적인 프레임워크</a:t>
            </a:r>
            <a:endParaRPr lang="en-US" altLang="ko-KR" sz="1400" b="1" dirty="0">
              <a:latin typeface="+mn-ea"/>
              <a:ea typeface="+mn-ea"/>
            </a:endParaRPr>
          </a:p>
        </p:txBody>
      </p:sp>
      <p:sp>
        <p:nvSpPr>
          <p:cNvPr id="99" name="Rectangle 162"/>
          <p:cNvSpPr>
            <a:spLocks noChangeArrowheads="1"/>
          </p:cNvSpPr>
          <p:nvPr/>
        </p:nvSpPr>
        <p:spPr bwMode="auto">
          <a:xfrm>
            <a:off x="696071" y="4750853"/>
            <a:ext cx="273685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/>
          <a:lstStyle/>
          <a:p>
            <a:pPr marL="101600" indent="-101600" latinLnBrk="0">
              <a:lnSpc>
                <a:spcPct val="13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ko-KR" altLang="en-US" sz="1000" dirty="0">
                <a:latin typeface="+mn-ea"/>
                <a:ea typeface="+mn-ea"/>
              </a:rPr>
              <a:t>공통 컴포넌트 구성 </a:t>
            </a:r>
            <a:r>
              <a:rPr lang="en-US" altLang="ko-KR" sz="1000" dirty="0">
                <a:latin typeface="+mn-ea"/>
                <a:ea typeface="+mn-ea"/>
              </a:rPr>
              <a:t>(Grid, Combo, Check Box, Radio, Calendar, Button, Tree </a:t>
            </a:r>
            <a:r>
              <a:rPr lang="ko-KR" altLang="en-US" sz="1000" dirty="0">
                <a:latin typeface="+mn-ea"/>
                <a:ea typeface="+mn-ea"/>
              </a:rPr>
              <a:t>등</a:t>
            </a:r>
            <a:r>
              <a:rPr lang="en-US" altLang="ko-KR" sz="1000" dirty="0">
                <a:latin typeface="+mn-ea"/>
                <a:ea typeface="+mn-ea"/>
              </a:rPr>
              <a:t>) </a:t>
            </a:r>
            <a:endParaRPr lang="ko-KR" altLang="en-US" sz="1000" dirty="0">
              <a:latin typeface="+mn-ea"/>
              <a:ea typeface="+mn-ea"/>
            </a:endParaRPr>
          </a:p>
          <a:p>
            <a:pPr marL="101600" indent="-101600" latinLnBrk="0">
              <a:lnSpc>
                <a:spcPct val="13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ko-KR" altLang="en-US" sz="1000" dirty="0">
                <a:latin typeface="+mn-ea"/>
                <a:ea typeface="+mn-ea"/>
              </a:rPr>
              <a:t>다국어 지원</a:t>
            </a:r>
            <a:endParaRPr lang="en-US" altLang="ko-KR" sz="1000" dirty="0">
              <a:latin typeface="+mn-ea"/>
              <a:ea typeface="+mn-ea"/>
            </a:endParaRPr>
          </a:p>
          <a:p>
            <a:pPr marL="101600" indent="-101600" latinLnBrk="0">
              <a:lnSpc>
                <a:spcPct val="13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ko-KR" altLang="en-US" sz="1000" dirty="0">
                <a:latin typeface="+mn-ea"/>
                <a:ea typeface="+mn-ea"/>
              </a:rPr>
              <a:t>사용자 별 설정 기능</a:t>
            </a:r>
            <a:endParaRPr lang="en-US" altLang="ko-KR" sz="1000" dirty="0">
              <a:latin typeface="+mn-ea"/>
              <a:ea typeface="+mn-ea"/>
            </a:endParaRPr>
          </a:p>
          <a:p>
            <a:pPr marL="101600" indent="-101600" latinLnBrk="0">
              <a:lnSpc>
                <a:spcPct val="13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ko-KR" altLang="en-US" sz="1000" dirty="0">
                <a:latin typeface="+mn-ea"/>
                <a:ea typeface="+mn-ea"/>
              </a:rPr>
              <a:t>권한 관리 강화</a:t>
            </a:r>
            <a:endParaRPr lang="en-US" altLang="ko-KR" sz="1000" dirty="0">
              <a:latin typeface="+mn-ea"/>
              <a:ea typeface="+mn-ea"/>
            </a:endParaRPr>
          </a:p>
          <a:p>
            <a:pPr marL="101600" indent="-101600" latinLnBrk="0">
              <a:lnSpc>
                <a:spcPct val="13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US" altLang="ko-KR" sz="1000" dirty="0">
                <a:latin typeface="+mn-ea"/>
                <a:ea typeface="+mn-ea"/>
              </a:rPr>
              <a:t>Excel Upload/Download </a:t>
            </a:r>
            <a:r>
              <a:rPr lang="ko-KR" altLang="en-US" sz="1000" dirty="0">
                <a:latin typeface="+mn-ea"/>
                <a:ea typeface="+mn-ea"/>
              </a:rPr>
              <a:t>기능</a:t>
            </a:r>
          </a:p>
        </p:txBody>
      </p:sp>
      <p:sp>
        <p:nvSpPr>
          <p:cNvPr id="100" name="Rectangle 163"/>
          <p:cNvSpPr>
            <a:spLocks noChangeArrowheads="1"/>
          </p:cNvSpPr>
          <p:nvPr/>
        </p:nvSpPr>
        <p:spPr bwMode="auto">
          <a:xfrm>
            <a:off x="3624320" y="4750853"/>
            <a:ext cx="280035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/>
          <a:lstStyle/>
          <a:p>
            <a:pPr marL="101600" indent="-101600" latinLnBrk="0">
              <a:lnSpc>
                <a:spcPct val="15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01" name="Rectangle 164"/>
          <p:cNvSpPr>
            <a:spLocks noChangeArrowheads="1"/>
          </p:cNvSpPr>
          <p:nvPr/>
        </p:nvSpPr>
        <p:spPr bwMode="auto">
          <a:xfrm>
            <a:off x="6618077" y="4750853"/>
            <a:ext cx="271145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/>
          <a:lstStyle/>
          <a:p>
            <a:pPr marL="101600" indent="-101600" latinLnBrk="0">
              <a:lnSpc>
                <a:spcPct val="13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ko-KR" altLang="en-US" sz="1000" dirty="0">
                <a:latin typeface="+mn-ea"/>
                <a:ea typeface="+mn-ea"/>
              </a:rPr>
              <a:t>바코드</a:t>
            </a:r>
            <a:r>
              <a:rPr lang="en-US" altLang="ko-KR" sz="1000" dirty="0">
                <a:latin typeface="+mn-ea"/>
                <a:ea typeface="+mn-ea"/>
              </a:rPr>
              <a:t>, RF-ID </a:t>
            </a:r>
            <a:r>
              <a:rPr lang="ko-KR" altLang="en-US" sz="1000" dirty="0">
                <a:latin typeface="+mn-ea"/>
                <a:ea typeface="+mn-ea"/>
              </a:rPr>
              <a:t>등의 기반으로 한 </a:t>
            </a:r>
            <a:r>
              <a:rPr lang="en-US" altLang="ko-KR" sz="1000" dirty="0">
                <a:latin typeface="+mn-ea"/>
                <a:ea typeface="+mn-ea"/>
              </a:rPr>
              <a:t>PDA </a:t>
            </a:r>
            <a:r>
              <a:rPr lang="ko-KR" altLang="en-US" sz="1000" dirty="0">
                <a:latin typeface="+mn-ea"/>
                <a:ea typeface="+mn-ea"/>
              </a:rPr>
              <a:t>및 </a:t>
            </a:r>
            <a:r>
              <a:rPr lang="en-US" altLang="ko-KR" sz="1000" dirty="0">
                <a:latin typeface="+mn-ea"/>
                <a:ea typeface="+mn-ea"/>
              </a:rPr>
              <a:t>Mobile </a:t>
            </a:r>
            <a:r>
              <a:rPr lang="ko-KR" altLang="en-US" sz="1000" dirty="0">
                <a:latin typeface="+mn-ea"/>
                <a:ea typeface="+mn-ea"/>
              </a:rPr>
              <a:t>무선 환경 제공</a:t>
            </a:r>
            <a:endParaRPr lang="en-US" altLang="ko-KR" sz="1000" dirty="0">
              <a:latin typeface="+mn-ea"/>
              <a:ea typeface="+mn-ea"/>
            </a:endParaRPr>
          </a:p>
          <a:p>
            <a:pPr marL="101600" indent="-101600" latinLnBrk="0">
              <a:lnSpc>
                <a:spcPct val="13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US" altLang="ko-KR" sz="1000" dirty="0">
                <a:latin typeface="+mn-ea"/>
                <a:ea typeface="+mn-ea"/>
              </a:rPr>
              <a:t>DPS, DAS, AS-RS </a:t>
            </a:r>
            <a:r>
              <a:rPr lang="ko-KR" altLang="en-US" sz="1000" dirty="0">
                <a:latin typeface="+mn-ea"/>
                <a:ea typeface="+mn-ea"/>
              </a:rPr>
              <a:t>등 물류설비와의 유연한 연동 기능 제공</a:t>
            </a:r>
          </a:p>
        </p:txBody>
      </p:sp>
      <p:sp>
        <p:nvSpPr>
          <p:cNvPr id="103" name="AutoShape 217"/>
          <p:cNvSpPr>
            <a:spLocks noChangeArrowheads="1"/>
          </p:cNvSpPr>
          <p:nvPr/>
        </p:nvSpPr>
        <p:spPr bwMode="auto">
          <a:xfrm>
            <a:off x="816032" y="1640940"/>
            <a:ext cx="2500313" cy="412750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4" name="AutoShape 218"/>
          <p:cNvSpPr>
            <a:spLocks noChangeArrowheads="1"/>
          </p:cNvSpPr>
          <p:nvPr/>
        </p:nvSpPr>
        <p:spPr bwMode="auto">
          <a:xfrm>
            <a:off x="3741795" y="1640940"/>
            <a:ext cx="2500312" cy="412750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5" name="AutoShape 219"/>
          <p:cNvSpPr>
            <a:spLocks noChangeArrowheads="1"/>
          </p:cNvSpPr>
          <p:nvPr/>
        </p:nvSpPr>
        <p:spPr bwMode="auto">
          <a:xfrm>
            <a:off x="6726295" y="1640940"/>
            <a:ext cx="2500312" cy="412750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6" name="AutoShape 220"/>
          <p:cNvSpPr>
            <a:spLocks noChangeArrowheads="1"/>
          </p:cNvSpPr>
          <p:nvPr/>
        </p:nvSpPr>
        <p:spPr bwMode="auto">
          <a:xfrm>
            <a:off x="816032" y="4303178"/>
            <a:ext cx="2500313" cy="412750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7" name="AutoShape 221"/>
          <p:cNvSpPr>
            <a:spLocks noChangeArrowheads="1"/>
          </p:cNvSpPr>
          <p:nvPr/>
        </p:nvSpPr>
        <p:spPr bwMode="auto">
          <a:xfrm>
            <a:off x="3741795" y="4303178"/>
            <a:ext cx="2500312" cy="412750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8" name="AutoShape 222"/>
          <p:cNvSpPr>
            <a:spLocks noChangeArrowheads="1"/>
          </p:cNvSpPr>
          <p:nvPr/>
        </p:nvSpPr>
        <p:spPr bwMode="auto">
          <a:xfrm>
            <a:off x="6726295" y="4303178"/>
            <a:ext cx="2500312" cy="412750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9" name="Text Box 139"/>
          <p:cNvSpPr txBox="1">
            <a:spLocks noChangeArrowheads="1"/>
          </p:cNvSpPr>
          <p:nvPr/>
        </p:nvSpPr>
        <p:spPr bwMode="auto">
          <a:xfrm>
            <a:off x="1598670" y="4400015"/>
            <a:ext cx="874712" cy="1968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lIns="0" tIns="0" rIns="0" bIns="0" anchor="ctr"/>
          <a:lstStyle/>
          <a:p>
            <a:pPr algn="ctr" eaLnBrk="0" latinLnBrk="0" hangingPunct="0">
              <a:buClr>
                <a:schemeClr val="tx1"/>
              </a:buClr>
              <a:defRPr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  <a:ea typeface="+mn-ea"/>
              </a:rPr>
              <a:t>사용자 편의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  <a:ea typeface="+mn-ea"/>
              </a:rPr>
              <a:t>UI/UX</a:t>
            </a:r>
            <a:endParaRPr kumimoji="0" lang="ko-KR" altLang="en-US" sz="1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0" name="Text Box 140"/>
          <p:cNvSpPr txBox="1">
            <a:spLocks noChangeArrowheads="1"/>
          </p:cNvSpPr>
          <p:nvPr/>
        </p:nvSpPr>
        <p:spPr bwMode="auto">
          <a:xfrm>
            <a:off x="4343457" y="4400015"/>
            <a:ext cx="1341438" cy="1968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lIns="0" tIns="0" rIns="0" bIns="0" anchor="ctr"/>
          <a:lstStyle/>
          <a:p>
            <a:pPr algn="ctr" eaLnBrk="0" latinLnBrk="0" hangingPunct="0">
              <a:buClr>
                <a:schemeClr val="tx1"/>
              </a:buClr>
              <a:defRPr/>
            </a:pPr>
            <a:r>
              <a:rPr kumimoji="0" lang="ko-KR" altLang="en-US" sz="1400" b="1" dirty="0">
                <a:solidFill>
                  <a:schemeClr val="bg1"/>
                </a:solidFill>
                <a:latin typeface="+mn-ea"/>
                <a:ea typeface="+mn-ea"/>
              </a:rPr>
              <a:t>물류센터 운영 </a:t>
            </a:r>
            <a:r>
              <a:rPr kumimoji="0" lang="en-US" altLang="ko-KR" sz="1400" b="1" dirty="0">
                <a:solidFill>
                  <a:schemeClr val="bg1"/>
                </a:solidFill>
                <a:latin typeface="+mn-ea"/>
                <a:ea typeface="+mn-ea"/>
              </a:rPr>
              <a:t>Rule</a:t>
            </a:r>
            <a:r>
              <a:rPr kumimoji="0" lang="ko-KR" altLang="en-US" sz="1400" b="1" dirty="0">
                <a:solidFill>
                  <a:schemeClr val="bg1"/>
                </a:solidFill>
                <a:latin typeface="+mn-ea"/>
                <a:ea typeface="+mn-ea"/>
              </a:rPr>
              <a:t> 설정</a:t>
            </a:r>
          </a:p>
        </p:txBody>
      </p:sp>
      <p:sp>
        <p:nvSpPr>
          <p:cNvPr id="111" name="Text Box 141"/>
          <p:cNvSpPr txBox="1">
            <a:spLocks noChangeArrowheads="1"/>
          </p:cNvSpPr>
          <p:nvPr/>
        </p:nvSpPr>
        <p:spPr bwMode="auto">
          <a:xfrm>
            <a:off x="7362882" y="4400015"/>
            <a:ext cx="1281113" cy="1968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lIns="0" tIns="0" rIns="0" bIns="0" anchor="ctr"/>
          <a:lstStyle/>
          <a:p>
            <a:pPr algn="ctr" eaLnBrk="0" latinLnBrk="0" hangingPunct="0">
              <a:buClr>
                <a:schemeClr val="tx1"/>
              </a:buClr>
              <a:defRPr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  <a:ea typeface="+mn-ea"/>
              </a:rPr>
              <a:t>자동화 장비 연동</a:t>
            </a:r>
            <a:endParaRPr kumimoji="0" lang="ko-KR" altLang="en-US" sz="1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2" name="Text Box 136"/>
          <p:cNvSpPr txBox="1">
            <a:spLocks noChangeArrowheads="1"/>
          </p:cNvSpPr>
          <p:nvPr/>
        </p:nvSpPr>
        <p:spPr bwMode="auto">
          <a:xfrm>
            <a:off x="1395470" y="1731428"/>
            <a:ext cx="1282700" cy="198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lIns="0" tIns="0" rIns="0" bIns="0" anchor="ctr"/>
          <a:lstStyle/>
          <a:p>
            <a:pPr algn="ctr" eaLnBrk="0" latinLnBrk="0" hangingPunct="0">
              <a:buClr>
                <a:schemeClr val="tx1"/>
              </a:buClr>
              <a:defRPr/>
            </a:pPr>
            <a:r>
              <a:rPr kumimoji="0" lang="en-US" altLang="ko-KR" sz="1400" b="1" dirty="0">
                <a:solidFill>
                  <a:schemeClr val="bg1"/>
                </a:solidFill>
                <a:latin typeface="+mn-ea"/>
                <a:ea typeface="+mn-ea"/>
              </a:rPr>
              <a:t>HTML5 </a:t>
            </a:r>
            <a:r>
              <a:rPr kumimoji="0" lang="ko-KR" altLang="en-US" sz="1400" b="1" dirty="0">
                <a:solidFill>
                  <a:schemeClr val="bg1"/>
                </a:solidFill>
                <a:latin typeface="+mn-ea"/>
                <a:ea typeface="+mn-ea"/>
              </a:rPr>
              <a:t>기반</a:t>
            </a:r>
          </a:p>
        </p:txBody>
      </p:sp>
      <p:sp>
        <p:nvSpPr>
          <p:cNvPr id="113" name="Text Box 137"/>
          <p:cNvSpPr txBox="1">
            <a:spLocks noChangeArrowheads="1"/>
          </p:cNvSpPr>
          <p:nvPr/>
        </p:nvSpPr>
        <p:spPr bwMode="auto">
          <a:xfrm>
            <a:off x="4111682" y="1731428"/>
            <a:ext cx="1806575" cy="198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lIns="0" tIns="0" rIns="0" bIns="0" anchor="ctr"/>
          <a:lstStyle/>
          <a:p>
            <a:pPr algn="ctr" eaLnBrk="0" latinLnBrk="0" hangingPunct="0">
              <a:buClr>
                <a:schemeClr val="tx1"/>
              </a:buClr>
              <a:defRPr/>
            </a:pPr>
            <a:r>
              <a:rPr kumimoji="0" lang="en-US" altLang="ko-KR" sz="1400" b="1" dirty="0">
                <a:solidFill>
                  <a:schemeClr val="bg1"/>
                </a:solidFill>
                <a:latin typeface="+mn-ea"/>
                <a:ea typeface="+mn-ea"/>
              </a:rPr>
              <a:t>Spring F/W </a:t>
            </a:r>
            <a:r>
              <a:rPr kumimoji="0" lang="ko-KR" altLang="en-US" sz="1400" b="1" dirty="0">
                <a:solidFill>
                  <a:schemeClr val="bg1"/>
                </a:solidFill>
                <a:latin typeface="+mn-ea"/>
                <a:ea typeface="+mn-ea"/>
              </a:rPr>
              <a:t>구조</a:t>
            </a:r>
          </a:p>
        </p:txBody>
      </p:sp>
      <p:sp>
        <p:nvSpPr>
          <p:cNvPr id="114" name="Text Box 138"/>
          <p:cNvSpPr txBox="1">
            <a:spLocks noChangeArrowheads="1"/>
          </p:cNvSpPr>
          <p:nvPr/>
        </p:nvSpPr>
        <p:spPr bwMode="auto">
          <a:xfrm>
            <a:off x="7362882" y="1731428"/>
            <a:ext cx="1281113" cy="198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lIns="0" tIns="0" rIns="0" bIns="0" anchor="ctr"/>
          <a:lstStyle/>
          <a:p>
            <a:pPr algn="ctr" eaLnBrk="0" latinLnBrk="0" hangingPunct="0">
              <a:buClr>
                <a:schemeClr val="tx1"/>
              </a:buClr>
              <a:defRPr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  <a:ea typeface="+mn-ea"/>
              </a:rPr>
              <a:t>자체 플랫폼 구성</a:t>
            </a:r>
          </a:p>
        </p:txBody>
      </p:sp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extLst/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8.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WMS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특장점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277"/>
          <p:cNvSpPr>
            <a:spLocks noChangeArrowheads="1"/>
          </p:cNvSpPr>
          <p:nvPr/>
        </p:nvSpPr>
        <p:spPr bwMode="auto">
          <a:xfrm>
            <a:off x="655638" y="764704"/>
            <a:ext cx="8562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200" b="1" dirty="0">
                <a:solidFill>
                  <a:schemeClr val="tx2"/>
                </a:solidFill>
                <a:latin typeface="+mn-ea"/>
                <a:ea typeface="+mn-ea"/>
              </a:rPr>
              <a:t>Paragon</a:t>
            </a:r>
            <a:r>
              <a:rPr lang="en-US" altLang="ko-KR" sz="1000" b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en-US" altLang="ko-KR" sz="1000" b="1" baseline="30000" dirty="0">
                <a:solidFill>
                  <a:schemeClr val="tx2"/>
                </a:solidFill>
                <a:latin typeface="+mn-ea"/>
                <a:ea typeface="+mn-ea"/>
              </a:rPr>
              <a:t>TM</a:t>
            </a:r>
            <a:r>
              <a:rPr lang="en-US" altLang="ko-KR" sz="1200" b="1" baseline="30000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en-US" altLang="ko-KR" sz="1200" b="1" dirty="0">
                <a:solidFill>
                  <a:schemeClr val="tx2"/>
                </a:solidFill>
                <a:latin typeface="+mn-ea"/>
                <a:ea typeface="+mn-ea"/>
              </a:rPr>
              <a:t>WMS </a:t>
            </a:r>
            <a:r>
              <a:rPr lang="ko-KR" altLang="en-US" sz="1200" b="1" dirty="0">
                <a:solidFill>
                  <a:schemeClr val="tx2"/>
                </a:solidFill>
                <a:latin typeface="+mn-ea"/>
                <a:ea typeface="+mn-ea"/>
              </a:rPr>
              <a:t>는 </a:t>
            </a:r>
            <a:r>
              <a:rPr lang="en-US" altLang="ko-KR" sz="1200" b="1" dirty="0">
                <a:solidFill>
                  <a:schemeClr val="tx2"/>
                </a:solidFill>
                <a:latin typeface="+mn-ea"/>
                <a:ea typeface="+mn-ea"/>
              </a:rPr>
              <a:t>None ActiveX, Any Browse, Any O/S</a:t>
            </a:r>
            <a:r>
              <a:rPr lang="ko-KR" altLang="en-US" sz="1200" b="1" dirty="0">
                <a:solidFill>
                  <a:schemeClr val="tx2"/>
                </a:solidFill>
                <a:latin typeface="+mn-ea"/>
                <a:ea typeface="+mn-ea"/>
              </a:rPr>
              <a:t>에 대응이 가능한 </a:t>
            </a:r>
            <a:r>
              <a:rPr lang="en-US" altLang="ko-KR" sz="1200" b="1" dirty="0">
                <a:solidFill>
                  <a:schemeClr val="tx2"/>
                </a:solidFill>
                <a:latin typeface="+mn-ea"/>
                <a:ea typeface="+mn-ea"/>
              </a:rPr>
              <a:t>HTML5</a:t>
            </a:r>
            <a:r>
              <a:rPr lang="ko-KR" altLang="en-US" sz="1200" b="1" dirty="0">
                <a:solidFill>
                  <a:schemeClr val="tx2"/>
                </a:solidFill>
                <a:latin typeface="+mn-ea"/>
                <a:ea typeface="+mn-ea"/>
              </a:rPr>
              <a:t> 기반의 </a:t>
            </a:r>
            <a:r>
              <a:rPr lang="en-US" altLang="ko-KR" sz="1200" b="1" dirty="0">
                <a:solidFill>
                  <a:schemeClr val="tx2"/>
                </a:solidFill>
                <a:latin typeface="+mn-ea"/>
                <a:ea typeface="+mn-ea"/>
              </a:rPr>
              <a:t>Spring Framework </a:t>
            </a:r>
            <a:r>
              <a:rPr lang="ko-KR" altLang="en-US" sz="1200" b="1" dirty="0">
                <a:solidFill>
                  <a:schemeClr val="tx2"/>
                </a:solidFill>
                <a:latin typeface="+mn-ea"/>
                <a:ea typeface="+mn-ea"/>
              </a:rPr>
              <a:t>구조로 한 자체 </a:t>
            </a:r>
            <a:r>
              <a:rPr lang="en-US" altLang="ko-KR" sz="1200" b="1" dirty="0">
                <a:solidFill>
                  <a:schemeClr val="tx2"/>
                </a:solidFill>
                <a:latin typeface="+mn-ea"/>
                <a:ea typeface="+mn-ea"/>
              </a:rPr>
              <a:t>Paragon Platform</a:t>
            </a:r>
            <a:r>
              <a:rPr lang="ko-KR" altLang="en-US" sz="1200" b="1" dirty="0">
                <a:solidFill>
                  <a:schemeClr val="tx2"/>
                </a:solidFill>
                <a:latin typeface="+mn-ea"/>
                <a:ea typeface="+mn-ea"/>
              </a:rPr>
              <a:t>을 구성하여 </a:t>
            </a:r>
            <a:r>
              <a:rPr lang="en-US" altLang="ko-KR" sz="1200" b="1" dirty="0">
                <a:solidFill>
                  <a:schemeClr val="tx2"/>
                </a:solidFill>
                <a:latin typeface="+mn-ea"/>
                <a:ea typeface="+mn-ea"/>
              </a:rPr>
              <a:t>UI/UX </a:t>
            </a:r>
            <a:r>
              <a:rPr lang="ko-KR" altLang="en-US" sz="1200" b="1" dirty="0">
                <a:solidFill>
                  <a:schemeClr val="tx2"/>
                </a:solidFill>
                <a:latin typeface="+mn-ea"/>
                <a:ea typeface="+mn-ea"/>
              </a:rPr>
              <a:t>의 편리성과 유연성</a:t>
            </a:r>
            <a:r>
              <a:rPr lang="en-US" altLang="ko-KR" sz="1200" b="1" dirty="0">
                <a:solidFill>
                  <a:schemeClr val="tx2"/>
                </a:solidFill>
                <a:latin typeface="+mn-ea"/>
                <a:ea typeface="+mn-ea"/>
              </a:rPr>
              <a:t>, </a:t>
            </a:r>
            <a:r>
              <a:rPr lang="ko-KR" altLang="en-US" sz="1200" b="1" dirty="0">
                <a:solidFill>
                  <a:schemeClr val="tx2"/>
                </a:solidFill>
                <a:latin typeface="+mn-ea"/>
                <a:ea typeface="+mn-ea"/>
              </a:rPr>
              <a:t>안정성</a:t>
            </a:r>
            <a:r>
              <a:rPr lang="en-US" altLang="ko-KR" sz="1200" b="1" dirty="0">
                <a:solidFill>
                  <a:schemeClr val="tx2"/>
                </a:solidFill>
                <a:latin typeface="+mn-ea"/>
                <a:ea typeface="+mn-ea"/>
              </a:rPr>
              <a:t>, </a:t>
            </a:r>
            <a:r>
              <a:rPr lang="ko-KR" altLang="en-US" sz="1200" b="1" dirty="0">
                <a:solidFill>
                  <a:schemeClr val="tx2"/>
                </a:solidFill>
                <a:latin typeface="+mn-ea"/>
                <a:ea typeface="+mn-ea"/>
              </a:rPr>
              <a:t>확장성을 제공합니다</a:t>
            </a:r>
            <a:r>
              <a:rPr lang="en-US" altLang="ko-KR" sz="1200" b="1" dirty="0">
                <a:solidFill>
                  <a:schemeClr val="tx2"/>
                </a:solidFill>
                <a:latin typeface="+mn-ea"/>
                <a:ea typeface="+mn-ea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43" y="2369619"/>
            <a:ext cx="533333" cy="685714"/>
          </a:xfrm>
          <a:prstGeom prst="rect">
            <a:avLst/>
          </a:prstGeom>
        </p:spPr>
      </p:pic>
      <p:pic>
        <p:nvPicPr>
          <p:cNvPr id="66" name="그림 69" descr="cross_icon.png"/>
          <p:cNvPicPr>
            <a:picLocks noChangeAspect="1"/>
          </p:cNvPicPr>
          <p:nvPr/>
        </p:nvPicPr>
        <p:blipFill>
          <a:blip r:embed="rId3" cstate="print"/>
          <a:srcRect l="50809" t="59756" r="36653" b="15552"/>
          <a:stretch>
            <a:fillRect/>
          </a:stretch>
        </p:blipFill>
        <p:spPr bwMode="auto">
          <a:xfrm>
            <a:off x="1978284" y="2430505"/>
            <a:ext cx="761555" cy="450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그림 66" descr="cross_icon.png"/>
          <p:cNvPicPr>
            <a:picLocks noChangeAspect="1"/>
          </p:cNvPicPr>
          <p:nvPr/>
        </p:nvPicPr>
        <p:blipFill>
          <a:blip r:embed="rId3" cstate="print"/>
          <a:srcRect l="22596" t="59757" r="68000" b="15552"/>
          <a:stretch>
            <a:fillRect/>
          </a:stretch>
        </p:blipFill>
        <p:spPr bwMode="auto">
          <a:xfrm>
            <a:off x="1606504" y="2049615"/>
            <a:ext cx="600305" cy="472892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69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6862" t="26502" r="44270" b="45434"/>
          <a:stretch>
            <a:fillRect/>
          </a:stretch>
        </p:blipFill>
        <p:spPr bwMode="auto">
          <a:xfrm>
            <a:off x="2271954" y="2120228"/>
            <a:ext cx="423088" cy="40122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70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17808" y="2976263"/>
            <a:ext cx="576743" cy="432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" name="Picture 4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42176" y="2905166"/>
            <a:ext cx="433353" cy="485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" name="Rectangle 161"/>
          <p:cNvSpPr>
            <a:spLocks noChangeArrowheads="1"/>
          </p:cNvSpPr>
          <p:nvPr/>
        </p:nvSpPr>
        <p:spPr bwMode="auto">
          <a:xfrm>
            <a:off x="2697130" y="2479728"/>
            <a:ext cx="727166" cy="19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/>
          <a:lstStyle/>
          <a:p>
            <a:pPr latinLnBrk="0">
              <a:lnSpc>
                <a:spcPct val="120000"/>
              </a:lnSpc>
              <a:spcBef>
                <a:spcPct val="10000"/>
              </a:spcBef>
              <a:buClr>
                <a:schemeClr val="tx1"/>
              </a:buClr>
              <a:defRPr/>
            </a:pPr>
            <a:r>
              <a:rPr lang="en-US" altLang="ko-KR" sz="800" dirty="0">
                <a:latin typeface="+mn-ea"/>
                <a:ea typeface="+mn-ea"/>
              </a:rPr>
              <a:t>Any Browse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35" name="Rectangle 161"/>
          <p:cNvSpPr>
            <a:spLocks noChangeArrowheads="1"/>
          </p:cNvSpPr>
          <p:nvPr/>
        </p:nvSpPr>
        <p:spPr bwMode="auto">
          <a:xfrm>
            <a:off x="2815398" y="3097579"/>
            <a:ext cx="727166" cy="19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/>
          <a:lstStyle/>
          <a:p>
            <a:pPr latinLnBrk="0">
              <a:lnSpc>
                <a:spcPct val="120000"/>
              </a:lnSpc>
              <a:spcBef>
                <a:spcPct val="10000"/>
              </a:spcBef>
              <a:buClr>
                <a:schemeClr val="tx1"/>
              </a:buClr>
              <a:defRPr/>
            </a:pPr>
            <a:r>
              <a:rPr lang="en-US" altLang="ko-KR" sz="800" dirty="0">
                <a:latin typeface="+mn-ea"/>
                <a:ea typeface="+mn-ea"/>
              </a:rPr>
              <a:t>Any O/S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36" name="Rectangle 161"/>
          <p:cNvSpPr>
            <a:spLocks noChangeArrowheads="1"/>
          </p:cNvSpPr>
          <p:nvPr/>
        </p:nvSpPr>
        <p:spPr bwMode="auto">
          <a:xfrm>
            <a:off x="840860" y="3097959"/>
            <a:ext cx="879871" cy="19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/>
          <a:lstStyle/>
          <a:p>
            <a:pPr algn="ctr" latinLnBrk="0">
              <a:lnSpc>
                <a:spcPct val="120000"/>
              </a:lnSpc>
              <a:spcBef>
                <a:spcPct val="10000"/>
              </a:spcBef>
              <a:buClr>
                <a:schemeClr val="tx1"/>
              </a:buClr>
              <a:defRPr/>
            </a:pPr>
            <a:r>
              <a:rPr lang="en-US" altLang="ko-KR" sz="800" dirty="0">
                <a:latin typeface="+mn-ea"/>
                <a:ea typeface="+mn-ea"/>
              </a:rPr>
              <a:t>None ActiveX</a:t>
            </a:r>
            <a:endParaRPr lang="ko-KR" altLang="en-US" sz="800" dirty="0">
              <a:latin typeface="+mn-ea"/>
              <a:ea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6643" y="2082548"/>
            <a:ext cx="1928251" cy="1371981"/>
          </a:xfrm>
          <a:prstGeom prst="rect">
            <a:avLst/>
          </a:prstGeom>
        </p:spPr>
      </p:pic>
      <p:sp>
        <p:nvSpPr>
          <p:cNvPr id="137" name="Rectangle 161"/>
          <p:cNvSpPr>
            <a:spLocks noChangeArrowheads="1"/>
          </p:cNvSpPr>
          <p:nvPr/>
        </p:nvSpPr>
        <p:spPr bwMode="auto">
          <a:xfrm>
            <a:off x="5673514" y="2176646"/>
            <a:ext cx="786137" cy="1183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/>
          <a:lstStyle/>
          <a:p>
            <a:pPr latinLnBrk="0">
              <a:lnSpc>
                <a:spcPct val="130000"/>
              </a:lnSpc>
              <a:spcBef>
                <a:spcPct val="10000"/>
              </a:spcBef>
              <a:buClr>
                <a:schemeClr val="tx1"/>
              </a:buClr>
              <a:defRPr/>
            </a:pPr>
            <a:r>
              <a:rPr lang="ko-KR" altLang="en-US" sz="1000" dirty="0">
                <a:latin typeface="+mn-ea"/>
                <a:ea typeface="+mn-ea"/>
              </a:rPr>
              <a:t>단순해진 개발자 환경으로  업무</a:t>
            </a:r>
            <a:r>
              <a:rPr lang="en-US" altLang="ko-KR" sz="1000" dirty="0">
                <a:latin typeface="+mn-ea"/>
                <a:ea typeface="+mn-ea"/>
              </a:rPr>
              <a:t>Logic</a:t>
            </a:r>
            <a:r>
              <a:rPr lang="ko-KR" altLang="en-US" sz="1000" dirty="0">
                <a:latin typeface="+mn-ea"/>
                <a:ea typeface="+mn-ea"/>
              </a:rPr>
              <a:t> 개발에 집중</a:t>
            </a:r>
          </a:p>
        </p:txBody>
      </p:sp>
      <p:sp>
        <p:nvSpPr>
          <p:cNvPr id="138" name="Rectangle 163"/>
          <p:cNvSpPr>
            <a:spLocks noChangeArrowheads="1"/>
          </p:cNvSpPr>
          <p:nvPr/>
        </p:nvSpPr>
        <p:spPr bwMode="auto">
          <a:xfrm>
            <a:off x="6614670" y="2076193"/>
            <a:ext cx="2746416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/>
          <a:lstStyle/>
          <a:p>
            <a:pPr marL="101600" indent="-101600" latinLnBrk="0">
              <a:lnSpc>
                <a:spcPct val="15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ko-KR" altLang="en-US" sz="1000" dirty="0">
                <a:latin typeface="+mn-ea"/>
                <a:ea typeface="+mn-ea"/>
              </a:rPr>
              <a:t>개발속도 향상</a:t>
            </a:r>
            <a:endParaRPr lang="en-US" altLang="ko-KR" sz="1000" dirty="0">
              <a:latin typeface="+mn-ea"/>
              <a:ea typeface="+mn-ea"/>
            </a:endParaRPr>
          </a:p>
          <a:p>
            <a:pPr marL="101600" indent="-101600" latinLnBrk="0">
              <a:lnSpc>
                <a:spcPct val="15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ko-KR" altLang="en-US" sz="1000" dirty="0">
                <a:latin typeface="+mn-ea"/>
                <a:ea typeface="+mn-ea"/>
              </a:rPr>
              <a:t>어플리케이션 품질 상승 </a:t>
            </a:r>
          </a:p>
          <a:p>
            <a:pPr marL="101600" indent="-101600" latinLnBrk="0">
              <a:lnSpc>
                <a:spcPct val="15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ko-KR" altLang="en-US" sz="1000" dirty="0">
                <a:latin typeface="+mn-ea"/>
                <a:ea typeface="+mn-ea"/>
              </a:rPr>
              <a:t>인력 운영 효율 증가</a:t>
            </a:r>
            <a:endParaRPr lang="en-US" altLang="ko-KR" sz="1000" dirty="0">
              <a:latin typeface="+mn-ea"/>
              <a:ea typeface="+mn-ea"/>
            </a:endParaRPr>
          </a:p>
          <a:p>
            <a:pPr marL="101600" indent="-101600" latinLnBrk="0">
              <a:lnSpc>
                <a:spcPct val="15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ko-KR" altLang="en-US" sz="1000" dirty="0">
                <a:latin typeface="+mn-ea"/>
                <a:ea typeface="+mn-ea"/>
              </a:rPr>
              <a:t>운영 유지보수 대응력 증가</a:t>
            </a:r>
            <a:endParaRPr lang="en-US" altLang="ko-KR" sz="1000" dirty="0">
              <a:latin typeface="+mn-ea"/>
              <a:ea typeface="+mn-ea"/>
            </a:endParaRPr>
          </a:p>
          <a:p>
            <a:pPr marL="101600" indent="-101600" latinLnBrk="0">
              <a:lnSpc>
                <a:spcPct val="15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ko-KR" altLang="en-US" sz="1000" dirty="0">
                <a:latin typeface="+mn-ea"/>
                <a:ea typeface="+mn-ea"/>
              </a:rPr>
              <a:t>오픈소스 활용에 따른 비용 감소</a:t>
            </a:r>
          </a:p>
        </p:txBody>
      </p:sp>
      <p:sp>
        <p:nvSpPr>
          <p:cNvPr id="140" name="Rectangle 163"/>
          <p:cNvSpPr>
            <a:spLocks noChangeArrowheads="1"/>
          </p:cNvSpPr>
          <p:nvPr/>
        </p:nvSpPr>
        <p:spPr bwMode="auto">
          <a:xfrm>
            <a:off x="3626382" y="4756076"/>
            <a:ext cx="2746416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/>
          <a:lstStyle/>
          <a:p>
            <a:pPr marL="101600" indent="-101600" latinLnBrk="0">
              <a:lnSpc>
                <a:spcPct val="15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ko-KR" altLang="en-US" sz="1000" dirty="0">
                <a:latin typeface="+mn-ea"/>
                <a:ea typeface="+mn-ea"/>
              </a:rPr>
              <a:t>센터 운영 </a:t>
            </a:r>
            <a:r>
              <a:rPr lang="en-US" altLang="ko-KR" sz="1000" dirty="0">
                <a:latin typeface="+mn-ea"/>
                <a:ea typeface="+mn-ea"/>
              </a:rPr>
              <a:t>Process</a:t>
            </a:r>
            <a:r>
              <a:rPr lang="ko-KR" altLang="en-US" sz="1000" dirty="0">
                <a:latin typeface="+mn-ea"/>
                <a:ea typeface="+mn-ea"/>
              </a:rPr>
              <a:t>에 대한 표준 </a:t>
            </a:r>
            <a:r>
              <a:rPr lang="en-US" altLang="ko-KR" sz="1000" dirty="0">
                <a:latin typeface="+mn-ea"/>
                <a:ea typeface="+mn-ea"/>
              </a:rPr>
              <a:t>Rule </a:t>
            </a:r>
            <a:r>
              <a:rPr lang="ko-KR" altLang="en-US" sz="1000" dirty="0">
                <a:latin typeface="+mn-ea"/>
                <a:ea typeface="+mn-ea"/>
              </a:rPr>
              <a:t>수립</a:t>
            </a:r>
            <a:endParaRPr lang="en-US" altLang="ko-KR" sz="1000" dirty="0">
              <a:latin typeface="+mn-ea"/>
              <a:ea typeface="+mn-ea"/>
            </a:endParaRPr>
          </a:p>
          <a:p>
            <a:pPr marL="101600" indent="-101600" latinLnBrk="0">
              <a:lnSpc>
                <a:spcPct val="15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ko-KR" altLang="en-US" sz="1000" dirty="0">
                <a:latin typeface="+mn-ea"/>
                <a:ea typeface="+mn-ea"/>
              </a:rPr>
              <a:t>각 센터</a:t>
            </a:r>
            <a:r>
              <a:rPr lang="en-US" altLang="ko-KR" sz="1000" dirty="0">
                <a:latin typeface="+mn-ea"/>
                <a:ea typeface="+mn-ea"/>
              </a:rPr>
              <a:t>/</a:t>
            </a:r>
            <a:r>
              <a:rPr lang="ko-KR" altLang="en-US" sz="1000" dirty="0">
                <a:latin typeface="+mn-ea"/>
                <a:ea typeface="+mn-ea"/>
              </a:rPr>
              <a:t>제품 특성에 맞는 </a:t>
            </a:r>
            <a:r>
              <a:rPr lang="en-US" altLang="ko-KR" sz="1000" dirty="0">
                <a:latin typeface="+mn-ea"/>
                <a:ea typeface="+mn-ea"/>
              </a:rPr>
              <a:t>Rule </a:t>
            </a:r>
            <a:r>
              <a:rPr lang="ko-KR" altLang="en-US" sz="1000" dirty="0">
                <a:latin typeface="+mn-ea"/>
                <a:ea typeface="+mn-ea"/>
              </a:rPr>
              <a:t>설정 가능</a:t>
            </a:r>
            <a:endParaRPr lang="en-US" altLang="ko-KR" sz="1000" dirty="0">
              <a:latin typeface="+mn-ea"/>
              <a:ea typeface="+mn-ea"/>
            </a:endParaRPr>
          </a:p>
          <a:p>
            <a:pPr marL="101600" indent="-101600" latinLnBrk="0">
              <a:lnSpc>
                <a:spcPct val="150000"/>
              </a:lnSpc>
              <a:spcBef>
                <a:spcPct val="1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ko-KR" altLang="en-US" sz="1000" dirty="0">
                <a:latin typeface="+mn-ea"/>
                <a:ea typeface="+mn-ea"/>
              </a:rPr>
              <a:t>운영자 정의에 의한 </a:t>
            </a:r>
            <a:r>
              <a:rPr lang="en-US" altLang="ko-KR" sz="1000" dirty="0">
                <a:latin typeface="+mn-ea"/>
                <a:ea typeface="+mn-ea"/>
              </a:rPr>
              <a:t>Rule </a:t>
            </a:r>
            <a:r>
              <a:rPr lang="ko-KR" altLang="en-US" sz="1000" dirty="0">
                <a:latin typeface="+mn-ea"/>
                <a:ea typeface="+mn-ea"/>
              </a:rPr>
              <a:t>구성으로 다양한 </a:t>
            </a:r>
            <a:r>
              <a:rPr lang="en-US" altLang="ko-KR" sz="1000" dirty="0">
                <a:latin typeface="+mn-ea"/>
                <a:ea typeface="+mn-ea"/>
              </a:rPr>
              <a:t>Case </a:t>
            </a:r>
            <a:r>
              <a:rPr lang="ko-KR" altLang="en-US" sz="1000" dirty="0">
                <a:latin typeface="+mn-ea"/>
                <a:ea typeface="+mn-ea"/>
              </a:rPr>
              <a:t>대응 가능 </a:t>
            </a:r>
          </a:p>
        </p:txBody>
      </p:sp>
    </p:spTree>
    <p:extLst>
      <p:ext uri="{BB962C8B-B14F-4D97-AF65-F5344CB8AC3E}">
        <p14:creationId xmlns:p14="http://schemas.microsoft.com/office/powerpoint/2010/main" val="3759399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9. WMS </a:t>
            </a:r>
            <a:r>
              <a:rPr lang="ko-KR" altLang="en-US" dirty="0">
                <a:latin typeface="+mn-ea"/>
                <a:ea typeface="+mn-ea"/>
              </a:rPr>
              <a:t>고도화 방안</a:t>
            </a:r>
          </a:p>
        </p:txBody>
      </p:sp>
      <p:cxnSp>
        <p:nvCxnSpPr>
          <p:cNvPr id="71" name="직선 화살표 연결선 70"/>
          <p:cNvCxnSpPr/>
          <p:nvPr/>
        </p:nvCxnSpPr>
        <p:spPr>
          <a:xfrm>
            <a:off x="1029456" y="4510281"/>
            <a:ext cx="8028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/>
          <p:nvPr/>
        </p:nvCxnSpPr>
        <p:spPr>
          <a:xfrm flipV="1">
            <a:off x="1029456" y="1629962"/>
            <a:ext cx="0" cy="28800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2253592" y="1629962"/>
            <a:ext cx="0" cy="28800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>
            <a:off x="4197808" y="1629962"/>
            <a:ext cx="0" cy="28800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>
            <a:off x="6214032" y="1629962"/>
            <a:ext cx="0" cy="28800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Sticker"/>
          <p:cNvGrpSpPr/>
          <p:nvPr/>
        </p:nvGrpSpPr>
        <p:grpSpPr>
          <a:xfrm>
            <a:off x="1704543" y="3142249"/>
            <a:ext cx="1080000" cy="1080000"/>
            <a:chOff x="508000" y="1397000"/>
            <a:chExt cx="617424" cy="617423"/>
          </a:xfrm>
          <a:solidFill>
            <a:srgbClr val="FFFF00"/>
          </a:solidFill>
        </p:grpSpPr>
        <p:sp>
          <p:nvSpPr>
            <p:cNvPr id="82" name="Sticker Shape"/>
            <p:cNvSpPr>
              <a:spLocks/>
            </p:cNvSpPr>
            <p:nvPr/>
          </p:nvSpPr>
          <p:spPr bwMode="auto">
            <a:xfrm>
              <a:off x="508000" y="1397000"/>
              <a:ext cx="617424" cy="617423"/>
            </a:xfrm>
            <a:custGeom>
              <a:avLst/>
              <a:gdLst>
                <a:gd name="connsiteX0" fmla="*/ 308712 w 617424"/>
                <a:gd name="connsiteY0" fmla="*/ 0 h 617423"/>
                <a:gd name="connsiteX1" fmla="*/ 0 w 617424"/>
                <a:gd name="connsiteY1" fmla="*/ 308712 h 617423"/>
                <a:gd name="connsiteX2" fmla="*/ 308712 w 617424"/>
                <a:gd name="connsiteY2" fmla="*/ 617423 h 617423"/>
                <a:gd name="connsiteX3" fmla="*/ 341454 w 617424"/>
                <a:gd name="connsiteY3" fmla="*/ 614122 h 617423"/>
                <a:gd name="connsiteX4" fmla="*/ 614137 w 617424"/>
                <a:gd name="connsiteY4" fmla="*/ 341321 h 617423"/>
                <a:gd name="connsiteX5" fmla="*/ 617424 w 617424"/>
                <a:gd name="connsiteY5" fmla="*/ 308712 h 617423"/>
                <a:gd name="connsiteX6" fmla="*/ 308712 w 617424"/>
                <a:gd name="connsiteY6" fmla="*/ 0 h 617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7424" h="617423">
                  <a:moveTo>
                    <a:pt x="308712" y="0"/>
                  </a:moveTo>
                  <a:cubicBezTo>
                    <a:pt x="138215" y="0"/>
                    <a:pt x="0" y="138215"/>
                    <a:pt x="0" y="308712"/>
                  </a:cubicBezTo>
                  <a:cubicBezTo>
                    <a:pt x="0" y="479208"/>
                    <a:pt x="138215" y="617423"/>
                    <a:pt x="308712" y="617423"/>
                  </a:cubicBezTo>
                  <a:lnTo>
                    <a:pt x="341454" y="614122"/>
                  </a:lnTo>
                  <a:cubicBezTo>
                    <a:pt x="397180" y="561760"/>
                    <a:pt x="567345" y="393141"/>
                    <a:pt x="614137" y="341321"/>
                  </a:cubicBezTo>
                  <a:cubicBezTo>
                    <a:pt x="616841" y="330717"/>
                    <a:pt x="617424" y="319782"/>
                    <a:pt x="617424" y="308712"/>
                  </a:cubicBezTo>
                  <a:cubicBezTo>
                    <a:pt x="617424" y="138215"/>
                    <a:pt x="479209" y="0"/>
                    <a:pt x="308712" y="0"/>
                  </a:cubicBezTo>
                  <a:close/>
                </a:path>
              </a:pathLst>
            </a:custGeom>
            <a:grpFill/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25400" dir="2699996" rotWithShape="0">
                <a:srgbClr val="A6A6A6">
                  <a:alpha val="40000"/>
                </a:srgbClr>
              </a:outerShdw>
            </a:effectLst>
            <a:extLst>
              <a:ext uri="{53640926-AAD7-44D8-BBD7-CCE9431645EC}">
                <a14:shadowObscured xmlns:a14="http://schemas.microsoft.com/office/drawing/2010/main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72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00"/>
                </a:lnSpc>
              </a:pPr>
              <a:r>
                <a:rPr lang="en-US" sz="1600" b="1" dirty="0">
                  <a:solidFill>
                    <a:srgbClr val="262626"/>
                  </a:solidFill>
                  <a:effectLst/>
                  <a:latin typeface="+mn-ea"/>
                  <a:cs typeface="Calibri" pitchFamily="34" charset="0"/>
                </a:rPr>
                <a:t>1 </a:t>
              </a:r>
              <a:r>
                <a:rPr lang="ko-KR" altLang="en-US" sz="1600" b="1" dirty="0">
                  <a:solidFill>
                    <a:srgbClr val="262626"/>
                  </a:solidFill>
                  <a:effectLst/>
                  <a:latin typeface="+mn-ea"/>
                  <a:cs typeface="Calibri" pitchFamily="34" charset="0"/>
                </a:rPr>
                <a:t>단계</a:t>
              </a:r>
              <a:endParaRPr lang="en-US" sz="1600" b="1" dirty="0">
                <a:solidFill>
                  <a:srgbClr val="262626"/>
                </a:solidFill>
                <a:effectLst/>
                <a:latin typeface="+mn-ea"/>
                <a:cs typeface="Calibri" pitchFamily="34" charset="0"/>
              </a:endParaRPr>
            </a:p>
          </p:txBody>
        </p:sp>
        <p:sp>
          <p:nvSpPr>
            <p:cNvPr id="97" name="Peeling Effect"/>
            <p:cNvSpPr>
              <a:spLocks/>
            </p:cNvSpPr>
            <p:nvPr/>
          </p:nvSpPr>
          <p:spPr bwMode="auto">
            <a:xfrm>
              <a:off x="849453" y="1738322"/>
              <a:ext cx="272684" cy="272801"/>
            </a:xfrm>
            <a:custGeom>
              <a:avLst/>
              <a:gdLst>
                <a:gd name="connsiteX0" fmla="*/ 272684 w 272684"/>
                <a:gd name="connsiteY0" fmla="*/ 0 h 272801"/>
                <a:gd name="connsiteX1" fmla="*/ 0 w 272684"/>
                <a:gd name="connsiteY1" fmla="*/ 272801 h 272801"/>
                <a:gd name="connsiteX2" fmla="*/ 272683 w 272684"/>
                <a:gd name="connsiteY2" fmla="*/ 0 h 272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2684" h="272801">
                  <a:moveTo>
                    <a:pt x="272684" y="0"/>
                  </a:moveTo>
                  <a:cubicBezTo>
                    <a:pt x="128260" y="13719"/>
                    <a:pt x="13657" y="128362"/>
                    <a:pt x="0" y="272801"/>
                  </a:cubicBezTo>
                  <a:cubicBezTo>
                    <a:pt x="270628" y="6670"/>
                    <a:pt x="6613" y="265883"/>
                    <a:pt x="272683" y="0"/>
                  </a:cubicBezTo>
                </a:path>
              </a:pathLst>
            </a:custGeom>
            <a:grpFill/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>
                <a:latin typeface="+mn-ea"/>
                <a:cs typeface="Calibri" pitchFamily="34" charset="0"/>
              </a:endParaRPr>
            </a:p>
          </p:txBody>
        </p:sp>
      </p:grpSp>
      <p:sp>
        <p:nvSpPr>
          <p:cNvPr id="100" name="Badge"/>
          <p:cNvSpPr>
            <a:spLocks noChangeAspect="1"/>
          </p:cNvSpPr>
          <p:nvPr/>
        </p:nvSpPr>
        <p:spPr bwMode="auto">
          <a:xfrm>
            <a:off x="3621744" y="2710201"/>
            <a:ext cx="1080000" cy="1080000"/>
          </a:xfrm>
          <a:prstGeom prst="star16">
            <a:avLst>
              <a:gd name="adj" fmla="val 42768"/>
            </a:avLst>
          </a:prstGeom>
          <a:solidFill>
            <a:schemeClr val="bg1"/>
          </a:solidFill>
          <a:ln w="6350" cap="flat" cmpd="sng" algn="ctr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  <a:effectLst>
            <a:outerShdw dist="25400" dir="2699996" rotWithShape="0">
              <a:srgbClr val="A6A6A6">
                <a:alpha val="4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333333"/>
                </a:solidFill>
                <a:effectLst/>
                <a:latin typeface="+mn-ea"/>
              </a:rPr>
              <a:t>2 </a:t>
            </a:r>
            <a:r>
              <a:rPr lang="ko-KR" altLang="en-US" sz="1600" b="1" dirty="0">
                <a:solidFill>
                  <a:srgbClr val="333333"/>
                </a:solidFill>
                <a:effectLst/>
                <a:latin typeface="+mn-ea"/>
              </a:rPr>
              <a:t>단계</a:t>
            </a:r>
            <a:endParaRPr lang="en-US" sz="1600" b="1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29" name="자유형 128"/>
          <p:cNvSpPr/>
          <p:nvPr/>
        </p:nvSpPr>
        <p:spPr>
          <a:xfrm>
            <a:off x="1088386" y="4278895"/>
            <a:ext cx="1138795" cy="198868"/>
          </a:xfrm>
          <a:custGeom>
            <a:avLst/>
            <a:gdLst>
              <a:gd name="connsiteX0" fmla="*/ 0 w 2118167"/>
              <a:gd name="connsiteY0" fmla="*/ 196769 h 196769"/>
              <a:gd name="connsiteX1" fmla="*/ 1435261 w 2118167"/>
              <a:gd name="connsiteY1" fmla="*/ 104172 h 196769"/>
              <a:gd name="connsiteX2" fmla="*/ 2118167 w 2118167"/>
              <a:gd name="connsiteY2" fmla="*/ 0 h 196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8167" h="196769">
                <a:moveTo>
                  <a:pt x="0" y="196769"/>
                </a:moveTo>
                <a:lnTo>
                  <a:pt x="1435261" y="104172"/>
                </a:lnTo>
                <a:cubicBezTo>
                  <a:pt x="1788289" y="71377"/>
                  <a:pt x="1953228" y="35688"/>
                  <a:pt x="2118167" y="0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130" name="자유형 129"/>
          <p:cNvSpPr/>
          <p:nvPr/>
        </p:nvSpPr>
        <p:spPr>
          <a:xfrm>
            <a:off x="2250330" y="2178485"/>
            <a:ext cx="5979926" cy="2100410"/>
          </a:xfrm>
          <a:custGeom>
            <a:avLst/>
            <a:gdLst>
              <a:gd name="connsiteX0" fmla="*/ 0 w 4305782"/>
              <a:gd name="connsiteY0" fmla="*/ 2280213 h 2280213"/>
              <a:gd name="connsiteX1" fmla="*/ 1122744 w 4305782"/>
              <a:gd name="connsiteY1" fmla="*/ 2141316 h 2280213"/>
              <a:gd name="connsiteX2" fmla="*/ 2176040 w 4305782"/>
              <a:gd name="connsiteY2" fmla="*/ 1701478 h 2280213"/>
              <a:gd name="connsiteX3" fmla="*/ 3310359 w 4305782"/>
              <a:gd name="connsiteY3" fmla="*/ 1088020 h 2280213"/>
              <a:gd name="connsiteX4" fmla="*/ 4305782 w 4305782"/>
              <a:gd name="connsiteY4" fmla="*/ 0 h 2280213"/>
              <a:gd name="connsiteX5" fmla="*/ 4305782 w 4305782"/>
              <a:gd name="connsiteY5" fmla="*/ 0 h 228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5782" h="2280213">
                <a:moveTo>
                  <a:pt x="0" y="2280213"/>
                </a:moveTo>
                <a:cubicBezTo>
                  <a:pt x="380035" y="2258992"/>
                  <a:pt x="760071" y="2237772"/>
                  <a:pt x="1122744" y="2141316"/>
                </a:cubicBezTo>
                <a:cubicBezTo>
                  <a:pt x="1485417" y="2044860"/>
                  <a:pt x="1811438" y="1877027"/>
                  <a:pt x="2176040" y="1701478"/>
                </a:cubicBezTo>
                <a:cubicBezTo>
                  <a:pt x="2540642" y="1525929"/>
                  <a:pt x="2955402" y="1371600"/>
                  <a:pt x="3310359" y="1088020"/>
                </a:cubicBezTo>
                <a:cubicBezTo>
                  <a:pt x="3665316" y="804440"/>
                  <a:pt x="4305782" y="0"/>
                  <a:pt x="4305782" y="0"/>
                </a:cubicBezTo>
                <a:lnTo>
                  <a:pt x="4305782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102" name="Sticker"/>
          <p:cNvSpPr>
            <a:spLocks noChangeAspect="1"/>
          </p:cNvSpPr>
          <p:nvPr/>
        </p:nvSpPr>
        <p:spPr bwMode="auto">
          <a:xfrm>
            <a:off x="5637968" y="2131029"/>
            <a:ext cx="1080000" cy="1083108"/>
          </a:xfrm>
          <a:prstGeom prst="star32">
            <a:avLst>
              <a:gd name="adj" fmla="val 42791"/>
            </a:avLst>
          </a:prstGeom>
          <a:solidFill>
            <a:schemeClr val="bg1"/>
          </a:solidFill>
          <a:ln w="6350" cap="flat" cmpd="sng" algn="ctr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  <a:effectLst>
            <a:outerShdw dist="25400" dir="2699996" rotWithShape="0">
              <a:srgbClr val="7F7F7F">
                <a:alpha val="4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000"/>
              </a:lnSpc>
            </a:pPr>
            <a:r>
              <a:rPr lang="en-US" sz="1600" b="1" dirty="0">
                <a:solidFill>
                  <a:srgbClr val="333333"/>
                </a:solidFill>
                <a:effectLst/>
                <a:latin typeface="+mn-ea"/>
              </a:rPr>
              <a:t>3</a:t>
            </a:r>
            <a:r>
              <a:rPr lang="ko-KR" altLang="en-US" sz="1600" b="1" dirty="0">
                <a:solidFill>
                  <a:srgbClr val="333333"/>
                </a:solidFill>
                <a:latin typeface="+mn-ea"/>
              </a:rPr>
              <a:t> 단계</a:t>
            </a:r>
            <a:endParaRPr lang="en-US" sz="1600" b="1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450663" y="4798313"/>
            <a:ext cx="16058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  <a:ea typeface="+mn-ea"/>
              </a:rPr>
              <a:t>V 1.0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384038" y="4798313"/>
            <a:ext cx="16058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  <a:ea typeface="+mn-ea"/>
              </a:rPr>
              <a:t>V 2.0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5400262" y="4797152"/>
            <a:ext cx="16058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  <a:ea typeface="+mn-ea"/>
              </a:rPr>
              <a:t>V 3.0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1461504" y="5138608"/>
            <a:ext cx="16058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  <a:ea typeface="+mn-ea"/>
              </a:rPr>
              <a:t>CPG </a:t>
            </a:r>
            <a:r>
              <a:rPr lang="ko-KR" altLang="en-US" sz="1400" dirty="0">
                <a:latin typeface="+mn-ea"/>
                <a:ea typeface="+mn-ea"/>
              </a:rPr>
              <a:t>제조물류를 </a:t>
            </a:r>
            <a:r>
              <a:rPr lang="en-US" altLang="ko-KR" sz="1400" dirty="0">
                <a:latin typeface="+mn-ea"/>
                <a:ea typeface="+mn-ea"/>
              </a:rPr>
              <a:t>Target</a:t>
            </a:r>
            <a:r>
              <a:rPr lang="ko-KR" altLang="en-US" sz="1400" dirty="0">
                <a:latin typeface="+mn-ea"/>
                <a:ea typeface="+mn-ea"/>
              </a:rPr>
              <a:t>으로 한</a:t>
            </a:r>
            <a:endParaRPr lang="en-US" altLang="ko-KR" sz="1400" dirty="0">
              <a:latin typeface="+mn-ea"/>
              <a:ea typeface="+mn-ea"/>
            </a:endParaRPr>
          </a:p>
          <a:p>
            <a:pPr algn="ctr"/>
            <a:r>
              <a:rPr lang="en-US" altLang="ko-KR" sz="1400" dirty="0">
                <a:latin typeface="+mn-ea"/>
                <a:ea typeface="+mn-ea"/>
              </a:rPr>
              <a:t>WMS </a:t>
            </a:r>
            <a:r>
              <a:rPr lang="ko-KR" altLang="en-US" sz="1400" dirty="0">
                <a:latin typeface="+mn-ea"/>
                <a:ea typeface="+mn-ea"/>
              </a:rPr>
              <a:t>기본기능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84038" y="5158353"/>
            <a:ext cx="1605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+mn-ea"/>
                <a:ea typeface="+mn-ea"/>
              </a:rPr>
              <a:t>유통물류 전개에 따른 고도화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372930" y="5153062"/>
            <a:ext cx="1605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  <a:ea typeface="+mn-ea"/>
              </a:rPr>
              <a:t>3PL</a:t>
            </a:r>
            <a:r>
              <a:rPr lang="ko-KR" altLang="en-US" sz="1400" dirty="0">
                <a:latin typeface="+mn-ea"/>
                <a:ea typeface="+mn-ea"/>
              </a:rPr>
              <a:t>물류에 대응 가능한 기능 확장</a:t>
            </a:r>
          </a:p>
        </p:txBody>
      </p:sp>
      <p:sp>
        <p:nvSpPr>
          <p:cNvPr id="150" name="자유형 149"/>
          <p:cNvSpPr/>
          <p:nvPr/>
        </p:nvSpPr>
        <p:spPr>
          <a:xfrm>
            <a:off x="8239172" y="1574141"/>
            <a:ext cx="658010" cy="594176"/>
          </a:xfrm>
          <a:custGeom>
            <a:avLst/>
            <a:gdLst>
              <a:gd name="connsiteX0" fmla="*/ 0 w 1180618"/>
              <a:gd name="connsiteY0" fmla="*/ 1863524 h 1863524"/>
              <a:gd name="connsiteX1" fmla="*/ 775504 w 1180618"/>
              <a:gd name="connsiteY1" fmla="*/ 717631 h 1863524"/>
              <a:gd name="connsiteX2" fmla="*/ 1180618 w 1180618"/>
              <a:gd name="connsiteY2" fmla="*/ 0 h 1863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80618" h="1863524">
                <a:moveTo>
                  <a:pt x="0" y="1863524"/>
                </a:moveTo>
                <a:cubicBezTo>
                  <a:pt x="289367" y="1445871"/>
                  <a:pt x="578734" y="1028218"/>
                  <a:pt x="775504" y="717631"/>
                </a:cubicBezTo>
                <a:cubicBezTo>
                  <a:pt x="972274" y="407044"/>
                  <a:pt x="1076446" y="203522"/>
                  <a:pt x="1180618" y="0"/>
                </a:cubicBezTo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cxnSp>
        <p:nvCxnSpPr>
          <p:cNvPr id="151" name="직선 연결선 150"/>
          <p:cNvCxnSpPr/>
          <p:nvPr/>
        </p:nvCxnSpPr>
        <p:spPr>
          <a:xfrm>
            <a:off x="8230256" y="1629961"/>
            <a:ext cx="0" cy="28800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7438168" y="5158353"/>
            <a:ext cx="16058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  <a:ea typeface="+mn-ea"/>
              </a:rPr>
              <a:t>Wearable </a:t>
            </a:r>
            <a:r>
              <a:rPr lang="ko-KR" altLang="en-US" sz="1400" dirty="0">
                <a:latin typeface="+mn-ea"/>
                <a:ea typeface="+mn-ea"/>
              </a:rPr>
              <a:t>및 </a:t>
            </a:r>
            <a:r>
              <a:rPr lang="en-US" altLang="ko-KR" sz="1400" dirty="0">
                <a:latin typeface="+mn-ea"/>
                <a:ea typeface="+mn-ea"/>
              </a:rPr>
              <a:t>Glass </a:t>
            </a:r>
            <a:r>
              <a:rPr lang="ko-KR" altLang="en-US" sz="1400" dirty="0">
                <a:latin typeface="+mn-ea"/>
                <a:ea typeface="+mn-ea"/>
              </a:rPr>
              <a:t>등을 활용한 </a:t>
            </a:r>
            <a:r>
              <a:rPr lang="en-US" altLang="ko-KR" sz="1400" dirty="0">
                <a:latin typeface="+mn-ea"/>
                <a:ea typeface="+mn-ea"/>
              </a:rPr>
              <a:t>contents </a:t>
            </a:r>
            <a:r>
              <a:rPr lang="ko-KR" altLang="en-US" sz="1400" dirty="0">
                <a:latin typeface="+mn-ea"/>
                <a:ea typeface="+mn-ea"/>
              </a:rPr>
              <a:t>접목</a:t>
            </a:r>
          </a:p>
        </p:txBody>
      </p:sp>
      <p:sp>
        <p:nvSpPr>
          <p:cNvPr id="24" name="직사각형 277"/>
          <p:cNvSpPr>
            <a:spLocks noChangeArrowheads="1"/>
          </p:cNvSpPr>
          <p:nvPr/>
        </p:nvSpPr>
        <p:spPr bwMode="auto">
          <a:xfrm>
            <a:off x="655638" y="764704"/>
            <a:ext cx="85629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400" b="1" dirty="0">
                <a:solidFill>
                  <a:schemeClr val="tx2"/>
                </a:solidFill>
                <a:latin typeface="+mn-ea"/>
                <a:ea typeface="+mn-ea"/>
              </a:rPr>
              <a:t>WMS</a:t>
            </a:r>
            <a:r>
              <a:rPr lang="ko-KR" altLang="en-US" sz="1400" b="1" dirty="0">
                <a:solidFill>
                  <a:schemeClr val="tx2"/>
                </a:solidFill>
                <a:latin typeface="+mn-ea"/>
                <a:ea typeface="+mn-ea"/>
              </a:rPr>
              <a:t>는 </a:t>
            </a:r>
            <a:r>
              <a:rPr lang="en-US" altLang="ko-KR" sz="1400" b="1" dirty="0">
                <a:solidFill>
                  <a:schemeClr val="tx2"/>
                </a:solidFill>
                <a:latin typeface="+mn-ea"/>
                <a:ea typeface="+mn-ea"/>
              </a:rPr>
              <a:t>1</a:t>
            </a:r>
            <a:r>
              <a:rPr lang="ko-KR" altLang="en-US" sz="1400" b="1" dirty="0">
                <a:solidFill>
                  <a:schemeClr val="tx2"/>
                </a:solidFill>
                <a:latin typeface="+mn-ea"/>
                <a:ea typeface="+mn-ea"/>
              </a:rPr>
              <a:t>단계로 </a:t>
            </a:r>
            <a:r>
              <a:rPr lang="en-US" altLang="ko-KR" sz="1400" b="1" dirty="0">
                <a:solidFill>
                  <a:schemeClr val="tx2"/>
                </a:solidFill>
                <a:latin typeface="+mn-ea"/>
                <a:ea typeface="+mn-ea"/>
              </a:rPr>
              <a:t>CPG </a:t>
            </a:r>
            <a:r>
              <a:rPr lang="ko-KR" altLang="en-US" sz="1400" b="1" dirty="0" err="1">
                <a:solidFill>
                  <a:schemeClr val="tx2"/>
                </a:solidFill>
                <a:latin typeface="+mn-ea"/>
                <a:ea typeface="+mn-ea"/>
              </a:rPr>
              <a:t>제조물류를</a:t>
            </a:r>
            <a:r>
              <a:rPr lang="ko-KR" altLang="en-US" sz="1400" b="1" dirty="0">
                <a:solidFill>
                  <a:schemeClr val="tx2"/>
                </a:solidFill>
                <a:latin typeface="+mn-ea"/>
                <a:ea typeface="+mn-ea"/>
              </a:rPr>
              <a:t> 기본 기능으로 개발을 완료하고 추후 </a:t>
            </a:r>
            <a:r>
              <a:rPr lang="en-US" altLang="ko-KR" sz="1400" b="1" dirty="0">
                <a:solidFill>
                  <a:schemeClr val="tx2"/>
                </a:solidFill>
                <a:latin typeface="+mn-ea"/>
                <a:ea typeface="+mn-ea"/>
              </a:rPr>
              <a:t>2, 3</a:t>
            </a:r>
            <a:r>
              <a:rPr lang="ko-KR" altLang="en-US" sz="1400" b="1" dirty="0">
                <a:solidFill>
                  <a:schemeClr val="tx2"/>
                </a:solidFill>
                <a:latin typeface="+mn-ea"/>
                <a:ea typeface="+mn-ea"/>
              </a:rPr>
              <a:t>단계로 기능 확장으로 고도화를 합니다</a:t>
            </a:r>
            <a:r>
              <a:rPr lang="en-US" altLang="ko-KR" sz="1400" b="1" dirty="0">
                <a:solidFill>
                  <a:schemeClr val="tx2"/>
                </a:solidFill>
                <a:latin typeface="+mn-ea"/>
                <a:ea typeface="+mn-ea"/>
              </a:rPr>
              <a:t>.</a:t>
            </a:r>
            <a:endParaRPr lang="ko-KR" altLang="en-US" sz="1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51598" y="4797152"/>
            <a:ext cx="16058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향후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  <a:endParaRPr lang="ko-KR" alt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00239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20080</TotalTime>
  <Words>1498</Words>
  <Application>Microsoft Office PowerPoint</Application>
  <PresentationFormat>A4 용지(210x297mm)</PresentationFormat>
  <Paragraphs>924</Paragraphs>
  <Slides>23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굴림</vt:lpstr>
      <vt:lpstr>Times New Roman</vt:lpstr>
      <vt:lpstr>Impact</vt:lpstr>
      <vt:lpstr>HY헤드라인M</vt:lpstr>
      <vt:lpstr>맑은 고딕</vt:lpstr>
      <vt:lpstr>Calibri</vt:lpstr>
      <vt:lpstr>Arial</vt:lpstr>
      <vt:lpstr>Office 테마</vt:lpstr>
      <vt:lpstr>                    구축 중간보고서</vt:lpstr>
      <vt:lpstr>Agenda</vt:lpstr>
      <vt:lpstr>1. 추진 경과 일정</vt:lpstr>
      <vt:lpstr>2. 인력 투입 현황</vt:lpstr>
      <vt:lpstr>3. 프로세스 모델링</vt:lpstr>
      <vt:lpstr>3. 프로세스 모델링</vt:lpstr>
      <vt:lpstr>3. 프로세스 모델링</vt:lpstr>
      <vt:lpstr>3. 프로세스 모델링</vt:lpstr>
      <vt:lpstr>3. 프로세스 모델링</vt:lpstr>
      <vt:lpstr>4. 메뉴 구성도</vt:lpstr>
      <vt:lpstr>5. 화면설계 현황</vt:lpstr>
      <vt:lpstr>6. 프레임워크 예시</vt:lpstr>
      <vt:lpstr>7. 주요 UI설계</vt:lpstr>
      <vt:lpstr>7. 주요 UI설계</vt:lpstr>
      <vt:lpstr>7. 주요 UI설계</vt:lpstr>
      <vt:lpstr>7. 주요 UI설계</vt:lpstr>
      <vt:lpstr>7. 주요 UI설계</vt:lpstr>
      <vt:lpstr>7. 주요 UI설계</vt:lpstr>
      <vt:lpstr>7. 주요 UI설계</vt:lpstr>
      <vt:lpstr>7. 주요 UI설계</vt:lpstr>
      <vt:lpstr>8. WMS 특장점</vt:lpstr>
      <vt:lpstr>9. WMS 고도화 방안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jklee</dc:creator>
  <cp:lastModifiedBy>jklee</cp:lastModifiedBy>
  <cp:revision>941</cp:revision>
  <cp:lastPrinted>2016-10-10T00:41:09Z</cp:lastPrinted>
  <dcterms:created xsi:type="dcterms:W3CDTF">2012-09-18T14:42:59Z</dcterms:created>
  <dcterms:modified xsi:type="dcterms:W3CDTF">2016-12-02T09:03:08Z</dcterms:modified>
</cp:coreProperties>
</file>