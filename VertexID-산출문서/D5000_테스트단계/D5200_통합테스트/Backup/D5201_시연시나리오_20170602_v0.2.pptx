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544" r:id="rId3"/>
    <p:sldId id="542" r:id="rId4"/>
    <p:sldId id="543" r:id="rId5"/>
    <p:sldId id="539" r:id="rId6"/>
    <p:sldId id="540" r:id="rId7"/>
    <p:sldId id="541" r:id="rId8"/>
  </p:sldIdLst>
  <p:sldSz cx="9906000" cy="6858000" type="A4"/>
  <p:notesSz cx="6735763" cy="9866313"/>
  <p:embeddedFontLst>
    <p:embeddedFont>
      <p:font typeface="HY헤드라인M" panose="02030600000101010101" pitchFamily="18" charset="-127"/>
      <p:regular r:id="rId11"/>
    </p:embeddedFont>
    <p:embeddedFont>
      <p:font typeface="가는각진제목체" panose="02030600000101010101" pitchFamily="18" charset="-127"/>
      <p:regular r:id="rId12"/>
    </p:embeddedFont>
    <p:embeddedFont>
      <p:font typeface="Optima" panose="00000400000000000000" pitchFamily="2" charset="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mpact" panose="020B0806030902050204" pitchFamily="34" charset="0"/>
      <p:regular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orient="horz" pos="2840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pos="398">
          <p15:clr>
            <a:srgbClr val="A4A3A4"/>
          </p15:clr>
        </p15:guide>
        <p15:guide id="8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2B637F"/>
    <a:srgbClr val="99CCFF"/>
    <a:srgbClr val="FFC5D8"/>
    <a:srgbClr val="FFCC00"/>
    <a:srgbClr val="2D6AAB"/>
    <a:srgbClr val="609DC6"/>
    <a:srgbClr val="FF9966"/>
    <a:srgbClr val="2467D9"/>
    <a:srgbClr val="71B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0" autoAdjust="0"/>
    <p:restoredTop sz="91889" autoAdjust="0"/>
  </p:normalViewPr>
  <p:slideViewPr>
    <p:cSldViewPr showGuides="1">
      <p:cViewPr varScale="1">
        <p:scale>
          <a:sx n="101" d="100"/>
          <a:sy n="101" d="100"/>
        </p:scale>
        <p:origin x="1620" y="114"/>
      </p:cViewPr>
      <p:guideLst>
        <p:guide orient="horz" pos="4110"/>
        <p:guide orient="horz" pos="799"/>
        <p:guide orient="horz" pos="935"/>
        <p:guide orient="horz" pos="2840"/>
        <p:guide orient="horz" pos="4020"/>
        <p:guide orient="horz" pos="1071"/>
        <p:guide pos="398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564"/>
    </p:cViewPr>
  </p:sorterViewPr>
  <p:notesViewPr>
    <p:cSldViewPr showGuides="1">
      <p:cViewPr varScale="1">
        <p:scale>
          <a:sx n="60" d="100"/>
          <a:sy n="60" d="100"/>
        </p:scale>
        <p:origin x="-1992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B5C5B8F-D462-4368-8461-2A60FAE35D92}" type="datetimeFigureOut">
              <a:rPr lang="ko-KR" altLang="en-US"/>
              <a:pPr>
                <a:defRPr/>
              </a:pPr>
              <a:t>2017-06-02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FE4ED75-30A7-42E0-9F19-2CC082FBE2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968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3711D15-A793-43C2-95F3-0EE608434B71}" type="datetimeFigureOut">
              <a:rPr lang="ko-KR" altLang="en-US"/>
              <a:pPr>
                <a:defRPr/>
              </a:pPr>
              <a:t>2017-06-02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D87132A-BE77-42D3-A4C4-E7B6344462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330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53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EE4EEF5-12D8-4B51-B12E-A7B6C31AC94E}" type="slidenum">
              <a:rPr lang="ko-KR" alt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540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56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245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60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029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458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0" y="-4143"/>
            <a:ext cx="9906000" cy="3861048"/>
          </a:xfrm>
          <a:prstGeom prst="rect">
            <a:avLst/>
          </a:prstGeom>
          <a:noFill/>
        </p:spPr>
      </p:pic>
      <p:cxnSp>
        <p:nvCxnSpPr>
          <p:cNvPr id="5" name="직선 연결선 4"/>
          <p:cNvCxnSpPr/>
          <p:nvPr userDrawn="1"/>
        </p:nvCxnSpPr>
        <p:spPr>
          <a:xfrm>
            <a:off x="1052513" y="4929188"/>
            <a:ext cx="0" cy="719137"/>
          </a:xfrm>
          <a:prstGeom prst="line">
            <a:avLst/>
          </a:prstGeom>
          <a:ln w="76200">
            <a:solidFill>
              <a:schemeClr val="accent1">
                <a:alpha val="5803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387" y="5949280"/>
            <a:ext cx="1415407" cy="340525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1208584" y="4797153"/>
            <a:ext cx="8697416" cy="578495"/>
          </a:xfrm>
        </p:spPr>
        <p:txBody>
          <a:bodyPr>
            <a:noAutofit/>
          </a:bodyPr>
          <a:lstStyle>
            <a:lvl1pPr algn="l">
              <a:defRPr lang="ko-KR" altLang="en-US" sz="3200" b="0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부제목 2"/>
          <p:cNvSpPr>
            <a:spLocks noGrp="1"/>
          </p:cNvSpPr>
          <p:nvPr>
            <p:ph type="subTitle" idx="1"/>
          </p:nvPr>
        </p:nvSpPr>
        <p:spPr>
          <a:xfrm>
            <a:off x="1208317" y="5396456"/>
            <a:ext cx="8691464" cy="360040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3133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>
            <a:off x="272481" y="0"/>
            <a:ext cx="9633521" cy="4437112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4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0"/>
            <a:ext cx="9906000" cy="6858000"/>
          </a:xfrm>
          <a:prstGeom prst="rect">
            <a:avLst/>
          </a:prstGeom>
          <a:noFill/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  <p:sp>
        <p:nvSpPr>
          <p:cNvPr id="15" name="제목 1"/>
          <p:cNvSpPr>
            <a:spLocks noGrp="1"/>
          </p:cNvSpPr>
          <p:nvPr>
            <p:ph type="ctrTitle"/>
          </p:nvPr>
        </p:nvSpPr>
        <p:spPr>
          <a:xfrm>
            <a:off x="1" y="2636912"/>
            <a:ext cx="9906000" cy="1584176"/>
          </a:xfrm>
          <a:solidFill>
            <a:srgbClr val="0070C0">
              <a:alpha val="30196"/>
            </a:srgbClr>
          </a:solidFill>
        </p:spPr>
        <p:txBody>
          <a:bodyPr wrap="none">
            <a:noAutofit/>
          </a:bodyPr>
          <a:lstStyle>
            <a:lvl1pPr algn="r">
              <a:defRPr lang="ko-KR" altLang="en-US" sz="40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5602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1" descr="2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87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rot="16200000">
            <a:off x="-1077200" y="1077201"/>
            <a:ext cx="4689131" cy="2534731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911" y="5949280"/>
            <a:ext cx="1415407" cy="340525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54375" y="2667000"/>
            <a:ext cx="39655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Thank </a:t>
            </a:r>
          </a:p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You</a:t>
            </a:r>
            <a:endParaRPr lang="en-IN" altLang="ko-KR" sz="6000" b="1">
              <a:solidFill>
                <a:srgbClr val="595959"/>
              </a:solidFill>
              <a:latin typeface="Impact" pitchFamily="34" charset="0"/>
              <a:ea typeface="맑은 고딕" pitchFamily="50" charset="-127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498725" y="914400"/>
            <a:ext cx="2043113" cy="5029200"/>
            <a:chOff x="2211857" y="838200"/>
            <a:chExt cx="2043338" cy="5029200"/>
          </a:xfrm>
        </p:grpSpPr>
        <p:sp>
          <p:nvSpPr>
            <p:cNvPr id="6" name="Rectangle 3"/>
            <p:cNvSpPr/>
            <p:nvPr/>
          </p:nvSpPr>
          <p:spPr>
            <a:xfrm rot="5400000">
              <a:off x="1779068" y="2553073"/>
              <a:ext cx="3124198" cy="1828056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>
              <a:softEdge rad="317500"/>
            </a:effectLst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IN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 rot="5400000">
              <a:off x="610965" y="2439092"/>
              <a:ext cx="5029200" cy="1827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en-IN" altLang="ko-KR">
                <a:solidFill>
                  <a:srgbClr val="595959"/>
                </a:solidFill>
                <a:latin typeface="Calibri" pitchFamily="34" charset="0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69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81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flipH="1">
            <a:off x="0" y="1"/>
            <a:ext cx="2768757" cy="1291233"/>
          </a:xfrm>
          <a:prstGeom prst="rect">
            <a:avLst/>
          </a:prstGeom>
          <a:noFill/>
        </p:spPr>
      </p:pic>
      <p:cxnSp>
        <p:nvCxnSpPr>
          <p:cNvPr id="4" name="직선 연결선 3"/>
          <p:cNvCxnSpPr/>
          <p:nvPr userDrawn="1"/>
        </p:nvCxnSpPr>
        <p:spPr>
          <a:xfrm>
            <a:off x="1365250" y="728663"/>
            <a:ext cx="842486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97300" y="6356350"/>
            <a:ext cx="23114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D2EE030-A7DE-4C17-93AC-52097598BAF1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61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13930C-376A-4F5D-8FE2-8A220761C92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3" r:id="rId6"/>
    <p:sldLayoutId id="2147483724" r:id="rId7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0"/>
          <p:cNvSpPr>
            <a:spLocks noGrp="1"/>
          </p:cNvSpPr>
          <p:nvPr>
            <p:ph type="ctrTitle"/>
          </p:nvPr>
        </p:nvSpPr>
        <p:spPr>
          <a:extLst/>
        </p:spPr>
        <p:txBody>
          <a:bodyPr/>
          <a:lstStyle/>
          <a:p>
            <a:pPr eaLnBrk="1" hangingPunct="1">
              <a:defRPr/>
            </a:pPr>
            <a:r>
              <a:rPr lang="ko-KR" altLang="en-US" sz="2400" b="1" dirty="0">
                <a:solidFill>
                  <a:srgbClr val="002060"/>
                </a:solidFill>
                <a:latin typeface="+mn-ea"/>
              </a:rPr>
              <a:t>                     시연 시나리오</a:t>
            </a:r>
            <a:endParaRPr sz="1400" b="1" dirty="0">
              <a:latin typeface="+mn-ea"/>
              <a:ea typeface="+mn-ea"/>
            </a:endParaRPr>
          </a:p>
        </p:txBody>
      </p:sp>
      <p:sp>
        <p:nvSpPr>
          <p:cNvPr id="7" name="부제목 1"/>
          <p:cNvSpPr>
            <a:spLocks noGrp="1"/>
          </p:cNvSpPr>
          <p:nvPr>
            <p:ph type="subTitle" idx="1"/>
          </p:nvPr>
        </p:nvSpPr>
        <p:spPr>
          <a:xfrm>
            <a:off x="1208088" y="5395913"/>
            <a:ext cx="8691562" cy="360362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ko-KR" b="1" dirty="0">
                <a:latin typeface="+mn-ea"/>
                <a:ea typeface="+mn-ea"/>
              </a:rPr>
              <a:t>2017. 06. 02</a:t>
            </a:r>
            <a:endParaRPr lang="ko-KR" altLang="en-US" b="1" dirty="0">
              <a:latin typeface="+mn-ea"/>
              <a:ea typeface="+mn-ea"/>
            </a:endParaRPr>
          </a:p>
        </p:txBody>
      </p:sp>
      <p:pic>
        <p:nvPicPr>
          <p:cNvPr id="4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88" y="4796335"/>
            <a:ext cx="2232744" cy="576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7"/>
          <p:cNvSpPr>
            <a:spLocks noChangeArrowheads="1"/>
          </p:cNvSpPr>
          <p:nvPr/>
        </p:nvSpPr>
        <p:spPr bwMode="auto">
          <a:xfrm>
            <a:off x="1856656" y="1916832"/>
            <a:ext cx="2808312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1F497D"/>
                </a:solidFill>
                <a:latin typeface="+mn-ea"/>
                <a:ea typeface="+mn-ea"/>
              </a:rPr>
              <a:t>Agenda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>
              <a:solidFill>
                <a:srgbClr val="1F497D"/>
              </a:solidFill>
              <a:latin typeface="+mn-ea"/>
              <a:ea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 sz="1400" b="1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 fontAlgn="base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1" lang="ko-KR" altLang="en-US" sz="1400" dirty="0">
                <a:solidFill>
                  <a:srgbClr val="1F497D"/>
                </a:solidFill>
                <a:latin typeface="+mn-ea"/>
                <a:ea typeface="+mn-ea"/>
              </a:rPr>
              <a:t>운영규칙 설정</a:t>
            </a:r>
            <a:endParaRPr kumimoji="1" lang="en-US" altLang="ko-KR" sz="1400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 fontAlgn="base">
              <a:spcBef>
                <a:spcPct val="0"/>
              </a:spcBef>
              <a:spcAft>
                <a:spcPct val="0"/>
              </a:spcAft>
              <a:buAutoNum type="arabicPeriod"/>
            </a:pPr>
            <a:endParaRPr kumimoji="1" lang="en-US" altLang="ko-KR" sz="1400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>
              <a:buAutoNum type="arabicPeriod"/>
            </a:pPr>
            <a:r>
              <a:rPr lang="ko-KR" altLang="en-US" sz="1400" dirty="0">
                <a:solidFill>
                  <a:srgbClr val="1F497D"/>
                </a:solidFill>
                <a:latin typeface="+mn-ea"/>
                <a:ea typeface="+mn-ea"/>
              </a:rPr>
              <a:t>운영전략 설정</a:t>
            </a:r>
            <a:endParaRPr lang="en-US" altLang="ko-KR" sz="1400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>
              <a:buAutoNum type="arabicPeriod"/>
            </a:pPr>
            <a:endParaRPr kumimoji="1" lang="en-US" altLang="ko-KR" sz="1400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>
              <a:buAutoNum type="arabicPeriod"/>
            </a:pPr>
            <a:r>
              <a:rPr lang="ko-KR" altLang="en-US" sz="1400" dirty="0">
                <a:solidFill>
                  <a:srgbClr val="1F497D"/>
                </a:solidFill>
                <a:latin typeface="+mn-ea"/>
                <a:ea typeface="+mn-ea"/>
              </a:rPr>
              <a:t>입고관리</a:t>
            </a:r>
            <a:endParaRPr lang="en-US" altLang="ko-KR" sz="1400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>
              <a:buAutoNum type="arabicPeriod"/>
            </a:pPr>
            <a:endParaRPr kumimoji="1" lang="en-US" altLang="ko-KR" sz="1400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>
              <a:buAutoNum type="arabicPeriod"/>
            </a:pPr>
            <a:r>
              <a:rPr lang="ko-KR" altLang="en-US" sz="1400" dirty="0">
                <a:solidFill>
                  <a:srgbClr val="1F497D"/>
                </a:solidFill>
                <a:latin typeface="+mn-ea"/>
                <a:ea typeface="+mn-ea"/>
              </a:rPr>
              <a:t>출고관리</a:t>
            </a:r>
            <a:endParaRPr lang="en-US" altLang="ko-KR" sz="1400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>
              <a:buAutoNum type="arabicPeriod"/>
            </a:pPr>
            <a:endParaRPr kumimoji="1" lang="en-US" altLang="ko-KR" sz="1400" dirty="0">
              <a:solidFill>
                <a:srgbClr val="1F497D"/>
              </a:solidFill>
              <a:latin typeface="+mn-ea"/>
              <a:ea typeface="+mn-ea"/>
            </a:endParaRPr>
          </a:p>
          <a:p>
            <a:pPr marL="857250" indent="-228600">
              <a:buAutoNum type="arabicPeriod"/>
            </a:pPr>
            <a:r>
              <a:rPr lang="en-US" altLang="ko-KR" sz="1400" dirty="0">
                <a:solidFill>
                  <a:srgbClr val="1F497D"/>
                </a:solidFill>
                <a:latin typeface="+mn-ea"/>
                <a:ea typeface="+mn-ea"/>
              </a:rPr>
              <a:t>WAVE </a:t>
            </a:r>
            <a:r>
              <a:rPr lang="ko-KR" altLang="en-US" sz="1400" dirty="0">
                <a:solidFill>
                  <a:srgbClr val="1F497D"/>
                </a:solidFill>
                <a:latin typeface="+mn-ea"/>
                <a:ea typeface="+mn-ea"/>
              </a:rPr>
              <a:t>기준</a:t>
            </a:r>
            <a:endParaRPr lang="en-US" altLang="ko-KR" sz="1400" b="1" dirty="0">
              <a:solidFill>
                <a:srgbClr val="1F497D"/>
              </a:solidFill>
              <a:latin typeface="+mn-ea"/>
              <a:ea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008784" y="2132856"/>
            <a:ext cx="4320480" cy="457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423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운영규칙 설정</a:t>
            </a:r>
          </a:p>
        </p:txBody>
      </p:sp>
      <p:sp>
        <p:nvSpPr>
          <p:cNvPr id="75" name="직사각형 74"/>
          <p:cNvSpPr/>
          <p:nvPr/>
        </p:nvSpPr>
        <p:spPr bwMode="auto">
          <a:xfrm>
            <a:off x="920552" y="1471096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입하예정</a:t>
            </a:r>
          </a:p>
        </p:txBody>
      </p:sp>
      <p:sp>
        <p:nvSpPr>
          <p:cNvPr id="76" name="직사각형 75"/>
          <p:cNvSpPr/>
          <p:nvPr/>
        </p:nvSpPr>
        <p:spPr bwMode="auto">
          <a:xfrm>
            <a:off x="920552" y="2119168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입하승인</a:t>
            </a:r>
          </a:p>
        </p:txBody>
      </p:sp>
      <p:sp>
        <p:nvSpPr>
          <p:cNvPr id="77" name="직사각형 76"/>
          <p:cNvSpPr/>
          <p:nvPr/>
        </p:nvSpPr>
        <p:spPr bwMode="auto">
          <a:xfrm>
            <a:off x="920552" y="2771236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입하검수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tima" pitchFamily="2" charset="2"/>
              <a:ea typeface="가는각진제목체" pitchFamily="18" charset="-127"/>
            </a:endParaRPr>
          </a:p>
        </p:txBody>
      </p:sp>
      <p:sp>
        <p:nvSpPr>
          <p:cNvPr id="78" name="직사각형 77"/>
          <p:cNvSpPr/>
          <p:nvPr/>
        </p:nvSpPr>
        <p:spPr bwMode="auto">
          <a:xfrm>
            <a:off x="920552" y="3434752"/>
            <a:ext cx="1080120" cy="36004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입고지시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920552" y="4063384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입고적치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24336" y="2095976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가용재고 반영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2216696" y="2119168"/>
            <a:ext cx="207640" cy="2076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√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tima" pitchFamily="2" charset="2"/>
              <a:ea typeface="가는각진제목체" pitchFamily="18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144688" y="3415312"/>
            <a:ext cx="11521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적치전략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 err="1">
                <a:solidFill>
                  <a:srgbClr val="000000"/>
                </a:solidFill>
                <a:ea typeface="맑은 고딕" panose="020B0503020000020004" pitchFamily="50" charset="-127"/>
              </a:rPr>
              <a:t>기본적치전략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  …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4232920" y="1471096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출고예정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4232920" y="2119168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출고승인</a:t>
            </a:r>
          </a:p>
        </p:txBody>
      </p:sp>
      <p:sp>
        <p:nvSpPr>
          <p:cNvPr id="85" name="직사각형 84"/>
          <p:cNvSpPr/>
          <p:nvPr/>
        </p:nvSpPr>
        <p:spPr bwMode="auto">
          <a:xfrm>
            <a:off x="4232920" y="2771236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출고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WAVE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tima" pitchFamily="2" charset="2"/>
              <a:ea typeface="가는각진제목체" pitchFamily="18" charset="-127"/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4232920" y="3434752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anose="00000400000000000000" pitchFamily="2" charset="2"/>
                <a:ea typeface="가는각진제목체" panose="02030600000101010101" pitchFamily="18" charset="-127"/>
              </a:rPr>
              <a:t>출고지시</a:t>
            </a:r>
          </a:p>
        </p:txBody>
      </p:sp>
      <p:sp>
        <p:nvSpPr>
          <p:cNvPr id="87" name="직사각형 86"/>
          <p:cNvSpPr/>
          <p:nvPr/>
        </p:nvSpPr>
        <p:spPr bwMode="auto">
          <a:xfrm>
            <a:off x="4232920" y="4063384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출고피킹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tima" pitchFamily="2" charset="2"/>
              <a:ea typeface="가는각진제목체" pitchFamily="18" charset="-127"/>
            </a:endParaRPr>
          </a:p>
        </p:txBody>
      </p:sp>
      <p:sp>
        <p:nvSpPr>
          <p:cNvPr id="88" name="직사각형 87"/>
          <p:cNvSpPr/>
          <p:nvPr/>
        </p:nvSpPr>
        <p:spPr bwMode="auto">
          <a:xfrm>
            <a:off x="4232920" y="4692016"/>
            <a:ext cx="1080120" cy="36004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출하상차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tima" pitchFamily="2" charset="2"/>
              <a:ea typeface="가는각진제목체" pitchFamily="18" charset="-127"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4231000" y="5320648"/>
            <a:ext cx="1080120" cy="36004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출하확정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tima" pitchFamily="2" charset="2"/>
              <a:ea typeface="가는각진제목체" pitchFamily="18" charset="-127"/>
            </a:endParaRPr>
          </a:p>
        </p:txBody>
      </p:sp>
      <p:sp>
        <p:nvSpPr>
          <p:cNvPr id="90" name="직사각형 89"/>
          <p:cNvSpPr/>
          <p:nvPr/>
        </p:nvSpPr>
        <p:spPr bwMode="auto">
          <a:xfrm>
            <a:off x="4231000" y="5949280"/>
            <a:ext cx="1080120" cy="36004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tima" pitchFamily="2" charset="2"/>
                <a:ea typeface="가는각진제목체" pitchFamily="18" charset="-127"/>
              </a:rPr>
              <a:t>배송완료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29064" y="2089448"/>
            <a:ext cx="12961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재고부족시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품절처리 후 진행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8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8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승인불가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529064" y="2717298"/>
            <a:ext cx="129614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WAVE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기준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고객사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8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8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출고번호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   …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529064" y="3379294"/>
            <a:ext cx="11521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할당전략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기본할당전략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   …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cxnSp>
        <p:nvCxnSpPr>
          <p:cNvPr id="94" name="직선 화살표 연결선 93"/>
          <p:cNvCxnSpPr>
            <a:stCxn id="75" idx="2"/>
            <a:endCxn id="76" idx="0"/>
          </p:cNvCxnSpPr>
          <p:nvPr/>
        </p:nvCxnSpPr>
        <p:spPr bwMode="auto">
          <a:xfrm>
            <a:off x="1460612" y="1831136"/>
            <a:ext cx="0" cy="288032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직선 화살표 연결선 94"/>
          <p:cNvCxnSpPr>
            <a:stCxn id="76" idx="2"/>
            <a:endCxn id="77" idx="0"/>
          </p:cNvCxnSpPr>
          <p:nvPr/>
        </p:nvCxnSpPr>
        <p:spPr bwMode="auto">
          <a:xfrm>
            <a:off x="1460612" y="2479208"/>
            <a:ext cx="0" cy="292028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6" name="직선 화살표 연결선 95"/>
          <p:cNvCxnSpPr>
            <a:stCxn id="77" idx="2"/>
            <a:endCxn id="78" idx="0"/>
          </p:cNvCxnSpPr>
          <p:nvPr/>
        </p:nvCxnSpPr>
        <p:spPr bwMode="auto">
          <a:xfrm>
            <a:off x="1460612" y="3131276"/>
            <a:ext cx="0" cy="303476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7" name="직선 화살표 연결선 96"/>
          <p:cNvCxnSpPr>
            <a:stCxn id="78" idx="2"/>
            <a:endCxn id="79" idx="0"/>
          </p:cNvCxnSpPr>
          <p:nvPr/>
        </p:nvCxnSpPr>
        <p:spPr bwMode="auto">
          <a:xfrm>
            <a:off x="1460612" y="3794792"/>
            <a:ext cx="0" cy="268592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8" name="직선 화살표 연결선 97"/>
          <p:cNvCxnSpPr>
            <a:stCxn id="83" idx="2"/>
            <a:endCxn id="84" idx="0"/>
          </p:cNvCxnSpPr>
          <p:nvPr/>
        </p:nvCxnSpPr>
        <p:spPr bwMode="auto">
          <a:xfrm>
            <a:off x="4772980" y="1831136"/>
            <a:ext cx="0" cy="288032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직선 화살표 연결선 98"/>
          <p:cNvCxnSpPr>
            <a:stCxn id="84" idx="2"/>
            <a:endCxn id="85" idx="0"/>
          </p:cNvCxnSpPr>
          <p:nvPr/>
        </p:nvCxnSpPr>
        <p:spPr bwMode="auto">
          <a:xfrm>
            <a:off x="4772980" y="2479208"/>
            <a:ext cx="0" cy="292028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0" name="직선 화살표 연결선 99"/>
          <p:cNvCxnSpPr>
            <a:stCxn id="85" idx="2"/>
            <a:endCxn id="86" idx="0"/>
          </p:cNvCxnSpPr>
          <p:nvPr/>
        </p:nvCxnSpPr>
        <p:spPr bwMode="auto">
          <a:xfrm>
            <a:off x="4772980" y="3131276"/>
            <a:ext cx="0" cy="303476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1" name="직선 화살표 연결선 100"/>
          <p:cNvCxnSpPr>
            <a:stCxn id="86" idx="2"/>
            <a:endCxn id="87" idx="0"/>
          </p:cNvCxnSpPr>
          <p:nvPr/>
        </p:nvCxnSpPr>
        <p:spPr bwMode="auto">
          <a:xfrm>
            <a:off x="4772980" y="3794792"/>
            <a:ext cx="0" cy="268592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직선 화살표 연결선 101"/>
          <p:cNvCxnSpPr>
            <a:stCxn id="87" idx="2"/>
            <a:endCxn id="88" idx="0"/>
          </p:cNvCxnSpPr>
          <p:nvPr/>
        </p:nvCxnSpPr>
        <p:spPr bwMode="auto">
          <a:xfrm>
            <a:off x="4772980" y="4423424"/>
            <a:ext cx="0" cy="268592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3" name="직선 화살표 연결선 102"/>
          <p:cNvCxnSpPr>
            <a:stCxn id="88" idx="2"/>
            <a:endCxn id="89" idx="0"/>
          </p:cNvCxnSpPr>
          <p:nvPr/>
        </p:nvCxnSpPr>
        <p:spPr bwMode="auto">
          <a:xfrm flipH="1">
            <a:off x="4771060" y="5052056"/>
            <a:ext cx="1920" cy="268592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4" name="직선 화살표 연결선 103"/>
          <p:cNvCxnSpPr>
            <a:stCxn id="89" idx="2"/>
            <a:endCxn id="90" idx="0"/>
          </p:cNvCxnSpPr>
          <p:nvPr/>
        </p:nvCxnSpPr>
        <p:spPr bwMode="auto">
          <a:xfrm>
            <a:off x="4771060" y="5680688"/>
            <a:ext cx="0" cy="268592"/>
          </a:xfrm>
          <a:prstGeom prst="straightConnector1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7761312" y="1471096"/>
            <a:ext cx="12961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긴급보충 자동생성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 err="1">
                <a:solidFill>
                  <a:srgbClr val="000000"/>
                </a:solidFill>
                <a:ea typeface="맑은 고딕" panose="020B0503020000020004" pitchFamily="50" charset="-127"/>
              </a:rPr>
              <a:t>미생성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8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8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생성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761312" y="2098946"/>
            <a:ext cx="12961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FFFFFF">
                    <a:lumMod val="65000"/>
                  </a:srgbClr>
                </a:solidFill>
                <a:ea typeface="맑은 고딕" panose="020B0503020000020004" pitchFamily="50" charset="-127"/>
              </a:rPr>
              <a:t>긴급보충 자동확정</a:t>
            </a:r>
            <a:endParaRPr lang="en-US" altLang="ko-KR" sz="900" b="1" dirty="0">
              <a:solidFill>
                <a:srgbClr val="FFFFFF">
                  <a:lumMod val="65000"/>
                </a:srgbClr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FFFFFF">
                    <a:lumMod val="65000"/>
                  </a:srgbClr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FFFFFF">
                    <a:lumMod val="65000"/>
                  </a:srgbClr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 err="1">
                <a:solidFill>
                  <a:srgbClr val="FFFFFF">
                    <a:lumMod val="65000"/>
                  </a:srgbClr>
                </a:solidFill>
                <a:ea typeface="맑은 고딕" panose="020B0503020000020004" pitchFamily="50" charset="-127"/>
              </a:rPr>
              <a:t>미확정</a:t>
            </a:r>
            <a:endParaRPr lang="en-US" altLang="ko-KR" sz="900" b="1" dirty="0">
              <a:solidFill>
                <a:srgbClr val="FFFFFF">
                  <a:lumMod val="65000"/>
                </a:srgbClr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800" b="1" dirty="0">
                <a:solidFill>
                  <a:srgbClr val="FFFFFF">
                    <a:lumMod val="65000"/>
                  </a:srgbClr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800" b="1" dirty="0">
                <a:solidFill>
                  <a:srgbClr val="FFFFFF">
                    <a:lumMod val="65000"/>
                  </a:srgbClr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FFFFFF">
                    <a:lumMod val="65000"/>
                  </a:srgbClr>
                </a:solidFill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rgbClr val="FFFFFF">
                    <a:lumMod val="65000"/>
                  </a:srgbClr>
                </a:solidFill>
                <a:ea typeface="맑은 고딕" panose="020B0503020000020004" pitchFamily="50" charset="-127"/>
              </a:rPr>
              <a:t>확정</a:t>
            </a:r>
            <a:endParaRPr lang="en-US" altLang="ko-KR" sz="900" b="1" dirty="0">
              <a:solidFill>
                <a:srgbClr val="FFFFFF">
                  <a:lumMod val="65000"/>
                </a:srgbClr>
              </a:solidFill>
              <a:ea typeface="맑은 고딕" panose="020B0503020000020004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761312" y="2760942"/>
            <a:ext cx="11521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보충전략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 err="1">
                <a:solidFill>
                  <a:srgbClr val="000000"/>
                </a:solidFill>
                <a:ea typeface="맑은 고딕" panose="020B0503020000020004" pitchFamily="50" charset="-127"/>
              </a:rPr>
              <a:t>기본보충전략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  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61312" y="3285078"/>
            <a:ext cx="115212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LOT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기본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LOT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상세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LOT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전략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  …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61312" y="4027130"/>
            <a:ext cx="12961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재고이력생성조건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상세생성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8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8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간략생성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20552" y="1167620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입고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]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231000" y="1167620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출고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]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769944" y="1167620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재고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]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144688" y="2636912"/>
            <a:ext cx="1332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검수수량 허용기준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ko-KR" altLang="ko-KR" sz="12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⊙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과부족 허용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동일만 허용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이하 허용</a:t>
            </a:r>
            <a:endParaRPr lang="en-US" altLang="ko-KR" sz="9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○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이상 허용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390875" y="496449"/>
            <a:ext cx="2337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1200" b="1" dirty="0">
                <a:solidFill>
                  <a:srgbClr val="FF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  <a:ea typeface="맑은 고딕" panose="020B0503020000020004" pitchFamily="50" charset="-127"/>
              </a:rPr>
              <a:t>물류센터</a:t>
            </a:r>
            <a:r>
              <a:rPr lang="en-US" altLang="ko-KR" sz="1200" b="1" dirty="0">
                <a:solidFill>
                  <a:srgbClr val="FF0000"/>
                </a:solidFill>
                <a:ea typeface="맑은 고딕" panose="020B0503020000020004" pitchFamily="50" charset="-127"/>
              </a:rPr>
              <a:t>] 1000 : </a:t>
            </a:r>
            <a:r>
              <a:rPr lang="ko-KR" altLang="en-US" sz="1200" b="1" dirty="0">
                <a:solidFill>
                  <a:srgbClr val="FF0000"/>
                </a:solidFill>
                <a:ea typeface="맑은 고딕" panose="020B0503020000020004" pitchFamily="50" charset="-127"/>
              </a:rPr>
              <a:t>수원창고</a:t>
            </a:r>
            <a:endParaRPr lang="ko-KR" altLang="en-US" sz="1200" b="1" dirty="0">
              <a:solidFill>
                <a:srgbClr val="FF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902772" y="481857"/>
            <a:ext cx="249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1200" b="1" dirty="0">
                <a:solidFill>
                  <a:srgbClr val="FF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  <a:ea typeface="맑은 고딕" panose="020B0503020000020004" pitchFamily="50" charset="-127"/>
              </a:rPr>
              <a:t>고객사</a:t>
            </a:r>
            <a:r>
              <a:rPr lang="en-US" altLang="ko-KR" sz="1200" b="1" dirty="0">
                <a:solidFill>
                  <a:srgbClr val="FF0000"/>
                </a:solidFill>
                <a:ea typeface="맑은 고딕" panose="020B0503020000020004" pitchFamily="50" charset="-127"/>
              </a:rPr>
              <a:t>] 1001 : </a:t>
            </a:r>
            <a:r>
              <a:rPr lang="ko-KR" altLang="en-US" sz="1200" b="1" dirty="0" err="1">
                <a:solidFill>
                  <a:srgbClr val="FF0000"/>
                </a:solidFill>
                <a:ea typeface="맑은 고딕" panose="020B0503020000020004" pitchFamily="50" charset="-127"/>
              </a:rPr>
              <a:t>버텍스아이디</a:t>
            </a:r>
            <a:endParaRPr lang="ko-KR" altLang="en-US" sz="1200" b="1" dirty="0">
              <a:solidFill>
                <a:srgbClr val="FF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307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>
                <a:latin typeface="+mn-ea"/>
                <a:ea typeface="+mn-ea"/>
              </a:rPr>
              <a:t>운영전략 설정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93022"/>
              </p:ext>
            </p:extLst>
          </p:nvPr>
        </p:nvGraphicFramePr>
        <p:xfrm>
          <a:off x="990600" y="1496184"/>
          <a:ext cx="6336705" cy="947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1417044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39246">
                  <a:extLst>
                    <a:ext uri="{9D8B030D-6E8A-4147-A177-3AD203B41FA5}">
                      <a16:colId xmlns:a16="http://schemas.microsoft.com/office/drawing/2014/main" val="1334357867"/>
                    </a:ext>
                  </a:extLst>
                </a:gridCol>
                <a:gridCol w="753983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737592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737592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737592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737592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</a:tblGrid>
              <a:tr h="2369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적치전략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할당전략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보충전략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236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TTP246M/PRO/KC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236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TDP247/KC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236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TDP225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90599" y="1165726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제품마스터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]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599" y="2852936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[LOT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전략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]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15389"/>
              </p:ext>
            </p:extLst>
          </p:nvPr>
        </p:nvGraphicFramePr>
        <p:xfrm>
          <a:off x="990599" y="3170342"/>
          <a:ext cx="8426898" cy="7299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6057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33435786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21878131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8039103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959010714"/>
                    </a:ext>
                  </a:extLst>
                </a:gridCol>
                <a:gridCol w="331237">
                  <a:extLst>
                    <a:ext uri="{9D8B030D-6E8A-4147-A177-3AD203B41FA5}">
                      <a16:colId xmlns:a16="http://schemas.microsoft.com/office/drawing/2014/main" val="488925552"/>
                    </a:ext>
                  </a:extLst>
                </a:gridCol>
                <a:gridCol w="331237">
                  <a:extLst>
                    <a:ext uri="{9D8B030D-6E8A-4147-A177-3AD203B41FA5}">
                      <a16:colId xmlns:a16="http://schemas.microsoft.com/office/drawing/2014/main" val="2159400288"/>
                    </a:ext>
                  </a:extLst>
                </a:gridCol>
                <a:gridCol w="331237">
                  <a:extLst>
                    <a:ext uri="{9D8B030D-6E8A-4147-A177-3AD203B41FA5}">
                      <a16:colId xmlns:a16="http://schemas.microsoft.com/office/drawing/2014/main" val="197405725"/>
                    </a:ext>
                  </a:extLst>
                </a:gridCol>
                <a:gridCol w="331237">
                  <a:extLst>
                    <a:ext uri="{9D8B030D-6E8A-4147-A177-3AD203B41FA5}">
                      <a16:colId xmlns:a16="http://schemas.microsoft.com/office/drawing/2014/main" val="626637536"/>
                    </a:ext>
                  </a:extLst>
                </a:gridCol>
                <a:gridCol w="331237">
                  <a:extLst>
                    <a:ext uri="{9D8B030D-6E8A-4147-A177-3AD203B41FA5}">
                      <a16:colId xmlns:a16="http://schemas.microsoft.com/office/drawing/2014/main" val="471722482"/>
                    </a:ext>
                  </a:extLst>
                </a:gridCol>
              </a:tblGrid>
              <a:tr h="2433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전략코드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전략명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물류센터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243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LOT_STD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전략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2433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LOT_DETAIL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90599" y="4077072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적치전략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]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2560" y="4998368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할당전략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]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599" y="5949280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 hangingPunct="0"/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보충전략</a:t>
            </a:r>
            <a:r>
              <a:rPr lang="en-US" altLang="ko-KR" sz="900" b="1" dirty="0">
                <a:solidFill>
                  <a:srgbClr val="000000"/>
                </a:solidFill>
                <a:ea typeface="맑은 고딕" panose="020B0503020000020004" pitchFamily="50" charset="-127"/>
              </a:rPr>
              <a:t>]</a:t>
            </a:r>
            <a:endParaRPr lang="ko-KR" altLang="en-US" sz="900" b="1" dirty="0">
              <a:solidFill>
                <a:srgbClr val="000000"/>
              </a:solidFill>
              <a:latin typeface="Optima" panose="00000400000000000000" pitchFamily="2" charset="2"/>
              <a:ea typeface="가는각진제목체" panose="02030600000101010101" pitchFamily="18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19882"/>
              </p:ext>
            </p:extLst>
          </p:nvPr>
        </p:nvGraphicFramePr>
        <p:xfrm>
          <a:off x="990599" y="5235935"/>
          <a:ext cx="3314330" cy="4866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6057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1334357867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</a:tblGrid>
              <a:tr h="2433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전략코드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전략명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243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ALLOC_STD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기본할당전략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880779"/>
              </p:ext>
            </p:extLst>
          </p:nvPr>
        </p:nvGraphicFramePr>
        <p:xfrm>
          <a:off x="991765" y="4361181"/>
          <a:ext cx="2378225" cy="4866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6057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334357867"/>
                    </a:ext>
                  </a:extLst>
                </a:gridCol>
              </a:tblGrid>
              <a:tr h="2433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전략코드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전략명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243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PUTW_STD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기본적치전략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85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>
                <a:latin typeface="+mn-ea"/>
                <a:ea typeface="+mn-ea"/>
              </a:rPr>
              <a:t>입고관리</a:t>
            </a: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361176"/>
              </p:ext>
            </p:extLst>
          </p:nvPr>
        </p:nvGraphicFramePr>
        <p:xfrm>
          <a:off x="4016895" y="980728"/>
          <a:ext cx="4104458" cy="792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402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4262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40017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26104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26104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26104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26104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sp>
        <p:nvSpPr>
          <p:cNvPr id="42" name="직사각형 41"/>
          <p:cNvSpPr/>
          <p:nvPr/>
        </p:nvSpPr>
        <p:spPr>
          <a:xfrm>
            <a:off x="378600" y="980728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입하예정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378600" y="1772816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입하승인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378600" y="2339454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입하검수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78600" y="3717032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입고지시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78600" y="5157192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입고적치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472727"/>
              </p:ext>
            </p:extLst>
          </p:nvPr>
        </p:nvGraphicFramePr>
        <p:xfrm>
          <a:off x="1280592" y="980728"/>
          <a:ext cx="993710" cy="396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61662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389584"/>
              </p:ext>
            </p:extLst>
          </p:nvPr>
        </p:nvGraphicFramePr>
        <p:xfrm>
          <a:off x="1280592" y="1772816"/>
          <a:ext cx="993710" cy="396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61662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45149"/>
              </p:ext>
            </p:extLst>
          </p:nvPr>
        </p:nvGraphicFramePr>
        <p:xfrm>
          <a:off x="1280592" y="2321452"/>
          <a:ext cx="1944216" cy="594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780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15812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515812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515812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680576"/>
              </p:ext>
            </p:extLst>
          </p:nvPr>
        </p:nvGraphicFramePr>
        <p:xfrm>
          <a:off x="4016895" y="2321452"/>
          <a:ext cx="5256585" cy="1233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RCV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RCV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18717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958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632460"/>
              </p:ext>
            </p:extLst>
          </p:nvPr>
        </p:nvGraphicFramePr>
        <p:xfrm>
          <a:off x="1280592" y="3717032"/>
          <a:ext cx="2376265" cy="594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269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UNK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UNK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517818"/>
              </p:ext>
            </p:extLst>
          </p:nvPr>
        </p:nvGraphicFramePr>
        <p:xfrm>
          <a:off x="1277541" y="5157192"/>
          <a:ext cx="2376265" cy="594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269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B10201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B10202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013251"/>
              </p:ext>
            </p:extLst>
          </p:nvPr>
        </p:nvGraphicFramePr>
        <p:xfrm>
          <a:off x="4013844" y="5157192"/>
          <a:ext cx="5256585" cy="1233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B10201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B10202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21349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18717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958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cxnSp>
        <p:nvCxnSpPr>
          <p:cNvPr id="7" name="직선 화살표 연결선 6"/>
          <p:cNvCxnSpPr>
            <a:stCxn id="42" idx="2"/>
            <a:endCxn id="43" idx="0"/>
          </p:cNvCxnSpPr>
          <p:nvPr/>
        </p:nvCxnSpPr>
        <p:spPr>
          <a:xfrm>
            <a:off x="738600" y="1196752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43" idx="2"/>
            <a:endCxn id="44" idx="0"/>
          </p:cNvCxnSpPr>
          <p:nvPr/>
        </p:nvCxnSpPr>
        <p:spPr>
          <a:xfrm>
            <a:off x="738600" y="1988840"/>
            <a:ext cx="0" cy="350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44" idx="2"/>
            <a:endCxn id="45" idx="0"/>
          </p:cNvCxnSpPr>
          <p:nvPr/>
        </p:nvCxnSpPr>
        <p:spPr>
          <a:xfrm>
            <a:off x="738600" y="2555478"/>
            <a:ext cx="0" cy="1161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45" idx="2"/>
            <a:endCxn id="46" idx="0"/>
          </p:cNvCxnSpPr>
          <p:nvPr/>
        </p:nvCxnSpPr>
        <p:spPr>
          <a:xfrm>
            <a:off x="738600" y="3933056"/>
            <a:ext cx="0" cy="12241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011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ko-KR" altLang="en-US" dirty="0">
                <a:latin typeface="+mn-ea"/>
                <a:ea typeface="+mn-ea"/>
              </a:rPr>
              <a:t>출고관리</a:t>
            </a:r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06658"/>
              </p:ext>
            </p:extLst>
          </p:nvPr>
        </p:nvGraphicFramePr>
        <p:xfrm>
          <a:off x="4013844" y="908720"/>
          <a:ext cx="5256585" cy="639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378600" y="908720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출고예정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378600" y="1988840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출고승인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78600" y="2708920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출고</a:t>
            </a:r>
            <a:r>
              <a:rPr lang="en-US" altLang="ko-KR" sz="800" dirty="0">
                <a:solidFill>
                  <a:schemeClr val="tx1"/>
                </a:solidFill>
              </a:rPr>
              <a:t>WAVE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78600" y="3501008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출고지시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78600" y="4653136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출고피킹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78600" y="5373216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출하상차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78600" y="5805264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출하확정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086147"/>
              </p:ext>
            </p:extLst>
          </p:nvPr>
        </p:nvGraphicFramePr>
        <p:xfrm>
          <a:off x="1258552" y="908720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504185"/>
              </p:ext>
            </p:extLst>
          </p:nvPr>
        </p:nvGraphicFramePr>
        <p:xfrm>
          <a:off x="4013844" y="1988840"/>
          <a:ext cx="5256585" cy="639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420823"/>
              </p:ext>
            </p:extLst>
          </p:nvPr>
        </p:nvGraphicFramePr>
        <p:xfrm>
          <a:off x="1260115" y="2420888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WAVE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cxnSp>
        <p:nvCxnSpPr>
          <p:cNvPr id="27" name="직선 화살표 연결선 26"/>
          <p:cNvCxnSpPr>
            <a:stCxn id="17" idx="2"/>
            <a:endCxn id="18" idx="0"/>
          </p:cNvCxnSpPr>
          <p:nvPr/>
        </p:nvCxnSpPr>
        <p:spPr>
          <a:xfrm>
            <a:off x="738600" y="1124744"/>
            <a:ext cx="0" cy="864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01428"/>
              </p:ext>
            </p:extLst>
          </p:nvPr>
        </p:nvGraphicFramePr>
        <p:xfrm>
          <a:off x="4013844" y="3501008"/>
          <a:ext cx="5256585" cy="1035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1492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9988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234113"/>
                  </a:ext>
                </a:extLst>
              </a:tr>
            </a:tbl>
          </a:graphicData>
        </a:graphic>
      </p:graphicFrame>
      <p:cxnSp>
        <p:nvCxnSpPr>
          <p:cNvPr id="32" name="직선 화살표 연결선 31"/>
          <p:cNvCxnSpPr>
            <a:stCxn id="18" idx="2"/>
            <a:endCxn id="19" idx="0"/>
          </p:cNvCxnSpPr>
          <p:nvPr/>
        </p:nvCxnSpPr>
        <p:spPr>
          <a:xfrm>
            <a:off x="738600" y="2204864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19" idx="2"/>
            <a:endCxn id="20" idx="0"/>
          </p:cNvCxnSpPr>
          <p:nvPr/>
        </p:nvCxnSpPr>
        <p:spPr>
          <a:xfrm>
            <a:off x="738600" y="2924944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39031"/>
              </p:ext>
            </p:extLst>
          </p:nvPr>
        </p:nvGraphicFramePr>
        <p:xfrm>
          <a:off x="4013844" y="4653136"/>
          <a:ext cx="5256585" cy="1035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1492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234113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18750"/>
              </p:ext>
            </p:extLst>
          </p:nvPr>
        </p:nvGraphicFramePr>
        <p:xfrm>
          <a:off x="4013844" y="5805264"/>
          <a:ext cx="5256585" cy="639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234113"/>
                  </a:ext>
                </a:extLst>
              </a:tr>
            </a:tbl>
          </a:graphicData>
        </a:graphic>
      </p:graphicFrame>
      <p:cxnSp>
        <p:nvCxnSpPr>
          <p:cNvPr id="40" name="직선 화살표 연결선 39"/>
          <p:cNvCxnSpPr>
            <a:stCxn id="20" idx="2"/>
            <a:endCxn id="21" idx="0"/>
          </p:cNvCxnSpPr>
          <p:nvPr/>
        </p:nvCxnSpPr>
        <p:spPr>
          <a:xfrm>
            <a:off x="738600" y="3717032"/>
            <a:ext cx="0" cy="9361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21" idx="2"/>
            <a:endCxn id="22" idx="0"/>
          </p:cNvCxnSpPr>
          <p:nvPr/>
        </p:nvCxnSpPr>
        <p:spPr>
          <a:xfrm>
            <a:off x="738600" y="4869160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22" idx="2"/>
            <a:endCxn id="23" idx="0"/>
          </p:cNvCxnSpPr>
          <p:nvPr/>
        </p:nvCxnSpPr>
        <p:spPr>
          <a:xfrm>
            <a:off x="738600" y="5589240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39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5. WAVE</a:t>
            </a:r>
            <a:r>
              <a:rPr lang="ko-KR" altLang="en-US" dirty="0">
                <a:latin typeface="+mn-ea"/>
                <a:ea typeface="+mn-ea"/>
              </a:rPr>
              <a:t>기준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662993"/>
              </p:ext>
            </p:extLst>
          </p:nvPr>
        </p:nvGraphicFramePr>
        <p:xfrm>
          <a:off x="3512840" y="824044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497450"/>
              </p:ext>
            </p:extLst>
          </p:nvPr>
        </p:nvGraphicFramePr>
        <p:xfrm>
          <a:off x="1258552" y="2456926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776536" y="1979839"/>
            <a:ext cx="2808312" cy="29703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고객사</a:t>
            </a:r>
            <a:r>
              <a:rPr lang="en-US" altLang="ko-KR" sz="1200" dirty="0">
                <a:solidFill>
                  <a:schemeClr val="tx1"/>
                </a:solidFill>
              </a:rPr>
              <a:t>+</a:t>
            </a:r>
            <a:r>
              <a:rPr lang="ko-KR" altLang="en-US" sz="1200" dirty="0">
                <a:solidFill>
                  <a:schemeClr val="tx1"/>
                </a:solidFill>
              </a:rPr>
              <a:t>차량</a:t>
            </a: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32109"/>
              </p:ext>
            </p:extLst>
          </p:nvPr>
        </p:nvGraphicFramePr>
        <p:xfrm>
          <a:off x="5795056" y="2456926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sp>
        <p:nvSpPr>
          <p:cNvPr id="33" name="직사각형 32"/>
          <p:cNvSpPr/>
          <p:nvPr/>
        </p:nvSpPr>
        <p:spPr>
          <a:xfrm>
            <a:off x="5313040" y="1979839"/>
            <a:ext cx="2808312" cy="29703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고객사</a:t>
            </a:r>
            <a:r>
              <a:rPr lang="en-US" altLang="ko-KR" sz="1200" dirty="0">
                <a:solidFill>
                  <a:schemeClr val="tx1"/>
                </a:solidFill>
              </a:rPr>
              <a:t>+</a:t>
            </a:r>
            <a:r>
              <a:rPr lang="ko-KR" altLang="en-US" sz="1200" dirty="0" err="1">
                <a:solidFill>
                  <a:schemeClr val="tx1"/>
                </a:solidFill>
              </a:rPr>
              <a:t>배송차수</a:t>
            </a:r>
            <a:r>
              <a:rPr lang="en-US" altLang="ko-KR" sz="1200" dirty="0">
                <a:solidFill>
                  <a:schemeClr val="tx1"/>
                </a:solidFill>
              </a:rPr>
              <a:t>+</a:t>
            </a:r>
            <a:r>
              <a:rPr lang="ko-KR" altLang="en-US" sz="1200" dirty="0">
                <a:solidFill>
                  <a:schemeClr val="tx1"/>
                </a:solidFill>
              </a:rPr>
              <a:t>차량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701442"/>
              </p:ext>
            </p:extLst>
          </p:nvPr>
        </p:nvGraphicFramePr>
        <p:xfrm>
          <a:off x="1258552" y="4527122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sp>
        <p:nvSpPr>
          <p:cNvPr id="36" name="직사각형 35"/>
          <p:cNvSpPr/>
          <p:nvPr/>
        </p:nvSpPr>
        <p:spPr>
          <a:xfrm>
            <a:off x="776536" y="4014065"/>
            <a:ext cx="2808312" cy="29703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고객사</a:t>
            </a:r>
            <a:r>
              <a:rPr lang="en-US" altLang="ko-KR" sz="1200" dirty="0">
                <a:solidFill>
                  <a:schemeClr val="tx1"/>
                </a:solidFill>
              </a:rPr>
              <a:t>+</a:t>
            </a:r>
            <a:r>
              <a:rPr lang="ko-KR" altLang="en-US" sz="1200" dirty="0">
                <a:solidFill>
                  <a:schemeClr val="tx1"/>
                </a:solidFill>
              </a:rPr>
              <a:t>출고번호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92300"/>
              </p:ext>
            </p:extLst>
          </p:nvPr>
        </p:nvGraphicFramePr>
        <p:xfrm>
          <a:off x="5795056" y="4527122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5313040" y="4014065"/>
            <a:ext cx="2808312" cy="29703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고객사</a:t>
            </a:r>
          </a:p>
        </p:txBody>
      </p:sp>
    </p:spTree>
    <p:extLst>
      <p:ext uri="{BB962C8B-B14F-4D97-AF65-F5344CB8AC3E}">
        <p14:creationId xmlns:p14="http://schemas.microsoft.com/office/powerpoint/2010/main" val="76597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20528</TotalTime>
  <Words>756</Words>
  <Application>Microsoft Office PowerPoint</Application>
  <PresentationFormat>A4 용지(210x297mm)</PresentationFormat>
  <Paragraphs>639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HY헤드라인M</vt:lpstr>
      <vt:lpstr>가는각진제목체</vt:lpstr>
      <vt:lpstr>굴림</vt:lpstr>
      <vt:lpstr>Arial</vt:lpstr>
      <vt:lpstr>Optima</vt:lpstr>
      <vt:lpstr>Calibri</vt:lpstr>
      <vt:lpstr>Impact</vt:lpstr>
      <vt:lpstr>맑은 고딕</vt:lpstr>
      <vt:lpstr>Office 테마</vt:lpstr>
      <vt:lpstr>                     시연 시나리오</vt:lpstr>
      <vt:lpstr>PowerPoint 프레젠테이션</vt:lpstr>
      <vt:lpstr>1. 운영규칙 설정</vt:lpstr>
      <vt:lpstr>2. 운영전략 설정</vt:lpstr>
      <vt:lpstr>3. 입고관리</vt:lpstr>
      <vt:lpstr>4. 출고관리</vt:lpstr>
      <vt:lpstr>5. WAVE기준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jklee</cp:lastModifiedBy>
  <cp:revision>974</cp:revision>
  <cp:lastPrinted>2016-12-05T01:09:52Z</cp:lastPrinted>
  <dcterms:created xsi:type="dcterms:W3CDTF">2012-09-18T14:42:59Z</dcterms:created>
  <dcterms:modified xsi:type="dcterms:W3CDTF">2017-06-02T08:04:36Z</dcterms:modified>
</cp:coreProperties>
</file>