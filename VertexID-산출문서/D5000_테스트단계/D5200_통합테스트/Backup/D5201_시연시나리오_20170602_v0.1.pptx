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embedTrueTypeFonts="1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6" r:id="rId2"/>
    <p:sldId id="539" r:id="rId3"/>
    <p:sldId id="540" r:id="rId4"/>
  </p:sldIdLst>
  <p:sldSz cx="9906000" cy="6858000" type="A4"/>
  <p:notesSz cx="6735763" cy="9866313"/>
  <p:embeddedFontLst>
    <p:embeddedFont>
      <p:font typeface="HY헤드라인M" panose="02030600000101010101" pitchFamily="18" charset="-127"/>
      <p:regular r:id="rId7"/>
    </p:embeddedFont>
    <p:embeddedFont>
      <p:font typeface="Impact" panose="020B0806030902050204" pitchFamily="34" charset="0"/>
      <p:regular r:id="rId8"/>
    </p:embeddedFon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맑은 고딕" panose="020B0503020000020004" pitchFamily="50" charset="-127"/>
      <p:regular r:id="rId13"/>
      <p:bold r:id="rId14"/>
    </p:embeddedFont>
  </p:embeddedFont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10">
          <p15:clr>
            <a:srgbClr val="A4A3A4"/>
          </p15:clr>
        </p15:guide>
        <p15:guide id="2" orient="horz" pos="799">
          <p15:clr>
            <a:srgbClr val="A4A3A4"/>
          </p15:clr>
        </p15:guide>
        <p15:guide id="3" orient="horz" pos="935">
          <p15:clr>
            <a:srgbClr val="A4A3A4"/>
          </p15:clr>
        </p15:guide>
        <p15:guide id="4" orient="horz" pos="2840">
          <p15:clr>
            <a:srgbClr val="A4A3A4"/>
          </p15:clr>
        </p15:guide>
        <p15:guide id="5" orient="horz" pos="4020">
          <p15:clr>
            <a:srgbClr val="A4A3A4"/>
          </p15:clr>
        </p15:guide>
        <p15:guide id="6" orient="horz" pos="1071">
          <p15:clr>
            <a:srgbClr val="A4A3A4"/>
          </p15:clr>
        </p15:guide>
        <p15:guide id="7" pos="398">
          <p15:clr>
            <a:srgbClr val="A4A3A4"/>
          </p15:clr>
        </p15:guide>
        <p15:guide id="8" pos="584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8">
          <p15:clr>
            <a:srgbClr val="A4A3A4"/>
          </p15:clr>
        </p15:guide>
        <p15:guide id="2" pos="212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2B637F"/>
    <a:srgbClr val="99CCFF"/>
    <a:srgbClr val="FFC5D8"/>
    <a:srgbClr val="FFCC00"/>
    <a:srgbClr val="2D6AAB"/>
    <a:srgbClr val="609DC6"/>
    <a:srgbClr val="FF9966"/>
    <a:srgbClr val="2467D9"/>
    <a:srgbClr val="71B4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0" autoAdjust="0"/>
    <p:restoredTop sz="91889" autoAdjust="0"/>
  </p:normalViewPr>
  <p:slideViewPr>
    <p:cSldViewPr showGuides="1">
      <p:cViewPr varScale="1">
        <p:scale>
          <a:sx n="101" d="100"/>
          <a:sy n="101" d="100"/>
        </p:scale>
        <p:origin x="1620" y="114"/>
      </p:cViewPr>
      <p:guideLst>
        <p:guide orient="horz" pos="4110"/>
        <p:guide orient="horz" pos="799"/>
        <p:guide orient="horz" pos="935"/>
        <p:guide orient="horz" pos="2840"/>
        <p:guide orient="horz" pos="4020"/>
        <p:guide orient="horz" pos="1071"/>
        <p:guide pos="398"/>
        <p:guide pos="584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-564"/>
    </p:cViewPr>
  </p:sorterViewPr>
  <p:notesViewPr>
    <p:cSldViewPr showGuides="1">
      <p:cViewPr varScale="1">
        <p:scale>
          <a:sx n="60" d="100"/>
          <a:sy n="60" d="100"/>
        </p:scale>
        <p:origin x="-1992" y="-72"/>
      </p:cViewPr>
      <p:guideLst>
        <p:guide orient="horz" pos="3108"/>
        <p:guide pos="212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font" Target="fonts/font5.fntdata"/><Relationship Id="rId5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14763" y="0"/>
            <a:ext cx="2919412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6B5C5B8F-D462-4368-8461-2A60FAE35D92}" type="datetimeFigureOut">
              <a:rPr lang="ko-KR" altLang="en-US"/>
              <a:pPr>
                <a:defRPr/>
              </a:pPr>
              <a:t>2017-06-02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371013"/>
            <a:ext cx="2919413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14763" y="9371013"/>
            <a:ext cx="2919412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FE4ED75-30A7-42E0-9F19-2CC082FBE22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39684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4763" y="0"/>
            <a:ext cx="2919412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B3711D15-A793-43C2-95F3-0EE608434B71}" type="datetimeFigureOut">
              <a:rPr lang="ko-KR" altLang="en-US"/>
              <a:pPr>
                <a:defRPr/>
              </a:pPr>
              <a:t>2017-06-02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95325" y="739775"/>
            <a:ext cx="534511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100" y="4686300"/>
            <a:ext cx="5389563" cy="44402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71013"/>
            <a:ext cx="2919413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4763" y="9371013"/>
            <a:ext cx="2919412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9D87132A-BE77-42D3-A4C4-E7B6344462E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133093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5530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8EE4EEF5-12D8-4B51-B12E-A7B6C31AC94E}" type="slidenum">
              <a:rPr lang="ko-KR" altLang="en-US" smtClean="0"/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125409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D87132A-BE77-42D3-A4C4-E7B6344462E3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42602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D87132A-BE77-42D3-A4C4-E7B6344462E3}" type="slidenum">
              <a:rPr lang="ko-KR" altLang="en-US" smtClean="0"/>
              <a:pPr>
                <a:defRPr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90291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C:\Users\msk\Desktop\abstract-blue-backgrounds-24_1920x1200_71465.jpg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t="32440"/>
          <a:stretch>
            <a:fillRect/>
          </a:stretch>
        </p:blipFill>
        <p:spPr bwMode="auto">
          <a:xfrm rot="10800000">
            <a:off x="0" y="-4143"/>
            <a:ext cx="9906000" cy="3861048"/>
          </a:xfrm>
          <a:prstGeom prst="rect">
            <a:avLst/>
          </a:prstGeom>
          <a:noFill/>
        </p:spPr>
      </p:pic>
      <p:cxnSp>
        <p:nvCxnSpPr>
          <p:cNvPr id="5" name="직선 연결선 4"/>
          <p:cNvCxnSpPr/>
          <p:nvPr userDrawn="1"/>
        </p:nvCxnSpPr>
        <p:spPr>
          <a:xfrm>
            <a:off x="1052513" y="4929188"/>
            <a:ext cx="0" cy="719137"/>
          </a:xfrm>
          <a:prstGeom prst="line">
            <a:avLst/>
          </a:prstGeom>
          <a:ln w="76200">
            <a:solidFill>
              <a:schemeClr val="accent1">
                <a:alpha val="58039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/>
          <p:cNvPicPr>
            <a:picLocks noChangeAspect="1"/>
          </p:cNvPicPr>
          <p:nvPr userDrawn="1"/>
        </p:nvPicPr>
        <p:blipFill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1387" y="5949280"/>
            <a:ext cx="1415407" cy="340525"/>
          </a:xfrm>
          <a:prstGeom prst="rect">
            <a:avLst/>
          </a:prstGeom>
        </p:spPr>
      </p:pic>
      <p:sp>
        <p:nvSpPr>
          <p:cNvPr id="7" name="제목 1"/>
          <p:cNvSpPr>
            <a:spLocks noGrp="1"/>
          </p:cNvSpPr>
          <p:nvPr>
            <p:ph type="ctrTitle"/>
          </p:nvPr>
        </p:nvSpPr>
        <p:spPr>
          <a:xfrm>
            <a:off x="1208584" y="4797153"/>
            <a:ext cx="8697416" cy="578495"/>
          </a:xfrm>
        </p:spPr>
        <p:txBody>
          <a:bodyPr>
            <a:noAutofit/>
          </a:bodyPr>
          <a:lstStyle>
            <a:lvl1pPr algn="l">
              <a:defRPr lang="ko-KR" altLang="en-US" sz="3200" b="0" kern="1200" dirty="0">
                <a:gradFill flip="none" rotWithShape="1"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6200000" scaled="1"/>
                  <a:tileRect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8" name="부제목 2"/>
          <p:cNvSpPr>
            <a:spLocks noGrp="1"/>
          </p:cNvSpPr>
          <p:nvPr>
            <p:ph type="subTitle" idx="1"/>
          </p:nvPr>
        </p:nvSpPr>
        <p:spPr>
          <a:xfrm>
            <a:off x="1208317" y="5396456"/>
            <a:ext cx="8691464" cy="360040"/>
          </a:xfrm>
        </p:spPr>
        <p:txBody>
          <a:bodyPr>
            <a:noAutofit/>
          </a:bodyPr>
          <a:lstStyle>
            <a:lvl1pPr marL="0" indent="0" algn="l">
              <a:buNone/>
              <a:defRPr sz="1400" b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631339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 descr="C:\Users\msk\Desktop\abstract-blue-backgrounds-14_1920x1200_71472.jpg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751" b="22360"/>
          <a:stretch>
            <a:fillRect/>
          </a:stretch>
        </p:blipFill>
        <p:spPr bwMode="auto">
          <a:xfrm>
            <a:off x="272481" y="0"/>
            <a:ext cx="9633521" cy="4437112"/>
          </a:xfrm>
          <a:prstGeom prst="rect">
            <a:avLst/>
          </a:prstGeom>
          <a:noFill/>
        </p:spPr>
      </p:pic>
      <p:pic>
        <p:nvPicPr>
          <p:cNvPr id="3" name="그림 2"/>
          <p:cNvPicPr>
            <a:picLocks noChangeAspect="1"/>
          </p:cNvPicPr>
          <p:nvPr userDrawn="1"/>
        </p:nvPicPr>
        <p:blipFill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2920" y="5949280"/>
            <a:ext cx="1415407" cy="34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147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C:\Users\msk\Desktop\abstract-blue-backgrounds-24_1920x1200_71465.jpg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43700" t="32440"/>
          <a:stretch>
            <a:fillRect/>
          </a:stretch>
        </p:blipFill>
        <p:spPr bwMode="auto">
          <a:xfrm rot="10800000">
            <a:off x="0" y="0"/>
            <a:ext cx="9906000" cy="6858000"/>
          </a:xfrm>
          <a:prstGeom prst="rect">
            <a:avLst/>
          </a:prstGeom>
          <a:noFill/>
        </p:spPr>
      </p:pic>
      <p:pic>
        <p:nvPicPr>
          <p:cNvPr id="4" name="그림 3"/>
          <p:cNvPicPr>
            <a:picLocks noChangeAspect="1"/>
          </p:cNvPicPr>
          <p:nvPr userDrawn="1"/>
        </p:nvPicPr>
        <p:blipFill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2920" y="5949280"/>
            <a:ext cx="1415407" cy="340525"/>
          </a:xfrm>
          <a:prstGeom prst="rect">
            <a:avLst/>
          </a:prstGeom>
        </p:spPr>
      </p:pic>
      <p:sp>
        <p:nvSpPr>
          <p:cNvPr id="15" name="제목 1"/>
          <p:cNvSpPr>
            <a:spLocks noGrp="1"/>
          </p:cNvSpPr>
          <p:nvPr>
            <p:ph type="ctrTitle"/>
          </p:nvPr>
        </p:nvSpPr>
        <p:spPr>
          <a:xfrm>
            <a:off x="1" y="2636912"/>
            <a:ext cx="9906000" cy="1584176"/>
          </a:xfrm>
          <a:solidFill>
            <a:srgbClr val="0070C0">
              <a:alpha val="30196"/>
            </a:srgbClr>
          </a:solidFill>
        </p:spPr>
        <p:txBody>
          <a:bodyPr wrap="none">
            <a:noAutofit/>
          </a:bodyPr>
          <a:lstStyle>
            <a:lvl1pPr algn="r">
              <a:defRPr lang="ko-KR" altLang="en-US" sz="4000" b="1" kern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456021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01" descr="2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906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직선 연결선 3"/>
          <p:cNvCxnSpPr/>
          <p:nvPr userDrawn="1"/>
        </p:nvCxnSpPr>
        <p:spPr>
          <a:xfrm>
            <a:off x="128536" y="728663"/>
            <a:ext cx="9648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/>
          <p:cNvCxnSpPr/>
          <p:nvPr userDrawn="1"/>
        </p:nvCxnSpPr>
        <p:spPr>
          <a:xfrm>
            <a:off x="631825" y="6480175"/>
            <a:ext cx="79883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/>
          <p:cNvPicPr>
            <a:picLocks noChangeAspect="1"/>
          </p:cNvPicPr>
          <p:nvPr userDrawn="1"/>
        </p:nvPicPr>
        <p:blipFill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7825" y="6500698"/>
            <a:ext cx="816894" cy="196532"/>
          </a:xfrm>
          <a:prstGeom prst="rect">
            <a:avLst/>
          </a:prstGeom>
        </p:spPr>
      </p:pic>
      <p:sp>
        <p:nvSpPr>
          <p:cNvPr id="9" name="제목 8"/>
          <p:cNvSpPr>
            <a:spLocks noGrp="1"/>
          </p:cNvSpPr>
          <p:nvPr>
            <p:ph type="title"/>
          </p:nvPr>
        </p:nvSpPr>
        <p:spPr>
          <a:xfrm>
            <a:off x="990600" y="260648"/>
            <a:ext cx="8915400" cy="413196"/>
          </a:xfrm>
        </p:spPr>
        <p:txBody>
          <a:bodyPr>
            <a:noAutofit/>
          </a:bodyPr>
          <a:lstStyle>
            <a:lvl1pPr algn="r">
              <a:defRPr lang="ko-KR" altLang="en-US" sz="2000" b="1" kern="1200" dirty="0">
                <a:gradFill flip="none" rotWithShape="1"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6200000" scaled="1"/>
                  <a:tileRect/>
                </a:gradFill>
                <a:latin typeface="맑은 고딕" pitchFamily="50" charset="-127"/>
                <a:ea typeface="맑은 고딕" pitchFamily="50" charset="-127"/>
                <a:cs typeface="맑은 고딕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2" name="TextBox 1"/>
          <p:cNvSpPr txBox="1"/>
          <p:nvPr userDrawn="1"/>
        </p:nvSpPr>
        <p:spPr>
          <a:xfrm>
            <a:off x="4304928" y="6500698"/>
            <a:ext cx="18722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fld id="{FEF0503B-FA2D-4260-AC18-6FC3139BAA53}" type="slidenum">
              <a:rPr lang="en-US" altLang="ko-KR" sz="100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-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46877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 descr="C:\Users\msk\Desktop\abstract-blue-backgrounds-14_1920x1200_71472.jpg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751" b="22360"/>
          <a:stretch>
            <a:fillRect/>
          </a:stretch>
        </p:blipFill>
        <p:spPr bwMode="auto">
          <a:xfrm rot="16200000">
            <a:off x="-1077200" y="1077201"/>
            <a:ext cx="4689131" cy="2534731"/>
          </a:xfrm>
          <a:prstGeom prst="rect">
            <a:avLst/>
          </a:prstGeom>
          <a:noFill/>
        </p:spPr>
      </p:pic>
      <p:pic>
        <p:nvPicPr>
          <p:cNvPr id="3" name="그림 2"/>
          <p:cNvPicPr>
            <a:picLocks noChangeAspect="1"/>
          </p:cNvPicPr>
          <p:nvPr userDrawn="1"/>
        </p:nvPicPr>
        <p:blipFill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911" y="5949280"/>
            <a:ext cx="1415407" cy="340525"/>
          </a:xfrm>
          <a:prstGeom prst="rect">
            <a:avLst/>
          </a:prstGeom>
        </p:spPr>
      </p:pic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254375" y="2667000"/>
            <a:ext cx="3965575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r>
              <a:rPr lang="en-US" altLang="ko-KR" sz="6000" b="1">
                <a:solidFill>
                  <a:srgbClr val="595959"/>
                </a:solidFill>
                <a:latin typeface="Impact" pitchFamily="34" charset="0"/>
                <a:ea typeface="맑은 고딕" pitchFamily="50" charset="-127"/>
              </a:rPr>
              <a:t>Thank </a:t>
            </a:r>
          </a:p>
          <a:p>
            <a:pPr algn="ctr" eaLnBrk="1" hangingPunct="1">
              <a:defRPr/>
            </a:pPr>
            <a:r>
              <a:rPr lang="en-US" altLang="ko-KR" sz="6000" b="1">
                <a:solidFill>
                  <a:srgbClr val="595959"/>
                </a:solidFill>
                <a:latin typeface="Impact" pitchFamily="34" charset="0"/>
                <a:ea typeface="맑은 고딕" pitchFamily="50" charset="-127"/>
              </a:rPr>
              <a:t>You</a:t>
            </a:r>
            <a:endParaRPr lang="en-IN" altLang="ko-KR" sz="6000" b="1">
              <a:solidFill>
                <a:srgbClr val="595959"/>
              </a:solidFill>
              <a:latin typeface="Impact" pitchFamily="34" charset="0"/>
              <a:ea typeface="맑은 고딕" pitchFamily="50" charset="-127"/>
            </a:endParaRP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498725" y="914400"/>
            <a:ext cx="2043113" cy="5029200"/>
            <a:chOff x="2211857" y="838200"/>
            <a:chExt cx="2043338" cy="5029200"/>
          </a:xfrm>
        </p:grpSpPr>
        <p:sp>
          <p:nvSpPr>
            <p:cNvPr id="6" name="Rectangle 3"/>
            <p:cNvSpPr/>
            <p:nvPr/>
          </p:nvSpPr>
          <p:spPr>
            <a:xfrm rot="5400000">
              <a:off x="1779068" y="2553073"/>
              <a:ext cx="3124198" cy="1828056"/>
            </a:xfrm>
            <a:prstGeom prst="rect">
              <a:avLst/>
            </a:prstGeom>
            <a:solidFill>
              <a:sysClr val="windowText" lastClr="000000"/>
            </a:solidFill>
            <a:ln w="25400" cap="flat" cmpd="sng" algn="ctr">
              <a:noFill/>
              <a:prstDash val="solid"/>
            </a:ln>
            <a:effectLst>
              <a:softEdge rad="317500"/>
            </a:effectLst>
          </p:spPr>
          <p:txBody>
            <a:bodyPr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en-IN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맑은 고딕" panose="020B0503020000020004" pitchFamily="50" charset="-127"/>
              </a:endParaRPr>
            </a:p>
          </p:txBody>
        </p:sp>
        <p:sp>
          <p:nvSpPr>
            <p:cNvPr id="7" name="Rectangle 4"/>
            <p:cNvSpPr>
              <a:spLocks noChangeArrowheads="1"/>
            </p:cNvSpPr>
            <p:nvPr/>
          </p:nvSpPr>
          <p:spPr bwMode="auto">
            <a:xfrm rot="5400000">
              <a:off x="610965" y="2439092"/>
              <a:ext cx="5029200" cy="182741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9pPr>
            </a:lstStyle>
            <a:p>
              <a:pPr algn="ctr" eaLnBrk="1" latinLnBrk="0" hangingPunct="1">
                <a:defRPr/>
              </a:pPr>
              <a:endParaRPr kumimoji="0" lang="en-IN" altLang="ko-KR">
                <a:solidFill>
                  <a:srgbClr val="595959"/>
                </a:solidFill>
                <a:latin typeface="Calibri" pitchFamily="34" charset="0"/>
                <a:ea typeface="맑은 고딕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89692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/>
          <p:cNvCxnSpPr/>
          <p:nvPr userDrawn="1"/>
        </p:nvCxnSpPr>
        <p:spPr>
          <a:xfrm>
            <a:off x="631825" y="6480175"/>
            <a:ext cx="79883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7825" y="6500698"/>
            <a:ext cx="816894" cy="196532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4304928" y="6500698"/>
            <a:ext cx="18722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fld id="{FEF0503B-FA2D-4260-AC18-6FC3139BAA53}" type="slidenum">
              <a:rPr lang="en-US" altLang="ko-KR" sz="100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-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128536" y="728663"/>
            <a:ext cx="9648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제목 8"/>
          <p:cNvSpPr>
            <a:spLocks noGrp="1"/>
          </p:cNvSpPr>
          <p:nvPr>
            <p:ph type="title"/>
          </p:nvPr>
        </p:nvSpPr>
        <p:spPr>
          <a:xfrm>
            <a:off x="990600" y="260648"/>
            <a:ext cx="8915400" cy="413196"/>
          </a:xfrm>
        </p:spPr>
        <p:txBody>
          <a:bodyPr>
            <a:noAutofit/>
          </a:bodyPr>
          <a:lstStyle>
            <a:lvl1pPr algn="r">
              <a:defRPr lang="ko-KR" altLang="en-US" sz="2000" b="1" kern="1200" dirty="0">
                <a:gradFill flip="none" rotWithShape="1"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6200000" scaled="1"/>
                  <a:tileRect/>
                </a:gradFill>
                <a:latin typeface="맑은 고딕" pitchFamily="50" charset="-127"/>
                <a:ea typeface="맑은 고딕" pitchFamily="50" charset="-127"/>
                <a:cs typeface="맑은 고딕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35815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C:\Users\msk\Desktop\abstract-blue-backgrounds-14_1920x1200_71472.jpg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751" b="22360"/>
          <a:stretch>
            <a:fillRect/>
          </a:stretch>
        </p:blipFill>
        <p:spPr bwMode="auto">
          <a:xfrm flipH="1">
            <a:off x="0" y="1"/>
            <a:ext cx="2768757" cy="1291233"/>
          </a:xfrm>
          <a:prstGeom prst="rect">
            <a:avLst/>
          </a:prstGeom>
          <a:noFill/>
        </p:spPr>
      </p:pic>
      <p:cxnSp>
        <p:nvCxnSpPr>
          <p:cNvPr id="4" name="직선 연결선 3"/>
          <p:cNvCxnSpPr/>
          <p:nvPr userDrawn="1"/>
        </p:nvCxnSpPr>
        <p:spPr>
          <a:xfrm>
            <a:off x="1365250" y="728663"/>
            <a:ext cx="8424863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/>
          <p:cNvCxnSpPr/>
          <p:nvPr userDrawn="1"/>
        </p:nvCxnSpPr>
        <p:spPr>
          <a:xfrm>
            <a:off x="631825" y="6480175"/>
            <a:ext cx="79883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/>
          <p:cNvPicPr>
            <a:picLocks noChangeAspect="1"/>
          </p:cNvPicPr>
          <p:nvPr userDrawn="1"/>
        </p:nvPicPr>
        <p:blipFill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7825" y="6500698"/>
            <a:ext cx="816894" cy="196532"/>
          </a:xfrm>
          <a:prstGeom prst="rect">
            <a:avLst/>
          </a:prstGeom>
        </p:spPr>
      </p:pic>
      <p:sp>
        <p:nvSpPr>
          <p:cNvPr id="9" name="제목 8"/>
          <p:cNvSpPr>
            <a:spLocks noGrp="1"/>
          </p:cNvSpPr>
          <p:nvPr>
            <p:ph type="title"/>
          </p:nvPr>
        </p:nvSpPr>
        <p:spPr>
          <a:xfrm>
            <a:off x="990600" y="260648"/>
            <a:ext cx="8915400" cy="413196"/>
          </a:xfrm>
        </p:spPr>
        <p:txBody>
          <a:bodyPr>
            <a:noAutofit/>
          </a:bodyPr>
          <a:lstStyle>
            <a:lvl1pPr algn="r">
              <a:defRPr lang="ko-KR" altLang="en-US" sz="2000" b="1" kern="1200" dirty="0">
                <a:gradFill flip="none" rotWithShape="1"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6200000" scaled="1"/>
                  <a:tileRect/>
                </a:gradFill>
                <a:latin typeface="HY헤드라인M" pitchFamily="18" charset="-127"/>
                <a:ea typeface="HY헤드라인M" pitchFamily="18" charset="-127"/>
                <a:cs typeface="HY헤드라인M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3797300" y="6356350"/>
            <a:ext cx="2311400" cy="36512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1D2EE030-A7DE-4C17-93AC-52097598BAF1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46157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1513930C-376A-4F5D-8FE2-8A220761C921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13" r:id="rId6"/>
    <p:sldLayoutId id="2147483724" r:id="rId7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20"/>
          <p:cNvSpPr>
            <a:spLocks noGrp="1"/>
          </p:cNvSpPr>
          <p:nvPr>
            <p:ph type="ctrTitle"/>
          </p:nvPr>
        </p:nvSpPr>
        <p:spPr>
          <a:extLst/>
        </p:spPr>
        <p:txBody>
          <a:bodyPr/>
          <a:lstStyle/>
          <a:p>
            <a:pPr eaLnBrk="1" hangingPunct="1">
              <a:defRPr/>
            </a:pPr>
            <a:r>
              <a:rPr lang="ko-KR" altLang="en-US" sz="2400" b="1" dirty="0">
                <a:solidFill>
                  <a:srgbClr val="002060"/>
                </a:solidFill>
                <a:latin typeface="+mn-ea"/>
              </a:rPr>
              <a:t>                     시연 시나리오</a:t>
            </a:r>
            <a:endParaRPr sz="1400" b="1" dirty="0">
              <a:latin typeface="+mn-ea"/>
              <a:ea typeface="+mn-ea"/>
            </a:endParaRPr>
          </a:p>
        </p:txBody>
      </p:sp>
      <p:sp>
        <p:nvSpPr>
          <p:cNvPr id="7" name="부제목 1"/>
          <p:cNvSpPr>
            <a:spLocks noGrp="1"/>
          </p:cNvSpPr>
          <p:nvPr>
            <p:ph type="subTitle" idx="1"/>
          </p:nvPr>
        </p:nvSpPr>
        <p:spPr>
          <a:xfrm>
            <a:off x="1208088" y="5395913"/>
            <a:ext cx="8691562" cy="360362"/>
          </a:xfrm>
        </p:spPr>
        <p:txBody>
          <a:bodyPr rtlCol="0">
            <a:normAutofit/>
          </a:bodyPr>
          <a:lstStyle/>
          <a:p>
            <a:pPr eaLnBrk="1" hangingPunct="1">
              <a:defRPr/>
            </a:pPr>
            <a:r>
              <a:rPr lang="en-US" altLang="ko-KR" b="1" dirty="0">
                <a:latin typeface="+mn-ea"/>
                <a:ea typeface="+mn-ea"/>
              </a:rPr>
              <a:t>2017. 06. 02</a:t>
            </a:r>
            <a:endParaRPr lang="ko-KR" altLang="en-US" b="1" dirty="0">
              <a:latin typeface="+mn-ea"/>
              <a:ea typeface="+mn-ea"/>
            </a:endParaRPr>
          </a:p>
        </p:txBody>
      </p:sp>
      <p:pic>
        <p:nvPicPr>
          <p:cNvPr id="4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8088" y="4796335"/>
            <a:ext cx="2232744" cy="576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1. </a:t>
            </a:r>
            <a:r>
              <a:rPr lang="ko-KR" altLang="en-US" dirty="0">
                <a:latin typeface="+mn-ea"/>
                <a:ea typeface="+mn-ea"/>
              </a:rPr>
              <a:t>입고관리</a:t>
            </a:r>
          </a:p>
        </p:txBody>
      </p:sp>
      <p:graphicFrame>
        <p:nvGraphicFramePr>
          <p:cNvPr id="41" name="표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893520"/>
              </p:ext>
            </p:extLst>
          </p:nvPr>
        </p:nvGraphicFramePr>
        <p:xfrm>
          <a:off x="4016895" y="980728"/>
          <a:ext cx="4104458" cy="7920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7402">
                  <a:extLst>
                    <a:ext uri="{9D8B030D-6E8A-4147-A177-3AD203B41FA5}">
                      <a16:colId xmlns:a16="http://schemas.microsoft.com/office/drawing/2014/main" val="3306505822"/>
                    </a:ext>
                  </a:extLst>
                </a:gridCol>
                <a:gridCol w="542623">
                  <a:extLst>
                    <a:ext uri="{9D8B030D-6E8A-4147-A177-3AD203B41FA5}">
                      <a16:colId xmlns:a16="http://schemas.microsoft.com/office/drawing/2014/main" val="1962138753"/>
                    </a:ext>
                  </a:extLst>
                </a:gridCol>
                <a:gridCol w="640017">
                  <a:extLst>
                    <a:ext uri="{9D8B030D-6E8A-4147-A177-3AD203B41FA5}">
                      <a16:colId xmlns:a16="http://schemas.microsoft.com/office/drawing/2014/main" val="669405459"/>
                    </a:ext>
                  </a:extLst>
                </a:gridCol>
                <a:gridCol w="626104">
                  <a:extLst>
                    <a:ext uri="{9D8B030D-6E8A-4147-A177-3AD203B41FA5}">
                      <a16:colId xmlns:a16="http://schemas.microsoft.com/office/drawing/2014/main" val="2026692932"/>
                    </a:ext>
                  </a:extLst>
                </a:gridCol>
                <a:gridCol w="626104">
                  <a:extLst>
                    <a:ext uri="{9D8B030D-6E8A-4147-A177-3AD203B41FA5}">
                      <a16:colId xmlns:a16="http://schemas.microsoft.com/office/drawing/2014/main" val="3281137187"/>
                    </a:ext>
                  </a:extLst>
                </a:gridCol>
                <a:gridCol w="626104">
                  <a:extLst>
                    <a:ext uri="{9D8B030D-6E8A-4147-A177-3AD203B41FA5}">
                      <a16:colId xmlns:a16="http://schemas.microsoft.com/office/drawing/2014/main" val="1733380532"/>
                    </a:ext>
                  </a:extLst>
                </a:gridCol>
                <a:gridCol w="626104">
                  <a:extLst>
                    <a:ext uri="{9D8B030D-6E8A-4147-A177-3AD203B41FA5}">
                      <a16:colId xmlns:a16="http://schemas.microsoft.com/office/drawing/2014/main" val="4214710607"/>
                    </a:ext>
                  </a:extLst>
                </a:gridCol>
              </a:tblGrid>
              <a:tr h="19802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로케이션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현재고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입고예정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출고예정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가용재고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출고승인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106695"/>
                  </a:ext>
                </a:extLst>
              </a:tr>
              <a:tr h="1980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Z10000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2273105"/>
                  </a:ext>
                </a:extLst>
              </a:tr>
              <a:tr h="1980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Z10000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10000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9477253"/>
                  </a:ext>
                </a:extLst>
              </a:tr>
              <a:tr h="1980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Z10000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10000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4420450"/>
                  </a:ext>
                </a:extLst>
              </a:tr>
            </a:tbl>
          </a:graphicData>
        </a:graphic>
      </p:graphicFrame>
      <p:sp>
        <p:nvSpPr>
          <p:cNvPr id="42" name="직사각형 41"/>
          <p:cNvSpPr/>
          <p:nvPr/>
        </p:nvSpPr>
        <p:spPr>
          <a:xfrm>
            <a:off x="378600" y="980728"/>
            <a:ext cx="720000" cy="21602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입하예정</a:t>
            </a:r>
          </a:p>
        </p:txBody>
      </p:sp>
      <p:sp>
        <p:nvSpPr>
          <p:cNvPr id="43" name="직사각형 42"/>
          <p:cNvSpPr/>
          <p:nvPr/>
        </p:nvSpPr>
        <p:spPr>
          <a:xfrm>
            <a:off x="378600" y="1772816"/>
            <a:ext cx="720000" cy="21602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입하승인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378600" y="2339454"/>
            <a:ext cx="720000" cy="21602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>
                <a:solidFill>
                  <a:schemeClr val="tx1"/>
                </a:solidFill>
              </a:rPr>
              <a:t>입하검수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378600" y="3717032"/>
            <a:ext cx="720000" cy="21602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>
                <a:solidFill>
                  <a:schemeClr val="tx1"/>
                </a:solidFill>
              </a:rPr>
              <a:t>입고지시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378600" y="5157192"/>
            <a:ext cx="720000" cy="21602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입고적치</a:t>
            </a:r>
          </a:p>
        </p:txBody>
      </p:sp>
      <p:graphicFrame>
        <p:nvGraphicFramePr>
          <p:cNvPr id="48" name="표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6472727"/>
              </p:ext>
            </p:extLst>
          </p:nvPr>
        </p:nvGraphicFramePr>
        <p:xfrm>
          <a:off x="1280592" y="980728"/>
          <a:ext cx="993710" cy="3960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2048">
                  <a:extLst>
                    <a:ext uri="{9D8B030D-6E8A-4147-A177-3AD203B41FA5}">
                      <a16:colId xmlns:a16="http://schemas.microsoft.com/office/drawing/2014/main" val="3306505822"/>
                    </a:ext>
                  </a:extLst>
                </a:gridCol>
                <a:gridCol w="561662">
                  <a:extLst>
                    <a:ext uri="{9D8B030D-6E8A-4147-A177-3AD203B41FA5}">
                      <a16:colId xmlns:a16="http://schemas.microsoft.com/office/drawing/2014/main" val="1962138753"/>
                    </a:ext>
                  </a:extLst>
                </a:gridCol>
              </a:tblGrid>
              <a:tr h="19802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106695"/>
                  </a:ext>
                </a:extLst>
              </a:tr>
              <a:tr h="1980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2273105"/>
                  </a:ext>
                </a:extLst>
              </a:tr>
            </a:tbl>
          </a:graphicData>
        </a:graphic>
      </p:graphicFrame>
      <p:graphicFrame>
        <p:nvGraphicFramePr>
          <p:cNvPr id="52" name="표 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1389584"/>
              </p:ext>
            </p:extLst>
          </p:nvPr>
        </p:nvGraphicFramePr>
        <p:xfrm>
          <a:off x="1280592" y="1772816"/>
          <a:ext cx="993710" cy="3960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2048">
                  <a:extLst>
                    <a:ext uri="{9D8B030D-6E8A-4147-A177-3AD203B41FA5}">
                      <a16:colId xmlns:a16="http://schemas.microsoft.com/office/drawing/2014/main" val="3306505822"/>
                    </a:ext>
                  </a:extLst>
                </a:gridCol>
                <a:gridCol w="561662">
                  <a:extLst>
                    <a:ext uri="{9D8B030D-6E8A-4147-A177-3AD203B41FA5}">
                      <a16:colId xmlns:a16="http://schemas.microsoft.com/office/drawing/2014/main" val="1962138753"/>
                    </a:ext>
                  </a:extLst>
                </a:gridCol>
              </a:tblGrid>
              <a:tr h="19802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106695"/>
                  </a:ext>
                </a:extLst>
              </a:tr>
              <a:tr h="1980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2273105"/>
                  </a:ext>
                </a:extLst>
              </a:tr>
            </a:tbl>
          </a:graphicData>
        </a:graphic>
      </p:graphicFrame>
      <p:graphicFrame>
        <p:nvGraphicFramePr>
          <p:cNvPr id="53" name="표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1145149"/>
              </p:ext>
            </p:extLst>
          </p:nvPr>
        </p:nvGraphicFramePr>
        <p:xfrm>
          <a:off x="1280592" y="2321452"/>
          <a:ext cx="1944216" cy="59406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6780">
                  <a:extLst>
                    <a:ext uri="{9D8B030D-6E8A-4147-A177-3AD203B41FA5}">
                      <a16:colId xmlns:a16="http://schemas.microsoft.com/office/drawing/2014/main" val="3306505822"/>
                    </a:ext>
                  </a:extLst>
                </a:gridCol>
                <a:gridCol w="515812">
                  <a:extLst>
                    <a:ext uri="{9D8B030D-6E8A-4147-A177-3AD203B41FA5}">
                      <a16:colId xmlns:a16="http://schemas.microsoft.com/office/drawing/2014/main" val="1962138753"/>
                    </a:ext>
                  </a:extLst>
                </a:gridCol>
                <a:gridCol w="515812">
                  <a:extLst>
                    <a:ext uri="{9D8B030D-6E8A-4147-A177-3AD203B41FA5}">
                      <a16:colId xmlns:a16="http://schemas.microsoft.com/office/drawing/2014/main" val="1389158199"/>
                    </a:ext>
                  </a:extLst>
                </a:gridCol>
                <a:gridCol w="515812">
                  <a:extLst>
                    <a:ext uri="{9D8B030D-6E8A-4147-A177-3AD203B41FA5}">
                      <a16:colId xmlns:a16="http://schemas.microsoft.com/office/drawing/2014/main" val="2779540753"/>
                    </a:ext>
                  </a:extLst>
                </a:gridCol>
              </a:tblGrid>
              <a:tr h="19802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파렛트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제조일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106695"/>
                  </a:ext>
                </a:extLst>
              </a:tr>
              <a:tr h="1980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10493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6/1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2273105"/>
                  </a:ext>
                </a:extLst>
              </a:tr>
              <a:tr h="1980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6/2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364837"/>
                  </a:ext>
                </a:extLst>
              </a:tr>
            </a:tbl>
          </a:graphicData>
        </a:graphic>
      </p:graphicFrame>
      <p:graphicFrame>
        <p:nvGraphicFramePr>
          <p:cNvPr id="54" name="표 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9680576"/>
              </p:ext>
            </p:extLst>
          </p:nvPr>
        </p:nvGraphicFramePr>
        <p:xfrm>
          <a:off x="4016895" y="2321452"/>
          <a:ext cx="5256585" cy="12335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9604">
                  <a:extLst>
                    <a:ext uri="{9D8B030D-6E8A-4147-A177-3AD203B41FA5}">
                      <a16:colId xmlns:a16="http://schemas.microsoft.com/office/drawing/2014/main" val="3306505822"/>
                    </a:ext>
                  </a:extLst>
                </a:gridCol>
                <a:gridCol w="532485">
                  <a:extLst>
                    <a:ext uri="{9D8B030D-6E8A-4147-A177-3AD203B41FA5}">
                      <a16:colId xmlns:a16="http://schemas.microsoft.com/office/drawing/2014/main" val="1962138753"/>
                    </a:ext>
                  </a:extLst>
                </a:gridCol>
                <a:gridCol w="628060">
                  <a:extLst>
                    <a:ext uri="{9D8B030D-6E8A-4147-A177-3AD203B41FA5}">
                      <a16:colId xmlns:a16="http://schemas.microsoft.com/office/drawing/2014/main" val="669405459"/>
                    </a:ext>
                  </a:extLst>
                </a:gridCol>
                <a:gridCol w="614406">
                  <a:extLst>
                    <a:ext uri="{9D8B030D-6E8A-4147-A177-3AD203B41FA5}">
                      <a16:colId xmlns:a16="http://schemas.microsoft.com/office/drawing/2014/main" val="2026692932"/>
                    </a:ext>
                  </a:extLst>
                </a:gridCol>
                <a:gridCol w="614406">
                  <a:extLst>
                    <a:ext uri="{9D8B030D-6E8A-4147-A177-3AD203B41FA5}">
                      <a16:colId xmlns:a16="http://schemas.microsoft.com/office/drawing/2014/main" val="3281137187"/>
                    </a:ext>
                  </a:extLst>
                </a:gridCol>
                <a:gridCol w="614406">
                  <a:extLst>
                    <a:ext uri="{9D8B030D-6E8A-4147-A177-3AD203B41FA5}">
                      <a16:colId xmlns:a16="http://schemas.microsoft.com/office/drawing/2014/main" val="1733380532"/>
                    </a:ext>
                  </a:extLst>
                </a:gridCol>
                <a:gridCol w="614406">
                  <a:extLst>
                    <a:ext uri="{9D8B030D-6E8A-4147-A177-3AD203B41FA5}">
                      <a16:colId xmlns:a16="http://schemas.microsoft.com/office/drawing/2014/main" val="4214710607"/>
                    </a:ext>
                  </a:extLst>
                </a:gridCol>
                <a:gridCol w="614406">
                  <a:extLst>
                    <a:ext uri="{9D8B030D-6E8A-4147-A177-3AD203B41FA5}">
                      <a16:colId xmlns:a16="http://schemas.microsoft.com/office/drawing/2014/main" val="462807766"/>
                    </a:ext>
                  </a:extLst>
                </a:gridCol>
                <a:gridCol w="614406">
                  <a:extLst>
                    <a:ext uri="{9D8B030D-6E8A-4147-A177-3AD203B41FA5}">
                      <a16:colId xmlns:a16="http://schemas.microsoft.com/office/drawing/2014/main" val="291466279"/>
                    </a:ext>
                  </a:extLst>
                </a:gridCol>
              </a:tblGrid>
              <a:tr h="24345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로케이션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현재고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입고예정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출고예정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가용재고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출고승인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파렛트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제조일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106695"/>
                  </a:ext>
                </a:extLst>
              </a:tr>
              <a:tr h="198022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RCV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10493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6/1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2273105"/>
                  </a:ext>
                </a:extLst>
              </a:tr>
              <a:tr h="198022">
                <a:tc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RCV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6/2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9018717"/>
                  </a:ext>
                </a:extLst>
              </a:tr>
              <a:tr h="198022">
                <a:tc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Z10000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1001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1/1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8495898"/>
                  </a:ext>
                </a:extLst>
              </a:tr>
              <a:tr h="1980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Z10000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1/1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9477253"/>
                  </a:ext>
                </a:extLst>
              </a:tr>
              <a:tr h="1980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Z10000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10000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1/1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4420450"/>
                  </a:ext>
                </a:extLst>
              </a:tr>
            </a:tbl>
          </a:graphicData>
        </a:graphic>
      </p:graphicFrame>
      <p:graphicFrame>
        <p:nvGraphicFramePr>
          <p:cNvPr id="55" name="표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2632460"/>
              </p:ext>
            </p:extLst>
          </p:nvPr>
        </p:nvGraphicFramePr>
        <p:xfrm>
          <a:off x="1280592" y="3717032"/>
          <a:ext cx="2376265" cy="59406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3269">
                  <a:extLst>
                    <a:ext uri="{9D8B030D-6E8A-4147-A177-3AD203B41FA5}">
                      <a16:colId xmlns:a16="http://schemas.microsoft.com/office/drawing/2014/main" val="3306505822"/>
                    </a:ext>
                  </a:extLst>
                </a:gridCol>
                <a:gridCol w="498249">
                  <a:extLst>
                    <a:ext uri="{9D8B030D-6E8A-4147-A177-3AD203B41FA5}">
                      <a16:colId xmlns:a16="http://schemas.microsoft.com/office/drawing/2014/main" val="1962138753"/>
                    </a:ext>
                  </a:extLst>
                </a:gridCol>
                <a:gridCol w="498249">
                  <a:extLst>
                    <a:ext uri="{9D8B030D-6E8A-4147-A177-3AD203B41FA5}">
                      <a16:colId xmlns:a16="http://schemas.microsoft.com/office/drawing/2014/main" val="1389158199"/>
                    </a:ext>
                  </a:extLst>
                </a:gridCol>
                <a:gridCol w="498249">
                  <a:extLst>
                    <a:ext uri="{9D8B030D-6E8A-4147-A177-3AD203B41FA5}">
                      <a16:colId xmlns:a16="http://schemas.microsoft.com/office/drawing/2014/main" val="2779540753"/>
                    </a:ext>
                  </a:extLst>
                </a:gridCol>
                <a:gridCol w="498249">
                  <a:extLst>
                    <a:ext uri="{9D8B030D-6E8A-4147-A177-3AD203B41FA5}">
                      <a16:colId xmlns:a16="http://schemas.microsoft.com/office/drawing/2014/main" val="3103607580"/>
                    </a:ext>
                  </a:extLst>
                </a:gridCol>
              </a:tblGrid>
              <a:tr h="19802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파렛트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제조일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LOC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106695"/>
                  </a:ext>
                </a:extLst>
              </a:tr>
              <a:tr h="1980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10493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6/1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UNK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2273105"/>
                  </a:ext>
                </a:extLst>
              </a:tr>
              <a:tr h="1980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6/2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UNK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364837"/>
                  </a:ext>
                </a:extLst>
              </a:tr>
            </a:tbl>
          </a:graphicData>
        </a:graphic>
      </p:graphicFrame>
      <p:graphicFrame>
        <p:nvGraphicFramePr>
          <p:cNvPr id="56" name="표 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0317596"/>
              </p:ext>
            </p:extLst>
          </p:nvPr>
        </p:nvGraphicFramePr>
        <p:xfrm>
          <a:off x="4016895" y="3717032"/>
          <a:ext cx="5256585" cy="12335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9604">
                  <a:extLst>
                    <a:ext uri="{9D8B030D-6E8A-4147-A177-3AD203B41FA5}">
                      <a16:colId xmlns:a16="http://schemas.microsoft.com/office/drawing/2014/main" val="3306505822"/>
                    </a:ext>
                  </a:extLst>
                </a:gridCol>
                <a:gridCol w="532485">
                  <a:extLst>
                    <a:ext uri="{9D8B030D-6E8A-4147-A177-3AD203B41FA5}">
                      <a16:colId xmlns:a16="http://schemas.microsoft.com/office/drawing/2014/main" val="1962138753"/>
                    </a:ext>
                  </a:extLst>
                </a:gridCol>
                <a:gridCol w="628060">
                  <a:extLst>
                    <a:ext uri="{9D8B030D-6E8A-4147-A177-3AD203B41FA5}">
                      <a16:colId xmlns:a16="http://schemas.microsoft.com/office/drawing/2014/main" val="669405459"/>
                    </a:ext>
                  </a:extLst>
                </a:gridCol>
                <a:gridCol w="614406">
                  <a:extLst>
                    <a:ext uri="{9D8B030D-6E8A-4147-A177-3AD203B41FA5}">
                      <a16:colId xmlns:a16="http://schemas.microsoft.com/office/drawing/2014/main" val="2026692932"/>
                    </a:ext>
                  </a:extLst>
                </a:gridCol>
                <a:gridCol w="614406">
                  <a:extLst>
                    <a:ext uri="{9D8B030D-6E8A-4147-A177-3AD203B41FA5}">
                      <a16:colId xmlns:a16="http://schemas.microsoft.com/office/drawing/2014/main" val="3281137187"/>
                    </a:ext>
                  </a:extLst>
                </a:gridCol>
                <a:gridCol w="614406">
                  <a:extLst>
                    <a:ext uri="{9D8B030D-6E8A-4147-A177-3AD203B41FA5}">
                      <a16:colId xmlns:a16="http://schemas.microsoft.com/office/drawing/2014/main" val="1733380532"/>
                    </a:ext>
                  </a:extLst>
                </a:gridCol>
                <a:gridCol w="614406">
                  <a:extLst>
                    <a:ext uri="{9D8B030D-6E8A-4147-A177-3AD203B41FA5}">
                      <a16:colId xmlns:a16="http://schemas.microsoft.com/office/drawing/2014/main" val="4214710607"/>
                    </a:ext>
                  </a:extLst>
                </a:gridCol>
                <a:gridCol w="614406">
                  <a:extLst>
                    <a:ext uri="{9D8B030D-6E8A-4147-A177-3AD203B41FA5}">
                      <a16:colId xmlns:a16="http://schemas.microsoft.com/office/drawing/2014/main" val="462807766"/>
                    </a:ext>
                  </a:extLst>
                </a:gridCol>
                <a:gridCol w="614406">
                  <a:extLst>
                    <a:ext uri="{9D8B030D-6E8A-4147-A177-3AD203B41FA5}">
                      <a16:colId xmlns:a16="http://schemas.microsoft.com/office/drawing/2014/main" val="291466279"/>
                    </a:ext>
                  </a:extLst>
                </a:gridCol>
              </a:tblGrid>
              <a:tr h="24345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로케이션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현재고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입고예정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출고예정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가용재고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출고승인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파렛트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제조일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106695"/>
                  </a:ext>
                </a:extLst>
              </a:tr>
              <a:tr h="198022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RCV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10493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6/1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2273105"/>
                  </a:ext>
                </a:extLst>
              </a:tr>
              <a:tr h="198022">
                <a:tc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RCV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21349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6/2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018717"/>
                  </a:ext>
                </a:extLst>
              </a:tr>
              <a:tr h="198022">
                <a:tc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Z10000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1/1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8495898"/>
                  </a:ext>
                </a:extLst>
              </a:tr>
              <a:tr h="1980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Z10000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1/1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9477253"/>
                  </a:ext>
                </a:extLst>
              </a:tr>
              <a:tr h="1980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Z10000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10000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1/1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4420450"/>
                  </a:ext>
                </a:extLst>
              </a:tr>
            </a:tbl>
          </a:graphicData>
        </a:graphic>
      </p:graphicFrame>
      <p:graphicFrame>
        <p:nvGraphicFramePr>
          <p:cNvPr id="57" name="표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1517818"/>
              </p:ext>
            </p:extLst>
          </p:nvPr>
        </p:nvGraphicFramePr>
        <p:xfrm>
          <a:off x="1277541" y="5157192"/>
          <a:ext cx="2376265" cy="59406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3269">
                  <a:extLst>
                    <a:ext uri="{9D8B030D-6E8A-4147-A177-3AD203B41FA5}">
                      <a16:colId xmlns:a16="http://schemas.microsoft.com/office/drawing/2014/main" val="3306505822"/>
                    </a:ext>
                  </a:extLst>
                </a:gridCol>
                <a:gridCol w="498249">
                  <a:extLst>
                    <a:ext uri="{9D8B030D-6E8A-4147-A177-3AD203B41FA5}">
                      <a16:colId xmlns:a16="http://schemas.microsoft.com/office/drawing/2014/main" val="1962138753"/>
                    </a:ext>
                  </a:extLst>
                </a:gridCol>
                <a:gridCol w="498249">
                  <a:extLst>
                    <a:ext uri="{9D8B030D-6E8A-4147-A177-3AD203B41FA5}">
                      <a16:colId xmlns:a16="http://schemas.microsoft.com/office/drawing/2014/main" val="1389158199"/>
                    </a:ext>
                  </a:extLst>
                </a:gridCol>
                <a:gridCol w="498249">
                  <a:extLst>
                    <a:ext uri="{9D8B030D-6E8A-4147-A177-3AD203B41FA5}">
                      <a16:colId xmlns:a16="http://schemas.microsoft.com/office/drawing/2014/main" val="2779540753"/>
                    </a:ext>
                  </a:extLst>
                </a:gridCol>
                <a:gridCol w="498249">
                  <a:extLst>
                    <a:ext uri="{9D8B030D-6E8A-4147-A177-3AD203B41FA5}">
                      <a16:colId xmlns:a16="http://schemas.microsoft.com/office/drawing/2014/main" val="3103607580"/>
                    </a:ext>
                  </a:extLst>
                </a:gridCol>
              </a:tblGrid>
              <a:tr h="19802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파렛트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제조일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LOC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106695"/>
                  </a:ext>
                </a:extLst>
              </a:tr>
              <a:tr h="1980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10493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6/1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B10201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2273105"/>
                  </a:ext>
                </a:extLst>
              </a:tr>
              <a:tr h="1980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6/2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B10202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364837"/>
                  </a:ext>
                </a:extLst>
              </a:tr>
            </a:tbl>
          </a:graphicData>
        </a:graphic>
      </p:graphicFrame>
      <p:graphicFrame>
        <p:nvGraphicFramePr>
          <p:cNvPr id="58" name="표 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3013251"/>
              </p:ext>
            </p:extLst>
          </p:nvPr>
        </p:nvGraphicFramePr>
        <p:xfrm>
          <a:off x="4013844" y="5157192"/>
          <a:ext cx="5256585" cy="12335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9604">
                  <a:extLst>
                    <a:ext uri="{9D8B030D-6E8A-4147-A177-3AD203B41FA5}">
                      <a16:colId xmlns:a16="http://schemas.microsoft.com/office/drawing/2014/main" val="3306505822"/>
                    </a:ext>
                  </a:extLst>
                </a:gridCol>
                <a:gridCol w="532485">
                  <a:extLst>
                    <a:ext uri="{9D8B030D-6E8A-4147-A177-3AD203B41FA5}">
                      <a16:colId xmlns:a16="http://schemas.microsoft.com/office/drawing/2014/main" val="1962138753"/>
                    </a:ext>
                  </a:extLst>
                </a:gridCol>
                <a:gridCol w="628060">
                  <a:extLst>
                    <a:ext uri="{9D8B030D-6E8A-4147-A177-3AD203B41FA5}">
                      <a16:colId xmlns:a16="http://schemas.microsoft.com/office/drawing/2014/main" val="669405459"/>
                    </a:ext>
                  </a:extLst>
                </a:gridCol>
                <a:gridCol w="614406">
                  <a:extLst>
                    <a:ext uri="{9D8B030D-6E8A-4147-A177-3AD203B41FA5}">
                      <a16:colId xmlns:a16="http://schemas.microsoft.com/office/drawing/2014/main" val="2026692932"/>
                    </a:ext>
                  </a:extLst>
                </a:gridCol>
                <a:gridCol w="614406">
                  <a:extLst>
                    <a:ext uri="{9D8B030D-6E8A-4147-A177-3AD203B41FA5}">
                      <a16:colId xmlns:a16="http://schemas.microsoft.com/office/drawing/2014/main" val="3281137187"/>
                    </a:ext>
                  </a:extLst>
                </a:gridCol>
                <a:gridCol w="614406">
                  <a:extLst>
                    <a:ext uri="{9D8B030D-6E8A-4147-A177-3AD203B41FA5}">
                      <a16:colId xmlns:a16="http://schemas.microsoft.com/office/drawing/2014/main" val="1733380532"/>
                    </a:ext>
                  </a:extLst>
                </a:gridCol>
                <a:gridCol w="614406">
                  <a:extLst>
                    <a:ext uri="{9D8B030D-6E8A-4147-A177-3AD203B41FA5}">
                      <a16:colId xmlns:a16="http://schemas.microsoft.com/office/drawing/2014/main" val="4214710607"/>
                    </a:ext>
                  </a:extLst>
                </a:gridCol>
                <a:gridCol w="614406">
                  <a:extLst>
                    <a:ext uri="{9D8B030D-6E8A-4147-A177-3AD203B41FA5}">
                      <a16:colId xmlns:a16="http://schemas.microsoft.com/office/drawing/2014/main" val="462807766"/>
                    </a:ext>
                  </a:extLst>
                </a:gridCol>
                <a:gridCol w="614406">
                  <a:extLst>
                    <a:ext uri="{9D8B030D-6E8A-4147-A177-3AD203B41FA5}">
                      <a16:colId xmlns:a16="http://schemas.microsoft.com/office/drawing/2014/main" val="291466279"/>
                    </a:ext>
                  </a:extLst>
                </a:gridCol>
              </a:tblGrid>
              <a:tr h="24345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로케이션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현재고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입고예정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출고예정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가용재고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출고승인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파렛트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제조일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106695"/>
                  </a:ext>
                </a:extLst>
              </a:tr>
              <a:tr h="198022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B10201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10493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6/1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2273105"/>
                  </a:ext>
                </a:extLst>
              </a:tr>
              <a:tr h="198022">
                <a:tc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B10202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21349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6/2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9018717"/>
                  </a:ext>
                </a:extLst>
              </a:tr>
              <a:tr h="198022">
                <a:tc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Z10000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1/1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8495898"/>
                  </a:ext>
                </a:extLst>
              </a:tr>
              <a:tr h="1980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Z10000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1/1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9477253"/>
                  </a:ext>
                </a:extLst>
              </a:tr>
              <a:tr h="1980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Z10000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10000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1/1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4420450"/>
                  </a:ext>
                </a:extLst>
              </a:tr>
            </a:tbl>
          </a:graphicData>
        </a:graphic>
      </p:graphicFrame>
      <p:cxnSp>
        <p:nvCxnSpPr>
          <p:cNvPr id="7" name="직선 화살표 연결선 6"/>
          <p:cNvCxnSpPr>
            <a:stCxn id="42" idx="2"/>
            <a:endCxn id="43" idx="0"/>
          </p:cNvCxnSpPr>
          <p:nvPr/>
        </p:nvCxnSpPr>
        <p:spPr>
          <a:xfrm>
            <a:off x="738600" y="1196752"/>
            <a:ext cx="0" cy="5760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/>
          <p:cNvCxnSpPr>
            <a:stCxn id="43" idx="2"/>
            <a:endCxn id="44" idx="0"/>
          </p:cNvCxnSpPr>
          <p:nvPr/>
        </p:nvCxnSpPr>
        <p:spPr>
          <a:xfrm>
            <a:off x="738600" y="1988840"/>
            <a:ext cx="0" cy="35061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/>
          <p:cNvCxnSpPr>
            <a:stCxn id="44" idx="2"/>
            <a:endCxn id="45" idx="0"/>
          </p:cNvCxnSpPr>
          <p:nvPr/>
        </p:nvCxnSpPr>
        <p:spPr>
          <a:xfrm>
            <a:off x="738600" y="2555478"/>
            <a:ext cx="0" cy="11615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/>
          <p:cNvCxnSpPr>
            <a:stCxn id="45" idx="2"/>
            <a:endCxn id="46" idx="0"/>
          </p:cNvCxnSpPr>
          <p:nvPr/>
        </p:nvCxnSpPr>
        <p:spPr>
          <a:xfrm>
            <a:off x="738600" y="3933056"/>
            <a:ext cx="0" cy="12241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8011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2. </a:t>
            </a:r>
            <a:r>
              <a:rPr lang="ko-KR" altLang="en-US" dirty="0">
                <a:latin typeface="+mn-ea"/>
                <a:ea typeface="+mn-ea"/>
              </a:rPr>
              <a:t>출고관리</a:t>
            </a:r>
          </a:p>
        </p:txBody>
      </p:sp>
      <p:graphicFrame>
        <p:nvGraphicFramePr>
          <p:cNvPr id="58" name="표 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8706658"/>
              </p:ext>
            </p:extLst>
          </p:nvPr>
        </p:nvGraphicFramePr>
        <p:xfrm>
          <a:off x="4013844" y="908720"/>
          <a:ext cx="5256585" cy="6394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9604">
                  <a:extLst>
                    <a:ext uri="{9D8B030D-6E8A-4147-A177-3AD203B41FA5}">
                      <a16:colId xmlns:a16="http://schemas.microsoft.com/office/drawing/2014/main" val="3306505822"/>
                    </a:ext>
                  </a:extLst>
                </a:gridCol>
                <a:gridCol w="532485">
                  <a:extLst>
                    <a:ext uri="{9D8B030D-6E8A-4147-A177-3AD203B41FA5}">
                      <a16:colId xmlns:a16="http://schemas.microsoft.com/office/drawing/2014/main" val="1962138753"/>
                    </a:ext>
                  </a:extLst>
                </a:gridCol>
                <a:gridCol w="628060">
                  <a:extLst>
                    <a:ext uri="{9D8B030D-6E8A-4147-A177-3AD203B41FA5}">
                      <a16:colId xmlns:a16="http://schemas.microsoft.com/office/drawing/2014/main" val="669405459"/>
                    </a:ext>
                  </a:extLst>
                </a:gridCol>
                <a:gridCol w="614406">
                  <a:extLst>
                    <a:ext uri="{9D8B030D-6E8A-4147-A177-3AD203B41FA5}">
                      <a16:colId xmlns:a16="http://schemas.microsoft.com/office/drawing/2014/main" val="2026692932"/>
                    </a:ext>
                  </a:extLst>
                </a:gridCol>
                <a:gridCol w="614406">
                  <a:extLst>
                    <a:ext uri="{9D8B030D-6E8A-4147-A177-3AD203B41FA5}">
                      <a16:colId xmlns:a16="http://schemas.microsoft.com/office/drawing/2014/main" val="3281137187"/>
                    </a:ext>
                  </a:extLst>
                </a:gridCol>
                <a:gridCol w="614406">
                  <a:extLst>
                    <a:ext uri="{9D8B030D-6E8A-4147-A177-3AD203B41FA5}">
                      <a16:colId xmlns:a16="http://schemas.microsoft.com/office/drawing/2014/main" val="1733380532"/>
                    </a:ext>
                  </a:extLst>
                </a:gridCol>
                <a:gridCol w="614406">
                  <a:extLst>
                    <a:ext uri="{9D8B030D-6E8A-4147-A177-3AD203B41FA5}">
                      <a16:colId xmlns:a16="http://schemas.microsoft.com/office/drawing/2014/main" val="4214710607"/>
                    </a:ext>
                  </a:extLst>
                </a:gridCol>
                <a:gridCol w="614406">
                  <a:extLst>
                    <a:ext uri="{9D8B030D-6E8A-4147-A177-3AD203B41FA5}">
                      <a16:colId xmlns:a16="http://schemas.microsoft.com/office/drawing/2014/main" val="462807766"/>
                    </a:ext>
                  </a:extLst>
                </a:gridCol>
                <a:gridCol w="614406">
                  <a:extLst>
                    <a:ext uri="{9D8B030D-6E8A-4147-A177-3AD203B41FA5}">
                      <a16:colId xmlns:a16="http://schemas.microsoft.com/office/drawing/2014/main" val="291466279"/>
                    </a:ext>
                  </a:extLst>
                </a:gridCol>
              </a:tblGrid>
              <a:tr h="24345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로케이션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현재고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입고예정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출고예정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가용재고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출고승인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파렛트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제조일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106695"/>
                  </a:ext>
                </a:extLst>
              </a:tr>
              <a:tr h="1980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Z10000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1/1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9477253"/>
                  </a:ext>
                </a:extLst>
              </a:tr>
              <a:tr h="1980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Z10000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10000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1/1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4420450"/>
                  </a:ext>
                </a:extLst>
              </a:tr>
            </a:tbl>
          </a:graphicData>
        </a:graphic>
      </p:graphicFrame>
      <p:sp>
        <p:nvSpPr>
          <p:cNvPr id="17" name="직사각형 16"/>
          <p:cNvSpPr/>
          <p:nvPr/>
        </p:nvSpPr>
        <p:spPr>
          <a:xfrm>
            <a:off x="378600" y="908720"/>
            <a:ext cx="720000" cy="21602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출고예정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378600" y="1988840"/>
            <a:ext cx="720000" cy="21602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출고승인</a:t>
            </a:r>
          </a:p>
        </p:txBody>
      </p:sp>
      <p:sp>
        <p:nvSpPr>
          <p:cNvPr id="19" name="직사각형 18"/>
          <p:cNvSpPr/>
          <p:nvPr/>
        </p:nvSpPr>
        <p:spPr>
          <a:xfrm>
            <a:off x="378600" y="2708920"/>
            <a:ext cx="720000" cy="21602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</a:rPr>
              <a:t>출고</a:t>
            </a:r>
            <a:r>
              <a:rPr lang="en-US" altLang="ko-KR" sz="800" dirty="0">
                <a:solidFill>
                  <a:schemeClr val="tx1"/>
                </a:solidFill>
              </a:rPr>
              <a:t>WAVE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378600" y="3501008"/>
            <a:ext cx="720000" cy="21602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출고지시</a:t>
            </a:r>
          </a:p>
        </p:txBody>
      </p:sp>
      <p:sp>
        <p:nvSpPr>
          <p:cNvPr id="21" name="직사각형 20"/>
          <p:cNvSpPr/>
          <p:nvPr/>
        </p:nvSpPr>
        <p:spPr>
          <a:xfrm>
            <a:off x="378600" y="4653136"/>
            <a:ext cx="720000" cy="21602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 err="1">
                <a:solidFill>
                  <a:schemeClr val="tx1"/>
                </a:solidFill>
              </a:rPr>
              <a:t>출고피킹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378600" y="5373216"/>
            <a:ext cx="720000" cy="21602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 err="1">
                <a:solidFill>
                  <a:schemeClr val="tx1"/>
                </a:solidFill>
              </a:rPr>
              <a:t>출하상차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378600" y="5805264"/>
            <a:ext cx="720000" cy="21602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출하확정</a:t>
            </a:r>
          </a:p>
        </p:txBody>
      </p:sp>
      <p:graphicFrame>
        <p:nvGraphicFramePr>
          <p:cNvPr id="24" name="표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5086147"/>
              </p:ext>
            </p:extLst>
          </p:nvPr>
        </p:nvGraphicFramePr>
        <p:xfrm>
          <a:off x="1258552" y="908720"/>
          <a:ext cx="2595340" cy="9901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464">
                  <a:extLst>
                    <a:ext uri="{9D8B030D-6E8A-4147-A177-3AD203B41FA5}">
                      <a16:colId xmlns:a16="http://schemas.microsoft.com/office/drawing/2014/main" val="1386261932"/>
                    </a:ext>
                  </a:extLst>
                </a:gridCol>
                <a:gridCol w="360464">
                  <a:extLst>
                    <a:ext uri="{9D8B030D-6E8A-4147-A177-3AD203B41FA5}">
                      <a16:colId xmlns:a16="http://schemas.microsoft.com/office/drawing/2014/main" val="3306505822"/>
                    </a:ext>
                  </a:extLst>
                </a:gridCol>
                <a:gridCol w="468603">
                  <a:extLst>
                    <a:ext uri="{9D8B030D-6E8A-4147-A177-3AD203B41FA5}">
                      <a16:colId xmlns:a16="http://schemas.microsoft.com/office/drawing/2014/main" val="1962138753"/>
                    </a:ext>
                  </a:extLst>
                </a:gridCol>
                <a:gridCol w="468603">
                  <a:extLst>
                    <a:ext uri="{9D8B030D-6E8A-4147-A177-3AD203B41FA5}">
                      <a16:colId xmlns:a16="http://schemas.microsoft.com/office/drawing/2014/main" val="1389158199"/>
                    </a:ext>
                  </a:extLst>
                </a:gridCol>
                <a:gridCol w="468603">
                  <a:extLst>
                    <a:ext uri="{9D8B030D-6E8A-4147-A177-3AD203B41FA5}">
                      <a16:colId xmlns:a16="http://schemas.microsoft.com/office/drawing/2014/main" val="2779540753"/>
                    </a:ext>
                  </a:extLst>
                </a:gridCol>
                <a:gridCol w="468603">
                  <a:extLst>
                    <a:ext uri="{9D8B030D-6E8A-4147-A177-3AD203B41FA5}">
                      <a16:colId xmlns:a16="http://schemas.microsoft.com/office/drawing/2014/main" val="3103607580"/>
                    </a:ext>
                  </a:extLst>
                </a:gridCol>
              </a:tblGrid>
              <a:tr h="19802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출고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차량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차수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106695"/>
                  </a:ext>
                </a:extLst>
              </a:tr>
              <a:tr h="1980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1234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2273105"/>
                  </a:ext>
                </a:extLst>
              </a:tr>
              <a:tr h="19802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1134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1234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364837"/>
                  </a:ext>
                </a:extLst>
              </a:tr>
              <a:tr h="198022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1135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5555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1380971"/>
                  </a:ext>
                </a:extLst>
              </a:tr>
              <a:tr h="198022">
                <a:tc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3056866"/>
                  </a:ext>
                </a:extLst>
              </a:tr>
            </a:tbl>
          </a:graphicData>
        </a:graphic>
      </p:graphicFrame>
      <p:graphicFrame>
        <p:nvGraphicFramePr>
          <p:cNvPr id="25" name="표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7504185"/>
              </p:ext>
            </p:extLst>
          </p:nvPr>
        </p:nvGraphicFramePr>
        <p:xfrm>
          <a:off x="4013844" y="1988840"/>
          <a:ext cx="5256585" cy="6394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9604">
                  <a:extLst>
                    <a:ext uri="{9D8B030D-6E8A-4147-A177-3AD203B41FA5}">
                      <a16:colId xmlns:a16="http://schemas.microsoft.com/office/drawing/2014/main" val="3306505822"/>
                    </a:ext>
                  </a:extLst>
                </a:gridCol>
                <a:gridCol w="532485">
                  <a:extLst>
                    <a:ext uri="{9D8B030D-6E8A-4147-A177-3AD203B41FA5}">
                      <a16:colId xmlns:a16="http://schemas.microsoft.com/office/drawing/2014/main" val="1962138753"/>
                    </a:ext>
                  </a:extLst>
                </a:gridCol>
                <a:gridCol w="628060">
                  <a:extLst>
                    <a:ext uri="{9D8B030D-6E8A-4147-A177-3AD203B41FA5}">
                      <a16:colId xmlns:a16="http://schemas.microsoft.com/office/drawing/2014/main" val="669405459"/>
                    </a:ext>
                  </a:extLst>
                </a:gridCol>
                <a:gridCol w="614406">
                  <a:extLst>
                    <a:ext uri="{9D8B030D-6E8A-4147-A177-3AD203B41FA5}">
                      <a16:colId xmlns:a16="http://schemas.microsoft.com/office/drawing/2014/main" val="2026692932"/>
                    </a:ext>
                  </a:extLst>
                </a:gridCol>
                <a:gridCol w="614406">
                  <a:extLst>
                    <a:ext uri="{9D8B030D-6E8A-4147-A177-3AD203B41FA5}">
                      <a16:colId xmlns:a16="http://schemas.microsoft.com/office/drawing/2014/main" val="3281137187"/>
                    </a:ext>
                  </a:extLst>
                </a:gridCol>
                <a:gridCol w="614406">
                  <a:extLst>
                    <a:ext uri="{9D8B030D-6E8A-4147-A177-3AD203B41FA5}">
                      <a16:colId xmlns:a16="http://schemas.microsoft.com/office/drawing/2014/main" val="1733380532"/>
                    </a:ext>
                  </a:extLst>
                </a:gridCol>
                <a:gridCol w="614406">
                  <a:extLst>
                    <a:ext uri="{9D8B030D-6E8A-4147-A177-3AD203B41FA5}">
                      <a16:colId xmlns:a16="http://schemas.microsoft.com/office/drawing/2014/main" val="4214710607"/>
                    </a:ext>
                  </a:extLst>
                </a:gridCol>
                <a:gridCol w="614406">
                  <a:extLst>
                    <a:ext uri="{9D8B030D-6E8A-4147-A177-3AD203B41FA5}">
                      <a16:colId xmlns:a16="http://schemas.microsoft.com/office/drawing/2014/main" val="462807766"/>
                    </a:ext>
                  </a:extLst>
                </a:gridCol>
                <a:gridCol w="614406">
                  <a:extLst>
                    <a:ext uri="{9D8B030D-6E8A-4147-A177-3AD203B41FA5}">
                      <a16:colId xmlns:a16="http://schemas.microsoft.com/office/drawing/2014/main" val="291466279"/>
                    </a:ext>
                  </a:extLst>
                </a:gridCol>
              </a:tblGrid>
              <a:tr h="24345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로케이션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현재고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입고예정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출고예정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가용재고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출고승인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파렛트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제조일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106695"/>
                  </a:ext>
                </a:extLst>
              </a:tr>
              <a:tr h="1980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Z10000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1/1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9477253"/>
                  </a:ext>
                </a:extLst>
              </a:tr>
              <a:tr h="1980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Z10000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10000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1/1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4420450"/>
                  </a:ext>
                </a:extLst>
              </a:tr>
            </a:tbl>
          </a:graphicData>
        </a:graphic>
      </p:graphicFrame>
      <p:graphicFrame>
        <p:nvGraphicFramePr>
          <p:cNvPr id="26" name="표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4420823"/>
              </p:ext>
            </p:extLst>
          </p:nvPr>
        </p:nvGraphicFramePr>
        <p:xfrm>
          <a:off x="1260115" y="2420888"/>
          <a:ext cx="2595340" cy="9901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464">
                  <a:extLst>
                    <a:ext uri="{9D8B030D-6E8A-4147-A177-3AD203B41FA5}">
                      <a16:colId xmlns:a16="http://schemas.microsoft.com/office/drawing/2014/main" val="1386261932"/>
                    </a:ext>
                  </a:extLst>
                </a:gridCol>
                <a:gridCol w="360464">
                  <a:extLst>
                    <a:ext uri="{9D8B030D-6E8A-4147-A177-3AD203B41FA5}">
                      <a16:colId xmlns:a16="http://schemas.microsoft.com/office/drawing/2014/main" val="3306505822"/>
                    </a:ext>
                  </a:extLst>
                </a:gridCol>
                <a:gridCol w="468603">
                  <a:extLst>
                    <a:ext uri="{9D8B030D-6E8A-4147-A177-3AD203B41FA5}">
                      <a16:colId xmlns:a16="http://schemas.microsoft.com/office/drawing/2014/main" val="1962138753"/>
                    </a:ext>
                  </a:extLst>
                </a:gridCol>
                <a:gridCol w="468603">
                  <a:extLst>
                    <a:ext uri="{9D8B030D-6E8A-4147-A177-3AD203B41FA5}">
                      <a16:colId xmlns:a16="http://schemas.microsoft.com/office/drawing/2014/main" val="1389158199"/>
                    </a:ext>
                  </a:extLst>
                </a:gridCol>
                <a:gridCol w="468603">
                  <a:extLst>
                    <a:ext uri="{9D8B030D-6E8A-4147-A177-3AD203B41FA5}">
                      <a16:colId xmlns:a16="http://schemas.microsoft.com/office/drawing/2014/main" val="2779540753"/>
                    </a:ext>
                  </a:extLst>
                </a:gridCol>
                <a:gridCol w="468603">
                  <a:extLst>
                    <a:ext uri="{9D8B030D-6E8A-4147-A177-3AD203B41FA5}">
                      <a16:colId xmlns:a16="http://schemas.microsoft.com/office/drawing/2014/main" val="3103607580"/>
                    </a:ext>
                  </a:extLst>
                </a:gridCol>
              </a:tblGrid>
              <a:tr h="19802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출고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차량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차수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WAVE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106695"/>
                  </a:ext>
                </a:extLst>
              </a:tr>
              <a:tr h="1980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1234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1165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2273105"/>
                  </a:ext>
                </a:extLst>
              </a:tr>
              <a:tr h="19802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1134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1234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364837"/>
                  </a:ext>
                </a:extLst>
              </a:tr>
              <a:tr h="198022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1135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5555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1166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1380971"/>
                  </a:ext>
                </a:extLst>
              </a:tr>
              <a:tr h="198022">
                <a:tc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3056866"/>
                  </a:ext>
                </a:extLst>
              </a:tr>
            </a:tbl>
          </a:graphicData>
        </a:graphic>
      </p:graphicFrame>
      <p:cxnSp>
        <p:nvCxnSpPr>
          <p:cNvPr id="27" name="직선 화살표 연결선 26"/>
          <p:cNvCxnSpPr>
            <a:stCxn id="17" idx="2"/>
            <a:endCxn id="18" idx="0"/>
          </p:cNvCxnSpPr>
          <p:nvPr/>
        </p:nvCxnSpPr>
        <p:spPr>
          <a:xfrm>
            <a:off x="738600" y="1124744"/>
            <a:ext cx="0" cy="8640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0" name="표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5101428"/>
              </p:ext>
            </p:extLst>
          </p:nvPr>
        </p:nvGraphicFramePr>
        <p:xfrm>
          <a:off x="4013844" y="3501008"/>
          <a:ext cx="5256585" cy="1035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9604">
                  <a:extLst>
                    <a:ext uri="{9D8B030D-6E8A-4147-A177-3AD203B41FA5}">
                      <a16:colId xmlns:a16="http://schemas.microsoft.com/office/drawing/2014/main" val="3306505822"/>
                    </a:ext>
                  </a:extLst>
                </a:gridCol>
                <a:gridCol w="532485">
                  <a:extLst>
                    <a:ext uri="{9D8B030D-6E8A-4147-A177-3AD203B41FA5}">
                      <a16:colId xmlns:a16="http://schemas.microsoft.com/office/drawing/2014/main" val="1962138753"/>
                    </a:ext>
                  </a:extLst>
                </a:gridCol>
                <a:gridCol w="628060">
                  <a:extLst>
                    <a:ext uri="{9D8B030D-6E8A-4147-A177-3AD203B41FA5}">
                      <a16:colId xmlns:a16="http://schemas.microsoft.com/office/drawing/2014/main" val="669405459"/>
                    </a:ext>
                  </a:extLst>
                </a:gridCol>
                <a:gridCol w="614406">
                  <a:extLst>
                    <a:ext uri="{9D8B030D-6E8A-4147-A177-3AD203B41FA5}">
                      <a16:colId xmlns:a16="http://schemas.microsoft.com/office/drawing/2014/main" val="2026692932"/>
                    </a:ext>
                  </a:extLst>
                </a:gridCol>
                <a:gridCol w="614406">
                  <a:extLst>
                    <a:ext uri="{9D8B030D-6E8A-4147-A177-3AD203B41FA5}">
                      <a16:colId xmlns:a16="http://schemas.microsoft.com/office/drawing/2014/main" val="3281137187"/>
                    </a:ext>
                  </a:extLst>
                </a:gridCol>
                <a:gridCol w="614406">
                  <a:extLst>
                    <a:ext uri="{9D8B030D-6E8A-4147-A177-3AD203B41FA5}">
                      <a16:colId xmlns:a16="http://schemas.microsoft.com/office/drawing/2014/main" val="1733380532"/>
                    </a:ext>
                  </a:extLst>
                </a:gridCol>
                <a:gridCol w="614406">
                  <a:extLst>
                    <a:ext uri="{9D8B030D-6E8A-4147-A177-3AD203B41FA5}">
                      <a16:colId xmlns:a16="http://schemas.microsoft.com/office/drawing/2014/main" val="4214710607"/>
                    </a:ext>
                  </a:extLst>
                </a:gridCol>
                <a:gridCol w="614406">
                  <a:extLst>
                    <a:ext uri="{9D8B030D-6E8A-4147-A177-3AD203B41FA5}">
                      <a16:colId xmlns:a16="http://schemas.microsoft.com/office/drawing/2014/main" val="462807766"/>
                    </a:ext>
                  </a:extLst>
                </a:gridCol>
                <a:gridCol w="614406">
                  <a:extLst>
                    <a:ext uri="{9D8B030D-6E8A-4147-A177-3AD203B41FA5}">
                      <a16:colId xmlns:a16="http://schemas.microsoft.com/office/drawing/2014/main" val="291466279"/>
                    </a:ext>
                  </a:extLst>
                </a:gridCol>
              </a:tblGrid>
              <a:tr h="24345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로케이션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현재고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입고예정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출고예정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가용재고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출고승인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파렛트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제조일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106695"/>
                  </a:ext>
                </a:extLst>
              </a:tr>
              <a:tr h="1980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DOCK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1/1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9477253"/>
                  </a:ext>
                </a:extLst>
              </a:tr>
              <a:tr h="1980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Z10000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9992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1/1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4420450"/>
                  </a:ext>
                </a:extLst>
              </a:tr>
              <a:tr h="1980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DOCK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1/1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0149298"/>
                  </a:ext>
                </a:extLst>
              </a:tr>
              <a:tr h="1980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Z10000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9988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1/1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6234113"/>
                  </a:ext>
                </a:extLst>
              </a:tr>
            </a:tbl>
          </a:graphicData>
        </a:graphic>
      </p:graphicFrame>
      <p:cxnSp>
        <p:nvCxnSpPr>
          <p:cNvPr id="32" name="직선 화살표 연결선 31"/>
          <p:cNvCxnSpPr>
            <a:stCxn id="18" idx="2"/>
            <a:endCxn id="19" idx="0"/>
          </p:cNvCxnSpPr>
          <p:nvPr/>
        </p:nvCxnSpPr>
        <p:spPr>
          <a:xfrm>
            <a:off x="738600" y="2204864"/>
            <a:ext cx="0" cy="5040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/>
          <p:cNvCxnSpPr>
            <a:stCxn id="19" idx="2"/>
            <a:endCxn id="20" idx="0"/>
          </p:cNvCxnSpPr>
          <p:nvPr/>
        </p:nvCxnSpPr>
        <p:spPr>
          <a:xfrm>
            <a:off x="738600" y="2924944"/>
            <a:ext cx="0" cy="5760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8" name="표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7139031"/>
              </p:ext>
            </p:extLst>
          </p:nvPr>
        </p:nvGraphicFramePr>
        <p:xfrm>
          <a:off x="4013844" y="4653136"/>
          <a:ext cx="5256585" cy="1035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9604">
                  <a:extLst>
                    <a:ext uri="{9D8B030D-6E8A-4147-A177-3AD203B41FA5}">
                      <a16:colId xmlns:a16="http://schemas.microsoft.com/office/drawing/2014/main" val="3306505822"/>
                    </a:ext>
                  </a:extLst>
                </a:gridCol>
                <a:gridCol w="532485">
                  <a:extLst>
                    <a:ext uri="{9D8B030D-6E8A-4147-A177-3AD203B41FA5}">
                      <a16:colId xmlns:a16="http://schemas.microsoft.com/office/drawing/2014/main" val="1962138753"/>
                    </a:ext>
                  </a:extLst>
                </a:gridCol>
                <a:gridCol w="628060">
                  <a:extLst>
                    <a:ext uri="{9D8B030D-6E8A-4147-A177-3AD203B41FA5}">
                      <a16:colId xmlns:a16="http://schemas.microsoft.com/office/drawing/2014/main" val="669405459"/>
                    </a:ext>
                  </a:extLst>
                </a:gridCol>
                <a:gridCol w="614406">
                  <a:extLst>
                    <a:ext uri="{9D8B030D-6E8A-4147-A177-3AD203B41FA5}">
                      <a16:colId xmlns:a16="http://schemas.microsoft.com/office/drawing/2014/main" val="2026692932"/>
                    </a:ext>
                  </a:extLst>
                </a:gridCol>
                <a:gridCol w="614406">
                  <a:extLst>
                    <a:ext uri="{9D8B030D-6E8A-4147-A177-3AD203B41FA5}">
                      <a16:colId xmlns:a16="http://schemas.microsoft.com/office/drawing/2014/main" val="3281137187"/>
                    </a:ext>
                  </a:extLst>
                </a:gridCol>
                <a:gridCol w="614406">
                  <a:extLst>
                    <a:ext uri="{9D8B030D-6E8A-4147-A177-3AD203B41FA5}">
                      <a16:colId xmlns:a16="http://schemas.microsoft.com/office/drawing/2014/main" val="1733380532"/>
                    </a:ext>
                  </a:extLst>
                </a:gridCol>
                <a:gridCol w="614406">
                  <a:extLst>
                    <a:ext uri="{9D8B030D-6E8A-4147-A177-3AD203B41FA5}">
                      <a16:colId xmlns:a16="http://schemas.microsoft.com/office/drawing/2014/main" val="4214710607"/>
                    </a:ext>
                  </a:extLst>
                </a:gridCol>
                <a:gridCol w="614406">
                  <a:extLst>
                    <a:ext uri="{9D8B030D-6E8A-4147-A177-3AD203B41FA5}">
                      <a16:colId xmlns:a16="http://schemas.microsoft.com/office/drawing/2014/main" val="462807766"/>
                    </a:ext>
                  </a:extLst>
                </a:gridCol>
                <a:gridCol w="614406">
                  <a:extLst>
                    <a:ext uri="{9D8B030D-6E8A-4147-A177-3AD203B41FA5}">
                      <a16:colId xmlns:a16="http://schemas.microsoft.com/office/drawing/2014/main" val="291466279"/>
                    </a:ext>
                  </a:extLst>
                </a:gridCol>
              </a:tblGrid>
              <a:tr h="24345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로케이션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현재고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입고예정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출고예정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가용재고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출고승인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파렛트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제조일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106695"/>
                  </a:ext>
                </a:extLst>
              </a:tr>
              <a:tr h="1980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DOCK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1/1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9477253"/>
                  </a:ext>
                </a:extLst>
              </a:tr>
              <a:tr h="1980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Z10000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9992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9992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1/1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4420450"/>
                  </a:ext>
                </a:extLst>
              </a:tr>
              <a:tr h="1980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DOCK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1/1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0149298"/>
                  </a:ext>
                </a:extLst>
              </a:tr>
              <a:tr h="1980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Z10000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9988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1/1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6234113"/>
                  </a:ext>
                </a:extLst>
              </a:tr>
            </a:tbl>
          </a:graphicData>
        </a:graphic>
      </p:graphicFrame>
      <p:graphicFrame>
        <p:nvGraphicFramePr>
          <p:cNvPr id="39" name="표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9518750"/>
              </p:ext>
            </p:extLst>
          </p:nvPr>
        </p:nvGraphicFramePr>
        <p:xfrm>
          <a:off x="4013844" y="5805264"/>
          <a:ext cx="5256585" cy="6394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9604">
                  <a:extLst>
                    <a:ext uri="{9D8B030D-6E8A-4147-A177-3AD203B41FA5}">
                      <a16:colId xmlns:a16="http://schemas.microsoft.com/office/drawing/2014/main" val="3306505822"/>
                    </a:ext>
                  </a:extLst>
                </a:gridCol>
                <a:gridCol w="532485">
                  <a:extLst>
                    <a:ext uri="{9D8B030D-6E8A-4147-A177-3AD203B41FA5}">
                      <a16:colId xmlns:a16="http://schemas.microsoft.com/office/drawing/2014/main" val="1962138753"/>
                    </a:ext>
                  </a:extLst>
                </a:gridCol>
                <a:gridCol w="628060">
                  <a:extLst>
                    <a:ext uri="{9D8B030D-6E8A-4147-A177-3AD203B41FA5}">
                      <a16:colId xmlns:a16="http://schemas.microsoft.com/office/drawing/2014/main" val="669405459"/>
                    </a:ext>
                  </a:extLst>
                </a:gridCol>
                <a:gridCol w="614406">
                  <a:extLst>
                    <a:ext uri="{9D8B030D-6E8A-4147-A177-3AD203B41FA5}">
                      <a16:colId xmlns:a16="http://schemas.microsoft.com/office/drawing/2014/main" val="2026692932"/>
                    </a:ext>
                  </a:extLst>
                </a:gridCol>
                <a:gridCol w="614406">
                  <a:extLst>
                    <a:ext uri="{9D8B030D-6E8A-4147-A177-3AD203B41FA5}">
                      <a16:colId xmlns:a16="http://schemas.microsoft.com/office/drawing/2014/main" val="3281137187"/>
                    </a:ext>
                  </a:extLst>
                </a:gridCol>
                <a:gridCol w="614406">
                  <a:extLst>
                    <a:ext uri="{9D8B030D-6E8A-4147-A177-3AD203B41FA5}">
                      <a16:colId xmlns:a16="http://schemas.microsoft.com/office/drawing/2014/main" val="1733380532"/>
                    </a:ext>
                  </a:extLst>
                </a:gridCol>
                <a:gridCol w="614406">
                  <a:extLst>
                    <a:ext uri="{9D8B030D-6E8A-4147-A177-3AD203B41FA5}">
                      <a16:colId xmlns:a16="http://schemas.microsoft.com/office/drawing/2014/main" val="4214710607"/>
                    </a:ext>
                  </a:extLst>
                </a:gridCol>
                <a:gridCol w="614406">
                  <a:extLst>
                    <a:ext uri="{9D8B030D-6E8A-4147-A177-3AD203B41FA5}">
                      <a16:colId xmlns:a16="http://schemas.microsoft.com/office/drawing/2014/main" val="462807766"/>
                    </a:ext>
                  </a:extLst>
                </a:gridCol>
                <a:gridCol w="614406">
                  <a:extLst>
                    <a:ext uri="{9D8B030D-6E8A-4147-A177-3AD203B41FA5}">
                      <a16:colId xmlns:a16="http://schemas.microsoft.com/office/drawing/2014/main" val="291466279"/>
                    </a:ext>
                  </a:extLst>
                </a:gridCol>
              </a:tblGrid>
              <a:tr h="24345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로케이션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현재고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입고예정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출고예정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가용재고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출고승인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파렛트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제조일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106695"/>
                  </a:ext>
                </a:extLst>
              </a:tr>
              <a:tr h="1980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Z10000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9992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9992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1/1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4420450"/>
                  </a:ext>
                </a:extLst>
              </a:tr>
              <a:tr h="1980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Z10000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9988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9988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1/1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6234113"/>
                  </a:ext>
                </a:extLst>
              </a:tr>
            </a:tbl>
          </a:graphicData>
        </a:graphic>
      </p:graphicFrame>
      <p:cxnSp>
        <p:nvCxnSpPr>
          <p:cNvPr id="40" name="직선 화살표 연결선 39"/>
          <p:cNvCxnSpPr>
            <a:stCxn id="20" idx="2"/>
            <a:endCxn id="21" idx="0"/>
          </p:cNvCxnSpPr>
          <p:nvPr/>
        </p:nvCxnSpPr>
        <p:spPr>
          <a:xfrm>
            <a:off x="738600" y="3717032"/>
            <a:ext cx="0" cy="93610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/>
          <p:cNvCxnSpPr>
            <a:stCxn id="21" idx="2"/>
            <a:endCxn id="22" idx="0"/>
          </p:cNvCxnSpPr>
          <p:nvPr/>
        </p:nvCxnSpPr>
        <p:spPr>
          <a:xfrm>
            <a:off x="738600" y="4869160"/>
            <a:ext cx="0" cy="5040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/>
          <p:cNvCxnSpPr>
            <a:stCxn id="22" idx="2"/>
            <a:endCxn id="23" idx="0"/>
          </p:cNvCxnSpPr>
          <p:nvPr/>
        </p:nvCxnSpPr>
        <p:spPr>
          <a:xfrm>
            <a:off x="738600" y="5589240"/>
            <a:ext cx="0" cy="2160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3972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20403</TotalTime>
  <Words>393</Words>
  <Application>Microsoft Office PowerPoint</Application>
  <PresentationFormat>A4 용지(210x297mm)</PresentationFormat>
  <Paragraphs>382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10" baseType="lpstr">
      <vt:lpstr>HY헤드라인M</vt:lpstr>
      <vt:lpstr>굴림</vt:lpstr>
      <vt:lpstr>Arial</vt:lpstr>
      <vt:lpstr>Impact</vt:lpstr>
      <vt:lpstr>Calibri</vt:lpstr>
      <vt:lpstr>맑은 고딕</vt:lpstr>
      <vt:lpstr>Office 테마</vt:lpstr>
      <vt:lpstr>                     시연 시나리오</vt:lpstr>
      <vt:lpstr>1. 입고관리</vt:lpstr>
      <vt:lpstr>2. 출고관리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jklee</dc:creator>
  <cp:lastModifiedBy>jklee</cp:lastModifiedBy>
  <cp:revision>962</cp:revision>
  <cp:lastPrinted>2016-12-05T01:09:52Z</cp:lastPrinted>
  <dcterms:created xsi:type="dcterms:W3CDTF">2012-09-18T14:42:59Z</dcterms:created>
  <dcterms:modified xsi:type="dcterms:W3CDTF">2017-06-02T05:59:30Z</dcterms:modified>
</cp:coreProperties>
</file>